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2.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charts/chart3.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charts/chart4.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5.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charts/chart6.xml" ContentType="application/vnd.openxmlformats-officedocument.drawingml.chart+xml"/>
  <Override PartName="/ppt/slideMasters/slideMaster98.xml" ContentType="application/vnd.openxmlformats-officedocument.presentationml.slideMaster+xml"/>
  <Override PartName="/ppt/slides/slide98.xml" ContentType="application/vnd.openxmlformats-officedocument.presentationml.slide+xml"/>
  <Override PartName="/ppt/charts/chart7.xml" ContentType="application/vnd.openxmlformats-officedocument.drawingml.chart+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Lst>
  <p:notesMasterIdLst>
    <p:notesMasterId r:id="rId129"/>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场" id="{2d2e146c-ad95-afa5-9ba4-3d034943f175}">
          <p14:sldIdLst>
            <p14:sldId id="256"/>
            <p14:sldId id="257"/>
            <p14:sldId id="258"/>
            <p14:sldId id="259"/>
          </p14:sldIdLst>
        </p14:section>
        <p14:section name="导入" id="{2368b986-0257-a30d-25f1-b196c33c5d67}">
          <p14:sldIdLst>
            <p14:sldId id="260"/>
            <p14:sldId id="261"/>
            <p14:sldId id="262"/>
            <p14:sldId id="263"/>
            <p14:sldId id="264"/>
            <p14:sldId id="265"/>
            <p14:sldId id="266"/>
            <p14:sldId id="267"/>
            <p14:sldId id="268"/>
          </p14:sldIdLst>
        </p14:section>
        <p14:section name="积木一 · 密码学" id="{319f069f-7f0d-5e2c-f9ba-4e763e917160}">
          <p14:sldIdLst>
            <p14:sldId id="269"/>
            <p14:sldId id="270"/>
            <p14:sldId id="271"/>
            <p14:sldId id="272"/>
            <p14:sldId id="273"/>
            <p14:sldId id="274"/>
            <p14:sldId id="275"/>
            <p14:sldId id="276"/>
            <p14:sldId id="277"/>
            <p14:sldId id="278"/>
            <p14:sldId id="279"/>
            <p14:sldId id="280"/>
          </p14:sldIdLst>
        </p14:section>
        <p14:section name="积木二 · 哈希与默克尔树" id="{60ef9c71-ffa4-4c8a-3964-91057311ba8f}">
          <p14:sldIdLst>
            <p14:sldId id="281"/>
            <p14:sldId id="282"/>
            <p14:sldId id="283"/>
            <p14:sldId id="284"/>
            <p14:sldId id="285"/>
            <p14:sldId id="286"/>
            <p14:sldId id="287"/>
            <p14:sldId id="288"/>
            <p14:sldId id="289"/>
            <p14:sldId id="290"/>
            <p14:sldId id="291"/>
            <p14:sldId id="292"/>
          </p14:sldIdLst>
        </p14:section>
        <p14:section name="积木三 · 分布式账本" id="{ac5ba2b3-3ee3-9f05-8511-234cd726d9c0}">
          <p14:sldIdLst>
            <p14:sldId id="293"/>
            <p14:sldId id="294"/>
            <p14:sldId id="295"/>
            <p14:sldId id="296"/>
            <p14:sldId id="297"/>
            <p14:sldId id="298"/>
            <p14:sldId id="299"/>
            <p14:sldId id="300"/>
            <p14:sldId id="301"/>
            <p14:sldId id="302"/>
            <p14:sldId id="303"/>
          </p14:sldIdLst>
        </p14:section>
        <p14:section name="工作量证明与共识" id="{c844c8d7-c3b3-9212-7acb-97cfb6efef10}">
          <p14:sldIdLst>
            <p14:sldId id="304"/>
            <p14:sldId id="305"/>
            <p14:sldId id="306"/>
            <p14:sldId id="307"/>
            <p14:sldId id="308"/>
            <p14:sldId id="309"/>
            <p14:sldId id="310"/>
            <p14:sldId id="311"/>
            <p14:sldId id="312"/>
            <p14:sldId id="313"/>
            <p14:sldId id="314"/>
            <p14:sldId id="315"/>
            <p14:sldId id="316"/>
            <p14:sldId id="317"/>
          </p14:sldIdLst>
        </p14:section>
        <p14:section name="激励与货币发行" id="{a3b3a732-52aa-2070-bb67-1a5747b71626}">
          <p14:sldIdLst>
            <p14:sldId id="318"/>
            <p14:sldId id="319"/>
            <p14:sldId id="320"/>
            <p14:sldId id="321"/>
            <p14:sldId id="322"/>
            <p14:sldId id="323"/>
            <p14:sldId id="324"/>
            <p14:sldId id="325"/>
            <p14:sldId id="326"/>
            <p14:sldId id="327"/>
            <p14:sldId id="328"/>
          </p14:sldIdLst>
        </p14:section>
        <p14:section name="比特币的成就" id="{967c153a-1388-1881-5003-f6e59c813009}">
          <p14:sldIdLst>
            <p14:sldId id="329"/>
            <p14:sldId id="330"/>
            <p14:sldId id="331"/>
            <p14:sldId id="332"/>
            <p14:sldId id="333"/>
            <p14:sldId id="334"/>
          </p14:sldIdLst>
        </p14:section>
        <p14:section name="比特币的不足" id="{1d703db7-fcb3-0ee7-ba78-8ffed54b9bc1}">
          <p14:sldIdLst>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Lst>
        </p14:section>
        <p14:section name="遗产与展望" id="{96bad0b6-204b-3dd8-71a7-ceaadfee051e}">
          <p14:sldIdLst>
            <p14:sldId id="363"/>
            <p14:sldId id="364"/>
            <p14:sldId id="365"/>
            <p14:sldId id="366"/>
            <p14:sldId id="367"/>
            <p14:sldId id="368"/>
            <p14:sldId id="369"/>
            <p14:sldId id="370"/>
            <p14:sldId id="371"/>
            <p14:sldId id="372"/>
            <p14:sldId id="373"/>
          </p14:sldIdLst>
        </p14:section>
        <p14:section name="附录：白皮书对读" id="{b5feca12-b045-76ce-04e4-76169f110fbc}">
          <p14:sldIdLst>
            <p14:sldId id="374"/>
            <p14:sldId id="375"/>
            <p14:sldId id="376"/>
            <p14:sldId id="377"/>
            <p14:sldId id="378"/>
            <p14:sldId id="379"/>
            <p14:sldId id="380"/>
            <p14:sldId id="381"/>
            <p14:sldId id="3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notesMaster" Target="notesMasters/notesMaster1.xml"/><Relationship Id="rId130" Type="http://schemas.openxmlformats.org/officeDocument/2006/relationships/presProps" Target="presProps.xml"/><Relationship Id="rId131" Type="http://schemas.openxmlformats.org/officeDocument/2006/relationships/viewProps" Target="viewProps.xml"/><Relationship Id="rId132" Type="http://schemas.openxmlformats.org/officeDocument/2006/relationships/theme" Target="theme/theme1.xml"/><Relationship Id="rId1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美联储总资产（万亿美元，约数）</a:t>
            </a:r>
          </a:p>
        </c:rich>
      </c:tx>
      <c:layout/>
      <c:overlay val="0"/>
    </c:title>
    <c:autoTitleDeleted val="0"/>
    <c:plotArea>
      <c:layout/>
      <c:barChart>
        <c:barDir val="col"/>
        <c:grouping val="clustered"/>
        <c:varyColors val="0"/>
        <c:ser>
          <c:idx val="0"/>
          <c:order val="0"/>
          <c:tx>
            <c:strRef>
              <c:f>Sheet1!$B$1</c:f>
              <c:strCache>
                <c:ptCount val="1"/>
                <c:pt idx="0">
                  <c:v>美联储总资产（万亿美元）</c:v>
                </c:pt>
              </c:strCache>
            </c:strRef>
          </c:tx>
          <c:spPr>
            <a:solidFill>
              <a:srgbClr val="F7931A"/>
            </a:solidFill>
            <a:effectLst/>
          </c:spPr>
          <c:invertIfNegative val="0"/>
          <c:dLbls>
            <c:numFmt formatCode="0.0"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2008-09</c:v>
                  </c:pt>
                  <c:pt idx="1">
                    <c:v>2011-12</c:v>
                  </c:pt>
                  <c:pt idx="2">
                    <c:v>2022-04
(峰值)</c:v>
                  </c:pt>
                </c:lvl>
              </c:multiLvlStrCache>
            </c:multiLvlStrRef>
          </c:cat>
          <c:val>
            <c:numRef>
              <c:f>Sheet1!$B$2:$B$4</c:f>
              <c:numCache>
                <c:formatCode>General</c:formatCode>
                <c:ptCount val="3"/>
                <c:pt idx="0">
                  <c:v>0.9</c:v>
                </c:pt>
                <c:pt idx="1">
                  <c:v>2.9</c:v>
                </c:pt>
                <c:pt idx="2">
                  <c:v>9</c:v>
                </c:pt>
              </c:numCache>
            </c:numRef>
          </c:val>
        </c:ser>
        <c:dLbls>
          <c:numFmt formatCode="0.0"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下一个区块出现所需时间的分布（平均 10 分钟）</a:t>
            </a:r>
          </a:p>
        </c:rich>
      </c:tx>
      <c:layout/>
      <c:overlay val="0"/>
    </c:title>
    <c:autoTitleDeleted val="0"/>
    <c:plotArea>
      <c:layout/>
      <c:barChart>
        <c:barDir val="col"/>
        <c:grouping val="clustered"/>
        <c:varyColors val="0"/>
        <c:ser>
          <c:idx val="0"/>
          <c:order val="0"/>
          <c:tx>
            <c:strRef>
              <c:f>Sheet1!$B$1</c:f>
              <c:strCache>
                <c:ptCount val="1"/>
                <c:pt idx="0">
                  <c:v>占比（%）</c:v>
                </c:pt>
              </c:strCache>
            </c:strRef>
          </c:tx>
          <c:spPr>
            <a:solidFill>
              <a:srgbClr val="F7931A"/>
            </a:solidFill>
            <a:effectLst/>
          </c:spPr>
          <c:invertIfNegative val="0"/>
          <c:dLbls>
            <c:numFmt formatCode="0.0&quot;%&quot;"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0–10 分钟</c:v>
                  </c:pt>
                  <c:pt idx="1">
                    <c:v>10–20</c:v>
                  </c:pt>
                  <c:pt idx="2">
                    <c:v>20–30</c:v>
                  </c:pt>
                  <c:pt idx="3">
                    <c:v>30–40</c:v>
                  </c:pt>
                  <c:pt idx="4">
                    <c:v>40 分钟以上</c:v>
                  </c:pt>
                </c:lvl>
              </c:multiLvlStrCache>
            </c:multiLvlStrRef>
          </c:cat>
          <c:val>
            <c:numRef>
              <c:f>Sheet1!$B$2:$B$6</c:f>
              <c:numCache>
                <c:formatCode>General</c:formatCode>
                <c:ptCount val="5"/>
                <c:pt idx="0">
                  <c:v>63.2</c:v>
                </c:pt>
                <c:pt idx="1">
                  <c:v>23.3</c:v>
                </c:pt>
                <c:pt idx="2">
                  <c:v>8.6</c:v>
                </c:pt>
                <c:pt idx="3">
                  <c:v>3.1</c:v>
                </c:pt>
                <c:pt idx="4">
                  <c:v>1.8</c:v>
                </c:pt>
              </c:numCache>
            </c:numRef>
          </c:val>
        </c:ser>
        <c:dLbls>
          <c:numFmt formatCode="0.0&quot;%&quot;"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攻击者追上的概率（对数坐标）</a:t>
            </a:r>
          </a:p>
        </c:rich>
      </c:tx>
      <c:layout/>
      <c:overlay val="0"/>
    </c:title>
    <c:autoTitleDeleted val="0"/>
    <c:plotArea>
      <c:layout/>
      <c:lineChart>
        <c:varyColors val="0"/>
        <c:ser>
          <c:idx val="0"/>
          <c:order val="0"/>
          <c:tx>
            <c:strRef>
              <c:f>Sheet1!$B$1</c:f>
              <c:strCache>
                <c:ptCount val="1"/>
                <c:pt idx="0">
                  <c:v>攻击者占 10% 算力</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1F2430"/>
                    </a:solidFill>
                    <a:latin typeface="+mn-lt"/>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Sheet1!$A$2:$A$12</c:f>
              <c:multiLvlStrCache>
                <c:ptCount val="11"/>
                <c:lvl>
                  <c:pt idx="0">
                    <c:v>0</c:v>
                  </c:pt>
                  <c:pt idx="1">
                    <c:v>1</c:v>
                  </c:pt>
                  <c:pt idx="2">
                    <c:v>2</c:v>
                  </c:pt>
                  <c:pt idx="3">
                    <c:v>3</c:v>
                  </c:pt>
                  <c:pt idx="4">
                    <c:v>4</c:v>
                  </c:pt>
                  <c:pt idx="5">
                    <c:v>5</c:v>
                  </c:pt>
                  <c:pt idx="6">
                    <c:v>6</c:v>
                  </c:pt>
                  <c:pt idx="7">
                    <c:v>7</c:v>
                  </c:pt>
                  <c:pt idx="8">
                    <c:v>8</c:v>
                  </c:pt>
                  <c:pt idx="9">
                    <c:v>9</c:v>
                  </c:pt>
                  <c:pt idx="10">
                    <c:v>10</c:v>
                  </c:pt>
                </c:lvl>
              </c:multiLvlStrCache>
            </c:multiLvlStrRef>
          </c:cat>
          <c:val>
            <c:numRef>
              <c:f>Sheet1!$B$2:$B$12</c:f>
              <c:numCache>
                <c:formatCode>General</c:formatCode>
                <c:ptCount val="11"/>
                <c:pt idx="0">
                  <c:v>1</c:v>
                </c:pt>
                <c:pt idx="1">
                  <c:v>0.2045873</c:v>
                </c:pt>
                <c:pt idx="2">
                  <c:v>0.0509779</c:v>
                </c:pt>
                <c:pt idx="3">
                  <c:v>0.0131722</c:v>
                </c:pt>
                <c:pt idx="4">
                  <c:v>0.0034552</c:v>
                </c:pt>
                <c:pt idx="5">
                  <c:v>0.0009137</c:v>
                </c:pt>
                <c:pt idx="6">
                  <c:v>0.0002428</c:v>
                </c:pt>
                <c:pt idx="7">
                  <c:v>0.0000647</c:v>
                </c:pt>
                <c:pt idx="8">
                  <c:v>0.0000173</c:v>
                </c:pt>
                <c:pt idx="9">
                  <c:v>0.0000046</c:v>
                </c:pt>
                <c:pt idx="10">
                  <c:v>0.0000012</c:v>
                </c:pt>
              </c:numCache>
            </c:numRef>
          </c:val>
          <c:smooth val="0"/>
        </c:ser>
        <c:ser>
          <c:idx val="1"/>
          <c:order val="1"/>
          <c:tx>
            <c:strRef>
              <c:f>Sheet1!$C$1</c:f>
              <c:strCache>
                <c:ptCount val="1"/>
                <c:pt idx="0">
                  <c:v>攻击者占 30% 算力</c:v>
                </c:pt>
              </c:strCache>
            </c:strRef>
          </c:tx>
          <c:spPr>
            <a:solidFill>
              <a:srgbClr val="B42318"/>
            </a:solidFill>
            <a:ln w="38100" cap="flat">
              <a:solidFill>
                <a:srgbClr val="B42318"/>
              </a:solidFill>
              <a:prstDash val="solid"/>
              <a:round/>
            </a:ln>
            <a:effectLst/>
          </c:spPr>
          <c:invertIfNegative val="0"/>
          <c:dLbls>
            <c:numFmt formatCode="#,##0" sourceLinked="0"/>
            <c:txPr>
              <a:bodyPr/>
              <a:lstStyle/>
              <a:p>
                <a:pPr>
                  <a:defRPr b="0" i="0" strike="noStrike" sz="1200" u="none">
                    <a:solidFill>
                      <a:srgbClr val="1F2430"/>
                    </a:solidFill>
                    <a:latin typeface="+mn-lt"/>
                  </a:defRPr>
                </a:pPr>
              </a:p>
            </c:txPr>
            <c:showLegendKey val="0"/>
            <c:showVal val="0"/>
            <c:showCatName val="0"/>
            <c:showSerName val="0"/>
            <c:showPercent val="0"/>
            <c:showBubbleSize val="0"/>
            <c:showLeaderLines val="0"/>
          </c:dLbls>
          <c:marker>
            <c:symbol val="circle"/>
            <c:size val="7"/>
            <c:spPr>
              <a:solidFill>
                <a:srgbClr val="B42318"/>
              </a:solidFill>
              <a:ln w="9525" cap="flat">
                <a:solidFill>
                  <a:srgbClr val="B42318"/>
                </a:solidFill>
                <a:prstDash val="solid"/>
                <a:round/>
              </a:ln>
              <a:effectLst/>
            </c:spPr>
          </c:marker>
          <c:cat>
            <c:multiLvlStrRef>
              <c:f>Sheet1!$A$2:$A$12</c:f>
              <c:multiLvlStrCache>
                <c:ptCount val="11"/>
                <c:lvl>
                  <c:pt idx="0">
                    <c:v>0</c:v>
                  </c:pt>
                  <c:pt idx="1">
                    <c:v>1</c:v>
                  </c:pt>
                  <c:pt idx="2">
                    <c:v>2</c:v>
                  </c:pt>
                  <c:pt idx="3">
                    <c:v>3</c:v>
                  </c:pt>
                  <c:pt idx="4">
                    <c:v>4</c:v>
                  </c:pt>
                  <c:pt idx="5">
                    <c:v>5</c:v>
                  </c:pt>
                  <c:pt idx="6">
                    <c:v>6</c:v>
                  </c:pt>
                  <c:pt idx="7">
                    <c:v>7</c:v>
                  </c:pt>
                  <c:pt idx="8">
                    <c:v>8</c:v>
                  </c:pt>
                  <c:pt idx="9">
                    <c:v>9</c:v>
                  </c:pt>
                  <c:pt idx="10">
                    <c:v>10</c:v>
                  </c:pt>
                </c:lvl>
              </c:multiLvlStrCache>
            </c:multiLvlStrRef>
          </c:cat>
          <c:val>
            <c:numRef>
              <c:f>Sheet1!$C$2:$C$12</c:f>
              <c:numCache>
                <c:formatCode>General</c:formatCode>
                <c:ptCount val="11"/>
                <c:pt idx="0">
                  <c:v>1</c:v>
                </c:pt>
                <c:pt idx="1">
                  <c:v>0.6277491</c:v>
                </c:pt>
                <c:pt idx="2">
                  <c:v>0.4457171</c:v>
                </c:pt>
                <c:pt idx="3">
                  <c:v>0.3245841</c:v>
                </c:pt>
                <c:pt idx="4">
                  <c:v>0.2391269</c:v>
                </c:pt>
                <c:pt idx="5">
                  <c:v>0.1773523</c:v>
                </c:pt>
                <c:pt idx="6">
                  <c:v>0.1321112</c:v>
                </c:pt>
                <c:pt idx="7">
                  <c:v>0.0987125</c:v>
                </c:pt>
                <c:pt idx="8">
                  <c:v>0.0739244</c:v>
                </c:pt>
                <c:pt idx="9">
                  <c:v>0.0554572</c:v>
                </c:pt>
                <c:pt idx="10">
                  <c:v>0.0416605</c:v>
                </c:pt>
              </c:numCache>
            </c:numRef>
          </c:val>
          <c:smooth val="0"/>
        </c:ser>
        <c:dLbls>
          <c:numFmt formatCode="#,##0" sourceLinked="0"/>
          <c:txPr>
            <a:bodyPr/>
            <a:lstStyle/>
            <a:p>
              <a:pPr>
                <a:defRPr b="0" i="0" strike="noStrike" sz="1200" u="none">
                  <a:solidFill>
                    <a:srgbClr val="1F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确认数 z</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logBase val="10"/>
          <c:orientation val="minMax"/>
          <c:max val="1"/>
          <c:min val="0.000001"/>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累计已发行比例（各次减半时）</a:t>
            </a:r>
          </a:p>
        </c:rich>
      </c:tx>
      <c:layout/>
      <c:overlay val="0"/>
    </c:title>
    <c:autoTitleDeleted val="0"/>
    <c:plotArea>
      <c:layout/>
      <c:barChart>
        <c:barDir val="col"/>
        <c:grouping val="clustered"/>
        <c:varyColors val="0"/>
        <c:ser>
          <c:idx val="0"/>
          <c:order val="0"/>
          <c:tx>
            <c:strRef>
              <c:f>Sheet1!$B$1</c:f>
              <c:strCache>
                <c:ptCount val="1"/>
                <c:pt idx="0">
                  <c:v>累计已发行占上限的比例</c:v>
                </c:pt>
              </c:strCache>
            </c:strRef>
          </c:tx>
          <c:spPr>
            <a:solidFill>
              <a:srgbClr val="F7931A"/>
            </a:solidFill>
            <a:effectLst/>
          </c:spPr>
          <c:invertIfNegative val="0"/>
          <c:dLbls>
            <c:numFmt formatCode="0.0&quot;%&quot;"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2012</c:v>
                  </c:pt>
                  <c:pt idx="1">
                    <c:v>2016</c:v>
                  </c:pt>
                  <c:pt idx="2">
                    <c:v>2020</c:v>
                  </c:pt>
                  <c:pt idx="3">
                    <c:v>2024</c:v>
                  </c:pt>
                  <c:pt idx="4">
                    <c:v>2028</c:v>
                  </c:pt>
                  <c:pt idx="5">
                    <c:v>2032</c:v>
                  </c:pt>
                </c:lvl>
              </c:multiLvlStrCache>
            </c:multiLvlStrRef>
          </c:cat>
          <c:val>
            <c:numRef>
              <c:f>Sheet1!$B$2:$B$7</c:f>
              <c:numCache>
                <c:formatCode>General</c:formatCode>
                <c:ptCount val="6"/>
                <c:pt idx="0">
                  <c:v>50</c:v>
                </c:pt>
                <c:pt idx="1">
                  <c:v>75</c:v>
                </c:pt>
                <c:pt idx="2">
                  <c:v>87.5</c:v>
                </c:pt>
                <c:pt idx="3">
                  <c:v>93.8</c:v>
                </c:pt>
                <c:pt idx="4">
                  <c:v>96.9</c:v>
                </c:pt>
                <c:pt idx="5">
                  <c:v>98.4</c:v>
                </c:pt>
              </c:numCache>
            </c:numRef>
          </c:val>
        </c:ser>
        <c:dLbls>
          <c:numFmt formatCode="0.0&quot;%&quot;"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年末价格（美元，对数坐标）</a:t>
            </a:r>
          </a:p>
        </c:rich>
      </c:tx>
      <c:layout/>
      <c:overlay val="0"/>
    </c:title>
    <c:autoTitleDeleted val="0"/>
    <c:plotArea>
      <c:layout/>
      <c:barChart>
        <c:barDir val="col"/>
        <c:grouping val="clustered"/>
        <c:varyColors val="0"/>
        <c:ser>
          <c:idx val="0"/>
          <c:order val="0"/>
          <c:tx>
            <c:strRef>
              <c:f>Sheet1!$B$1</c:f>
              <c:strCache>
                <c:ptCount val="1"/>
                <c:pt idx="0">
                  <c:v>年末价格（美元）</c:v>
                </c:pt>
              </c:strCache>
            </c:strRef>
          </c:tx>
          <c:spPr>
            <a:solidFill>
              <a:srgbClr val="F7931A"/>
            </a:solidFill>
            <a:effectLst/>
          </c:spPr>
          <c:invertIfNegative val="0"/>
          <c:dLbls>
            <c:numFmt formatCode="#,##0" sourceLinked="0"/>
            <c:txPr>
              <a:bodyPr/>
              <a:lstStyle/>
              <a:p>
                <a:pPr>
                  <a:defRPr b="0" i="0" strike="noStrike" sz="1200" u="none">
                    <a:solidFill>
                      <a:srgbClr val="1F2430"/>
                    </a:solidFill>
                    <a:latin typeface="+mn-lt"/>
                  </a:defRPr>
                </a:pPr>
              </a:p>
            </c:txPr>
            <c:showLegendKey val="0"/>
            <c:showVal val="0"/>
            <c:showCatName val="0"/>
            <c:showSerName val="0"/>
            <c:showPercent val="0"/>
            <c:showBubbleSize val="0"/>
            <c:showLeaderLines val="0"/>
          </c:dLbls>
          <c:cat>
            <c:multiLvlStrRef>
              <c:f>Sheet1!$A$2:$A$14</c:f>
              <c:multiLvlStrCache>
                <c:ptCount val="13"/>
                <c:lvl>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lvl>
              </c:multiLvlStrCache>
            </c:multiLvlStrRef>
          </c:cat>
          <c:val>
            <c:numRef>
              <c:f>Sheet1!$B$2:$B$14</c:f>
              <c:numCache>
                <c:formatCode>General</c:formatCode>
                <c:ptCount val="13"/>
                <c:pt idx="0">
                  <c:v>760</c:v>
                </c:pt>
                <c:pt idx="1">
                  <c:v>320</c:v>
                </c:pt>
                <c:pt idx="2">
                  <c:v>430</c:v>
                </c:pt>
                <c:pt idx="3">
                  <c:v>960</c:v>
                </c:pt>
                <c:pt idx="4">
                  <c:v>14160</c:v>
                </c:pt>
                <c:pt idx="5">
                  <c:v>3740</c:v>
                </c:pt>
                <c:pt idx="6">
                  <c:v>7190</c:v>
                </c:pt>
                <c:pt idx="7">
                  <c:v>29000</c:v>
                </c:pt>
                <c:pt idx="8">
                  <c:v>46300</c:v>
                </c:pt>
                <c:pt idx="9">
                  <c:v>16500</c:v>
                </c:pt>
                <c:pt idx="10">
                  <c:v>42300</c:v>
                </c:pt>
                <c:pt idx="11">
                  <c:v>93400</c:v>
                </c:pt>
                <c:pt idx="12">
                  <c:v>87700</c:v>
                </c:pt>
              </c:numCache>
            </c:numRef>
          </c:val>
        </c:ser>
        <c:dLbls>
          <c:numFmt formatCode="#,##0" sourceLinked="0"/>
          <c:txPr>
            <a:bodyPr/>
            <a:lstStyle/>
            <a:p>
              <a:pPr>
                <a:defRPr b="0" i="0" strike="noStrike" sz="1200" u="none">
                  <a:solidFill>
                    <a:srgbClr val="1F243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logBase val="10"/>
          <c:orientation val="minMax"/>
          <c:max val="100000"/>
          <c:min val="10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比特币挖矿用电结构（2025 年调查）</a:t>
            </a:r>
          </a:p>
        </c:rich>
      </c:tx>
      <c:layout/>
      <c:overlay val="0"/>
    </c:title>
    <c:autoTitleDeleted val="0"/>
    <c:plotArea>
      <c:layout/>
      <c:doughnutChart>
        <c:varyColors val="1"/>
        <c:ser>
          <c:idx val="0"/>
          <c:order val="0"/>
          <c:tx>
            <c:strRef>
              <c:f>Sheet1!$B$1</c:f>
              <c:strCache>
                <c:ptCount val="1"/>
                <c:pt idx="0">
                  <c:v>矿工用电结构（%）</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475569"/>
              </a:solidFill>
              <a:effectLst/>
            </c:spPr>
          </c:dPt>
          <c:dPt>
            <c:idx val="2"/>
            <c:bubble3D val="0"/>
            <c:spPr>
              <a:solidFill>
                <a:srgbClr val="F7931A"/>
              </a:solidFill>
              <a:effectLst/>
            </c:spPr>
          </c:dPt>
          <c:dPt>
            <c:idx val="3"/>
            <c:bubble3D val="0"/>
            <c:spPr>
              <a:solidFill>
                <a:srgbClr val="B42318"/>
              </a:solidFill>
              <a:effectLst/>
            </c:spPr>
          </c:dPt>
          <c:dPt>
            <c:idx val="4"/>
            <c:bubble3D val="0"/>
            <c:spPr>
              <a:solidFill>
                <a:srgbClr val="94A3B8"/>
              </a:solidFill>
              <a:effectLst/>
            </c:spPr>
          </c:dPt>
          <c:dLbls>
            <c:dLbl>
              <c:idx val="0"/>
              <c:numFmt formatCode="0.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0.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3"/>
              <c:numFmt formatCode="0.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4"/>
              <c:numFmt formatCode="0.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可再生能源</c:v>
                </c:pt>
                <c:pt idx="1">
                  <c:v>核电</c:v>
                </c:pt>
                <c:pt idx="2">
                  <c:v>天然气</c:v>
                </c:pt>
                <c:pt idx="3">
                  <c:v>煤炭</c:v>
                </c:pt>
                <c:pt idx="4">
                  <c:v>其他</c:v>
                </c:pt>
              </c:strCache>
            </c:strRef>
          </c:cat>
          <c:val>
            <c:numRef>
              <c:f>Sheet1!$B$2:$B$6</c:f>
              <c:numCache>
                <c:ptCount val="5"/>
                <c:pt idx="0">
                  <c:v>42.6</c:v>
                </c:pt>
                <c:pt idx="1">
                  <c:v>9.8</c:v>
                </c:pt>
                <c:pt idx="2">
                  <c:v>38.2</c:v>
                </c:pt>
                <c:pt idx="3">
                  <c:v>8.9</c:v>
                </c:pt>
                <c:pt idx="4">
                  <c:v>0.5</c:v>
                </c:pt>
              </c:numCache>
            </c:numRef>
          </c:val>
        </c:ser>
        <c:firstSliceAng val="0"/>
        <c:holeSize val="55"/>
      </c:doughnutChart>
      <c:spPr>
        <a:noFill/>
        <a:ln>
          <a:noFill/>
        </a:ln>
        <a:effectLst/>
      </c:spPr>
    </c:plotArea>
    <c:legend>
      <c:legendPos val="b"/>
      <c:overlay val="0"/>
      <c:txPr>
        <a:bodyPr/>
        <a:lstStyle/>
        <a:p>
          <a:pPr>
            <a:defRPr sz="12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mn-lt"/>
              </a:defRPr>
            </a:pPr>
            <a:r>
              <a:rPr sz="1400" b="0" i="0" u="none" strike="noStrike">
                <a:solidFill>
                  <a:srgbClr val="1F2430"/>
                </a:solidFill>
                <a:latin typeface="+mn-lt"/>
              </a:rPr>
              <a:t>中国占全球比特币算力的份额（%）</a:t>
            </a:r>
          </a:p>
        </c:rich>
      </c:tx>
      <c:layout/>
      <c:overlay val="0"/>
    </c:title>
    <c:autoTitleDeleted val="0"/>
    <c:plotArea>
      <c:layout/>
      <c:barChart>
        <c:barDir val="col"/>
        <c:grouping val="clustered"/>
        <c:varyColors val="0"/>
        <c:ser>
          <c:idx val="0"/>
          <c:order val="0"/>
          <c:tx>
            <c:strRef>
              <c:f>Sheet1!$B$1</c:f>
              <c:strCache>
                <c:ptCount val="1"/>
                <c:pt idx="0">
                  <c:v>中国占全球算力份额（%）</c:v>
                </c:pt>
              </c:strCache>
            </c:strRef>
          </c:tx>
          <c:spPr>
            <a:solidFill>
              <a:srgbClr val="B42318"/>
            </a:solidFill>
            <a:effectLst/>
          </c:spPr>
          <c:invertIfNegative val="0"/>
          <c:dLbls>
            <c:numFmt formatCode="0.0&quot;%&quot;"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2019-09</c:v>
                  </c:pt>
                  <c:pt idx="1">
                    <c:v>2021-04</c:v>
                  </c:pt>
                  <c:pt idx="2">
                    <c:v>2021-07</c:v>
                  </c:pt>
                </c:lvl>
              </c:multiLvlStrCache>
            </c:multiLvlStrRef>
          </c:cat>
          <c:val>
            <c:numRef>
              <c:f>Sheet1!$B$2:$B$4</c:f>
              <c:numCache>
                <c:formatCode>General</c:formatCode>
                <c:ptCount val="3"/>
                <c:pt idx="0">
                  <c:v>75.5</c:v>
                </c:pt>
                <c:pt idx="1">
                  <c:v>46</c:v>
                </c:pt>
                <c:pt idx="2">
                  <c:v>0</c:v>
                </c:pt>
              </c:numCache>
            </c:numRef>
          </c:val>
        </c:ser>
        <c:dLbls>
          <c:numFmt formatCode="0.0&quot;%&quot;"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【课时建议】全章约 4–5 课时（每课时 45 分钟）。主线：四个要求 → 三块积木 → 一套系统（PoW）→ 激励与发行 → 成就与不足 → 遗产。
【节奏】标注“拓展”的页面可以跳过或留作课后阅读；每个模块末尾有一页随堂小测，答案在备注里。
【说明】本版是在原课件基础上修订：更正了知识性错误，更新了数据到 2026 年 10 月，补齐了逻辑断点，并把长段文字改成“一页一个结论 + 图示”。详见仓库中的《数字货币4_修订说明.md》。
【动态数据】涉及价格、算力、监管文本的页面都标注了“截至某日”，上课前请刷新。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【讲解】先把目标亮给学生：这一章不是让大家去“炒币”，而是看懂一个没有银行的支付系统是怎么运转的，以及它为什么既让人着迷又让人担忧。
【提示】这五条会在章末的“总测验”里一一对应，可以提醒学生带着它们听课。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【讲解】请学生先想 30 秒：假设支付宝、银行、微信都不存在，你要给一个素不相识的人转 100 元，会遇到哪些麻烦？
【引导】把学生的答案归并到三个问题上：身份与授权（这钱是你的吗）、重复花费（会不会一笔钱付两次）、记账与信任（谁来记账）。
【过渡】比特币对这三个问题给出了一套完整的技术答案——本章就是把这套答案拆开来看。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【讲解】先给学生一张“地图”。前三块是积木（密码学、哈希、账本），第四块把积木拼成系统（工作量证明），第五块解释这个系统为什么能自己运转（激励与发行），后面是评价与展望。
【主线】导入之后会出现“好的支付系统必须做到的四件事”，它是贯穿全章的检查表：每个模块解决其中一两件，章末再用同一张表给比特币“打分”。
【风险提示】请在课堂上口头强调：本课程是技术与经济分析，不构成投资建议；中国大陆禁止虚拟货币相关业务活动，遇到“带你赚钱”的人要提高警惕（第 8 部分有专门一页）。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【讲解】这一部分回答三个问题：比特币是怎么宣布自己诞生的？为什么偏偏是 2008 年？它的思想有哪些“前辈”？最后用“四个要求”把问题定义清楚，作为全章的检查表。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【讲解】这场革命没有发布会，只是一封发到“密码学邮件列表”的邮件，附上一份只有 9 页的白皮书。注意收件人是密码学家和计算机科学家，不是金融界。
【逐句读】邮件里列的几个要点：① 全新的、完全点对点的电子现金系统，没有可信的第三方；② 双重支付由 P2P 网络来防止；③ 没有铸币厂或其他可信方；④ 参与者可以是匿名的；⑤ 新币采用类似 Hashcash 的工作量证明来产生；⑥ 工作量证明同时为网络防止双花提供动力。
【纠正】原课件说白皮书发到“密码朋克邮件列表”，实际是 metzdowd.com 上的 cryptography 邮件列表。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【讲解】摘要其实就是整门课的提纲：数字签名只解决了“一半”的问题，另一半——防止双重支付——还要靠可信第三方；比特币的办法是用 P2P 网络 + 哈希 + 工作量证明，造出一条“不重做工作量就无法修改”的记录。
【关键条件】最后一句最重要：只要诚实节点掌握的算力超过合谋攻击者，最长的那条链就是可信的历史。这是整个安全模型的前提，后面讲 51% 攻击时会回到这里。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【讲解】2008-09-15 雷曼破产；六周后（10 月 31 日）白皮书发布；2008 年 11 月美联储宣布首轮量化宽松；12 月政策利率降到接近零。
【数据】美联储总资产：2008 年 9 月约 0.9 万亿美元 → 2011 年 12 月约 2.9 万亿 → 2022 年 4 月前后峰值约 9.0 万亿（均为约数）；同期美国联邦公共债务总额在 2008–2011 年间增加了 5 万亿美元以上。
【联系】创世区块里写下的《泰晤士报》头条（“财政大臣即将对银行实施第二次救助”）正是这一背景的注脚，后面“创世区块”一页会回到这里。
【提问】“信任央行不会滥发货币”——你觉得 2008 年之后这句话的说服力是增强了还是减弱了？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【讲解】这段话常被引用，但课件原来没有标出处：它来自 2009 年 2 月 11 日中本聪在 P2P Foundation 的帖子。
【拆解】四种信任：① 信任央行不滥发货币；② 信任银行保管资金、办理电子转账；③ 信任银行保护隐私；④ 信任成本导致小额支付不可行。
【追问】这四条里，比特币真正“解决”了哪几条？（提示：第 ① 条靠发行规则；第 ② 条靠自己保管私钥；第 ③ 条只做到“假名”；第 ④ 条后来出了新问题——手续费。）这些问题会在“成就与不足”里逐一检验。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【讲解】比特币的“发明”不在某一块积木，而在组合：David Chaum 的电子现金想法（但依赖中心化的发行方）；Haber–Stornetta 的时间戳链；Dwork–Naor 与 Back 的工作量证明；Wei Dai 的 b-money 与 Nick Szabo 的 Bit Gold；Hal Finney 的 RPOW。
【纠正】原课件把 b-money 归到 Adam Back 名下，这是错的：b-money 是戴伟（Wei Dai）在 1998 年提出的；Back 提出的是 Hashcash。
【教学提示】可以让学生数一数：白皮书一共只有 8 篇参考文献，其中大部分是这类“旧积木”。创新在于把它们拼起来，并用经济激励让系统自己转起来。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【讲解】垃圾邮件的本质是“发一封和发一百万封几乎一样便宜”。Dwork 与 Naor（1992，CRYPTO）提出：让发件人为每封邮件做一点计算，对正常用户几乎无感，对群发者代价巨大。1997 年 Adam Back 把它做成了 Hashcash。
【机制】发件人在邮件头加一个“戳记”（含收件人、日期、随机数），要求 SHA-1 哈希值的前 20 位为 0。找到这个戳记平均要试约 2^20（约 100 万）次；收件人验证只需 1 次哈希。
【类比】春运抢票时 12306 的验证码也是在“消耗你的注意力”来筛掉机器人；Hashcash 消耗的是 CPU 算力。
【纠正】原课件写“前 20/32/72 个字符为 0”，应为“位（bit）”：Hashcash 前 20 位；比特币创世时约 32 位；今天约 79 位。
【为什么它还不是钱】① 戳记绑定收件人，不能转手再用；② 计算机越来越快，同样的难度越来越便宜（相当于“通胀”）；③ 没有发行规则。比特币正是把这三点补上了。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【讲解】① Adam Back：2008 年 7–8 月前后收到中本聪来信，询问 Hashcash 的引用；Back 建议他去看戴伟的 b-money——所以 b-money 出现在了白皮书的第一条参考文献里。② Wei Dai：2008-08-22 中本聪给他写信，说自己的论文建立在 b-money 之上，询问发表年份以便引用。③ Hal Finney：RPOW 的作者，是第一个认真运行比特币软件的人。2009-01-10 他发推 “Running bitcoin”；2009-01-12，区块 170 里出现了第一笔点对点转账——中本聪向 Finney 转了 10 个比特币。
【纠正】Back 在原课件里被说成 B-money 的提出者，这一页顺便把人物关系理清。
【延伸】Adam Back 现为 Blockstream 的 CEO，多次被猜测是中本聪，他本人否认；这些邮件是在英国高等法院审理 Craig Wright 案时作为证据披露的。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【讲解】这张表是整章的“检查表”：左列是原课件里“高效支付系统的关键特征”，我把它拆成四条，并对照“传统系统靠谁”与“比特币靠什么”。
【用法】后面每一个模块的开头，都会点亮它解决的是哪一条（章节页上的橙色标签）；章末“最终评分卡”会用同一张表给比特币打分。
【提问】如果你来设计，哪一条最难？（多数学生会说第 ④ 条：防止重复花费。）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【讲解】这一块积木回答支付系统的前两个要求：谁是交易双方（识别），以及怎样便捷地促成并验证交易。答案是公钥与私钥、数字签名。
【预告】本部分共 10 页：密码学是什么 → 简史 → 两种用法 → 数字签名 → 密钥与地址 → 钱包 → 安全。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【讲解】先破一个最常见的误解：很多人以为加密货币是“把交易内容加密藏起来”。事实正好相反——比特币的账本完全公开，任何人都能查每个地址的余额和历史。
【密码学到底用在哪】只有两处：① 数字签名——证明“这笔钱是我授权花的”（积木一）；② 哈希——给数据做指纹，让账本一改就露馅（积木二）。
【术语】“加密货币”是 cryptocurrency 的习惯译法，更准确是“用密码学技术保护的货币”。中国监管文件里统称“虚拟货币”，本课件在讲技术时用“加密货币”，在讲监管时沿用“虚拟货币”。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【讲解】三个故事串起一条线索。① 纳瓦霍“密语”：1942 年美国海军陆战队招募了 29 名纳瓦霍族人，用母语编码，在瓜岛、硫磺岛等战役中传递电文；据美国国家情报总监办公室介绍，译 3 行英文只要 20 秒，而当时的密码机需要 30 分钟。硫磺岛战役中 6 名译电员传送了 800 多条电文。② Enigma：德军的机器密码，波兰数学家 1932 年首先破解，1939 年把成果交给英法，图灵等人在此基础上改进出 Bombe。③ 1976 年 Diffie 与 Hellman 提出公钥密码。
【逻辑】前两个故事的共同痛点是：通信双方必须事先共享同一本“密码”——密钥分发难题。公钥密码打破了这个限制：陌生人之间不用见面，也能建立信任。这正是比特币需要的（网络上都是陌生人）。
【纠正】原课件说波兰小组“与图灵合作”，时序不准确；“唯一不可破解”是官方宣传口径，改为“二战期间从未被日军破译”。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【讲解】公钥可以公开，私钥必须保密，它们是数学上成对的。这对钥匙有两种用法：
① 加密（保密）：别人用你的公钥加密，只有你的私钥能解开——保证“只有你能看”。
② 签名（认证）：你用私钥签名，任何人用你的公钥验证——保证“确实是你签的”。
【关键】比特币只用第二种。这也纠正了原课件中“用公钥加密、私钥解锁”的混用说法：比特币的“解锁”其实是“用私钥生成一个能通过公钥验证的签名”。
【追问】既然账本是公开的，为什么还需要保密？不需要——需要的是“授权”，不是“保密”。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【讲解】这是原课件的小明、小红漫画，我保留了。创建一笔交易有两种方式：① 小红声称“小明给了我 1 万”——显然不可信，谁都能这么说；② 小明声称“我给了小红 1 万”，只要能验证这句话确实出自小明，并且小明真有这 1 万，交易就成立。
【过渡】关键就在“验证这句话确实出自小明”——传统做法是核对笔迹（手写签名），数字世界用数字签名，而且比笔迹更可靠。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【讲解】流程：私钥持有人把“消息”和“自己的私钥”交给签名算法，得到签名；把“消息、签名、公钥”一起发出去；接收方用验证算法检查，通过即成立。
【三个性质】① 不可伪造：私钥只有签名人知道；② 不可篡改：消息改动一个字节，验证就失败（签名与消息内容绑定，这比手写签名强得多——手写签名可以被“剪贴”到别的文件上）；③ 不可抵赖：验证通过说明一定是私钥持有人签的。
【比特币中的对应】付款人用私钥对“这笔交易”签名，证明自己拥有这笔币并同意转给指定的收款人（白皮书 §2：每个所有者通过签署“上一笔交易的哈希 + 下一位所有者的公钥”把币转给下一位）。
【算法】比特币最初使用 ECDSA（椭圆曲线 secp256k1），2021 年 Taproot 升级后也支持 Schnorr 签名。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【讲解】把比特币放进熟悉的参照系：纸币靠“占有”，支票靠“签名 + 账户信息”，借记卡靠“卡号 + PIN”。比特币的地址相当于卡号/账户信息（公开），私钥签名相当于签名/PIN（保密）。
【关键差别】前三种都有一个“兜底的机构”：丢了可以挂失、止付、改密码。比特币没有——它把“证明你有权花钱”这件事从银行手里拿了回来，保管责任也一并拿了回来。
【引申】这也是后面“容错率低”“托管风险”要讨论的伏笔。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【讲解】三个对象，两道“单向门”：私钥是一个 256 位的随机数（范围 1 到 n−1，n 约等于 2^256 − 4.3×10^38）；公钥由私钥经椭圆曲线乘法算出；地址则是对公钥再做哈希并加校验码。每一步“正向”都很容易，“反向”（从地址推公钥、从公钥推私钥）在计算上不可行。
【纠正】原课件说公钥是“两个 256 位整数”（未压缩格式，65 字节），实际钱包多用压缩格式（33 字节）；而且你在支付时给别人的通常不是公钥本身，而是公钥的哈希（地址）。
【课堂演示】可打开任一区块浏览器（如 mempool.space），输入一个地址，展示余额与交易历史——只有地址，没有姓名。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【讲解】用银行卡类比：地址（公钥的哈希）≈ 卡号：公开，任何人都能据此查余额；私钥 ≈ 密码：花钱的唯一凭证。
【不一样的地方】银行卡：卡号由银行指定，密码可以随时改、可挂失；比特币：先有私钥，再算出地址——“改密码”相当于生成一张新卡，再把钱转过去；没有客服，没有挂失。
【假名性】账本只记录地址，不记录姓名——这叫“假名”（pseudonymity），不是“匿名”。原课件第 26 页把它说成“匿名特性”，与第 8 页（假名）和后面“数字匿名性？”相矛盾，这里统一为“假名”。后面会看到，一旦地址与真实身份关联（交易所实名、购物、收款），全部历史都会暴露。
【示例】图中的卡面是示意；教学中绝不要使用任何网上公开示例的私钥。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【讲解】钱包的本质是“管理私钥的工具”。分类标准有两个：联网与否（热/冷），以及谁掌握私钥（托管/自托管）。
【托管】交易所账户属于托管：你持有的是交易所对你的“债权”，私钥在他们手里——“不是你的钥匙，就不是你的币”（Not your keys, not your coins）。Mt.Gox、Quadriga、FTX 都栽在这里（后面“托管风险链”会展开）。
【自托管】软件钱包（如 Electrum）私钥在你的设备上；硬件钱包（如 Ledger、Trezor）让私钥不离开专用设备。
【助记词】BIP39 标准：用 12 或 24 个单词编码私钥种子，抄写在纸或金属板上离线保存。
【纠正与删除】原课件的“纸钱包、脑钱包”已被淘汰：脑钱包（用口令直接生成私钥）会被字典攻击扫光；“Bitpay”这一例子也已过时。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【讲解】三道防线。① 随机数：私钥的安全性等于随机数的质量。不要自己“想一个随机数”；必须使用操作系统/库提供的密码学安全随机数发生器（CSPRNG）。2013 年 Android 的 SecureRandom 实现缺陷导致不同钱包生成了重复的签名随机数，部分比特币被盗。原课件说“绝对不能使用伪随机数”不准确——计算机的随机数本质上都是伪随机，关键是“密码学安全”。
② 保管：助记词只在离线介质备份；任何网站、客服、“空投”要你的助记词都是诈骗。
③ 量子计算：Shor 算法理论上能在足够大的量子计算机上从公钥推出私钥。目前没有这样的机器（2026 年最好的设备只有约千个物理量子比特，距离破解椭圆曲线所需的资源仍相差几个数量级）。据媒体报道，2026 年 3 月 Google Quantum AI 的论文把所需资源估算又降低了约 20 倍，社区在讨论抗量子签名升级（如 BIP-360）。注意：挖矿使用的哈希函数受量子影响远小于签名。这里请以论文原文为准，并作为“拓展”处理。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B（对交易签名，证明授权）。Q2：攻击者可以花光该私钥控制的全部比特币，且无法撤销；因为区块链上的交易不可逆，没有任何机构能“冻结”或“找回”。Q3：不准确之处——银行卡号由银行指定、密码可改；比特币的公钥/地址是由私钥推导出来的，不能“换密码”；另外地址实际是公钥的哈希。
【互动】Q3 可让学生两两讨论 1 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【讲解】这块积木回答第三个要求的一半：记录要“可验证、不可更改”。哈希函数给数据做指纹；默克尔树把一大批指纹合并成一枚。
【预告】本部分 11 页：为什么需要哈希 → 哈希的性质 → 真实的 SHA-256 → 不是加密/碰撞 → SHA-256 规格 → 日常用途 → 默克尔树构建/防篡改/证明 → 现实用途 → 小测。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【讲解】一笔交易包含双方的公钥、金额、时间等信息；如果要让网络中任何一台电脑都能核验，就需要在网络上反复传输海量信息，既慢又繁琐。
【两件工具】哈希函数：把任意长度的信息压成固定长度的“指纹”；默克尔树：把一批指纹按树状结构合并成一枚根哈希，使验证大大简化。
【数字】比特币现在每个区块大约包含几千笔交易，但区块头永远只有 80 字节，其中只放一枚 32 字节的默克尔根。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【讲解】公式 h = H(x)：输入 x 可以是一条消息、一个数字或它们的组合，输出 h 是固定长度的字符串，叫哈希值、摘要或指纹。
【四个性质】① 确定性：同样输入一定得到同样输出；② 雪崩效应：输入变动极小，输出完全不同；③ 单向性：从输出几乎不可能反推输入（前提是输入有足够的随机性——例如“口令”这类低熵输入可以被穷举）；④ 抗碰撞：几乎找不到两个不同输入得到同一输出。
【纠正】原课件第 2 页的备注写“不存在 Hash 碰撞”，不准确：碰撞一定存在（鸽巢原理），只是极难找到；第 33 页已经讲对了，这里统一。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【讲解】这页的哈希值都是真实计算出来的 SHA-256（原课件的示例是 32 位十六进制的占位串，与“SHA-256 输出 64 个字符”的正文矛盾，现已替换）。
【观察】bitcoin 和 Bitcoin 只差一个字母的大小写，256 位输出中有 138 位不同（约 54%，几乎正好一半）——这就是雪崩效应：改动微小，输出无法预测。末尾多一个空格同样如此。
【课堂实验】让学生打开 Anders Brownworth 的 Blockchain Demo（andersbrownworth.com/blockchain）的 Hash 页面，输入自己的名字，再改一个字母，观察输出。
【可重复验证】在终端运行：python3 -c "import hashlib;print(hashlib.sha256(b'bitcoin').hexdigest())"。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【讲解】加密是可逆的（有密钥就能解密）；哈希是不可逆的——“哈希化”的过程本身丢掉了信息，所以没有“解密”的途径。哈希值只用来验证，不用来还原。
【碰撞】输入是无限集合，输出是有限集合，所以必然存在不同输入得到相同输出（鸽巢原理）。安全的哈希要求“找不到”：SHA-256 的碰撞攻击需要约 2^128 次（生日攻击），不可行。
【中国故事】2004 年王小云教授在密码学会议上公布了 MD5 的碰撞；2005 年她与合作者提出对 SHA-1 的攻击方法；2017 年 Google 与荷兰 CWI 给出了第一个真实的 SHA-1 碰撞（SHAttered）。所以今天的软件校验不应再用 MD5/SHA-1，比特币用的 SHA-256 至今没有已知的实际碰撞。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【讲解】比特币使用 SHA-256（Secure Hash Algorithm，SHA-2 家族成员，由美国国安局 NSA 设计、NIST 于 2001 年发布）。输出 256 位 = 32 字节 = 64 个十六进制字符（1 个十六进制字符 = 4 位）。比特币对区块头做两次 SHA-256（SHA-256d）。
【量级】2^256 ≈ 1.16×10^77。即使每秒 10^18 次（百亿亿次，一台顶级超算的量级）也要约 3.7×10^51 年；就算动用全比特币网络（约 10^21 次/秒，1 ZH/s），也要约 3.7×10^48 年。宇宙年龄约 1.4×10^10 年。
【纠正】原课件说“最快的超级计算机也需要数百万年”，严重低估了量级。
【精确说法】这里说的是“原像攻击”（给定输出找输入）的难度 2^256；“碰撞攻击”只需约 2^128，但同样不可行。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【讲解】图是原课件里的 MySQL 下载页：旁边列出的“MD5”就是文件的哈希，下载后核对，可以确认文件没被替换或损坏。
【提醒】图里的 MD5 已不再安全，今天应当使用 SHA-256；放在这里只是为了说明“哈希是一种日常的完整性工具”。
【其他用途】网站不应保存明文口令，而应保存“加盐哈希”；Git 用哈希标识每一次提交；区块链用哈希把区块“链”起来。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【讲解】Ralph Merkle 在 1979 年（斯坦福博士论文与专利）提出这种结构。他同时也是公钥密码学的先驱之一，Merkle puzzles 是公钥思想的早期形式——所以他的名字在这一章出现了两次。
【构造】① 对每笔交易分别计算哈希，这些哈希是树的“叶子”；② 把相邻两个哈希拼起来再哈希，得到上一层的节点；③ 重复，直到只剩一个——这就是“根哈希”（Merkle Root），它相当于整组交易的唯一指纹。
【细节】如果某一层节点数是奇数，比特币会把最后一个哈希复制一份凑成偶数。比特币每个区块头里只放这一枚根。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【讲解】图是原课件的两张树：把 Transaction 4 换成另一笔，叶子哈希变了，沿着这条分支向上的每一个哈希都变了，一直到根——根哈希与之前完全不同。
【例子】哪怕只把 10.20 美元改成 10.21 美元，整棵树的根也面目全非。
【纠正】原课件说默克尔根“也是 64 位的字母数字字符串”，应为 64 个十六进制字符（256 位）；根与叶子由同一个哈希函数生成。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【说明】这是原课件备注里“画一个更大的 tree，解释最后一句话”的那张图。
【讲解】8 笔交易的树有 4 层。要向别人证明 Tx3 在这一块里，不需要把全部交易发给他，只需要：Tx3 本身，加上路径上的 3 个“兄弟”哈希：H4、H12、H5678。对方自己计算 H3 = H(Tx3)，再依次计算 H34 = H(H3‖H4)、H1234 = H(H12‖H34)、根 = H(H1234‖H5678)，与区块头里的根对比，一致即证明成立。
【规模】证明的长度只与 log2(n) 成正比：n = 8 → 3 个哈希；n = 2000 → 11 个；n = 4000 → 12 个哈希（约 384 字节）。这就是白皮书 §8“简化支付验证（SPV）”的基础。
【互动】可以让学生自己上黑板画出 n = 16 时需要几个哈希（4 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【讲解】① SPV（简化支付验证，白皮书 §8）：手机钱包不下载全部区块，只下载每个区块头（80 字节）。白皮书算过：一年约 4.2 MB。要确认某笔付款，向全节点索取这笔交易的默克尔证明，核对根，再看它所在的区块后面又接了多少区块。这样不必下载约 770 GB 的整条链。
② 储备证明：2022 年 11 月 FTX 倒闭后，主流交易所开始发布储备证明：把每个用户的余额放进一棵（带金额求和的）默克尔树，公布根；用户可以用证明验证“我的余额确实被计入了总负债”。
【局限】储备证明只能证明“负债里有你”，不能保证没有隐藏的负债，也不能单独证明资产真实——需要配合独立审计。这是把课堂知识放进真实世界的好例子。
【相关】白皮书 §7“回收磁盘空间”：交易被埋得足够深之后，块内部的哈希可以被修剪，只保留根。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【答案】Q1：哈希在计算中丢失了信息，没有“解密”途径；哈希只能验证、不能还原；加密则是可逆的。Q2：10 个（log2(1024) = 10）。Q3：该叶子哈希、路径上的所有父节点、默克尔根，以及区块头（进而区块哈希）都会改变。
【拓展】Q2 可追问：如果是 4000 笔呢？（12 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前两块积木解决了“谁授权”和“如何做指纹”；这一块要回答“谁来记账”。先看一个古老的类比（雅浦岛石币），再看分布式账本，然后引出数字货币的头号难题——双重支付，以及解决它所需要的共识。
【预告】本部分 10 页，其中“拜占庭将军问题”和“UTXO”是对原课件的补充：它们是后面理解工作量证明的必要铺垫。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【讲解】西太平洋雅浦岛的居民把巨大的石轮（rai）当作货币，大的直径可达数米、重达数吨，根本搬不动。于是他们发展出一套办法：石头留在原地，只更换“主人”。
【怎么记账】交易当众宣布，在场的人各自记下“谁是这块石头的新主人”，没在场的人事后被告知。所有权由整个社区的集体记忆维护——这是一本没有“记账员”的分布式账本。
【故事】传说一块石币在海运途中沉入海底，岛民仍然认为它属于原主人，照样用它交易（弗里德曼 1991 年《石币之岛》也讲了这个故事）。
【五个好处】可用性、冗余性、容错性、安全性、透明性——这五条恰恰也是分布式账本的好处。要作弊，就得收买超过一半的社区成员，远比收买一个“中央记录人”难。
【提问】雅浦人本可以任命一个专职记账员，为什么没有？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【讲解】分布式账本是由许多节点同时维护、保持同步的电子数据库，没有中心化的权威。每笔交易发给所有节点验证，并按时间戳分组成区块；每个节点都有一份完整的副本。
【安全性】没有单点故障；少数节点失效不影响整体；想篡改自己的那份账，会立刻与其他副本不一致而暴露。
【范围】DLT 不只用于支付——结算本质上就是更新“谁拥有什么”的记录；转移一份股票或一处房产，只是把资产的数字标识重新绑定到新所有者的公钥上。
【补充】“区块链”只是 DLT 的一种。区分两类：公有（无许可）链——任何人都能参与写账，如比特币；许可链——只有被授权的成员能写，如 Hyperledger Fabric、R3 Corda。许可链更快更可控，但“去中心化”程度低。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【讲解】现金交易：你把 10 美元交给收银员，就不再拥有它，不可能再花一次。银行卡：银行从你的账户扣款，余额归零后就不能再花。可是数字货币只是一串比特——可以复制。如果没有可信机构验证记账，持有者就可能把同一枚币反复签给多个收款人，这就是“双重支付”（double-spending）。数字签名保证了“币是你的”，却防不住“你把同一枚币签两次”。
【传统解法】① 引入可信第三方，维护中央数据库、检查余额——有效，但又退回到“信任机构”；② 给交易加数字时间戳——但在交易未被验证前，谁的时间戳最早，没人能仲裁。
【过渡】比特币的目标：不靠中心机构，也能解决双重支付。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【说明】这一页是对原课件的补充，用来补上“双重支付 → 工作量证明”之间缺失的桥梁。
【问题】Lamport 等人（1982）：几位将军各领一支部队围攻一座城，必须一致决定“进攻”还是“撤退”，只能靠信使传话；其中可能有叛徒，信使也可能被截。如何保证忠诚的将军达成一致？经典结论：在只有口头消息的情况下，叛徒必须少于 1/3（n ≥ 3f + 1）。
【放到比特币里】“将军”就是网络中互不信任的节点，“进攻/撤退”就是“哪笔交易算数、账本长什么样”。
【新难题：女巫攻击】如果按“人头”投票，攻击者开一万个假身份就能多拿一万票。
【中本聪的变通】不按身份、而按算力投票（白皮书：“工作量证明本质上是一 CPU 一票”）：伪造算力要花真金白银。而且它是“概率性共识”——不是一次投票定胜负，而是最长链随着时间越来越难被推翻。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52、65 页把“运行节点”和“挖矿”混为一谈（“下载软件就能让你的电脑成为矿工”），这是常见误解。
【区分】钱包：管理私钥、签名、发起交易，人人可用。全节点：下载并独立验证全部区块与交易，转发给其他节点，不赚钱，靠个人/机构的意愿运行。矿工：收集交易、打包区块、竞争出块，需要专用 ASIC 矿机和廉价电力。
【关键】节点“说了算”：如果矿工造出违规区块（比如给自己多发奖励、包含无效签名），全节点会直接拒收，这个区块等于白挖。这也是 2017 年“用户激活软分叉（UASF）”背后的逻辑：规则由经济节点的集体执行决定，矿工只是提议者。
【数据】2025 年 12 月可达节点约 2.4 万个（Bitnodes；统计口径有限）；区块链数据 2026 年 9 月约 768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【说明】这一页是对原课件的补充。原课件第 85 页提到“当前未花费余额”却没有命名，第 16 页又说“每一枚数字货币都由一对公私钥标识”，这是不准确的。
【讲解】比特币的账本里记录的不是“账户余额”，而是一个个“未花费的交易输出”（UTXO，Unspent Transaction Output）。每个 UTXO 被锁定在某个地址上，只有用对应的私钥签名才能花。
【例子】Jack 有两个 UTXO，各 2 BTC，要付给 Jill 3 BTC：交易把这两个输入整个“花掉”，产生三个新输出——3 BTC 给 Jill，0.999 BTC 作为“找零”回到 Jack 自己的新地址，0.001 BTC 是手续费（输入之和减输出之和，归打包的矿工）。输入 2 + 2 = 输出 3 + 0.999 + 0.001。
【意义】① “余额”只是钱包把属于你的 UTXO 加起来；② 一个 UTXO 只能被花一次——全节点维护 UTXO 集合，据此判断是否双花；③ 与以太坊的“账户模型”不同。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【讲解】每个区块由“区块头”和“交易列表”组成。区块头恰好 80 字节，由 6 个字段组成：版本（4）、前一区块哈希（32）、默克尔根（32）、时间戳（4）、难度目标 nBits（4）、随机数 nonce（4）。
【纠正】原课件第 84 页列举区块头内容时漏了 nonce，这里补全。
【关键】区块自己的“区块哈希”并不写在区块里，而是对这 80 字节做两次 SHA-256 算出来的。前一区块哈希把本块与前一块相连；默克尔根把本块的全部交易“承诺”进区块头。
【容量】区块的大小用“权重”衡量，上限 4,000,000 权重单位（SegWit 之后），实际约 1–4 MB；一个区块通常包含几千笔交易。（2025 年末：约 2,000–5,000 笔，随年份和类型变化。）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【讲解】区块头里的 Prev Hash 记录了上一个区块的哈希，从而通过它追溯到上一块；而下一块的 Prev Hash 又指向本块……这样每个区块都与它之前的所有区块递归地连接，形成一条链。
【关键】区块哈希由区块头计算而来，而区块头里包含了 Prev Hash——所以“前一块的内容”被层层包含进了后面每一块的哈希里。改动任何一块，它的哈希就变了，下一块里记录的 Prev Hash 就对不上，链就断了。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【说明】这是原课件第 59 页用红字提出的问题，这里给出完整的“多米诺骨牌”答案。
【答案】① 该笔交易的哈希变 → ② 默克尔根变 → ③ 第 N 块的区块头变，区块哈希变 → ④ 第 N+1 块里记录的 Prev Hash 不再匹配，必须同步修改，于是第 N+1 块的哈希也变 → ⑤ 之后的每一块都要重做。
【关键】每块的区块哈希都必须满足工作量证明（前面若干个 0）。改动一块后，要让它重新“合格”，就得重新挖这一块，以及之后所有块——这正是下一部分要讲的：把“改账”变成一件极其昂贵的事。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数字货币只是一串比特，可以复制；现金靠物理占有，银行卡靠银行扣减余额。数字签名只能证明“币是你的”，无法阻止你把同一枚币签给两个人。Q2：节点独立验证并转发，人人可运行；矿工竞争出块，需要 ASIC 与廉价电力；节点会拒收违规区块，所以节点“说了算”。Q3：2+2 = 4：输出 3（给 Jill）+ 找零 0.999 + 手续费 0.001 = 4；余额是所有 UTXO 之和。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【讲解】前面三块积木各自解决了一个局部问题；这一部分把它们“焊”成一个系统：用工作量证明（PoW）让陌生人在没有中心的情况下，就“账本长什么样”达成一致，并让篡改历史变得极其昂贵。
【预告】本部分 13 页，包含一个课堂活动（做一回矿工）和白皮书 §11 的攻击概率计算。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这是原课件的小红故事：一个班里只有一个女生小红，男生都想约她看电影，名额只有一个。小红出一道数学题，谁先解出来，谁就有资格。解方程很费劲，但验证只需把答案代进去——这就是“难求解、易验证”。
【防作弊】如果有人偷看了小明的答案怎么办？小红给每个男生发不同的方程（第一项系数就是编号），小明的 x=2.5 对小军就不成立。这对应比特币里的做法：区块里包含矿工自己的收款地址（coinbase 交易），所以别人偷看你的答案也没用。
【局限】这个类比的缺陷要说清：多项式方程有数学解法，并不是“只能蛮力”；比特币的题（哈希）没有任何结构可利用，只能逐个猜。下一页讲真实的题。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【讲解】比特币的“题”是：找到一个数 nonce，使得对区块头做两次 SHA-256 后得到的哈希值（把它看成一个 256 位整数）小于某个“目标值”。目标值越小，题越难。
【直观】哈希值的前面有 k 个十六进制的 0，大致相当于“目标值”小了 16^k 倍。区块头其他字段固定，只改 nonce，每试一次就是一次完全随机的“抽奖”。
【没有捷径】SHA-256 的输出无规律，不存在“越来越接近”的信号，只能一个个试。
【细节】nonce 只有 32 位（约 43 亿种），在今天的算力下一瞬间就会用完；矿工还可以改动 coinbase 中的“额外随机数”（extranonce）、时间戳和版本位来获得新的区块头。原课件把这个机制讲得非常好（见图中示例：试到 nonce = 124,709,132 才得到前 8 个 0）。
【纠正】原课件说“这些问题由比特币算法自动生成……随机生成的密码学难题”，更准确的说法是：题目由区块头决定，难度由“目标值”决定；目标值由难度调整机制确定。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【活动设计】时长 8–10 分钟，两人一组，用笔记本电脑或手机上的 Python 环境。
【任务】① 运行代码，找到使 SHA-256 以“000”开头的 n；② 把“000”改成“0000”，比较用时；③ 把前缀换成自己的姓名拼音，看全班谁先找到。
【参考答案（教师用）】前缀为 "Bitcoin-4-JXUFE-" 时：以 "000" 开头的第一个 n = 5325（哈希 000b9704a94003d3…）；以 "0000" 开头的第一个 n = 44351（哈希 00009c31410271c9…）。期望次数分别是 16^3 = 4096 与 16^4 = 65536。
【讨论】① 为什么每个人换了前缀（姓名）后，答案都不一样，也没法抄别人的？（输入不同；比特币里，矿工自己的收款地址在区块里。）② 比特币现在要求约 79 位（≈19.75 个十六进制 0），期望要试约 6×10^23 次——比你这次多了约 19 个数量级。
【提示】没有 Python 环境的同学可以使用在线 SHA-256 工具手工试，但很慢——这正是“工作量”的含义。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69 页问“为什么大约需要 10 分钟？”，备注的回答是“因为每隔约 10 分钟会有一个新区块”，这是循环论证。
【真正的答案】10 分钟是协议设定的目标出块间隔（中本聪的设计选择），在“确认速度”和“同时出块造成的临时分叉”之间折中；它是由“难度调整”机制校准的：每 2016 个区块（约两周）比较“实际用时”和“期望用时 20160 分钟”，按比例调整目标值，且单次最多放大或缩小 4 倍。算力上升 → 块变快 → 难度上调；算力撤离 → 块变慢 → 难度下调。
【纠正】原课件第 79、80 页说“难题会逐渐变得更难”，容易让人以为难度随时间单调上升；准确地说它是双向、被算力驱动的。
【数量级】Hashcash：前 20 位为 0（≈2^20 ≈ 100 万次）；比特币 2009 年创世时约 32 位（≈2^32 ≈ 43 亿次）；2026 年难度约 1.39×10^14，每块约需 2^79 ≈ 6×10^23 次哈希，全网约 10^21 次/秒，所以平均约 10 分钟。
【故事】2021 年夏天中国清退矿机，全网算力骤降，难度曾单次下调约 28%，是历史上最大的下调之一。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【讲解】找到解的过程像“抽奖”：每次尝试成功的概率很小且相互独立。这样的过程叫泊松过程，相邻两次成功之间的时间服从指数分布。平均是 10 分钟，但：约 63% 的区块在 10 分钟内出现，约 37% 要等超过 10 分钟，约 0.25%（1/400）要等超过 1 小时。
【无记忆性】已经等了 9 分钟，下一分钟找到的概率和刚开始时完全一样。所以“实力 + 运气”：你的笔记本也有极小的可能性走运，但概率太低，几乎等同于买一张彩票。
【后果】这也是为什么单个矿工收入很不稳定，进而催生了“矿池”（下一页）。
【提问】“一笔交易大约需要 10 分钟确认”这句话，准确吗？（一次确认的等待时间是随机的，6 次确认才约 1 小时。）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【讲解】① 硬件演进：CPU（2009）→ GPU（2010）→ FPGA（2011）→ ASIC（2013 起）。通用性降低，性能提高，普通电脑早已不可能挖到比特币。② 一台主流矿机（如 Antminer S21，约 200 TH/s，即 2×10^14 次/秒）只占全网（≈10^21 次/秒）的百万分之几，单独挖矿的中奖间隔极长。③ 于是出现“矿池”：把大家的算力合起来，按各自贡献分配奖励，像合买彩票，收入更平滑。
【集中度】各来源口径不同：最大的矿池 Foundry USA 约占 30%，AntPool 约 15–20%，前两大矿池合计约一半。这与 51% 攻击的讨论有关：矿池只是“调度算力的人”，真正的算力仍属于背后的矿机持有者，他们可以随时切换矿池，但集中度依然是去中心化的隐忧。
【补充】原课件第 76 页“你的 MacBook 再好用也难和专业矿机相比”的说法依然成立，这里更新了数据。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【讲解】白皮书 §5 把整个网络的运行归纳成六步：① 新交易广播给所有节点；② 每个节点把新交易收进一个区块（先放在“内存池” mempool 里）；③ 每个节点（矿工）为自己的区块寻找工作量证明；④ 找到后，把区块广播给所有节点；⑤ 节点只在区块里所有交易都有效、且没被花过时才接受它；⑥ 节点表示接受的方式，是在这个区块之后继续制作下一个区块，并以它的哈希作为前一个哈希。
【补充】“有效”包括：签名正确、输入的 UTXO 存在且未被花费、金额不超发、PoW 合格、符合其他共识规则。
【对照】原课件第 68 页对应这一步，这里按白皮书的六步重新组织。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【讲解】两个矿工几乎同时找到了区块，网络就出现了暂时的分叉：一部分节点先收到 A，另一部分先收到 B。节点的规则是：采用“累计工作量最大”的链（通常也就是最长的链）。下一个区块接在 A 后面，A 所在的链就更长，B 就成了“孤块/过期块”，其中的交易回到内存池，等待再次被打包。
【说明】“最长”实际指累计工作量最大（按难度加权），原课件第 71 页已有这个提法，这里保留。
【联系】10 分钟的出块间隔远大于全网传播所需的数秒，所以分叉不常见；如果出块间隔缩短到几秒，分叉会频繁出现，网络难以收敛——这是选择 10 分钟的原因之一。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【说明】原课件只说“习惯上埋入 6 个区块后才认为最终确认”，没有给出依据。依据就在白皮书 §11：把“攻击者追上诚实链”建模为赌徒破产问题，得到攻击者落后 z 个区块时追上的概率。
【结论】攻击者算力占 q，诚实节点占 p = 1 − q。当 q &lt; 50% 时，随着确认数 z 增加，成功概率按指数下降：q = 10% 时，z = 6 的成功概率约 0.024%；q = 30% 时，要 24 个确认才能压到 0.1% 以下；q = 45% 时需要 340 个。q ≥ 50% 时，攻击者迟早能追上。
【实用建议】小额交易 1–2 个确认即可；大额交易通常等 6 个确认（约 1 小时）。交易所会按币种的安全程度设置不同的确认数。
【可视化】右图使用对数坐标：q = 10% 的曲线几乎垂直下降，q = 30% 则缓得多。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【说明】原课件讲清了“51% 攻击能双花”，但没讲“它不能做什么”，容易让学生误以为 51% 攻击者可以随意偷币。
【能做】① 回滚自己的已确认交易（先付钱、收货，再用更长的私有链把这笔付款抹掉）= 双重支付；② 审查：拒绝打包某些交易；③ 独占出块奖励。
【不能做】① 偷别人的币：伪造不了他人的签名；② 凭空造币或改变发行规则：全节点会拒收违规区块；③ 攻击本身往往会让币价下跌，攻击者自己持有的币也贬值——这是白皮书 §6 的“激励相容”论证。
【案例】小币种更脆弱：比特币黄金（BTG）在 2018 年 5 月被双花约 1,800 万美元，2020 年 1 月再次遭攻击（约 7.2 万美元）；以太坊经典（ETC）、Verge、Vertcoin 等也发生过。NiceHash 等算力租赁平台降低了攻击者的门槛。
【对比特币的意义】攻击比特币需要掌握全网过半算力——硬件与电力成本极高；但“矿池集中”“地缘集中”仍是需要关注的风险。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88 页讲了“区块大小、区块奖励、总量上限并非不可更改，只是需要社区共识”，但没有案例，这里补上三个。
① 2010-08-15 溢出漏洞：区块 74,638 中的一笔交易利用整数溢出，凭空创造了约 1,840 亿枚比特币。几小时内开发者发布补丁，矿工和节点升级，网络“回滚”到了漏洞出现之前的链——这是“代码即法律”的反例：关键时刻，社区共识优先。
② 2015–2017 区块大小之争：1 MB 上限要不要提高？一派主张“大区块”（链上扩容），一派主张隔离见证（SegWit）+ 链下扩容。2017-08-01 比特币现金（BCH）从比特币分叉；2017-08-24 SegWit 激活。
③ 2021-11-14 Taproot 激活：引入 Schnorr 签名与 Taproot，提升隐私与灵活性。
【概念】软分叉：向后兼容的规则收紧；硬分叉：不兼容的规则变更，没升级的节点会分裂出新链/新币。
【结论】“没有 CEO”不等于“没有政治”：规则由开发者、矿工、节点运营者与用户的博弈共同决定。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【讲解】把这一部分串起来：区块链是公开共享、去中心化维护的账本；矿工用算力为区块盖“工作量印章”，节点独立验证；哈希在系统中有三个作用——让签名变短、作为 PoW 的核心、把区块链接起来；篡改的成本是重做该块及其后所有块的工作量证明，并追上全网。
【过渡提问】为什么会有人愿意耗费算力和电费来挖矿？——下一部分是“激励与货币发行”。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【答案】Q1：B（2016）。Q2：不是；10 分钟是平均值，区块间隔服从指数分布，约 37% 的区块要等超过 10 分钟，约 1/400 要超过 1 小时。Q3：不能；偷币需要伪造他人的签名，PoW 帮不上忙；他能做的是回滚自己的交易（双花）、审查交易、独占奖励；违规区块会被全节点拒收。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【讲解】承接上一部分的问题：算力和电力都要花钱，凭什么有人愿意为全网“记账”？答案是经济激励。这一部分同时回答“比特币的货币政策是什么”：新币如何发行、何时减半、上限为什么是 2100 万，以及未来矿工靠什么生存。
【预告】本部分 10 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【讲解】矿工的收入由两部分组成：① 区块补贴（协议规定的新币）；② 区块内所有交易的手续费。有了这笔收入，诚实挖矿才“划算”。
【白皮书 §6 的论证】一个贪婪的攻击者即使拥有比所有诚实节点加起来更多的算力，也要在“把自己付出去的钱骗回来”和“用算力挖新币”之间选择；他会发现，遵守规则、获得比其他所有人加起来还多的新币，比破坏系统、毁掉自己财富的价值更有利可图。这叫“激励相容”：个人理性与系统安全一致。
【注意】这不是说攻击不可能，而是说攻击通常不划算；对小币种、对非逐利的攻击者（如国家），结论会不同。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【纠正】原课件第 77–78 页前后矛盾：一处说“挖矿并不是在制造新的比特币”，另一处又说“所有新比特币都通过 coinbase 交易的输出产生”；还说 coinbase“没有输入、只有一个输出”。
【准确说法】每个区块的第一笔交易叫 coinbase 交易，由矿工在构造候选区块时自己加入。它没有真实输入（不花费任何已有的币，输入字段是一个特殊的“空引用”），输出可以有一个或多个，总额等于“区块补贴 + 区块内所有交易的手续费”。这是协议允许的唯一发行新币的方式。
【所以】挖矿不是“解出谜题就凭空拿币”，而是：谁赢得了出块竞赛，谁就有权在自己的区块里，按协议规定给自己发行新币。
【细节】coinbase 的输出要等 100 个区块“成熟”后才能花，防止因分叉被回滚而造成混乱。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【讲解】创世区块是比特币区块链上的第一个区块，时间戳 2009-01-03。它的 coinbase 里写着一行字：“The Times 03/Jan/2009 Chancellor on brink of second bailout for banks”——那天《泰晤士报》头版的标题（“财政大臣即将对银行实施第二次救助”）。
【两重含义】① 时间证明：这个区块不可能早于那一天；② 隐晦的评论：对传统银行体系不稳定的批评（与白皮书的问题意识呼应）。
【细节】创世区块的 50 个比特币由于程序实现的特点，永远无法被花费。区块哈希 000000000019d6689c085ae165831e934ff763ae46a2a6c172b3f1b60a8ce26f 以 10 个十六进制 0 开头（作者用代码从区块头重新计算验证过）。
【删除】原课件备注里“或许在当时，他根本没有预料到比特币有一天会变得如此值钱”属于猜测，已删除。
【联系】回到“时机”一页：这行字就是创世区块与 2008 年金融危机的连接点。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【说明】这是“拓展”页，可跳过。
【讲解】① 消失：中本聪 2008–2011 年间活跃；2011 年 4 月给开发者的最后一封邮件说自己“已转向其他事情”，此后再未公开发言。② Patoshi 模式：研究者 Sergio Lerner 在 2013 年通过早期区块的特征（nonce 的规律）识别出疑似由同一矿工挖出的区块，估计总数约 110 万枚比特币，至今没有动过。③ 身份之争：多人被猜测；Craig Wright 自称是中本聪，2024 年 3 月英国高等法院在 COPA v Wright 一案中裁定他不是；2024 年 HBO 纪录片提出新的猜测，被指认者否认。
【教学意义】去中心化意味着没有“领导者”可以被关停或施压——创始人自己消失了，系统照常运转；但创始人持有巨额“沉睡”财富，也引出公平性与“信任”的另一面。
【讨论】创造者“消失”，对一个去中心化系统是优点还是隐患？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【纠正】原课件第 81 页写“最近一次减半发生在 2020 年 5 月，奖励降至 6.25”，已过时：最近一次是 2024 年 4 月 20 日（UTC，区块 840,000），补贴降至 3.125 BTC；下一次约在 2028 年（区块 1,050,000）。
【讲解】减半按“区块高度”触发（每 210,000 个块），而不是按时间；由于难度调整把出块间隔维持在约 10 分钟，所以大约每四年一次。减半是比特币“预先写好”的货币政策：不依赖任何中央机构。
【提问】继续挖矿的动机是什么？（原课件第 81 页的问题）——区块补贴越来越少，靠价格上涨和手续费，见后面“安全预算”一页。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【补充】原课件第 82 页只引了一句话（据书，中本聪称这是“一种经过推算的猜测”），没有给出数学结构。其实 2100 万是一个很干净的等比数列结果：每个纪元 210,000 个块，首个纪元每块 50 个币 → 1,050 万；之后每个纪元减半，总和 = 1,050 万 × (1 + 1/2 + 1/4 + …) = 2,100 万。
【精确值】由于最小单位“聪”（1 BTC = 10^8 聪）取整，真正的上限是 20,999,999.9769 BTC。
【中本聪的说法】2009 年 2 月 P2P Foundation 帖子中他写道：总量 2100 万，按网络节点出块分配，每四年减半（前四年 1050 万，之后 525 万……）。
【课堂活动】让学生自己算 210000 × 50 × 2，并问：如果把首个纪元补贴改成 100，总量是多少？（4200 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【数据】据 The Block 等报道，2026 年 3 月 9 日（有来源记为 3 月 10 日）在区块 939,999 处，已发行量越过 2000 万枚，约占上限的 95.2%；剩下约 100 万枚要用约 114 年发行，最后一枚预计在 2140 年前后。
【对比黄金】黄金：地上存量约 22 万吨（2025 年末，WGC/Metals Focus），每年新开采约 3,600–3,700 吨，年增发率约 1.7%，存量/流量比约 60。比特币：2024 年减半后，年新增约 16.4 万枚（3.125 × 144 × 365），占存量约 0.8%，存量/流量比约 120——已超过黄金。
【更新】原课件第 115 页预测“到 2022 年左右比特币的存量/流量比将超过黄金”，时间不准确：2020 年减半后约 56（已接近黄金），2024 年后约 120。
【提醒】2000 万并不等于流通量：估计有 230–370 万枚永久丢失，实际可流通量更少。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【讲解】有人问中本聪：当挖矿不再盈利，手续费够不够保证节点运营？他回答（据书引用）：否则就无法设定 2100 万的硬上限，总需要有最低奖励用于挖矿；几十年后补贴变得太小，手续费将成为节点的主要收入；他相信 20 年后，要么交易量会非常大，要么根本没有交易。
【现状】多数时间，手续费只占矿工总收入的个位数百分比；但在 2024 年 4 月减半与 Runes 协议发行时，出现过单个区块手续费超过 100 万美元的峰值。
【“安全预算”问题】矿工的总收入（补贴 + 手续费）决定了攻击者要付出多大代价才能压倒诚实算力。补贴每四年减半，如果币价与手续费不同步增长，安全预算就会缩水。乐观派认为价格上涨可抵消；担忧者认为“依赖价格永远上涨”不是一个安全模型。这是一个尚未有定论的开放问题，也是很好的讨论题。
【联系】下一部分“不足”中会看到手续费 2017 年、2024 年两次飙升的真实图表。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【纠正】原课件第 83 页说“供应上限意味着比特币本质上是通缩型的”，不准确：比特币的发行量仍在增加，只是越来越慢，准确说法是“渐进式低通胀（disinflationary）”。2024 年减半后年增发率约 0.8%，已低于黄金（约 1.7%）。
【支持者】稀缺、可预期的货币政策、抗通胀。
【批评者】如果一个经济完全用比特币做货币，随着产出增长，商品与服务的比特币价格会下降；人们预期价格还会降，就会推迟消费、企业推迟投资，需求进一步下降——“通缩螺旋”（Fisher 的债务-通缩理论）。另外，持币者倾向囤积（HODL）而非花掉，削弱了它作为交换媒介的功能。
【证据】现实中几乎没有商品以比特币标价，所以“通缩螺旋”在比特币上还没有被真正检验。历史上的金本位时期，温和的通缩并不总伴随衰退，学界争论很多，不必下定论。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【答案】Q1：每个纪元 210,000 块、首纪元每块 50 个 → 1,050 万；之后每纪元减半，等比数列求和得 2,100 万。Q2：C（3.125）。Q3：coinbase 是区块里的第一笔交易，没有真实输入，输出 = 区块补贴 + 手续费，是协议允许的唯一发行新币途径；输出需等 100 个区块成熟才能花。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【说明】原课件的“成就”只有 5 页，且停留在 2021 年之前。这里重写为 5 页：用“四个要求”检验、稳定运行的事实、区块链的边界、2024–2026 的主流化、共识算法的多样性。
【提示】学生往往在“不足”部分才有兴趣，请先让他们承认：从技术角度，这个系统做到了过去认为做不到的事。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【讲解】回到开头那张检查表。① 识别双方：公钥/地址 + 数字签名，在不依赖实名的前提下证明授权（代价是只有“假名”）。② 便捷验证：任何人、任何时刻都可以在区块浏览器核验交易，无需许可。③ 不可更改：哈希链 + 累计工作量，17 年来已确认的历史没有被攻击者改写。④ 防双花：最长链共识 + UTXO，没有中央账本，同一枚币无法被确认两次。
【强调】“透明孕育信任”：账本公开、规则公开、验证公开——人们信任的不再是某个机构，而是一套可以被检验的规则。
【提醒】“基本做到”不等于“完美”：后面“不足”部分会逐条检验代价（效率、隐私、能耗等）。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【数据】① 2009-01-03 创世区块至今约 17 年连续运行；② 可达节点约 2.4 万个（Bitnodes，2025 年 12 月；统计口径有限，实际还有大量不可达节点）；③ 全网算力约 1 ZH/s（10^21 次/秒），2026 年 1 月曾触及 1 ZH/s，5 月前后在 0.98–1.0 ZH/s（均来自公开报道与二手汇总，请以 mempool.space 实时数据为准）。
【事故】协议层出过的事：2010-08 的溢出漏洞（几小时内修复并回滚）；2013-03 的版本分叉（数小时恢复）。它们都被社区迅速协调解决。
【对比】后面“不足”会看到：真正被攻破、造成大额损失的是交易所、托管方和个人，而不是协议本身。
【警示】“从未被攻破”不等于“不会被攻破”：算力/矿池集中、监管、量子计算是长期风险。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89–90 页把区块链的优点讲得很好，但没有讲边界。这一页补上批判性视角。
【决策树（简化自 Wüst &amp; Gervais, 2018）】① 需要存储共享的状态吗？不需要 → 不必区块链。② 有多个写入者吗？只有一个 → 用普通数据库。③ 有一个所有人都信任的第三方吗？有 → 让它记账即可。④ 参与者彼此不信任，又需要公开可验证 → 才可能需要区块链（还要再问：要不要公开？要不要无许可？）。
【案例】① 澳大利亚证券交易所（ASX）曾计划用 DLT 取代 CHESS 清算结算系统，2022 年 11 月宣布放弃，减值约 2.5 亿澳元；② IBM 与马士基的 TradeLens 航运区块链平台 2022 年 11 月宣布停运，原因之一是业内难以形成足够多愿意共享数据的参与者。
【启示】技术上可行 ≠ 商业上需要；区块链的价值在于“没有可信第三方”的场景。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【说明】原课件的数据停在 2021 年，没有反映最近五年最大的变化：比特币被正式纳入主流金融体系。
【事实】① 2024-01-10 美国证券交易委员会批准首批现货比特币 ETF；规模方面，贝莱德 IBIT 净资产 2026 年 2 月约 537 亿美元、9 月约 614 亿美元（发行方披露的二手汇总）。② 2024-04-20 第四次减半。③ 2025-03-06 美国总统行政令设立“战略比特币储备”，以政府已没收的比特币为基础。④ 2025-07-18 GENIUS 法案签署，建立美国稳定币监管框架（与比特币不直接相关，但影响整个加密市场）。⑤ 2025-10-06 价格创历史高点，约 12.6 万美元；10 月 10 日前后，单日约 190 亿美元的杠杆头寸被清算。⑥ 2026 年 2 月回撤到约 6 万美元，较高点约 −52%（Bernstein、Fidelity 的表述）。
【平衡】主流化不等于价值有保证：价格依然大起大落，杠杆与高波动并存。
【提示】上课前请核对最新数字，必要时补一张“今天的价格”截图。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【纠正】原课件第 95 页说“第二大加密货币以太币也采用工作量证明”，已过时：2022 年 9 月 15 日以太坊完成“合并”（The Merge），改用权益证明（PoS），以太坊基金会估计能耗下降约 99.95%。
【对比】PoW：谁有权出块由算力竞争决定，安全来自电力与硬件成本；PoS：谁有权出块由质押的币决定，安全来自“作恶就被罚没质押”；许可链：由被授权的成员按 BFT 类协议达成一致，安全来自成员身份与法律责任。
【争议】PoW 的问题是耗电与矿池集中；PoS 被批评“富者愈富”和“无利害关系”问题；许可链去中心化程度低。
【原课件第 90 页】“共识算法往往是区块链设计中最复杂、甚至最具争议的部分之一”——这页就是这句话的展开。
【下一章】会继续讨论以太坊与其他加密货币。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【说明】“不足”原有约 30 页，内容多而散，且大量数据停在 2021 年。这一部分重新组织为：货币职能检验 → 价值不稳定 → 支付效率与扩容 → 现实检验（萨尔瓦多）→ 安全 → 隐私 → 阴暗面 → 容错率 → 能耗 → 价值之问 → 监管与风险。
【提示】请保持“评价”的口吻：不是为了贬低，而是用证据检验“比特币是不是好货币”。同时提醒学生，一些“不足”（如手续费、拥堵）会随时间和技术改变，不能一概而论。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【讲解】经济学里，货币有三种职能：交换媒介、计价单位、价值贮藏。我们用它们来检验比特币。
【交换媒介】要求交易快、便宜、能处理大量交易。比特币每秒约 3–7 笔，手续费随拥堵波动，确认需要约一小时。→ 不及格/部分及格（小额靠闪电网络）。
【计价单位】要求价值相对稳定，商品和服务才好用它标价。比特币年化波动率远高于法币与黄金，几乎没有商品以比特币标价。→ 不及格。
【价值贮藏】要求长期保值、保管安全。比特币稀缺，但有剧烈回撤；私钥与托管风险高。→ 部分及格。
【过渡】后面逐项展开，并检验“数字黄金”叙事。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【说明】年末价（美元，约数）：2013 760；2014 320；2015 430；2016 960；2017 14,160；2018 3,740；2019 7,190；2020 29,000；2021 46,300；2022 16,500；2023 42,300；2024 93,400；2025 ≈87,700。纵轴使用对数刻度，便于看清早期的涨跌。数据均为近似值，来自公开行情，上课前可核对。
【回撤】2013–2015 约 −85%；2017–2018 约 −84%（19,800 → 3,200）；2021–2022 约 −77%（69,000 → 15,500）；2025–2026 约 −52%（2025-10-06 约 126,000 → 2026-02 约 60,000）。
【对比】年化波动率大致为美股的 3–4 倍（约 50–80% vs 15–20%），黄金约 15% 左右（量级对比，随时期变化）。
【提醒】请在课前截一张“今天的价格”图贴在这页的备注或下一页，让学生看到最新位置——本页数据只到 2025 年末，并有意不写“当前价格”。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【讲解】原课件的“圣诞礼物”故事：2015 年圣诞约 419 美元；2017-12-15 达到 19,650 美元（两年涨 47 倍）；十天后跌到 15,075 美元，市值蒸发约四分之一；2018-12-15 跌到 3,183 美元，仅为一年前的六分之一；2020 年圣诞又反弹到 24,400 美元。
【披萨日】2010-05-22，佛罗里达的程序员 Laszlo Hanyecz 在论坛上用 10,000 枚比特币买了两张棒约翰披萨（当时约 41 美元），这被认为是比特币第一次用于真实购买。十年后这笔“披萨钱”约值 9,000 万美元；按 2025 年 10 月的历史高点（约 12.6 万美元）计算，约 12.6 亿美元。每年 5 月 22 日被称为“比特币披萨日”。
【追问】作为交换媒介，价格涨跌 47 倍意味着什么？（卖家会瞬间“亏”或“赚”；没人愿意用它标价。）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【背景】“数字黄金”叙事：比特币和黄金一样稀缺、不依赖任何国家，所以应当是避险资产。
【检验一：2020-03-12“黑色星期四”】新冠冲击中，单日价格跌幅接近 40%，与美股同步被抛售（“现金为王”）。【检验二：2022】随着美联储加息，比特币与纳斯达克等风险资产同向大幅下跌，而不是“避险”。
【检验三：杠杆脆弱性】2025-10-10 前后，一次杠杆连环清算在一天内抹掉约 190 亿美元的头寸，是加密市场史上最大的一次清算之一，说明市场内部杠杆很高。
【结论】避险属性尚未被证实；更像一种高波动的风险资产。但长期看，学者对相关性是否稳定存在争议，不宜下绝对结论。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【案例】2018 年 1 月，北美比特币大会（迈阿密）在开幕前停止接受比特币购票付款，理由是“慢、贵、手工处理麻烦”：网络拥堵、需要人工录入；当时手续费在某些时段超过 30 美元。到 2020 年大会已接受近三十种加密货币。更早的 2017 年 12 月，Steam 也停止了比特币支付，理由是手续费过高与波动过大。
【图表（你原课件里的两张，来自 blockchain.com）】左图：平均确认时间，右图：每笔交易手续费（美元）。2017 年底手续费一度超过 50 美元；2024 年 4 月减半与 Runes 协议发行时，平均手续费一度超过 100 美元（图中纵轴最高约 127 美元）；2025 年 10 月降到约 0.59 美元。
【解读】手续费不是“越来越贵”，而是随需求剧烈波动：拥堵时贵，闲时很便宜。这是容量固定（约 7 笔/秒）+ 手续费竞价的结果（下一页）。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【讲解】容量上限来自三个设计：区块大小（4,000,000 权重单位，约 1–4 MB）、10 分钟出块间隔、每笔交易的字节数。一个区块约容纳几千笔交易，除以 600 秒，约 3–7 笔/秒。
【对比】Visa 官方称其网络峰值处理能力超过 65,000 笔/秒（“能力”而非日常均值）。
【手续费市场】用户广播交易后，进入内存池（mempool）排队；矿工优先选择“每字节手续费”更高的交易。拥堵时，用户通过加价抢先上链，形成竞价；出块速度不会因需求而加快（难度调整把它固定在 10 分钟），所以费用上涨。
【可扩展性三难困境】去中心化、安全、可扩展，很难同时最大化。比特币选择了前两者；扩展交给“第二层”（闪电网络，见下页）。
【纠正】原课件说“工作量证明限制了比特币作为交换媒介”——更准确是：容量与出块间隔限制了它，PoW 是它的原因之一。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【说明】这是原课件没有的内容，却是回答“比特币能不能做小额支付”的关键。
【机制】① 链上：两方把资金锁进一个双方多签的通道（开通道，需 1 笔链上交易）；② 链下：双方之间可以反复转账，只更新各自的余额记录，不上链，几乎即时、费用极低；③ 链上：关闭通道时，把最终余额结算上链（1 笔链上交易）。通过多条通道的路由，还能向没有直接通道的人付款。
【数据】公开可见的容量 2026 年 5 月约 4,898 BTC（约 4.1 万条通道、1.7 万个节点），2025 年 12 月曾达历史高点约 5,637 BTC；私有通道的容量未计入。
【局限】需要在线、流动性管理复杂、路由可能失败、容量有限；对“日常大规模支付”的承载力仍有争议。
【追问】闪电网络是“比特币的扩容”，还是“另一个需要信任的支付系统”？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【说明】“比特币能不能当货币”最好的现实实验。2021 年 6 月 9 日萨尔瓦多国会通过《比特币法》，成为首个把比特币定为法定货币的国家；2021 年 9 月 7 日生效，政府推出 Chivo 钱包，给每位注册公民发放 30 美元比特币。
【结果】多项调查显示日常使用率很低；商家接受度有限，大部分人仍用美元。2024 年 12 月，萨尔瓦多与国际货币基金组织（IMF）就 14 亿美元的贷款安排达成一致，条件之一是缩减比特币的角色；2025 年 1 月 29 日，国会以 55 票对 2 票通过修法：私营部门可自愿接受比特币，也不再用于纳税或清偿政府债务。政府仍继续持有并购买比特币作为储备（外媒报道，口径有争议）。
【提示】关于“比特币在萨尔瓦多是否仍是法定货币”各方表述有分歧（有的称已取消，有的称变为“自愿”），上课时请表述为“强制接受已取消”。
【结论】法律上的“法定货币”≠市场上的“被使用”。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【讲解】三个层面：协议层——17 年没有被成功攻破；平台层——交易所/托管方：Mt.Gox（2014，约 85 万枚丢失）、Bitfinex（2016，约 12 万枚）、FTX（2022 破产，客户资金被挪用）、Bybit（2025-02，约 15 亿美元，被归因于朝鲜 Lazarus）；个人层——钓鱼、社会工程、木马、SIM 卡劫持、私钥丢失。
【数据】Chainalysis 2026 年报告：2025 年被盗资金超过 34 亿美元，约 59% 与朝鲜相关（至少 20.2 亿美元）；单个事件集中度很高，三起事件占了三分之二以上。
【结论】“不信任银行”的结果，是把安全责任转移到了自己和新的中介身上。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【讲解】Mt.Gox 的名字来自“Magic: The Gathering Online eXchange”：2007 年 Jed McCaleb 买下域名，最初用于交易万智牌卡牌；2010 年转型为比特币交易所。2011 年 6 月 19 日被黑，攻击者操纵价格把比特币砸到 1 美分；到 2013 年占全球约 70% 的比特币交易量；2014 年 2 月停止提现并申请破产，约 85 万枚比特币丢失（约 20 万枚后来在旧钱包里找回）。
【纠正】原课件第 97 页备注说被黑发生在 2011 年 7 月，应为 6 月 19 日；还提到 2019 年 XRP 的事件，与本章无关，已删除。
【后续】债权人偿付自 2024 年 7 月开始；受托人多次延长偿付期限，最新一次延至 2026 年 10 月 31 日（上课前请查看受托人最新公告）。
【教训】不是你的钥匙，就不是你的币。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【纠正】原课件第 120 页把 Quadriga 讲成“CEO 去世，只有他知道密钥，资金无法找回”。后续调查推翻了这个说法：安大略证券委员会（OSC）2020 年的报告认定 QuadrigaCX 是一场欺诈（实质上的庞氏骗局）——创始人 Gerald Cotten 以假账户、与客户对赌并挪用他人存款，冷钱包早已被掏空。客户损失约 2 亿加元量级（各来源口径 1.7–2.5 亿，且为加元，不是美元）。
【FTX】2022 年 11 月破产，客户资金被挪用给关联公司 Alameda；创始人 Sam Bankman-Fried 2023 年 11 月被判有罪，2024 年 3 月被判 25 年。
【教训】① 自托管 vs 托管（“不是你的钥匙，就不是你的币”）；② 储备证明 + 审计 + 监管（回到默克尔树那一页）；③ “私钥随人而去”这类故事要核实后续，别停留在第一版叙事。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【讲解】每一笔比特币交易都是公开的、可追踪的，并永久存储在区块链上。你的地址只是一串字符，但一旦与现实身份关联（交易所 KYC、购物收货地址、收款时留下的信息），整个交易历史就暴露了。
【链上分析】分析公司（如 Chainalysis）用一些启发式方法把地址“聚类”：例如“共同输入所有权”——一笔交易里被同时花费的多个输入，很可能属于同一个钱包；找零地址识别等。结合交易所实名数据，可以把聚类关联到真人。
【防护建议】每次收款使用新地址；不同用途用不同钱包；不要复用地址。但要记住：区块链是永久的——今天看似不可追踪，未来可能被追踪（原课件的引文）。
【监管】2019 年 FATF 的“旅行规则”要求虚拟资产服务提供商在转账时交换付款方/收款方信息；欧盟的反洗钱新规也在限制匿名账户。
【更强隐私】门罗币、Zcash 等“隐私币”走另一条路线，但它们也面临下架压力。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【案例一：2020 推特大劫案】2020-07-15，推特上包括拜登、奥巴马、马斯克在内的名人账号被入侵，发布“向这个地址转 1000 美元，我返还 2000 美元”的诈骗。主谋是 17 岁的佛罗里达高中毕业生 Graham Ivan Clark，他和同伙通过电话社会工程从推特员工处套取权限；骗得十几万美元的比特币。他们看中的正是比特币的“匿名性”，但联邦调查人员把支付流向的账户与他的真实身份联系起来，大约两周后（7 月 31 日）他被捕；后被判三年监禁。
【案例二：2021 Colonial Pipeline】勒索软件团伙 DarkSide 向美国最大成品油管道运营商勒索 75 枚比特币（约 440 万美元）；2021-06-07，美国司法部宣布追回其中 63.7 枚，因为 FBI 取得了对应钱包的私钥。
【案例三：2025 Prince Group】2025 年 10 月，美国司法部对柬埔寨太子集团（Prince Group）董事长陈志（Chen Zhi）提起民事没收诉讼，涉及 127,271 枚比特币（约 140–150 亿美元，为美国司法部史上最大的一宗没收），指控其经营强迫劳动的诈骗园区；陈志同时被起诉并遭制裁（目前为指控，案件仍在进行）。
【启示】比特币不是“匿名黑箱”。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【讲解】2011 年，化名“可怕海盗罗伯茨”的德州人 Ross Ulbricht 创建暗网市场“丝绸之路”，只接受比特币，用 Tor 隐藏身份；2013 年 10 月 FBI 关停网站并逮捕了他；2015 年 5 月被判终身监禁；2025 年 1 月 21 日获特朗普“完全无条件赦免”。（原课件只讲到 2013 年，这里补全了结局。）
【数据】早期比特币与非法活动高度绑定：Foley、Karlsen 和 Putniņš（RFS 2019）估计在 2013–2017 年样本期内，约四分之一的用户和近半数的交易与非法活动有关。近年多家链上分析机构的估计，非法地址收款占链上总量的比例已低于 1%（口径各异），但绝对金额依然巨大，且已越来越多转向稳定币（多份链上分析报告的共同观察）。
【对比】比特币对丝绸之路，就像 PayPal 对 eBay：提供了支付基础设施。恐怖融资、人口贩运、洗钱等也都有案例（如 2019 年哈马斯军事部门的募捐）。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【数据】据估计，有约 230–370 万枚比特币因私钥丢失或长期未动而“永远丢失”（Chainalysis 等估算；原课件引用 2018 年的同类估计，并用 2021 年价格折算为 900–1450 亿美元，现已不再换算美元）。
【案例一】Stefan Thomas：存有约 7,002 枚比特币的 IronKey 加密硬盘，密码忘了，只有 10 次输入机会，已用掉 8 次，还剩 2 次（2021 年报道）。
【案例二】James Howells：2013 年把存有约 8,000 枚比特币私钥的旧硬盘当垃圾扔掉，垃圾填埋场至今；2025 年 1 月威尔士高等法院驳回了他要求挖掘填埋场的诉讼。
【案例三】原课件的爱尔兰毒贩案例：据报道，把私钥写在纸上与钓鱼器材一起藏起来，入狱时房东把东西当垃圾扔掉，损失近 6,000 万美元（约 5,400 万欧元）。（Quadriga 案例已在“托管风险链”一页更正。）
【还有】现实世界的威胁：2025 年欧美出现多起针对持币者的绑架/敲诈（“扳手攻击”）报道，提醒学生保管不仅是技术问题，也是人身安全问题。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【更新】原课件第 104–107 页的数据已过时：“2016 年 0.4%”“2018 年约 1%”“超过 150 个国家的用电量”“年成本 40 亿美元”“一笔交易的电量相当于美国家庭一个月”等。
【最新】剑桥大学另类金融中心（CCAF）2025 年 4 月的《数字资产挖矿行业报告》估算：比特币挖矿年用电约 138 TWh，约占全球用电量的 0.54%（基于对 49 家矿企的调查，覆盖约 48% 的算力；注意估算方法不同，结果差异很大：各机构的区间约 100–190 TWh）。
【“安全 = 成本”】工作量证明的本质就是把“安全”换算成电费：攻击者要付出同样的电力与硬件代价才能压倒诚实算力。支持者认为这是必要的安全成本，批评者认为它是浪费；这是价值判断，要把“事实”和“立场”分开。
【指标陷阱】“每笔交易耗电”这个常见指标有误导性：能耗取决于哈希竞赛的规模（由收入和价格决定），而不是交易笔数；比如闪电网络或批量转账并不增加挖矿能耗。
【硬件】CPU → GPU → FPGA → ASIC：通用性降低，性能提高。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【数据】剑桥 2025 年报告：矿工用电结构中，可再生能源 42.6%、核电 9.8%（合计“可持续”52.4%，2022 年为 37.6%）；天然气 38.2%（2022 年 25.0%）；煤炭 8.9%（2022 年 36.6%）。
【注意局限】这是矿企自愿调查的结果，样本偏向北美（美国占样本的 75.4%）；不同研究对“清洁能源占比”的估计差别很大，不能当成全网的精确数字。
【争议点】① 矿场可以是“可中断负荷”：在用电高峰时关机让电（如美国德州电网的需求响应），有人认为这有利于电网平衡；② 有人利用被放空燃烧的天然气发电挖矿；③ 批评者指出：不管电从哪里来，这些电也可以用于别的用途。
【连接】前面的 PoW vs PoS 页已对比：以太坊合并后能耗下降约 99.95%。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99、110 页说“中国是全球最大的挖矿中心；2019 年发改委把挖矿从淘汰类清单中移除”，这在 2021 年之后已完全过时，并且与你已经放进第 107 页的《通知》图直接矛盾。
【时间线】2019 年 4 月，发改委在产业结构调整指导目录征求意见稿中拟将“虚拟货币挖矿”列入淘汰类；同年 10 月正式版移除；2021 年 5 月 21 日，国务院金融稳定发展委员会会议提出“打击比特币挖矿和交易行为”；2021 年 6 月起，四川、内蒙古、新疆、青海、云南等地清退矿场；2021 年 9 月，国家发改委等部门发布《关于整治虚拟货币“挖矿”活动的通知》。
【数据（剑桥 CCAF）】中国占全球比特币算力的份额：2019 年 9 月约 75.5%，2021 年 4 月约 46%，2021 年 7 月官方统计降为 0；美国随后成为最大算力所在国（2021 年 8 月约 35%）。其后又有证据显示部分矿工在中国境内“地下”继续运行，并通过 VPN 等方式隐藏位置，所以后续数据存在较大不确定性。
【去向】美国（德州等）、俄罗斯、哈萨克斯坦、加拿大。
【提醒】2021 年 9 月，央行等十部门发文明确虚拟货币相关业务属于非法金融活动，与本页互相印证。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108、109 页各是一个小故事，信息量低但有趣，这里合并成一页“课堂调剂”，可作为本部分的轻松收尾。
【故事一】2018 年 2 月，据报道，警方逮捕了几名在俄罗斯萨罗夫（Sarov）核武器研究中心工作的科学家，他们试图利用设施里的超级计算机挖比特币；当他们把这台本应永久与外界隔绝的计算机连到互联网时，触发了安全警报。
【故事二】2018 年，俄罗斯伊尔库茨克的一家福音派教会因挖矿产生的高额电费败诉：当地电力公司对挖矿用电收更高的电价，教会辩称 2017 年 5–8 月用电激增是因为供暖和印刷宗教材料，但法院指出激增发生在夏季，“供暖”的理由站不住脚。
【共同点】挖矿就是把电力变成钱，哪里有廉价电力，哪里就有矿机。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【讲解】三类价值基础：① 现金流型：股票、债券、房地产、政府债券——资产是对未来商品、服务或收入的索取权，可以折现估值；② 稀缺 + 共识型：黄金、艺术品——有稀缺性，加上“大家都认可”的集体信念，本身没有现金流；黄金有工业和珠宝用途，但市场价值远超这些用途所能支撑的水平；③ 工具/网络型：支付网络、平台——价值取决于被使用的程度（网络效应）。
【比特币】总量上限使它“人为稀缺”，但稀缺本身不够，还要有需求。目前的需求很大程度上是投机性的，作为支付工具的用途有限。所以更像第二类，并带有明显的投机成分。
【引出】有人提出“挖矿成本构成价格底线”“存量/流量比决定价格”，下面两页检验这两个论点。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111、112 页引用了两位官员的话，都是 2018 年的言论，请注意时态：卡尼说这话时是英格兰银行行长，现在是加拿大总理（2025 年 3 月起）；卡斯滕斯 2017–2025 年担任国际清算银行（BIS）总经理，2025 年 6 月卸任。
【怀疑派（2018）】卡尼：“许多加密货币的价格已经展现典型的泡沫特征，包括‘新范式’式的自我辩护、零售投资者的热情扩散，以及依赖于找到更大的傻瓜的价格预期。”卡斯滕斯：“泡沫、庞氏骗局与环境灾难的结合体。”巴菲特（2018）：比特币“大概是老鼠药的平方”。
【支持者与新变化】“数字黄金”叙事；2024 年现货 ETF 获批；2025 年美国战略比特币储备。
【教学要点】两种叙事都有证据，课堂上要分清“事实”和“立场”，并说明言论发表的时间——这些评论发表之后，现实发生了很多变化。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【论点】有人认为，挖矿要耗电和算力，所以比特币的价格有一个“成本底线”：2018 年一家研究公司估算在美国挖一枚的电力成本约 4,800 美元，另一家估算综合成本约 8,000 美元。
【问题】成本是“结果”而不是“原因”：价格上涨 → 挖矿利润上升 → 更多矿机入场 → 全网算力上升 → 难度上调 → 单枚成本上升，直到利润被竞争吃掉。反过来，价格下跌时，高成本的矿工会关机，难度下调，成本回落。所以是价格决定成本，而不是成本托住价格。
【证据】2018 年 12 月比特币价格跌到约 3,200 美元，低于上述估算成本——并没有“被托住”。
【一般原则】资源消耗不会自动创造需求，不能单凭“花了多少成本”来证明价格合理（劳动价值论式的论证）。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【说明】原课件第 115–117 页把“存量/流量比”模型当作支持比特币价格上涨的论据：“到 2022 年左右比特币的 S2F 将超过黄金，因此价格最终必然上涨”。这个模型后来被证伪，所以我把它改成“一个失败模型的案例课”。
【模型】S2F（存量/流量比）：黄金约 60，白银约 22，比特币每次减半后翻倍。PlanB 的模型据此预测价格：2021 年底前后约 10 万美元（平均）；实际 2021 年底约 4.7 万美元（媒体称“模型被证伪”）；2022 年价格跌破模型的下轨，Vitalik Buterin 评论说这类模型“不好看了”，且给人虚假的确定感。
【2025 年 10 月截图】原课件第 116 页图显示：模型给出的“当前价格”约 32–36 万美元，而市价约 11–12.6 万美元（请以截图为准）。
【问题】① 伪回归（Granger &amp; Newbold, 1974）：两条随时间不断上升的曲线天然“相关”，并不说明因果；② 样本极少，只有三次减半；③ 难以证伪：任何价格都可以被解释为“偏离后会回归”。
【教训】好看的拟合≠因果；稀缺性需要需求配合；模型要能被证伪。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【说明】这是“拓展”页，建议作为课后阅读任务。请学生读摘要，各写一句话：它的证据是什么？有什么局限？
【Biais 等（2023，JF）】《Equilibrium Bitcoin Pricing》：把比特币价格建模为“交易便利收益 + 对未来被使用的预期”，并用数据检验，讨论价格对未来使用预期的敏感性。
【Griffin &amp; Shams（2020，JF）】《Is Bitcoin Really Untethered?》：发现 2017 年比特币的上涨与 Tether 稳定币增发的时点相关，指向可能存在的价格操纵（该结论有争议）。
【Foley, Karlsen &amp; Putniņš（2019，RFS）】《Sex, Drugs, and Bitcoin》：估计 2013–2017 年样本期内约四分之一的用户、近半数的交易与非法活动有关。
【提醒】以上是摘要性概括，具体结论与口径请以论文原文为准。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【说明】监管是国内学生最需要弄清的内容，原课件没有专门页面。
【中国】2013-12 中国人民银行等五部委《关于防范比特币风险的通知》：比特币是一种特定的虚拟商品，不具有与货币等同的法律地位，不能且不应作为货币在市场上流通使用；2017-09-04 七部门《关于防范代币发行融资风险的公告》：叫停 ICO，交易平台关停；2021-09-15 央行等十部门《关于进一步防范和处置虚拟货币交易炒作风险的通知》（银发〔2021〕237 号）：虚拟货币不具有与法定货币等同的法律地位，相关业务活动属于非法金融活动，境外交易所通过互联网向境内居民提供服务同样属于非法金融活动。2026-02-06 央行等八部门发布《关于进一步防范和处置虚拟货币等相关风险的通知》（银发〔2026〕42 号），据新华网等报道，延续“境内严禁、境外严管”的原则，并把现实世界资产（RWA）代币化纳入监管框架、重申人民币挂钩稳定币禁令，同时废止了 2021 年的 237 号文。（这一条我依据媒体与多家解读撰写，请在央行官网核对原文后再在课上引用条文。）
【国际】美国：2024 年现货 ETF、2025 年战略比特币储备与 GENIUS 法案；欧盟：MiCA 于 2024-12 全面适用；香港：2023-06 起实行虚拟资产交易平台发牌制度。
【强调】请提醒学生：内地居民参与虚拟货币交易炒作，不受法律保护，风险自担。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这是对学生最实用的一页。虚拟货币因为“跨境、难追踪、门槛低”，被大量用于电信网络诈骗、传销和洗钱：“杀猪盘”（先建立感情，再诱导投资）、传销币/空气币、冒充平台客服、“跑分”洗钱、索要助记词、远程控制手机等。
【教学提示】请强调：参与虚拟货币交易炒作在内地不受法律保护；帮助他人转移资金、“跑分”可能构成犯罪（帮助信息网络犯罪活动罪、掩饰隐瞒犯罪所得罪等）。
【求助】遇到可疑情况：停止转账、保存证据、向公安机关报案；也可以使用“国家反诈中心”App，并拨打全国反诈专线 96110（预警劝阻）。
【联系前面的内容】“不是你的钥匙，就不是你的币”“托管风险”“假名≠匿名”都与这些骗局相关。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【答案】Q1：反映了比特币作为交换媒介的三个问题：确认慢、手续费贵且波动、需要人工处理；2017–2018 年拥堵时尤为明显；之后手续费随需求大幅波动。Q2：成本是结果而不是原因：价格上涨→利润→更多矿机→算力与难度上升→成本上升；价格下跌时矿工关机、难度下调。2018 年价格低于估算成本就说明没有“托底”。Q3：假名：账本公开，只有地址没有姓名；匿名：无法被关联到真人。案例：推特大劫案、Colonial Pipeline 追回比特币等，一旦地址与现实身份关联，历史全部暴露。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【说明】原课件的“遗产”只有两页，且与最后的白皮书页脱节。这一部分扩写为：遗产 → 下一章预告 → 全章回顾 → 评分卡 → 讨论题 → 总测验 → 术语表 → 参考文献。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【讲解】原课件结尾说“无论比特币本身是否长久存在，其遗产将持续存在”，这里把“遗产”具体化为四个层面。
① 技术：公私钥、哈希、工作量证明、区块链的组合，催生了以太坊与智能合约；② 金融：加密资产成为一个资产类别——ETF、托管、衍生品、企业与国家的储备；③ 货币：倒逼稳定币（USDT、USDC；美国 2025 年 GENIUS 法案）与央行数字货币（如数字人民币、数字欧元）加速发展；④ 争议：能耗、监管、非法金融、投机泡沫与骗局。
【数据】原课件第 9–10 页说“2021 年 5 月约 1700 种加密货币市值超过 100 万美元”，口径已失真。CoinGecko 的研究显示：截至 2025 年底，其追踪的代币中 53.2% 已“死亡”（停止交易），仅 2025 年就有约 1160 万个，原因包括波动、memecoin 泡沫破裂，以及 pump.fun 等平台把“发币”成本降到接近零。“新对手”层出不穷，但多数迅速消亡，而比特币仍是市值最大的加密货币。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【讲解】用一张表预告后面的内容：比特币没有发行者，价值靠稀缺与共识；以太坊是可编程的公链；稳定币由私营公司发行、用储备资产担保；央行数字货币由央行发行、用国家信用担保。
【提问】这四类里，哪一类最可能成为你日常使用的“钱”？为什么？
【提示】数字人民币（e-CNY）采用“央行 + 运营机构”的双层体系，与比特币的公有链有本质区别；稳定币与 CBDC 将在后续章节展开。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【讲解】用一张图把全章串起来，并标出每一步用到哪块“积木”：① 签名（积木一）；② 广播（P2P 网络）；③ 排队：进入内存池，按每字节手续费排序；④ 打包：矿工把交易放进区块，默克尔根写入区块头（积木二）；⑤ 竞赛：猜 nonce，找到满足难度的哈希（PoW）；⑥ 公布：广播新区块；⑦ 验证：节点检查签名、UTXO 与 PoW；⑧ 上链：区块补贴 + 手续费给矿工，6 个确认后基本不可更改。
【互动】可以让学生两人一组，各用 1 分钟给对方复述这 8 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【讲解】回到开头那张“四个要求”检查表，再加上“货币三职能”，给出一张最终评分卡。
① 识别双方：△，认得地址、认不得人：隐私与合规两难；② 便捷促成并验证：△，验证透明，但慢、贵、吞吐有限，闪电网络改善小额支付；③ 不可更改、不可撤销：✓，6 个确认 + 累计工作量，17 年未被攻击者改写；④ 防止重复使用：✓，PoW 共识 + UTXO，代价是能耗。
交换媒介 △；计价单位 ✗；价值贮藏 △。
【引导】请学生对评分提出异议：你会改哪一格？为什么？这比单纯接受结论更有价值。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【组织方式】3–4 人一组，5 分钟讨论，每组 1 分钟汇报。要求：先陈述事实，再给出立场，并指出一个可能反驳自己的证据。
【题 1】央行视角：比特币作为货币对货币政策（无法调控的固定供给）、金融稳定（高波动）、反洗钱（假名性）的影响；也可结合稳定币与 CBDC 的发展。
【题 2】把“安全 = 成本”的论证与“能耗占全球 0.5%”的事实结合，比较 PoW 与 PoS，并讨论“浪费”这个词背后的价值判断。
【题 3】治理问题：抗量子升级需要全网共识；谁有权决定（开发者、矿工、节点运营者、持币者）？可结合区块大小之争。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【答案】Q1：B（哈希不可逆）。Q2：D（区块头不含交易金额；交易在区块的交易列表里，区块头只含默克尔根）。Q3：C（3.125）。Q4：B（2016 个区块，约两周）。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【参考答案要点】Q5：账本公开，只有地址没有姓名；地址一旦与现实身份关联（交易所实名、收货地址），历史全部暴露；案例：推特大劫案、Colonial Pipeline。Q6：能——回滚自己的交易（双花）、审查交易、独占奖励；不能——偷别人的币（伪造不了签名）、凭空造币或改规则（节点拒收）。Q7：成本是结果而非原因：价格↑→利润→矿机→算力难度↑→成本↑；2018 年价格低于估算成本。Q8：见“最终评分卡”：识别 △、验证 △、不可更改 ✓、防双花 ✓；货币三职能中交换媒介 △、计价单位 ✗、价值贮藏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【说明】中英对照，便于学生阅读英文资料。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【说明】中英对照，便于学生阅读英文资料。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【说明】左栏为“必读/精读”，右栏为本章引用的数据与研究。涉及价格、算力、监管文本的数据请上课前核对最新来源。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【说明】原课件把白皮书的 7 页图片放在最后，没有说明和本章的关系。这里做成“对读”：先给一张 12 节与本章的对照表，再逐节放原文页，并写出“读什么”。可作为课后阅读材料。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【讲解】白皮书的 12 节，恰好就是本章的“骨架”：§2 对应签名（积木一），§3 对应哈希链，§4 对应 PoW，§5 对应六步网络，§6 对应激励，§7–§8 对应默克尔树与 SPV，§9 对应 UTXO，§10 对应隐私，§11 对应攻击概率。
【建议】课后让学生通读一遍白皮书（中英文都可以，约 20 分钟），并把读到的每一节标注到本章课件的页面上。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【读什么】这一节说明“币”不是一个文件，而是一条签名链：每次转手，上一位所有者对“上一笔交易的哈希 + 下一位所有者的公钥”签名。收款人验证整条链上的签名，就知道所有权的传递是真实的。
【留给后面的问题】白皮书说，问题是收款人无法验证链上之前的所有者有没有把同一枚币花给别人——这就是双重支付，引出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解决方案从“时间戳服务器”开始：对一批待加时间戳的数据取哈希并广泛公布（如发在报纸或新闻组上）。时间戳证明这些数据在该时刻一定存在。每个时间戳把前一个时间戳放进哈希，形成链，后面的时间戳强化前面的。
【对应】这就是区块的 Prev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【读什么】为了在 P2P 网络上实现分布式时间戳服务器，需要类似 Adam Back 的 Hashcash 的工作量证明系统。用 SHA-256 为例：在区块里递增 nonce，直到哈希以若干个 0 开头。工作量随前导 0 的个数指数增长，而验证只需一次哈希。
【“一 CPU 一票”】白皮书指出工作量证明还解决了“多数决”的代表性问题：如果按 IP 地址投票，可以被大量伪造；而工作量证明本质上是一 CPU 一票，最长链代表了多数人的决定。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白皮书用六步描述网络的运行。节点总是认为最长的链是正确的，并会继续在上面延长。如果两个节点同时广播不同版本的下一区块，各节点会先在先收到的那条上工作，并保存另一条；等下一个工作量证明被找到、其中一条变得更长时，在另一条上工作的节点就会切换过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按惯例，区块的第一笔交易是一笔特殊交易，产生一枚新币归区块创建者所有，这给节点以支持网络的激励，也提供了把币分发到流通中的办法。新币的稳定增加类似于金矿工人消耗资源把黄金加入流通。激励也可以由交易费资助。白皮书最后一段论证了：贪婪的攻击者发现遵守规则更有利可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一旦一枚币的最近一笔交易被埋在足够多的区块之下，之前已花费的交易就可以丢弃以节省磁盘空间；为了不破坏区块哈希，把交易放进默克尔树，只把根放进区块哈希，旧区块可以通过剪掉树的分支来压缩。白皮书估算：只保存区块头，一年约 4.2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读什么】不运行全节点也能验证支付：用户只需保留最长工作量证明链的区块头，向网络节点索取默克尔分支，把交易与它所在的区块链接起来。这样就能看到网络节点已经接受了它，并且后面又被添加了多少区块进一步确认。局限：只要诚实节点控制着网络，验证就可靠；如果网络被攻击者控制，SPV 就比较脆弱。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243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2430"/>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56032"/>
          </a:xfrm>
          <a:prstGeom prst="rect">
            <a:avLst/>
          </a:prstGeom>
          <a:noFill/>
          <a:ln/>
        </p:spPr>
        <p:txBody>
          <a:bodyPr wrap="square" lIns="0" tIns="0" rIns="0" bIns="0" rtlCol="0" anchor="ctr"/>
          <a:lstStyle/>
          <a:p>
            <a:pPr indent="0" marL="0">
              <a:buNone/>
            </a:pPr>
            <a:r>
              <a:rPr lang="en-US" sz="1000" dirty="0">
                <a:solidFill>
                  <a:schemeClr val="accent5"/>
                </a:solidFill>
              </a:rPr>
              <a:t>数字货币 · 第四章 比特币</a:t>
            </a:r>
            <a:endParaRPr lang="en-US" sz="1000" dirty="0"/>
          </a:p>
        </p:txBody>
      </p:sp>
      <p:sp>
        <p:nvSpPr>
          <p:cNvPr id="3" name="Text 1"/>
          <p:cNvSpPr/>
          <p:nvPr>
            <p:ph idx="101" type="title" hasCustomPrompt="1"/>
          </p:nvPr>
        </p:nvSpPr>
        <p:spPr>
          <a:xfrm>
            <a:off x="457200" y="475488"/>
            <a:ext cx="8229600" cy="868680"/>
          </a:xfrm>
          <a:prstGeom prst="rect">
            <a:avLst/>
          </a:prstGeom>
          <a:noFill/>
          <a:ln/>
        </p:spPr>
        <p:txBody>
          <a:bodyPr wrap="square" rtlCol="0"/>
          <a:lstStyle>
            <a:lvl1pPr algn="l" indent="0" marL="0">
              <a:buNone/>
              <a:defRPr lang="en-US" sz="2800" b="1" dirty="0">
                <a:solidFill>
                  <a:srgbClr val="1F2430"/>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F2430"/>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56032"/>
          </a:xfrm>
          <a:prstGeom prst="rect">
            <a:avLst/>
          </a:prstGeom>
          <a:noFill/>
          <a:ln/>
        </p:spPr>
        <p:txBody>
          <a:bodyPr wrap="square" lIns="0" tIns="0" rIns="0" bIns="0" rtlCol="0" anchor="ctr"/>
          <a:lstStyle/>
          <a:p>
            <a:pPr indent="0" marL="0">
              <a:buNone/>
            </a:pPr>
            <a:r>
              <a:rPr lang="en-US" sz="1000" dirty="0">
                <a:solidFill>
                  <a:schemeClr val="accent5"/>
                </a:solidFill>
              </a:rPr>
              <a:t>数字货币 · 第四章 比特币</a:t>
            </a:r>
            <a:endParaRPr lang="en-US" sz="1000" dirty="0"/>
          </a:p>
        </p:txBody>
      </p:sp>
      <p:sp>
        <p:nvSpPr>
          <p:cNvPr id="3" name="Text 1"/>
          <p:cNvSpPr/>
          <p:nvPr>
            <p:ph idx="101" type="title" hasCustomPrompt="1"/>
          </p:nvPr>
        </p:nvSpPr>
        <p:spPr>
          <a:xfrm>
            <a:off x="457200" y="475488"/>
            <a:ext cx="822960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slideLayout" Target="../slideLayouts/slideLayout4.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4.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4.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8-1.png"/><Relationship Id="rId3" Type="http://schemas.openxmlformats.org/officeDocument/2006/relationships/slideLayout" Target="../slideLayouts/slideLayout4.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4.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4.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slideLayout" Target="../slideLayouts/slideLayout4.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slideLayout" Target="../slideLayouts/slideLayout4.xm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4.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4.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slideLayout" Target="../slideLayouts/slideLayout4.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4.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4.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82-1.png"/><Relationship Id="rId3" Type="http://schemas.openxmlformats.org/officeDocument/2006/relationships/slideLayout" Target="../slideLayouts/slideLayout4.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4.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slideLayout" Target="../slideLayouts/slideLayout4.xml"/><Relationship Id="rId6"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slideLayout" Target="../slideLayouts/slideLayout4.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slideLayout" Target="../slideLayouts/slideLayout4.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4.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4.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4.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4.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slideLayout" Target="../slideLayouts/slideLayout4.xml"/><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4.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slideLayout" Target="../slideLayouts/slideLayout4.xml"/><Relationship Id="rId6"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slideLayout" Target="../slideLayouts/slideLayout4.xm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98-1.png"/><Relationship Id="rId3" Type="http://schemas.openxmlformats.org/officeDocument/2006/relationships/image" Target="../media/image-98-2.png"/><Relationship Id="rId4" Type="http://schemas.openxmlformats.org/officeDocument/2006/relationships/slideLayout" Target="../slideLayouts/slideLayout4.xm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slideLayout" Target="../slideLayouts/slideLayout4.xml"/><Relationship Id="rId5"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image" Target="../media/image-100-3.png"/><Relationship Id="rId4" Type="http://schemas.openxmlformats.org/officeDocument/2006/relationships/image" Target="../media/image-100-4.png"/><Relationship Id="rId5" Type="http://schemas.openxmlformats.org/officeDocument/2006/relationships/slideLayout" Target="../slideLayouts/slideLayout4.xml"/><Relationship Id="rId6"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image" Target="../media/image-101-4.png"/><Relationship Id="rId5" Type="http://schemas.openxmlformats.org/officeDocument/2006/relationships/slideLayout" Target="../slideLayouts/slideLayout4.xml"/><Relationship Id="rId6"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slideLayout" Target="../slideLayouts/slideLayout4.xml"/><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slideLayout" Target="../slideLayouts/slideLayout4.xml"/><Relationship Id="rId5"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image" Target="../media/image-104-3.png"/><Relationship Id="rId4" Type="http://schemas.openxmlformats.org/officeDocument/2006/relationships/image" Target="../media/image-104-4.png"/><Relationship Id="rId5" Type="http://schemas.openxmlformats.org/officeDocument/2006/relationships/slideLayout" Target="../slideLayouts/slideLayout4.xml"/><Relationship Id="rId6"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4.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image" Target="../media/image-109-4.png"/><Relationship Id="rId5" Type="http://schemas.openxmlformats.org/officeDocument/2006/relationships/image" Target="../media/image-109-5.png"/><Relationship Id="rId6" Type="http://schemas.openxmlformats.org/officeDocument/2006/relationships/slideLayout" Target="../slideLayouts/slideLayout4.xml"/><Relationship Id="rId7"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4.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4.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4.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4.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4.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4.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4.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4.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4.xml"/><Relationship Id="rId3" Type="http://schemas.openxmlformats.org/officeDocument/2006/relationships/notesSlide" Target="../notesSlides/notesSlide1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502920"/>
            <a:ext cx="2651760" cy="1691640"/>
          </a:xfrm>
          <a:prstGeom prst="roundRect">
            <a:avLst>
              <a:gd name="adj" fmla="val 5405"/>
            </a:avLst>
          </a:prstGeom>
          <a:solidFill>
            <a:schemeClr val="bg1"/>
          </a:solidFill>
          <a:ln w="12700">
            <a:solidFill>
              <a:schemeClr val="bg1">
                <a:alpha val="0"/>
              </a:schemeClr>
            </a:solidFill>
            <a:prstDash val="solid"/>
          </a:ln>
        </p:spPr>
      </p:sp>
      <p:pic>
        <p:nvPicPr>
          <p:cNvPr id="3" name="Image 0" descr="江西财经大学校徽">    </p:cNvPr>
          <p:cNvPicPr>
            <a:picLocks noChangeAspect="1"/>
          </p:cNvPicPr>
          <p:nvPr/>
        </p:nvPicPr>
        <p:blipFill>
          <a:blip r:embed="rId1"/>
          <a:stretch>
            <a:fillRect/>
          </a:stretch>
        </p:blipFill>
        <p:spPr>
          <a:xfrm>
            <a:off x="594360" y="589074"/>
            <a:ext cx="2377440" cy="1519333"/>
          </a:xfrm>
          <a:prstGeom prst="rect">
            <a:avLst/>
          </a:prstGeom>
        </p:spPr>
      </p:pic>
      <p:pic>
        <p:nvPicPr>
          <p:cNvPr id="4" name="Image 1" descr="bitcoin">    </p:cNvPr>
          <p:cNvPicPr>
            <a:picLocks noChangeAspect="1"/>
          </p:cNvPicPr>
          <p:nvPr/>
        </p:nvPicPr>
        <p:blipFill>
          <a:blip r:embed="rId2"/>
          <a:stretch>
            <a:fillRect/>
          </a:stretch>
        </p:blipFill>
        <p:spPr>
          <a:xfrm>
            <a:off x="6035040" y="640080"/>
            <a:ext cx="2377440" cy="2377440"/>
          </a:xfrm>
          <a:prstGeom prst="rect">
            <a:avLst/>
          </a:prstGeom>
        </p:spPr>
      </p:pic>
      <p:sp>
        <p:nvSpPr>
          <p:cNvPr id="5" name="Text 1"/>
          <p:cNvSpPr txBox="1"/>
          <p:nvPr/>
        </p:nvSpPr>
        <p:spPr>
          <a:xfrm>
            <a:off x="457200" y="2971800"/>
            <a:ext cx="8229600" cy="914400"/>
          </a:xfrm>
          <a:prstGeom prst="rect">
            <a:avLst/>
          </a:prstGeom>
          <a:noFill/>
          <a:ln/>
        </p:spPr>
        <p:txBody>
          <a:bodyPr wrap="square" lIns="0" tIns="0" rIns="0" bIns="0" rtlCol="0" anchor="ctr"/>
          <a:lstStyle/>
          <a:p>
            <a:pPr indent="0" marL="0">
              <a:buNone/>
            </a:pPr>
            <a:r>
              <a:rPr lang="en-US" sz="5400" b="1" dirty="0">
                <a:solidFill>
                  <a:schemeClr val="bg1"/>
                </a:solidFill>
              </a:rPr>
              <a:t>第四章 比特币</a:t>
            </a:r>
            <a:endParaRPr lang="en-US" sz="5400" dirty="0"/>
          </a:p>
        </p:txBody>
      </p:sp>
      <p:sp>
        <p:nvSpPr>
          <p:cNvPr id="6" name="Text 2"/>
          <p:cNvSpPr txBox="1"/>
          <p:nvPr/>
        </p:nvSpPr>
        <p:spPr>
          <a:xfrm>
            <a:off x="457200" y="3977640"/>
            <a:ext cx="8229600" cy="640080"/>
          </a:xfrm>
          <a:prstGeom prst="rect">
            <a:avLst/>
          </a:prstGeom>
          <a:noFill/>
          <a:ln/>
        </p:spPr>
        <p:txBody>
          <a:bodyPr wrap="square" lIns="0" tIns="0" rIns="0" bIns="0" rtlCol="0" anchor="t"/>
          <a:lstStyle/>
          <a:p>
            <a:pPr indent="0" marL="0">
              <a:buNone/>
            </a:pPr>
            <a:r>
              <a:rPr lang="en-US" sz="2400" dirty="0">
                <a:solidFill>
                  <a:schemeClr val="accent1"/>
                </a:solidFill>
              </a:rPr>
              <a:t>没有银行的支付系统，是怎样炼成的？</a:t>
            </a:r>
            <a:endParaRPr lang="en-US" sz="2400" dirty="0"/>
          </a:p>
        </p:txBody>
      </p:sp>
      <p:sp>
        <p:nvSpPr>
          <p:cNvPr id="7" name="Text 3"/>
          <p:cNvSpPr txBox="1"/>
          <p:nvPr/>
        </p:nvSpPr>
        <p:spPr>
          <a:xfrm>
            <a:off x="457200" y="4983480"/>
            <a:ext cx="8229600" cy="1097280"/>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数字货币 · 课件（2026 年 10 月修订版）</a:t>
            </a:r>
            <a:endParaRPr lang="en-US" sz="1400" dirty="0"/>
          </a:p>
          <a:p>
            <a:pPr indent="0" marL="0">
              <a:spcAft>
                <a:spcPts val="400"/>
              </a:spcAft>
              <a:buNone/>
            </a:pPr>
            <a:r>
              <a:rPr lang="en-US" sz="1400" dirty="0">
                <a:solidFill>
                  <a:schemeClr val="accent5"/>
                </a:solidFill>
              </a:rPr>
              <a:t>依据 Eswar Prasad《The Future of Money》第四章，并结合比特币白皮书与最新资料增订</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学完这一章，你应该能……</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开场</a:t>
            </a:r>
            <a:endParaRPr lang="en-US" sz="1200" dirty="0"/>
          </a:p>
        </p:txBody>
      </p:sp>
      <p:sp>
        <p:nvSpPr>
          <p:cNvPr id="5" name="Shape 2"/>
          <p:cNvSpPr/>
          <p:nvPr/>
        </p:nvSpPr>
        <p:spPr>
          <a:xfrm>
            <a:off x="457200" y="1417320"/>
            <a:ext cx="8229600" cy="786384"/>
          </a:xfrm>
          <a:prstGeom prst="roundRect">
            <a:avLst>
              <a:gd name="adj" fmla="val 9302"/>
            </a:avLst>
          </a:prstGeom>
          <a:solidFill>
            <a:schemeClr val="bg2"/>
          </a:solidFill>
          <a:ln w="12700">
            <a:solidFill>
              <a:schemeClr val="bg2">
                <a:alpha val="0"/>
              </a:schemeClr>
            </a:solidFill>
            <a:prstDash val="solid"/>
          </a:ln>
        </p:spPr>
      </p:sp>
      <p:sp>
        <p:nvSpPr>
          <p:cNvPr id="6" name="Shape 3"/>
          <p:cNvSpPr/>
          <p:nvPr/>
        </p:nvSpPr>
        <p:spPr>
          <a:xfrm>
            <a:off x="640080" y="1554480"/>
            <a:ext cx="512064" cy="512064"/>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554480"/>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8" name="Text 5"/>
          <p:cNvSpPr txBox="1"/>
          <p:nvPr/>
        </p:nvSpPr>
        <p:spPr>
          <a:xfrm>
            <a:off x="1371600" y="1463040"/>
            <a:ext cx="7132320" cy="694944"/>
          </a:xfrm>
          <a:prstGeom prst="rect">
            <a:avLst/>
          </a:prstGeom>
          <a:noFill/>
          <a:ln/>
        </p:spPr>
        <p:txBody>
          <a:bodyPr wrap="square" lIns="0" tIns="0" rIns="0" bIns="0" rtlCol="0" anchor="ctr"/>
          <a:lstStyle/>
          <a:p>
            <a:pPr algn="l" indent="0" marL="0">
              <a:lnSpc>
                <a:spcPct val="105000"/>
              </a:lnSpc>
              <a:buNone/>
            </a:pPr>
            <a:r>
              <a:rPr lang="en-US" sz="1800" dirty="0">
                <a:solidFill>
                  <a:schemeClr val="tx1"/>
                </a:solidFill>
              </a:rPr>
              <a:t>说清比特币要解决的问题：没有银行，如何做到</a:t>
            </a:r>
            <a:pPr algn="l" indent="0" marL="0">
              <a:lnSpc>
                <a:spcPct val="105000"/>
              </a:lnSpc>
              <a:buNone/>
            </a:pPr>
            <a:r>
              <a:rPr lang="en-US" sz="1800" b="1" dirty="0">
                <a:solidFill>
                  <a:schemeClr val="tx1"/>
                </a:solidFill>
              </a:rPr>
              <a:t>可验证、不可更改、不重复花</a:t>
            </a:r>
            <a:endParaRPr lang="en-US" sz="1800" dirty="0"/>
          </a:p>
        </p:txBody>
      </p:sp>
      <p:sp>
        <p:nvSpPr>
          <p:cNvPr id="9" name="Shape 6"/>
          <p:cNvSpPr/>
          <p:nvPr/>
        </p:nvSpPr>
        <p:spPr>
          <a:xfrm>
            <a:off x="457200" y="2331720"/>
            <a:ext cx="8229600" cy="786384"/>
          </a:xfrm>
          <a:prstGeom prst="roundRect">
            <a:avLst>
              <a:gd name="adj" fmla="val 9302"/>
            </a:avLst>
          </a:prstGeom>
          <a:solidFill>
            <a:schemeClr val="bg2"/>
          </a:solidFill>
          <a:ln w="12700">
            <a:solidFill>
              <a:schemeClr val="bg2">
                <a:alpha val="0"/>
              </a:schemeClr>
            </a:solidFill>
            <a:prstDash val="solid"/>
          </a:ln>
        </p:spPr>
      </p:sp>
      <p:sp>
        <p:nvSpPr>
          <p:cNvPr id="10" name="Shape 7"/>
          <p:cNvSpPr/>
          <p:nvPr/>
        </p:nvSpPr>
        <p:spPr>
          <a:xfrm>
            <a:off x="640080" y="2468880"/>
            <a:ext cx="512064" cy="512064"/>
          </a:xfrm>
          <a:prstGeom prst="ellipse">
            <a:avLst/>
          </a:prstGeom>
          <a:solidFill>
            <a:schemeClr val="accent1"/>
          </a:solidFill>
          <a:ln w="12700">
            <a:solidFill>
              <a:schemeClr val="accent1">
                <a:alpha val="0"/>
              </a:schemeClr>
            </a:solidFill>
            <a:prstDash val="solid"/>
          </a:ln>
        </p:spPr>
      </p:sp>
      <p:sp>
        <p:nvSpPr>
          <p:cNvPr id="11" name="Text 8"/>
          <p:cNvSpPr txBox="1"/>
          <p:nvPr/>
        </p:nvSpPr>
        <p:spPr>
          <a:xfrm>
            <a:off x="640080" y="2468880"/>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9"/>
          <p:cNvSpPr txBox="1"/>
          <p:nvPr/>
        </p:nvSpPr>
        <p:spPr>
          <a:xfrm>
            <a:off x="1371600" y="2377440"/>
            <a:ext cx="7132320" cy="694944"/>
          </a:xfrm>
          <a:prstGeom prst="rect">
            <a:avLst/>
          </a:prstGeom>
          <a:noFill/>
          <a:ln/>
        </p:spPr>
        <p:txBody>
          <a:bodyPr wrap="square" lIns="0" tIns="0" rIns="0" bIns="0" rtlCol="0" anchor="ctr"/>
          <a:lstStyle/>
          <a:p>
            <a:pPr algn="l" indent="0" marL="0">
              <a:lnSpc>
                <a:spcPct val="105000"/>
              </a:lnSpc>
              <a:buNone/>
            </a:pPr>
            <a:r>
              <a:rPr lang="en-US" sz="1800" dirty="0">
                <a:solidFill>
                  <a:schemeClr val="tx1"/>
                </a:solidFill>
              </a:rPr>
              <a:t>讲明白三块“积木”：</a:t>
            </a:r>
            <a:pPr algn="l" indent="0" marL="0">
              <a:lnSpc>
                <a:spcPct val="105000"/>
              </a:lnSpc>
              <a:buNone/>
            </a:pPr>
            <a:r>
              <a:rPr lang="en-US" sz="1800" b="1" dirty="0">
                <a:solidFill>
                  <a:schemeClr val="tx1"/>
                </a:solidFill>
              </a:rPr>
              <a:t>公私钥签名、哈希与默克尔树、分布式账本</a:t>
            </a:r>
            <a:endParaRPr lang="en-US" sz="1800" dirty="0"/>
          </a:p>
        </p:txBody>
      </p:sp>
      <p:sp>
        <p:nvSpPr>
          <p:cNvPr id="13" name="Shape 10"/>
          <p:cNvSpPr/>
          <p:nvPr/>
        </p:nvSpPr>
        <p:spPr>
          <a:xfrm>
            <a:off x="457200" y="3246120"/>
            <a:ext cx="8229600" cy="786384"/>
          </a:xfrm>
          <a:prstGeom prst="roundRect">
            <a:avLst>
              <a:gd name="adj" fmla="val 9302"/>
            </a:avLst>
          </a:prstGeom>
          <a:solidFill>
            <a:schemeClr val="bg2"/>
          </a:solidFill>
          <a:ln w="12700">
            <a:solidFill>
              <a:schemeClr val="bg2">
                <a:alpha val="0"/>
              </a:schemeClr>
            </a:solidFill>
            <a:prstDash val="solid"/>
          </a:ln>
        </p:spPr>
      </p:sp>
      <p:sp>
        <p:nvSpPr>
          <p:cNvPr id="14" name="Shape 11"/>
          <p:cNvSpPr/>
          <p:nvPr/>
        </p:nvSpPr>
        <p:spPr>
          <a:xfrm>
            <a:off x="640080" y="3383280"/>
            <a:ext cx="512064" cy="512064"/>
          </a:xfrm>
          <a:prstGeom prst="ellipse">
            <a:avLst/>
          </a:prstGeom>
          <a:solidFill>
            <a:schemeClr val="accent1"/>
          </a:solidFill>
          <a:ln w="12700">
            <a:solidFill>
              <a:schemeClr val="accent1">
                <a:alpha val="0"/>
              </a:schemeClr>
            </a:solidFill>
            <a:prstDash val="solid"/>
          </a:ln>
        </p:spPr>
      </p:sp>
      <p:sp>
        <p:nvSpPr>
          <p:cNvPr id="15" name="Text 12"/>
          <p:cNvSpPr txBox="1"/>
          <p:nvPr/>
        </p:nvSpPr>
        <p:spPr>
          <a:xfrm>
            <a:off x="640080" y="3383280"/>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Text 13"/>
          <p:cNvSpPr txBox="1"/>
          <p:nvPr/>
        </p:nvSpPr>
        <p:spPr>
          <a:xfrm>
            <a:off x="1371600" y="3291840"/>
            <a:ext cx="7132320" cy="694944"/>
          </a:xfrm>
          <a:prstGeom prst="rect">
            <a:avLst/>
          </a:prstGeom>
          <a:noFill/>
          <a:ln/>
        </p:spPr>
        <p:txBody>
          <a:bodyPr wrap="square" lIns="0" tIns="0" rIns="0" bIns="0" rtlCol="0" anchor="ctr"/>
          <a:lstStyle/>
          <a:p>
            <a:pPr algn="l" indent="0" marL="0">
              <a:lnSpc>
                <a:spcPct val="105000"/>
              </a:lnSpc>
              <a:buNone/>
            </a:pPr>
            <a:r>
              <a:rPr lang="en-US" sz="1800" dirty="0">
                <a:solidFill>
                  <a:schemeClr val="tx1"/>
                </a:solidFill>
              </a:rPr>
              <a:t>解释</a:t>
            </a:r>
            <a:pPr algn="l" indent="0" marL="0">
              <a:lnSpc>
                <a:spcPct val="105000"/>
              </a:lnSpc>
              <a:buNone/>
            </a:pPr>
            <a:r>
              <a:rPr lang="en-US" sz="1800" b="1" dirty="0">
                <a:solidFill>
                  <a:schemeClr val="tx1"/>
                </a:solidFill>
              </a:rPr>
              <a:t>工作量证明</a:t>
            </a:r>
            <a:pPr algn="l" indent="0" marL="0">
              <a:lnSpc>
                <a:spcPct val="105000"/>
              </a:lnSpc>
              <a:buNone/>
            </a:pPr>
            <a:r>
              <a:rPr lang="en-US" sz="1800" dirty="0">
                <a:solidFill>
                  <a:schemeClr val="tx1"/>
                </a:solidFill>
              </a:rPr>
              <a:t>如何让陌生人就账本达成一致，并说出 51% 攻击的边界</a:t>
            </a:r>
            <a:endParaRPr lang="en-US" sz="1800" dirty="0"/>
          </a:p>
        </p:txBody>
      </p:sp>
      <p:sp>
        <p:nvSpPr>
          <p:cNvPr id="17" name="Shape 14"/>
          <p:cNvSpPr/>
          <p:nvPr/>
        </p:nvSpPr>
        <p:spPr>
          <a:xfrm>
            <a:off x="457200" y="4160520"/>
            <a:ext cx="8229600" cy="786384"/>
          </a:xfrm>
          <a:prstGeom prst="roundRect">
            <a:avLst>
              <a:gd name="adj" fmla="val 9302"/>
            </a:avLst>
          </a:prstGeom>
          <a:solidFill>
            <a:schemeClr val="bg2"/>
          </a:solidFill>
          <a:ln w="12700">
            <a:solidFill>
              <a:schemeClr val="bg2">
                <a:alpha val="0"/>
              </a:schemeClr>
            </a:solidFill>
            <a:prstDash val="solid"/>
          </a:ln>
        </p:spPr>
      </p:sp>
      <p:sp>
        <p:nvSpPr>
          <p:cNvPr id="18" name="Shape 15"/>
          <p:cNvSpPr/>
          <p:nvPr/>
        </p:nvSpPr>
        <p:spPr>
          <a:xfrm>
            <a:off x="640080" y="4297680"/>
            <a:ext cx="512064" cy="512064"/>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297680"/>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0" name="Text 17"/>
          <p:cNvSpPr txBox="1"/>
          <p:nvPr/>
        </p:nvSpPr>
        <p:spPr>
          <a:xfrm>
            <a:off x="1371600" y="4206240"/>
            <a:ext cx="7132320" cy="694944"/>
          </a:xfrm>
          <a:prstGeom prst="rect">
            <a:avLst/>
          </a:prstGeom>
          <a:noFill/>
          <a:ln/>
        </p:spPr>
        <p:txBody>
          <a:bodyPr wrap="square" lIns="0" tIns="0" rIns="0" bIns="0" rtlCol="0" anchor="ctr"/>
          <a:lstStyle/>
          <a:p>
            <a:pPr algn="l" indent="0" marL="0">
              <a:lnSpc>
                <a:spcPct val="105000"/>
              </a:lnSpc>
              <a:buNone/>
            </a:pPr>
            <a:r>
              <a:rPr lang="en-US" sz="1800" dirty="0">
                <a:solidFill>
                  <a:schemeClr val="tx1"/>
                </a:solidFill>
              </a:rPr>
              <a:t>算清货币发行：</a:t>
            </a:r>
            <a:pPr algn="l" indent="0" marL="0">
              <a:lnSpc>
                <a:spcPct val="105000"/>
              </a:lnSpc>
              <a:buNone/>
            </a:pPr>
            <a:r>
              <a:rPr lang="en-US" sz="1800" b="1" dirty="0">
                <a:solidFill>
                  <a:schemeClr val="tx1"/>
                </a:solidFill>
              </a:rPr>
              <a:t>区块奖励、减半、2100 万上限与手续费</a:t>
            </a:r>
            <a:endParaRPr lang="en-US" sz="1800" dirty="0"/>
          </a:p>
        </p:txBody>
      </p:sp>
      <p:sp>
        <p:nvSpPr>
          <p:cNvPr id="21" name="Shape 18"/>
          <p:cNvSpPr/>
          <p:nvPr/>
        </p:nvSpPr>
        <p:spPr>
          <a:xfrm>
            <a:off x="457200" y="5074920"/>
            <a:ext cx="8229600" cy="786384"/>
          </a:xfrm>
          <a:prstGeom prst="roundRect">
            <a:avLst>
              <a:gd name="adj" fmla="val 9302"/>
            </a:avLst>
          </a:prstGeom>
          <a:solidFill>
            <a:schemeClr val="bg2"/>
          </a:solidFill>
          <a:ln w="12700">
            <a:solidFill>
              <a:schemeClr val="bg2">
                <a:alpha val="0"/>
              </a:schemeClr>
            </a:solidFill>
            <a:prstDash val="solid"/>
          </a:ln>
        </p:spPr>
      </p:sp>
      <p:sp>
        <p:nvSpPr>
          <p:cNvPr id="22" name="Shape 19"/>
          <p:cNvSpPr/>
          <p:nvPr/>
        </p:nvSpPr>
        <p:spPr>
          <a:xfrm>
            <a:off x="640080" y="5212080"/>
            <a:ext cx="512064" cy="512064"/>
          </a:xfrm>
          <a:prstGeom prst="ellipse">
            <a:avLst/>
          </a:prstGeom>
          <a:solidFill>
            <a:schemeClr val="accent1"/>
          </a:solidFill>
          <a:ln w="12700">
            <a:solidFill>
              <a:schemeClr val="accent1">
                <a:alpha val="0"/>
              </a:schemeClr>
            </a:solidFill>
            <a:prstDash val="solid"/>
          </a:ln>
        </p:spPr>
      </p:sp>
      <p:sp>
        <p:nvSpPr>
          <p:cNvPr id="23" name="Text 20"/>
          <p:cNvSpPr txBox="1"/>
          <p:nvPr/>
        </p:nvSpPr>
        <p:spPr>
          <a:xfrm>
            <a:off x="640080" y="5212080"/>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4" name="Text 21"/>
          <p:cNvSpPr txBox="1"/>
          <p:nvPr/>
        </p:nvSpPr>
        <p:spPr>
          <a:xfrm>
            <a:off x="1371600" y="5120640"/>
            <a:ext cx="7132320" cy="694944"/>
          </a:xfrm>
          <a:prstGeom prst="rect">
            <a:avLst/>
          </a:prstGeom>
          <a:noFill/>
          <a:ln/>
        </p:spPr>
        <p:txBody>
          <a:bodyPr wrap="square" lIns="0" tIns="0" rIns="0" bIns="0" rtlCol="0" anchor="ctr"/>
          <a:lstStyle/>
          <a:p>
            <a:pPr algn="l" indent="0" marL="0">
              <a:lnSpc>
                <a:spcPct val="105000"/>
              </a:lnSpc>
              <a:buNone/>
            </a:pPr>
            <a:r>
              <a:rPr lang="en-US" sz="1800" dirty="0">
                <a:solidFill>
                  <a:schemeClr val="tx1"/>
                </a:solidFill>
              </a:rPr>
              <a:t>用证据评价比特币：成就、不足、价值之争，并能</a:t>
            </a:r>
            <a:pPr algn="l" indent="0" marL="0">
              <a:lnSpc>
                <a:spcPct val="105000"/>
              </a:lnSpc>
              <a:buNone/>
            </a:pPr>
            <a:r>
              <a:rPr lang="en-US" sz="1800" b="1" dirty="0">
                <a:solidFill>
                  <a:schemeClr val="tx1"/>
                </a:solidFill>
              </a:rPr>
              <a:t>识别风险</a:t>
            </a:r>
            <a:endParaRPr lang="en-US" sz="18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开场提问：没有银行，你怎么给陌生人转账？</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开场</a:t>
            </a:r>
            <a:endParaRPr lang="en-US" sz="1200" dirty="0"/>
          </a:p>
        </p:txBody>
      </p:sp>
      <p:sp>
        <p:nvSpPr>
          <p:cNvPr id="5" name="Shape 2"/>
          <p:cNvSpPr/>
          <p:nvPr/>
        </p:nvSpPr>
        <p:spPr>
          <a:xfrm>
            <a:off x="457200" y="1463040"/>
            <a:ext cx="2194560" cy="1371600"/>
          </a:xfrm>
          <a:prstGeom prst="roundRect">
            <a:avLst>
              <a:gd name="adj" fmla="val 5333"/>
            </a:avLst>
          </a:prstGeom>
          <a:solidFill>
            <a:schemeClr val="bg2"/>
          </a:solidFill>
          <a:ln w="12700">
            <a:solidFill>
              <a:schemeClr val="bg2">
                <a:alpha val="0"/>
              </a:schemeClr>
            </a:solidFill>
            <a:prstDash val="solid"/>
          </a:ln>
        </p:spPr>
      </p:sp>
      <p:sp>
        <p:nvSpPr>
          <p:cNvPr id="6" name="Shape 3"/>
          <p:cNvSpPr/>
          <p:nvPr/>
        </p:nvSpPr>
        <p:spPr>
          <a:xfrm>
            <a:off x="1280160" y="1572768"/>
            <a:ext cx="548640" cy="548640"/>
          </a:xfrm>
          <a:prstGeom prst="ellipse">
            <a:avLst/>
          </a:prstGeom>
          <a:solidFill>
            <a:schemeClr val="accent1"/>
          </a:solidFill>
          <a:ln w="12700">
            <a:solidFill>
              <a:schemeClr val="accent1">
                <a:alpha val="0"/>
              </a:schemeClr>
            </a:solidFill>
            <a:prstDash val="solid"/>
          </a:ln>
        </p:spPr>
      </p:sp>
      <p:pic>
        <p:nvPicPr>
          <p:cNvPr id="7" name="Image 0" descr="FaWallet">    </p:cNvPr>
          <p:cNvPicPr>
            <a:picLocks noChangeAspect="1"/>
          </p:cNvPicPr>
          <p:nvPr/>
        </p:nvPicPr>
        <p:blipFill>
          <a:blip r:embed="rId1"/>
          <a:stretch>
            <a:fillRect/>
          </a:stretch>
        </p:blipFill>
        <p:spPr>
          <a:xfrm>
            <a:off x="1400861" y="1693469"/>
            <a:ext cx="307238" cy="307238"/>
          </a:xfrm>
          <a:prstGeom prst="rect">
            <a:avLst/>
          </a:prstGeom>
        </p:spPr>
      </p:pic>
      <p:sp>
        <p:nvSpPr>
          <p:cNvPr id="8" name="Text 4"/>
          <p:cNvSpPr txBox="1"/>
          <p:nvPr/>
        </p:nvSpPr>
        <p:spPr>
          <a:xfrm>
            <a:off x="457200" y="2240280"/>
            <a:ext cx="2194560" cy="457200"/>
          </a:xfrm>
          <a:prstGeom prst="rect">
            <a:avLst/>
          </a:prstGeom>
          <a:noFill/>
          <a:ln/>
        </p:spPr>
        <p:txBody>
          <a:bodyPr wrap="square" lIns="0" tIns="0" rIns="0" bIns="0" rtlCol="0" anchor="t"/>
          <a:lstStyle/>
          <a:p>
            <a:pPr algn="ctr" indent="0" marL="0">
              <a:lnSpc>
                <a:spcPct val="105000"/>
              </a:lnSpc>
              <a:buNone/>
            </a:pPr>
            <a:r>
              <a:rPr lang="en-US" sz="2000" b="1" dirty="0">
                <a:solidFill>
                  <a:schemeClr val="tx1"/>
                </a:solidFill>
              </a:rPr>
              <a:t>你</a:t>
            </a:r>
            <a:endParaRPr lang="en-US" sz="2000" dirty="0"/>
          </a:p>
        </p:txBody>
      </p:sp>
      <p:sp>
        <p:nvSpPr>
          <p:cNvPr id="9" name="Shape 5"/>
          <p:cNvSpPr/>
          <p:nvPr/>
        </p:nvSpPr>
        <p:spPr>
          <a:xfrm>
            <a:off x="6492240" y="1463040"/>
            <a:ext cx="2194560" cy="1371600"/>
          </a:xfrm>
          <a:prstGeom prst="roundRect">
            <a:avLst>
              <a:gd name="adj" fmla="val 5333"/>
            </a:avLst>
          </a:prstGeom>
          <a:solidFill>
            <a:schemeClr val="bg2"/>
          </a:solidFill>
          <a:ln w="12700">
            <a:solidFill>
              <a:schemeClr val="bg2">
                <a:alpha val="0"/>
              </a:schemeClr>
            </a:solidFill>
            <a:prstDash val="solid"/>
          </a:ln>
        </p:spPr>
      </p:sp>
      <p:sp>
        <p:nvSpPr>
          <p:cNvPr id="10" name="Shape 6"/>
          <p:cNvSpPr/>
          <p:nvPr/>
        </p:nvSpPr>
        <p:spPr>
          <a:xfrm>
            <a:off x="7315200" y="1572768"/>
            <a:ext cx="548640" cy="548640"/>
          </a:xfrm>
          <a:prstGeom prst="ellipse">
            <a:avLst/>
          </a:prstGeom>
          <a:solidFill>
            <a:schemeClr val="accent4"/>
          </a:solidFill>
          <a:ln w="12700">
            <a:solidFill>
              <a:schemeClr val="accent4">
                <a:alpha val="0"/>
              </a:schemeClr>
            </a:solidFill>
            <a:prstDash val="solid"/>
          </a:ln>
        </p:spPr>
      </p:sp>
      <p:pic>
        <p:nvPicPr>
          <p:cNvPr id="11" name="Image 1" descr="FaUserSecret">    </p:cNvPr>
          <p:cNvPicPr>
            <a:picLocks noChangeAspect="1"/>
          </p:cNvPicPr>
          <p:nvPr/>
        </p:nvPicPr>
        <p:blipFill>
          <a:blip r:embed="rId2"/>
          <a:stretch>
            <a:fillRect/>
          </a:stretch>
        </p:blipFill>
        <p:spPr>
          <a:xfrm>
            <a:off x="7435901" y="1693469"/>
            <a:ext cx="307238" cy="307238"/>
          </a:xfrm>
          <a:prstGeom prst="rect">
            <a:avLst/>
          </a:prstGeom>
        </p:spPr>
      </p:pic>
      <p:sp>
        <p:nvSpPr>
          <p:cNvPr id="12" name="Text 7"/>
          <p:cNvSpPr txBox="1"/>
          <p:nvPr/>
        </p:nvSpPr>
        <p:spPr>
          <a:xfrm>
            <a:off x="6492240" y="2240280"/>
            <a:ext cx="2194560" cy="457200"/>
          </a:xfrm>
          <a:prstGeom prst="rect">
            <a:avLst/>
          </a:prstGeom>
          <a:noFill/>
          <a:ln/>
        </p:spPr>
        <p:txBody>
          <a:bodyPr wrap="square" lIns="0" tIns="0" rIns="0" bIns="0" rtlCol="0" anchor="t"/>
          <a:lstStyle/>
          <a:p>
            <a:pPr algn="ctr" indent="0" marL="0">
              <a:lnSpc>
                <a:spcPct val="105000"/>
              </a:lnSpc>
              <a:buNone/>
            </a:pPr>
            <a:r>
              <a:rPr lang="en-US" sz="1800" b="1" dirty="0">
                <a:solidFill>
                  <a:schemeClr val="tx1"/>
                </a:solidFill>
              </a:rPr>
              <a:t>素不相识的人</a:t>
            </a:r>
            <a:endParaRPr lang="en-US" sz="1800" dirty="0"/>
          </a:p>
        </p:txBody>
      </p:sp>
      <p:sp>
        <p:nvSpPr>
          <p:cNvPr id="13" name="Shape 8"/>
          <p:cNvSpPr/>
          <p:nvPr/>
        </p:nvSpPr>
        <p:spPr>
          <a:xfrm>
            <a:off x="2743200" y="2148840"/>
            <a:ext cx="3657600" cy="0"/>
          </a:xfrm>
          <a:prstGeom prst="line">
            <a:avLst/>
          </a:prstGeom>
          <a:noFill/>
          <a:ln w="38100">
            <a:solidFill>
              <a:schemeClr val="accent1"/>
            </a:solidFill>
            <a:prstDash val="solid"/>
            <a:tailEnd type="triangle"/>
          </a:ln>
        </p:spPr>
      </p:sp>
      <p:sp>
        <p:nvSpPr>
          <p:cNvPr id="14" name="Text 9"/>
          <p:cNvSpPr txBox="1"/>
          <p:nvPr/>
        </p:nvSpPr>
        <p:spPr>
          <a:xfrm>
            <a:off x="3108960" y="1481328"/>
            <a:ext cx="2926080" cy="365760"/>
          </a:xfrm>
          <a:prstGeom prst="rect">
            <a:avLst/>
          </a:prstGeom>
          <a:noFill/>
          <a:ln/>
        </p:spPr>
        <p:txBody>
          <a:bodyPr wrap="square" lIns="0" tIns="0" rIns="0" bIns="0" rtlCol="0" anchor="ctr"/>
          <a:lstStyle/>
          <a:p>
            <a:pPr algn="ctr" indent="0" marL="0">
              <a:lnSpc>
                <a:spcPct val="105000"/>
              </a:lnSpc>
              <a:buNone/>
            </a:pPr>
            <a:r>
              <a:rPr lang="en-US" sz="1600" b="1" dirty="0">
                <a:solidFill>
                  <a:schemeClr val="tx1"/>
                </a:solidFill>
              </a:rPr>
              <a:t>转 100 元</a:t>
            </a:r>
            <a:endParaRPr lang="en-US" sz="1600" dirty="0"/>
          </a:p>
        </p:txBody>
      </p:sp>
      <p:sp>
        <p:nvSpPr>
          <p:cNvPr id="15" name="Shape 10"/>
          <p:cNvSpPr/>
          <p:nvPr/>
        </p:nvSpPr>
        <p:spPr>
          <a:xfrm>
            <a:off x="4297680" y="1874520"/>
            <a:ext cx="548640" cy="548640"/>
          </a:xfrm>
          <a:prstGeom prst="ellipse">
            <a:avLst/>
          </a:prstGeom>
          <a:solidFill>
            <a:schemeClr val="accent2"/>
          </a:solidFill>
          <a:ln w="12700">
            <a:solidFill>
              <a:schemeClr val="accent2">
                <a:alpha val="0"/>
              </a:schemeClr>
            </a:solidFill>
            <a:prstDash val="solid"/>
          </a:ln>
        </p:spPr>
      </p:sp>
      <p:sp>
        <p:nvSpPr>
          <p:cNvPr id="16" name="Text 11"/>
          <p:cNvSpPr txBox="1"/>
          <p:nvPr/>
        </p:nvSpPr>
        <p:spPr>
          <a:xfrm>
            <a:off x="4297680" y="1874520"/>
            <a:ext cx="548640" cy="548640"/>
          </a:xfrm>
          <a:prstGeom prst="rect">
            <a:avLst/>
          </a:prstGeom>
          <a:noFill/>
          <a:ln/>
        </p:spPr>
        <p:txBody>
          <a:bodyPr wrap="square" lIns="0" tIns="0" rIns="0" bIns="0" rtlCol="0" anchor="ctr"/>
          <a:lstStyle/>
          <a:p>
            <a:pPr algn="ctr" indent="0" marL="0">
              <a:buNone/>
            </a:pPr>
            <a:r>
              <a:rPr lang="en-US" sz="2600" b="1" dirty="0">
                <a:solidFill>
                  <a:schemeClr val="bg1"/>
                </a:solidFill>
              </a:rPr>
              <a:t>?</a:t>
            </a:r>
            <a:endParaRPr lang="en-US" sz="2600" dirty="0"/>
          </a:p>
        </p:txBody>
      </p:sp>
      <p:sp>
        <p:nvSpPr>
          <p:cNvPr id="17" name="Text 12"/>
          <p:cNvSpPr txBox="1"/>
          <p:nvPr/>
        </p:nvSpPr>
        <p:spPr>
          <a:xfrm>
            <a:off x="2743200" y="2331720"/>
            <a:ext cx="3657600" cy="54864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没有银行 · 没有支付平台</a:t>
            </a:r>
            <a:endParaRPr lang="en-US" sz="1400" dirty="0"/>
          </a:p>
          <a:p>
            <a:pPr algn="ctr" indent="0" marL="0">
              <a:lnSpc>
                <a:spcPct val="105000"/>
              </a:lnSpc>
              <a:buNone/>
            </a:pPr>
            <a:r>
              <a:rPr lang="en-US" sz="1400" b="1" dirty="0">
                <a:solidFill>
                  <a:schemeClr val="accent2"/>
                </a:solidFill>
              </a:rPr>
              <a:t>没有可信的中间人</a:t>
            </a:r>
            <a:endParaRPr lang="en-US" sz="1400" dirty="0"/>
          </a:p>
        </p:txBody>
      </p:sp>
      <p:sp>
        <p:nvSpPr>
          <p:cNvPr id="18" name="Shape 13"/>
          <p:cNvSpPr/>
          <p:nvPr/>
        </p:nvSpPr>
        <p:spPr>
          <a:xfrm>
            <a:off x="457200" y="3200400"/>
            <a:ext cx="8229600" cy="822960"/>
          </a:xfrm>
          <a:prstGeom prst="roundRect">
            <a:avLst>
              <a:gd name="adj" fmla="val 8889"/>
            </a:avLst>
          </a:prstGeom>
          <a:solidFill>
            <a:schemeClr val="bg2"/>
          </a:solidFill>
          <a:ln w="12700">
            <a:solidFill>
              <a:schemeClr val="bg2">
                <a:alpha val="0"/>
              </a:schemeClr>
            </a:solidFill>
            <a:prstDash val="solid"/>
          </a:ln>
        </p:spPr>
      </p:sp>
      <p:sp>
        <p:nvSpPr>
          <p:cNvPr id="19" name="Shape 14"/>
          <p:cNvSpPr/>
          <p:nvPr/>
        </p:nvSpPr>
        <p:spPr>
          <a:xfrm>
            <a:off x="640080" y="3337560"/>
            <a:ext cx="548640" cy="548640"/>
          </a:xfrm>
          <a:prstGeom prst="ellipse">
            <a:avLst/>
          </a:prstGeom>
          <a:solidFill>
            <a:schemeClr val="tx1"/>
          </a:solidFill>
          <a:ln w="12700">
            <a:solidFill>
              <a:schemeClr val="tx1">
                <a:alpha val="0"/>
              </a:schemeClr>
            </a:solidFill>
            <a:prstDash val="solid"/>
          </a:ln>
        </p:spPr>
      </p:sp>
      <p:sp>
        <p:nvSpPr>
          <p:cNvPr id="20" name="Text 15"/>
          <p:cNvSpPr txBox="1"/>
          <p:nvPr/>
        </p:nvSpPr>
        <p:spPr>
          <a:xfrm>
            <a:off x="640080" y="33375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1" name="Text 16"/>
          <p:cNvSpPr txBox="1"/>
          <p:nvPr/>
        </p:nvSpPr>
        <p:spPr>
          <a:xfrm>
            <a:off x="1417320" y="3246120"/>
            <a:ext cx="4846320" cy="7315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凭什么相信，这笔钱真的是“你的”、而且是你自己愿意付的？</a:t>
            </a:r>
            <a:endParaRPr lang="en-US" sz="1700" dirty="0"/>
          </a:p>
        </p:txBody>
      </p:sp>
      <p:sp>
        <p:nvSpPr>
          <p:cNvPr id="22" name="Shape 17"/>
          <p:cNvSpPr/>
          <p:nvPr/>
        </p:nvSpPr>
        <p:spPr>
          <a:xfrm>
            <a:off x="6400800" y="3401568"/>
            <a:ext cx="2148840" cy="420624"/>
          </a:xfrm>
          <a:prstGeom prst="roundRect">
            <a:avLst>
              <a:gd name="adj" fmla="val 50000"/>
            </a:avLst>
          </a:prstGeom>
          <a:solidFill>
            <a:schemeClr val="accent1"/>
          </a:solidFill>
          <a:ln w="12700">
            <a:solidFill>
              <a:schemeClr val="accent1">
                <a:alpha val="0"/>
              </a:schemeClr>
            </a:solidFill>
            <a:prstDash val="solid"/>
          </a:ln>
        </p:spPr>
      </p:sp>
      <p:sp>
        <p:nvSpPr>
          <p:cNvPr id="23" name="Text 18"/>
          <p:cNvSpPr txBox="1"/>
          <p:nvPr/>
        </p:nvSpPr>
        <p:spPr>
          <a:xfrm>
            <a:off x="6400800" y="3401568"/>
            <a:ext cx="2148840" cy="420624"/>
          </a:xfrm>
          <a:prstGeom prst="rect">
            <a:avLst/>
          </a:prstGeom>
          <a:noFill/>
          <a:ln/>
        </p:spPr>
        <p:txBody>
          <a:bodyPr wrap="square" lIns="0" tIns="0" rIns="0" bIns="0" rtlCol="0" anchor="ctr"/>
          <a:lstStyle/>
          <a:p>
            <a:pPr algn="ctr" indent="0" marL="0">
              <a:buNone/>
            </a:pPr>
            <a:r>
              <a:rPr lang="en-US" sz="1200" b="1" dirty="0">
                <a:solidFill>
                  <a:schemeClr val="tx1"/>
                </a:solidFill>
              </a:rPr>
              <a:t>积木一 · 公私钥与数字签名</a:t>
            </a:r>
            <a:endParaRPr lang="en-US" sz="1200" dirty="0"/>
          </a:p>
        </p:txBody>
      </p:sp>
      <p:sp>
        <p:nvSpPr>
          <p:cNvPr id="24" name="Shape 19"/>
          <p:cNvSpPr/>
          <p:nvPr/>
        </p:nvSpPr>
        <p:spPr>
          <a:xfrm>
            <a:off x="457200" y="4160520"/>
            <a:ext cx="8229600" cy="822960"/>
          </a:xfrm>
          <a:prstGeom prst="roundRect">
            <a:avLst>
              <a:gd name="adj" fmla="val 8889"/>
            </a:avLst>
          </a:prstGeom>
          <a:solidFill>
            <a:schemeClr val="bg2"/>
          </a:solidFill>
          <a:ln w="12700">
            <a:solidFill>
              <a:schemeClr val="bg2">
                <a:alpha val="0"/>
              </a:schemeClr>
            </a:solidFill>
            <a:prstDash val="solid"/>
          </a:ln>
        </p:spPr>
      </p:sp>
      <p:sp>
        <p:nvSpPr>
          <p:cNvPr id="25" name="Shape 20"/>
          <p:cNvSpPr/>
          <p:nvPr/>
        </p:nvSpPr>
        <p:spPr>
          <a:xfrm>
            <a:off x="640080" y="4297680"/>
            <a:ext cx="548640" cy="548640"/>
          </a:xfrm>
          <a:prstGeom prst="ellipse">
            <a:avLst/>
          </a:prstGeom>
          <a:solidFill>
            <a:schemeClr val="tx1"/>
          </a:solidFill>
          <a:ln w="12700">
            <a:solidFill>
              <a:schemeClr val="tx1">
                <a:alpha val="0"/>
              </a:schemeClr>
            </a:solidFill>
            <a:prstDash val="solid"/>
          </a:ln>
        </p:spPr>
      </p:sp>
      <p:sp>
        <p:nvSpPr>
          <p:cNvPr id="26" name="Text 21"/>
          <p:cNvSpPr txBox="1"/>
          <p:nvPr/>
        </p:nvSpPr>
        <p:spPr>
          <a:xfrm>
            <a:off x="640080" y="4297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7" name="Text 22"/>
          <p:cNvSpPr txBox="1"/>
          <p:nvPr/>
        </p:nvSpPr>
        <p:spPr>
          <a:xfrm>
            <a:off x="1417320" y="4206240"/>
            <a:ext cx="4846320" cy="7315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怎么防止你把同一笔钱，同时付给两个人？</a:t>
            </a:r>
            <a:endParaRPr lang="en-US" sz="1700" dirty="0"/>
          </a:p>
        </p:txBody>
      </p:sp>
      <p:sp>
        <p:nvSpPr>
          <p:cNvPr id="28" name="Shape 23"/>
          <p:cNvSpPr/>
          <p:nvPr/>
        </p:nvSpPr>
        <p:spPr>
          <a:xfrm>
            <a:off x="6400800" y="4361688"/>
            <a:ext cx="2148840" cy="420624"/>
          </a:xfrm>
          <a:prstGeom prst="roundRect">
            <a:avLst>
              <a:gd name="adj" fmla="val 50000"/>
            </a:avLst>
          </a:prstGeom>
          <a:solidFill>
            <a:schemeClr val="accent1"/>
          </a:solidFill>
          <a:ln w="12700">
            <a:solidFill>
              <a:schemeClr val="accent1">
                <a:alpha val="0"/>
              </a:schemeClr>
            </a:solidFill>
            <a:prstDash val="solid"/>
          </a:ln>
        </p:spPr>
      </p:sp>
      <p:sp>
        <p:nvSpPr>
          <p:cNvPr id="29" name="Text 24"/>
          <p:cNvSpPr txBox="1"/>
          <p:nvPr/>
        </p:nvSpPr>
        <p:spPr>
          <a:xfrm>
            <a:off x="6400800" y="4361688"/>
            <a:ext cx="2148840" cy="420624"/>
          </a:xfrm>
          <a:prstGeom prst="rect">
            <a:avLst/>
          </a:prstGeom>
          <a:noFill/>
          <a:ln/>
        </p:spPr>
        <p:txBody>
          <a:bodyPr wrap="square" lIns="0" tIns="0" rIns="0" bIns="0" rtlCol="0" anchor="ctr"/>
          <a:lstStyle/>
          <a:p>
            <a:pPr algn="ctr" indent="0" marL="0">
              <a:buNone/>
            </a:pPr>
            <a:r>
              <a:rPr lang="en-US" sz="1200" b="1" dirty="0">
                <a:solidFill>
                  <a:schemeClr val="tx1"/>
                </a:solidFill>
              </a:rPr>
              <a:t>区块链 · 工作量证明</a:t>
            </a:r>
            <a:endParaRPr lang="en-US" sz="1200" dirty="0"/>
          </a:p>
        </p:txBody>
      </p:sp>
      <p:sp>
        <p:nvSpPr>
          <p:cNvPr id="30" name="Shape 25"/>
          <p:cNvSpPr/>
          <p:nvPr/>
        </p:nvSpPr>
        <p:spPr>
          <a:xfrm>
            <a:off x="457200" y="5120640"/>
            <a:ext cx="8229600" cy="822960"/>
          </a:xfrm>
          <a:prstGeom prst="roundRect">
            <a:avLst>
              <a:gd name="adj" fmla="val 8889"/>
            </a:avLst>
          </a:prstGeom>
          <a:solidFill>
            <a:schemeClr val="bg2"/>
          </a:solidFill>
          <a:ln w="12700">
            <a:solidFill>
              <a:schemeClr val="bg2">
                <a:alpha val="0"/>
              </a:schemeClr>
            </a:solidFill>
            <a:prstDash val="solid"/>
          </a:ln>
        </p:spPr>
      </p:sp>
      <p:sp>
        <p:nvSpPr>
          <p:cNvPr id="31" name="Shape 26"/>
          <p:cNvSpPr/>
          <p:nvPr/>
        </p:nvSpPr>
        <p:spPr>
          <a:xfrm>
            <a:off x="640080" y="5257800"/>
            <a:ext cx="548640" cy="548640"/>
          </a:xfrm>
          <a:prstGeom prst="ellipse">
            <a:avLst/>
          </a:prstGeom>
          <a:solidFill>
            <a:schemeClr val="tx1"/>
          </a:solidFill>
          <a:ln w="12700">
            <a:solidFill>
              <a:schemeClr val="tx1">
                <a:alpha val="0"/>
              </a:schemeClr>
            </a:solidFill>
            <a:prstDash val="solid"/>
          </a:ln>
        </p:spPr>
      </p:sp>
      <p:sp>
        <p:nvSpPr>
          <p:cNvPr id="32" name="Text 27"/>
          <p:cNvSpPr txBox="1"/>
          <p:nvPr/>
        </p:nvSpPr>
        <p:spPr>
          <a:xfrm>
            <a:off x="640080" y="5257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3" name="Text 28"/>
          <p:cNvSpPr txBox="1"/>
          <p:nvPr/>
        </p:nvSpPr>
        <p:spPr>
          <a:xfrm>
            <a:off x="1417320" y="5166360"/>
            <a:ext cx="4846320" cy="7315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谁来记账？凭什么相信记账的人？</a:t>
            </a:r>
            <a:endParaRPr lang="en-US" sz="1700" dirty="0"/>
          </a:p>
        </p:txBody>
      </p:sp>
      <p:sp>
        <p:nvSpPr>
          <p:cNvPr id="34" name="Shape 29"/>
          <p:cNvSpPr/>
          <p:nvPr/>
        </p:nvSpPr>
        <p:spPr>
          <a:xfrm>
            <a:off x="6400800" y="5321808"/>
            <a:ext cx="2148840" cy="420624"/>
          </a:xfrm>
          <a:prstGeom prst="roundRect">
            <a:avLst>
              <a:gd name="adj" fmla="val 50000"/>
            </a:avLst>
          </a:prstGeom>
          <a:solidFill>
            <a:schemeClr val="accent1"/>
          </a:solidFill>
          <a:ln w="12700">
            <a:solidFill>
              <a:schemeClr val="accent1">
                <a:alpha val="0"/>
              </a:schemeClr>
            </a:solidFill>
            <a:prstDash val="solid"/>
          </a:ln>
        </p:spPr>
      </p:sp>
      <p:sp>
        <p:nvSpPr>
          <p:cNvPr id="35" name="Text 30"/>
          <p:cNvSpPr txBox="1"/>
          <p:nvPr/>
        </p:nvSpPr>
        <p:spPr>
          <a:xfrm>
            <a:off x="6400800" y="5321808"/>
            <a:ext cx="2148840" cy="420624"/>
          </a:xfrm>
          <a:prstGeom prst="rect">
            <a:avLst/>
          </a:prstGeom>
          <a:noFill/>
          <a:ln/>
        </p:spPr>
        <p:txBody>
          <a:bodyPr wrap="square" lIns="0" tIns="0" rIns="0" bIns="0" rtlCol="0" anchor="ctr"/>
          <a:lstStyle/>
          <a:p>
            <a:pPr algn="ctr" indent="0" marL="0">
              <a:buNone/>
            </a:pPr>
            <a:r>
              <a:rPr lang="en-US" sz="1200" b="1" dirty="0">
                <a:solidFill>
                  <a:schemeClr val="tx1"/>
                </a:solidFill>
              </a:rPr>
              <a:t>积木三 · 分布式账本与共识</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本章地图：九个部分，一条主线</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开场</a:t>
            </a:r>
            <a:endParaRPr lang="en-US" sz="1200" dirty="0"/>
          </a:p>
        </p:txBody>
      </p:sp>
      <p:sp>
        <p:nvSpPr>
          <p:cNvPr id="5" name="Shape 2"/>
          <p:cNvSpPr/>
          <p:nvPr/>
        </p:nvSpPr>
        <p:spPr>
          <a:xfrm>
            <a:off x="457200" y="1371600"/>
            <a:ext cx="2651760" cy="1298448"/>
          </a:xfrm>
          <a:prstGeom prst="roundRect">
            <a:avLst>
              <a:gd name="adj" fmla="val 5634"/>
            </a:avLst>
          </a:prstGeom>
          <a:solidFill>
            <a:schemeClr val="bg2"/>
          </a:solidFill>
          <a:ln w="12700">
            <a:solidFill>
              <a:schemeClr val="bg2">
                <a:alpha val="0"/>
              </a:schemeClr>
            </a:solidFill>
            <a:prstDash val="solid"/>
          </a:ln>
        </p:spPr>
      </p:sp>
      <p:sp>
        <p:nvSpPr>
          <p:cNvPr id="6" name="Text 3"/>
          <p:cNvSpPr txBox="1"/>
          <p:nvPr/>
        </p:nvSpPr>
        <p:spPr>
          <a:xfrm>
            <a:off x="594360" y="1481328"/>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01</a:t>
            </a:r>
            <a:endParaRPr lang="en-US" sz="3000" dirty="0"/>
          </a:p>
        </p:txBody>
      </p:sp>
      <p:sp>
        <p:nvSpPr>
          <p:cNvPr id="7" name="Text 4"/>
          <p:cNvSpPr txBox="1"/>
          <p:nvPr/>
        </p:nvSpPr>
        <p:spPr>
          <a:xfrm>
            <a:off x="1325880" y="1536192"/>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导入</a:t>
            </a:r>
            <a:endParaRPr lang="en-US" sz="1600" dirty="0"/>
          </a:p>
        </p:txBody>
      </p:sp>
      <p:sp>
        <p:nvSpPr>
          <p:cNvPr id="8" name="Text 5"/>
          <p:cNvSpPr txBox="1"/>
          <p:nvPr/>
        </p:nvSpPr>
        <p:spPr>
          <a:xfrm>
            <a:off x="594360" y="2084832"/>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为什么是 2008 年？</a:t>
            </a:r>
            <a:endParaRPr lang="en-US" sz="1400" dirty="0"/>
          </a:p>
        </p:txBody>
      </p:sp>
      <p:sp>
        <p:nvSpPr>
          <p:cNvPr id="9" name="Shape 6"/>
          <p:cNvSpPr/>
          <p:nvPr/>
        </p:nvSpPr>
        <p:spPr>
          <a:xfrm>
            <a:off x="3246120" y="1371600"/>
            <a:ext cx="2651760" cy="1298448"/>
          </a:xfrm>
          <a:prstGeom prst="roundRect">
            <a:avLst>
              <a:gd name="adj" fmla="val 5634"/>
            </a:avLst>
          </a:prstGeom>
          <a:solidFill>
            <a:schemeClr val="bg2"/>
          </a:solidFill>
          <a:ln w="12700">
            <a:solidFill>
              <a:schemeClr val="bg2">
                <a:alpha val="0"/>
              </a:schemeClr>
            </a:solidFill>
            <a:prstDash val="solid"/>
          </a:ln>
        </p:spPr>
      </p:sp>
      <p:sp>
        <p:nvSpPr>
          <p:cNvPr id="10" name="Text 7"/>
          <p:cNvSpPr txBox="1"/>
          <p:nvPr/>
        </p:nvSpPr>
        <p:spPr>
          <a:xfrm>
            <a:off x="3383280" y="1481328"/>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02</a:t>
            </a:r>
            <a:endParaRPr lang="en-US" sz="3000" dirty="0"/>
          </a:p>
        </p:txBody>
      </p:sp>
      <p:sp>
        <p:nvSpPr>
          <p:cNvPr id="11" name="Text 8"/>
          <p:cNvSpPr txBox="1"/>
          <p:nvPr/>
        </p:nvSpPr>
        <p:spPr>
          <a:xfrm>
            <a:off x="4114800" y="1536192"/>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积木一 · 密码学</a:t>
            </a:r>
            <a:endParaRPr lang="en-US" sz="1600" dirty="0"/>
          </a:p>
        </p:txBody>
      </p:sp>
      <p:sp>
        <p:nvSpPr>
          <p:cNvPr id="12" name="Text 9"/>
          <p:cNvSpPr txBox="1"/>
          <p:nvPr/>
        </p:nvSpPr>
        <p:spPr>
          <a:xfrm>
            <a:off x="3383280" y="2084832"/>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怎么证明“钱是我的”？</a:t>
            </a:r>
            <a:endParaRPr lang="en-US" sz="1400" dirty="0"/>
          </a:p>
        </p:txBody>
      </p:sp>
      <p:sp>
        <p:nvSpPr>
          <p:cNvPr id="13" name="Shape 10"/>
          <p:cNvSpPr/>
          <p:nvPr/>
        </p:nvSpPr>
        <p:spPr>
          <a:xfrm>
            <a:off x="6035040" y="1371600"/>
            <a:ext cx="2651760" cy="1298448"/>
          </a:xfrm>
          <a:prstGeom prst="roundRect">
            <a:avLst>
              <a:gd name="adj" fmla="val 5634"/>
            </a:avLst>
          </a:prstGeom>
          <a:solidFill>
            <a:schemeClr val="bg2"/>
          </a:solidFill>
          <a:ln w="12700">
            <a:solidFill>
              <a:schemeClr val="bg2">
                <a:alpha val="0"/>
              </a:schemeClr>
            </a:solidFill>
            <a:prstDash val="solid"/>
          </a:ln>
        </p:spPr>
      </p:sp>
      <p:sp>
        <p:nvSpPr>
          <p:cNvPr id="14" name="Text 11"/>
          <p:cNvSpPr txBox="1"/>
          <p:nvPr/>
        </p:nvSpPr>
        <p:spPr>
          <a:xfrm>
            <a:off x="6172200" y="1481328"/>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03</a:t>
            </a:r>
            <a:endParaRPr lang="en-US" sz="3000" dirty="0"/>
          </a:p>
        </p:txBody>
      </p:sp>
      <p:sp>
        <p:nvSpPr>
          <p:cNvPr id="15" name="Text 12"/>
          <p:cNvSpPr txBox="1"/>
          <p:nvPr/>
        </p:nvSpPr>
        <p:spPr>
          <a:xfrm>
            <a:off x="6903720" y="1536192"/>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积木二 · 哈希</a:t>
            </a:r>
            <a:endParaRPr lang="en-US" sz="1600" dirty="0"/>
          </a:p>
        </p:txBody>
      </p:sp>
      <p:sp>
        <p:nvSpPr>
          <p:cNvPr id="16" name="Text 13"/>
          <p:cNvSpPr txBox="1"/>
          <p:nvPr/>
        </p:nvSpPr>
        <p:spPr>
          <a:xfrm>
            <a:off x="6172200" y="2084832"/>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怎么让账本“一改就露馅”？</a:t>
            </a:r>
            <a:endParaRPr lang="en-US" sz="1400" dirty="0"/>
          </a:p>
        </p:txBody>
      </p:sp>
      <p:sp>
        <p:nvSpPr>
          <p:cNvPr id="17" name="Shape 14"/>
          <p:cNvSpPr/>
          <p:nvPr/>
        </p:nvSpPr>
        <p:spPr>
          <a:xfrm>
            <a:off x="457200" y="2779776"/>
            <a:ext cx="2651760" cy="1298448"/>
          </a:xfrm>
          <a:prstGeom prst="roundRect">
            <a:avLst>
              <a:gd name="adj" fmla="val 5634"/>
            </a:avLst>
          </a:prstGeom>
          <a:solidFill>
            <a:schemeClr val="bg2"/>
          </a:solidFill>
          <a:ln w="12700">
            <a:solidFill>
              <a:schemeClr val="bg2">
                <a:alpha val="0"/>
              </a:schemeClr>
            </a:solidFill>
            <a:prstDash val="solid"/>
          </a:ln>
        </p:spPr>
      </p:sp>
      <p:sp>
        <p:nvSpPr>
          <p:cNvPr id="18" name="Text 15"/>
          <p:cNvSpPr txBox="1"/>
          <p:nvPr/>
        </p:nvSpPr>
        <p:spPr>
          <a:xfrm>
            <a:off x="594360" y="2889504"/>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04</a:t>
            </a:r>
            <a:endParaRPr lang="en-US" sz="3000" dirty="0"/>
          </a:p>
        </p:txBody>
      </p:sp>
      <p:sp>
        <p:nvSpPr>
          <p:cNvPr id="19" name="Text 16"/>
          <p:cNvSpPr txBox="1"/>
          <p:nvPr/>
        </p:nvSpPr>
        <p:spPr>
          <a:xfrm>
            <a:off x="1325880" y="2944368"/>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积木三 · 账本</a:t>
            </a:r>
            <a:endParaRPr lang="en-US" sz="1600" dirty="0"/>
          </a:p>
        </p:txBody>
      </p:sp>
      <p:sp>
        <p:nvSpPr>
          <p:cNvPr id="20" name="Text 17"/>
          <p:cNvSpPr txBox="1"/>
          <p:nvPr/>
        </p:nvSpPr>
        <p:spPr>
          <a:xfrm>
            <a:off x="594360" y="3493008"/>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没有记账员，谁来记账？</a:t>
            </a:r>
            <a:endParaRPr lang="en-US" sz="1400" dirty="0"/>
          </a:p>
        </p:txBody>
      </p:sp>
      <p:sp>
        <p:nvSpPr>
          <p:cNvPr id="21" name="Shape 18"/>
          <p:cNvSpPr/>
          <p:nvPr/>
        </p:nvSpPr>
        <p:spPr>
          <a:xfrm>
            <a:off x="3246120" y="2779776"/>
            <a:ext cx="2651760" cy="1298448"/>
          </a:xfrm>
          <a:prstGeom prst="roundRect">
            <a:avLst>
              <a:gd name="adj" fmla="val 5634"/>
            </a:avLst>
          </a:prstGeom>
          <a:solidFill>
            <a:schemeClr val="bg2"/>
          </a:solidFill>
          <a:ln w="12700">
            <a:solidFill>
              <a:schemeClr val="bg2">
                <a:alpha val="0"/>
              </a:schemeClr>
            </a:solidFill>
            <a:prstDash val="solid"/>
          </a:ln>
        </p:spPr>
      </p:sp>
      <p:sp>
        <p:nvSpPr>
          <p:cNvPr id="22" name="Text 19"/>
          <p:cNvSpPr txBox="1"/>
          <p:nvPr/>
        </p:nvSpPr>
        <p:spPr>
          <a:xfrm>
            <a:off x="3383280" y="2889504"/>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05</a:t>
            </a:r>
            <a:endParaRPr lang="en-US" sz="3000" dirty="0"/>
          </a:p>
        </p:txBody>
      </p:sp>
      <p:sp>
        <p:nvSpPr>
          <p:cNvPr id="23" name="Text 20"/>
          <p:cNvSpPr txBox="1"/>
          <p:nvPr/>
        </p:nvSpPr>
        <p:spPr>
          <a:xfrm>
            <a:off x="4114800" y="2944368"/>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工作量证明</a:t>
            </a:r>
            <a:endParaRPr lang="en-US" sz="1600" dirty="0"/>
          </a:p>
        </p:txBody>
      </p:sp>
      <p:sp>
        <p:nvSpPr>
          <p:cNvPr id="24" name="Text 21"/>
          <p:cNvSpPr txBox="1"/>
          <p:nvPr/>
        </p:nvSpPr>
        <p:spPr>
          <a:xfrm>
            <a:off x="3383280" y="3493008"/>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陌生人怎样就账本达成一致？</a:t>
            </a:r>
            <a:endParaRPr lang="en-US" sz="1400" dirty="0"/>
          </a:p>
        </p:txBody>
      </p:sp>
      <p:sp>
        <p:nvSpPr>
          <p:cNvPr id="25" name="Shape 22"/>
          <p:cNvSpPr/>
          <p:nvPr/>
        </p:nvSpPr>
        <p:spPr>
          <a:xfrm>
            <a:off x="6035040" y="2779776"/>
            <a:ext cx="2651760" cy="1298448"/>
          </a:xfrm>
          <a:prstGeom prst="roundRect">
            <a:avLst>
              <a:gd name="adj" fmla="val 5634"/>
            </a:avLst>
          </a:prstGeom>
          <a:solidFill>
            <a:schemeClr val="bg2"/>
          </a:solidFill>
          <a:ln w="12700">
            <a:solidFill>
              <a:schemeClr val="bg2">
                <a:alpha val="0"/>
              </a:schemeClr>
            </a:solidFill>
            <a:prstDash val="solid"/>
          </a:ln>
        </p:spPr>
      </p:sp>
      <p:sp>
        <p:nvSpPr>
          <p:cNvPr id="26" name="Text 23"/>
          <p:cNvSpPr txBox="1"/>
          <p:nvPr/>
        </p:nvSpPr>
        <p:spPr>
          <a:xfrm>
            <a:off x="6172200" y="2889504"/>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06</a:t>
            </a:r>
            <a:endParaRPr lang="en-US" sz="3000" dirty="0"/>
          </a:p>
        </p:txBody>
      </p:sp>
      <p:sp>
        <p:nvSpPr>
          <p:cNvPr id="27" name="Text 24"/>
          <p:cNvSpPr txBox="1"/>
          <p:nvPr/>
        </p:nvSpPr>
        <p:spPr>
          <a:xfrm>
            <a:off x="6903720" y="2944368"/>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激励与发行</a:t>
            </a:r>
            <a:endParaRPr lang="en-US" sz="1600" dirty="0"/>
          </a:p>
        </p:txBody>
      </p:sp>
      <p:sp>
        <p:nvSpPr>
          <p:cNvPr id="28" name="Text 25"/>
          <p:cNvSpPr txBox="1"/>
          <p:nvPr/>
        </p:nvSpPr>
        <p:spPr>
          <a:xfrm>
            <a:off x="6172200" y="3493008"/>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矿工为什么愿意付电费？</a:t>
            </a:r>
            <a:endParaRPr lang="en-US" sz="1400" dirty="0"/>
          </a:p>
        </p:txBody>
      </p:sp>
      <p:sp>
        <p:nvSpPr>
          <p:cNvPr id="29" name="Shape 26"/>
          <p:cNvSpPr/>
          <p:nvPr/>
        </p:nvSpPr>
        <p:spPr>
          <a:xfrm>
            <a:off x="457200" y="4187952"/>
            <a:ext cx="2651760" cy="1298448"/>
          </a:xfrm>
          <a:prstGeom prst="roundRect">
            <a:avLst>
              <a:gd name="adj" fmla="val 5634"/>
            </a:avLst>
          </a:prstGeom>
          <a:solidFill>
            <a:schemeClr val="bg2"/>
          </a:solidFill>
          <a:ln w="12700">
            <a:solidFill>
              <a:schemeClr val="bg2">
                <a:alpha val="0"/>
              </a:schemeClr>
            </a:solidFill>
            <a:prstDash val="solid"/>
          </a:ln>
        </p:spPr>
      </p:sp>
      <p:sp>
        <p:nvSpPr>
          <p:cNvPr id="30" name="Text 27"/>
          <p:cNvSpPr txBox="1"/>
          <p:nvPr/>
        </p:nvSpPr>
        <p:spPr>
          <a:xfrm>
            <a:off x="594360" y="4297680"/>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07</a:t>
            </a:r>
            <a:endParaRPr lang="en-US" sz="3000" dirty="0"/>
          </a:p>
        </p:txBody>
      </p:sp>
      <p:sp>
        <p:nvSpPr>
          <p:cNvPr id="31" name="Text 28"/>
          <p:cNvSpPr txBox="1"/>
          <p:nvPr/>
        </p:nvSpPr>
        <p:spPr>
          <a:xfrm>
            <a:off x="1325880" y="4352544"/>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成就</a:t>
            </a:r>
            <a:endParaRPr lang="en-US" sz="1600" dirty="0"/>
          </a:p>
        </p:txBody>
      </p:sp>
      <p:sp>
        <p:nvSpPr>
          <p:cNvPr id="32" name="Text 29"/>
          <p:cNvSpPr txBox="1"/>
          <p:nvPr/>
        </p:nvSpPr>
        <p:spPr>
          <a:xfrm>
            <a:off x="594360" y="4901184"/>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它到底做成了什么？</a:t>
            </a:r>
            <a:endParaRPr lang="en-US" sz="1400" dirty="0"/>
          </a:p>
        </p:txBody>
      </p:sp>
      <p:sp>
        <p:nvSpPr>
          <p:cNvPr id="33" name="Shape 30"/>
          <p:cNvSpPr/>
          <p:nvPr/>
        </p:nvSpPr>
        <p:spPr>
          <a:xfrm>
            <a:off x="3246120" y="4187952"/>
            <a:ext cx="2651760" cy="1298448"/>
          </a:xfrm>
          <a:prstGeom prst="roundRect">
            <a:avLst>
              <a:gd name="adj" fmla="val 5634"/>
            </a:avLst>
          </a:prstGeom>
          <a:solidFill>
            <a:schemeClr val="bg2"/>
          </a:solidFill>
          <a:ln w="12700">
            <a:solidFill>
              <a:schemeClr val="bg2">
                <a:alpha val="0"/>
              </a:schemeClr>
            </a:solidFill>
            <a:prstDash val="solid"/>
          </a:ln>
        </p:spPr>
      </p:sp>
      <p:sp>
        <p:nvSpPr>
          <p:cNvPr id="34" name="Text 31"/>
          <p:cNvSpPr txBox="1"/>
          <p:nvPr/>
        </p:nvSpPr>
        <p:spPr>
          <a:xfrm>
            <a:off x="3383280" y="4297680"/>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08</a:t>
            </a:r>
            <a:endParaRPr lang="en-US" sz="3000" dirty="0"/>
          </a:p>
        </p:txBody>
      </p:sp>
      <p:sp>
        <p:nvSpPr>
          <p:cNvPr id="35" name="Text 32"/>
          <p:cNvSpPr txBox="1"/>
          <p:nvPr/>
        </p:nvSpPr>
        <p:spPr>
          <a:xfrm>
            <a:off x="4114800" y="4352544"/>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不足</a:t>
            </a:r>
            <a:endParaRPr lang="en-US" sz="1600" dirty="0"/>
          </a:p>
        </p:txBody>
      </p:sp>
      <p:sp>
        <p:nvSpPr>
          <p:cNvPr id="36" name="Text 33"/>
          <p:cNvSpPr txBox="1"/>
          <p:nvPr/>
        </p:nvSpPr>
        <p:spPr>
          <a:xfrm>
            <a:off x="3383280" y="4901184"/>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作为“货币”，它及格吗？</a:t>
            </a:r>
            <a:endParaRPr lang="en-US" sz="1400" dirty="0"/>
          </a:p>
        </p:txBody>
      </p:sp>
      <p:sp>
        <p:nvSpPr>
          <p:cNvPr id="37" name="Shape 34"/>
          <p:cNvSpPr/>
          <p:nvPr/>
        </p:nvSpPr>
        <p:spPr>
          <a:xfrm>
            <a:off x="6035040" y="4187952"/>
            <a:ext cx="2651760" cy="1298448"/>
          </a:xfrm>
          <a:prstGeom prst="roundRect">
            <a:avLst>
              <a:gd name="adj" fmla="val 5634"/>
            </a:avLst>
          </a:prstGeom>
          <a:solidFill>
            <a:schemeClr val="bg2"/>
          </a:solidFill>
          <a:ln w="12700">
            <a:solidFill>
              <a:schemeClr val="bg2">
                <a:alpha val="0"/>
              </a:schemeClr>
            </a:solidFill>
            <a:prstDash val="solid"/>
          </a:ln>
        </p:spPr>
      </p:sp>
      <p:sp>
        <p:nvSpPr>
          <p:cNvPr id="38" name="Text 35"/>
          <p:cNvSpPr txBox="1"/>
          <p:nvPr/>
        </p:nvSpPr>
        <p:spPr>
          <a:xfrm>
            <a:off x="6172200" y="4297680"/>
            <a:ext cx="731520" cy="548640"/>
          </a:xfrm>
          <a:prstGeom prst="rect">
            <a:avLst/>
          </a:prstGeom>
          <a:noFill/>
          <a:ln/>
        </p:spPr>
        <p:txBody>
          <a:bodyPr wrap="square" lIns="0" tIns="0" rIns="0" bIns="0" rtlCol="0" anchor="t"/>
          <a:lstStyle/>
          <a:p>
            <a:pPr algn="l" indent="0" marL="0">
              <a:lnSpc>
                <a:spcPct val="105000"/>
              </a:lnSpc>
              <a:buNone/>
            </a:pPr>
            <a:r>
              <a:rPr lang="en-US" sz="3000" b="1" dirty="0">
                <a:solidFill>
                  <a:schemeClr val="accent6"/>
                </a:solidFill>
              </a:rPr>
              <a:t>09</a:t>
            </a:r>
            <a:endParaRPr lang="en-US" sz="3000" dirty="0"/>
          </a:p>
        </p:txBody>
      </p:sp>
      <p:sp>
        <p:nvSpPr>
          <p:cNvPr id="39" name="Text 36"/>
          <p:cNvSpPr txBox="1"/>
          <p:nvPr/>
        </p:nvSpPr>
        <p:spPr>
          <a:xfrm>
            <a:off x="6903720" y="4352544"/>
            <a:ext cx="1691640" cy="41148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遗产</a:t>
            </a:r>
            <a:endParaRPr lang="en-US" sz="1600" dirty="0"/>
          </a:p>
        </p:txBody>
      </p:sp>
      <p:sp>
        <p:nvSpPr>
          <p:cNvPr id="40" name="Text 37"/>
          <p:cNvSpPr txBox="1"/>
          <p:nvPr/>
        </p:nvSpPr>
        <p:spPr>
          <a:xfrm>
            <a:off x="6172200" y="4901184"/>
            <a:ext cx="2377440" cy="50292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比特币之后，是什么？</a:t>
            </a:r>
            <a:endParaRPr lang="en-US" sz="1400" dirty="0"/>
          </a:p>
        </p:txBody>
      </p:sp>
      <p:sp>
        <p:nvSpPr>
          <p:cNvPr id="41" name="Shape 38"/>
          <p:cNvSpPr/>
          <p:nvPr/>
        </p:nvSpPr>
        <p:spPr>
          <a:xfrm>
            <a:off x="457200" y="5577840"/>
            <a:ext cx="8229600" cy="530352"/>
          </a:xfrm>
          <a:prstGeom prst="roundRect">
            <a:avLst>
              <a:gd name="adj" fmla="val 13793"/>
            </a:avLst>
          </a:prstGeom>
          <a:solidFill>
            <a:schemeClr val="accent2">
              <a:alpha val="12000"/>
            </a:schemeClr>
          </a:solidFill>
          <a:ln w="12700">
            <a:solidFill>
              <a:schemeClr val="accent2">
                <a:alpha val="0"/>
              </a:schemeClr>
            </a:solidFill>
            <a:prstDash val="solid"/>
          </a:ln>
        </p:spPr>
      </p:sp>
      <p:pic>
        <p:nvPicPr>
          <p:cNvPr id="42" name="Image 0" descr="warn">    </p:cNvPr>
          <p:cNvPicPr>
            <a:picLocks noChangeAspect="1"/>
          </p:cNvPicPr>
          <p:nvPr/>
        </p:nvPicPr>
        <p:blipFill>
          <a:blip r:embed="rId1"/>
          <a:stretch>
            <a:fillRect/>
          </a:stretch>
        </p:blipFill>
        <p:spPr>
          <a:xfrm>
            <a:off x="640080" y="5650992"/>
            <a:ext cx="384048" cy="384048"/>
          </a:xfrm>
          <a:prstGeom prst="rect">
            <a:avLst/>
          </a:prstGeom>
        </p:spPr>
      </p:pic>
      <p:sp>
        <p:nvSpPr>
          <p:cNvPr id="43" name="Text 39"/>
          <p:cNvSpPr txBox="1"/>
          <p:nvPr/>
        </p:nvSpPr>
        <p:spPr>
          <a:xfrm>
            <a:off x="1188720" y="5650992"/>
            <a:ext cx="7315200" cy="384048"/>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风险提示：本章是技术与经济分析，不构成投资建议；中国大陆禁止虚拟货币相关业务活动。</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01</a:t>
            </a:r>
            <a:endParaRPr lang="en-US" sz="9600" dirty="0"/>
          </a:p>
        </p:txBody>
      </p:sp>
      <p:pic>
        <p:nvPicPr>
          <p:cNvPr id="3" name="Image 0" descr="FaEnvelope">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导入：一封邮件，九页纸</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比特币不是凭空出现的：它出现在 2008 年金融危机的废墟上，把四十年的密码学“积木”拼在了一起。</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2008-10-31：一封发给密码学邮件列表的邮件</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来源：中本聪邮件，metzdowd.com 密码学邮件列表，2008-10-31 18:10 UTC</a:t>
            </a:r>
            <a:endParaRPr lang="en-US" sz="1000" dirty="0"/>
          </a:p>
        </p:txBody>
      </p:sp>
      <p:sp>
        <p:nvSpPr>
          <p:cNvPr id="6" name="Shape 3"/>
          <p:cNvSpPr/>
          <p:nvPr/>
        </p:nvSpPr>
        <p:spPr>
          <a:xfrm>
            <a:off x="1078844" y="1353312"/>
            <a:ext cx="6986312" cy="3557016"/>
          </a:xfrm>
          <a:prstGeom prst="rect">
            <a:avLst/>
          </a:prstGeom>
          <a:solidFill>
            <a:schemeClr val="bg1"/>
          </a:solidFill>
          <a:ln w="9525">
            <a:solidFill>
              <a:schemeClr val="accent5"/>
            </a:solidFill>
            <a:prstDash val="solid"/>
          </a:ln>
        </p:spPr>
      </p:sp>
      <p:pic>
        <p:nvPicPr>
          <p:cNvPr id="7" name="Image 0" descr="中本聪 2008 年 10 月 31 日发给密码学邮件列表的邮件截图">    </p:cNvPr>
          <p:cNvPicPr>
            <a:picLocks noChangeAspect="1"/>
          </p:cNvPicPr>
          <p:nvPr/>
        </p:nvPicPr>
        <p:blipFill>
          <a:blip r:embed="rId1"/>
          <a:stretch>
            <a:fillRect/>
          </a:stretch>
        </p:blipFill>
        <p:spPr>
          <a:xfrm>
            <a:off x="1097132" y="1371600"/>
            <a:ext cx="6949736" cy="3520440"/>
          </a:xfrm>
          <a:prstGeom prst="rect">
            <a:avLst/>
          </a:prstGeom>
        </p:spPr>
      </p:pic>
      <p:sp>
        <p:nvSpPr>
          <p:cNvPr id="8" name="Shape 4"/>
          <p:cNvSpPr/>
          <p:nvPr/>
        </p:nvSpPr>
        <p:spPr>
          <a:xfrm>
            <a:off x="457200" y="5074920"/>
            <a:ext cx="8229600" cy="914400"/>
          </a:xfrm>
          <a:prstGeom prst="roundRect">
            <a:avLst>
              <a:gd name="adj" fmla="val 8000"/>
            </a:avLst>
          </a:prstGeom>
          <a:solidFill>
            <a:schemeClr val="accent1">
              <a:alpha val="12000"/>
            </a:schemeClr>
          </a:solidFill>
          <a:ln w="12700">
            <a:solidFill>
              <a:schemeClr val="accent1">
                <a:alpha val="0"/>
              </a:schemeClr>
            </a:solidFill>
            <a:prstDash val="solid"/>
          </a:ln>
        </p:spPr>
      </p:sp>
      <p:pic>
        <p:nvPicPr>
          <p:cNvPr id="9" name="Image 1" descr="key">    </p:cNvPr>
          <p:cNvPicPr>
            <a:picLocks noChangeAspect="1"/>
          </p:cNvPicPr>
          <p:nvPr/>
        </p:nvPicPr>
        <p:blipFill>
          <a:blip r:embed="rId2"/>
          <a:stretch>
            <a:fillRect/>
          </a:stretch>
        </p:blipFill>
        <p:spPr>
          <a:xfrm>
            <a:off x="640080" y="5340096"/>
            <a:ext cx="384048" cy="384048"/>
          </a:xfrm>
          <a:prstGeom prst="rect">
            <a:avLst/>
          </a:prstGeom>
        </p:spPr>
      </p:pic>
      <p:sp>
        <p:nvSpPr>
          <p:cNvPr id="10" name="Text 5"/>
          <p:cNvSpPr txBox="1"/>
          <p:nvPr/>
        </p:nvSpPr>
        <p:spPr>
          <a:xfrm>
            <a:off x="1188720" y="5148072"/>
            <a:ext cx="7315200" cy="76809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关键词：</a:t>
            </a:r>
            <a:pPr algn="l" indent="0" marL="0">
              <a:lnSpc>
                <a:spcPct val="105000"/>
              </a:lnSpc>
              <a:buNone/>
            </a:pPr>
            <a:r>
              <a:rPr lang="en-US" sz="1600" b="1" dirty="0">
                <a:solidFill>
                  <a:schemeClr val="tx1"/>
                </a:solidFill>
              </a:rPr>
              <a:t>点对点 · 无需可信第三方 · 防止双重支付 · 工作量证明</a:t>
            </a:r>
            <a:pPr algn="l" indent="0" marL="0">
              <a:lnSpc>
                <a:spcPct val="105000"/>
              </a:lnSpc>
              <a:buNone/>
            </a:pPr>
            <a:r>
              <a:rPr lang="en-US" sz="1600" dirty="0">
                <a:solidFill>
                  <a:schemeClr val="tx1"/>
                </a:solidFill>
              </a:rPr>
              <a:t>——九页白皮书的全部野心，都写在这封邮件里。</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白皮书摘要，一句话版本</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来源：Satoshi Nakamoto (2008), Bitcoin: A Peer-to-Peer Electronic Cash System, Abstract</a:t>
            </a:r>
            <a:endParaRPr lang="en-US" sz="1000" dirty="0"/>
          </a:p>
        </p:txBody>
      </p:sp>
      <p:sp>
        <p:nvSpPr>
          <p:cNvPr id="6" name="Shape 3"/>
          <p:cNvSpPr/>
          <p:nvPr/>
        </p:nvSpPr>
        <p:spPr>
          <a:xfrm>
            <a:off x="438912" y="1444752"/>
            <a:ext cx="4334256" cy="3000035"/>
          </a:xfrm>
          <a:prstGeom prst="rect">
            <a:avLst/>
          </a:prstGeom>
          <a:solidFill>
            <a:schemeClr val="bg1"/>
          </a:solidFill>
          <a:ln w="9525">
            <a:solidFill>
              <a:schemeClr val="accent5"/>
            </a:solidFill>
            <a:prstDash val="solid"/>
          </a:ln>
        </p:spPr>
      </p:sp>
      <p:pic>
        <p:nvPicPr>
          <p:cNvPr id="7" name="Image 0" descr="比特币白皮书首页与摘要">    </p:cNvPr>
          <p:cNvPicPr>
            <a:picLocks noChangeAspect="1"/>
          </p:cNvPicPr>
          <p:nvPr/>
        </p:nvPicPr>
        <p:blipFill>
          <a:blip r:embed="rId1"/>
          <a:stretch>
            <a:fillRect/>
          </a:stretch>
        </p:blipFill>
        <p:spPr>
          <a:xfrm>
            <a:off x="457200" y="1463040"/>
            <a:ext cx="4297680" cy="2963459"/>
          </a:xfrm>
          <a:prstGeom prst="rect">
            <a:avLst/>
          </a:prstGeom>
        </p:spPr>
      </p:pic>
      <p:sp>
        <p:nvSpPr>
          <p:cNvPr id="8" name="Text 4"/>
          <p:cNvSpPr txBox="1"/>
          <p:nvPr/>
        </p:nvSpPr>
        <p:spPr>
          <a:xfrm>
            <a:off x="5029200" y="1463040"/>
            <a:ext cx="3657600" cy="365760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600" dirty="0">
                <a:solidFill>
                  <a:schemeClr val="tx1"/>
                </a:solidFill>
              </a:rPr>
              <a:t>纯点对点的电子现金：</a:t>
            </a:r>
            <a:pPr algn="l" marL="254000" indent="-254000">
              <a:lnSpc>
                <a:spcPct val="105000"/>
              </a:lnSpc>
              <a:spcAft>
                <a:spcPts val="800"/>
              </a:spcAft>
              <a:buSzPct val="100000"/>
              <a:buChar char="•"/>
            </a:pPr>
            <a:r>
              <a:rPr lang="en-US" sz="1600" b="1" dirty="0">
                <a:solidFill>
                  <a:schemeClr val="tx1"/>
                </a:solidFill>
              </a:rPr>
              <a:t>一方直接付给另一方</a:t>
            </a:r>
            <a:pPr algn="l" marL="254000" indent="-254000">
              <a:lnSpc>
                <a:spcPct val="105000"/>
              </a:lnSpc>
              <a:spcAft>
                <a:spcPts val="800"/>
              </a:spcAft>
              <a:buSzPct val="100000"/>
              <a:buChar char="•"/>
            </a:pPr>
            <a:r>
              <a:rPr lang="en-US" sz="1600" dirty="0">
                <a:solidFill>
                  <a:schemeClr val="tx1"/>
                </a:solidFill>
              </a:rPr>
              <a:t>，不经过金融机构</a:t>
            </a:r>
            <a:endParaRPr lang="en-US" sz="1600" dirty="0"/>
          </a:p>
          <a:p>
            <a:pPr algn="l" marL="254000" indent="-254000">
              <a:lnSpc>
                <a:spcPct val="105000"/>
              </a:lnSpc>
              <a:spcAft>
                <a:spcPts val="800"/>
              </a:spcAft>
              <a:buSzPct val="100000"/>
              <a:buChar char="•"/>
            </a:pPr>
            <a:r>
              <a:rPr lang="en-US" sz="1600" dirty="0">
                <a:solidFill>
                  <a:schemeClr val="tx1"/>
                </a:solidFill>
              </a:rPr>
              <a:t>数字签名解决了一半问题，但仍需</a:t>
            </a:r>
            <a:pPr algn="l" marL="254000" indent="-254000">
              <a:lnSpc>
                <a:spcPct val="105000"/>
              </a:lnSpc>
              <a:spcAft>
                <a:spcPts val="800"/>
              </a:spcAft>
              <a:buSzPct val="100000"/>
              <a:buChar char="•"/>
            </a:pPr>
            <a:r>
              <a:rPr lang="en-US" sz="1600" b="1" dirty="0">
                <a:solidFill>
                  <a:schemeClr val="tx1"/>
                </a:solidFill>
              </a:rPr>
              <a:t>可信第三方</a:t>
            </a:r>
            <a:pPr algn="l" marL="254000" indent="-254000">
              <a:lnSpc>
                <a:spcPct val="105000"/>
              </a:lnSpc>
              <a:spcAft>
                <a:spcPts val="800"/>
              </a:spcAft>
              <a:buSzPct val="100000"/>
              <a:buChar char="•"/>
            </a:pPr>
            <a:r>
              <a:rPr lang="en-US" sz="1600" dirty="0">
                <a:solidFill>
                  <a:schemeClr val="tx1"/>
                </a:solidFill>
              </a:rPr>
              <a:t>来防止双花</a:t>
            </a:r>
            <a:endParaRPr lang="en-US" sz="1600" dirty="0"/>
          </a:p>
          <a:p>
            <a:pPr algn="l" marL="254000" indent="-254000">
              <a:lnSpc>
                <a:spcPct val="105000"/>
              </a:lnSpc>
              <a:spcAft>
                <a:spcPts val="800"/>
              </a:spcAft>
              <a:buSzPct val="100000"/>
              <a:buChar char="•"/>
            </a:pPr>
            <a:r>
              <a:rPr lang="en-US" sz="1600" dirty="0">
                <a:solidFill>
                  <a:schemeClr val="tx1"/>
                </a:solidFill>
              </a:rPr>
              <a:t>方案：</a:t>
            </a:r>
            <a:pPr algn="l" marL="254000" indent="-254000">
              <a:lnSpc>
                <a:spcPct val="105000"/>
              </a:lnSpc>
              <a:spcAft>
                <a:spcPts val="800"/>
              </a:spcAft>
              <a:buSzPct val="100000"/>
              <a:buChar char="•"/>
            </a:pPr>
            <a:r>
              <a:rPr lang="en-US" sz="1600" b="1" dirty="0">
                <a:solidFill>
                  <a:schemeClr val="tx1"/>
                </a:solidFill>
              </a:rPr>
              <a:t>P2P 网络 + 哈希 + 工作量证明</a:t>
            </a:r>
            <a:pPr algn="l" marL="254000" indent="-254000">
              <a:lnSpc>
                <a:spcPct val="105000"/>
              </a:lnSpc>
              <a:spcAft>
                <a:spcPts val="800"/>
              </a:spcAft>
              <a:buSzPct val="100000"/>
              <a:buChar char="•"/>
            </a:pPr>
            <a:r>
              <a:rPr lang="en-US" sz="1600" dirty="0">
                <a:solidFill>
                  <a:schemeClr val="tx1"/>
                </a:solidFill>
              </a:rPr>
              <a:t>，造出一条无法在不重做工作量的情况下修改的记录</a:t>
            </a:r>
            <a:endParaRPr lang="en-US" sz="1600" dirty="0"/>
          </a:p>
          <a:p>
            <a:pPr algn="l" marL="254000" indent="-254000">
              <a:lnSpc>
                <a:spcPct val="105000"/>
              </a:lnSpc>
              <a:buSzPct val="100000"/>
              <a:buChar char="•"/>
            </a:pPr>
            <a:r>
              <a:rPr lang="en-US" sz="1600" dirty="0">
                <a:solidFill>
                  <a:schemeClr val="tx1"/>
                </a:solidFill>
              </a:rPr>
              <a:t>前提：</a:t>
            </a:r>
            <a:pPr algn="l" marL="254000" indent="-254000">
              <a:lnSpc>
                <a:spcPct val="105000"/>
              </a:lnSpc>
              <a:buSzPct val="100000"/>
              <a:buChar char="•"/>
            </a:pPr>
            <a:r>
              <a:rPr lang="en-US" sz="1600" b="1" dirty="0">
                <a:solidFill>
                  <a:schemeClr val="tx1"/>
                </a:solidFill>
              </a:rPr>
              <a:t>诚实节点的算力多于合谋攻击者</a:t>
            </a:r>
            <a:pPr algn="l" marL="254000" indent="-254000">
              <a:lnSpc>
                <a:spcPct val="105000"/>
              </a:lnSpc>
              <a:buSzPct val="100000"/>
              <a:buChar char="•"/>
            </a:pPr>
            <a:r>
              <a:rPr lang="en-US" sz="1600" dirty="0">
                <a:solidFill>
                  <a:schemeClr val="tx1"/>
                </a:solidFill>
              </a:rPr>
              <a:t>，最长链才可信</a:t>
            </a:r>
            <a:endParaRPr lang="en-US" sz="1600" dirty="0"/>
          </a:p>
        </p:txBody>
      </p:sp>
      <p:sp>
        <p:nvSpPr>
          <p:cNvPr id="9" name="Shape 5"/>
          <p:cNvSpPr/>
          <p:nvPr/>
        </p:nvSpPr>
        <p:spPr>
          <a:xfrm>
            <a:off x="457200" y="5074920"/>
            <a:ext cx="8229600" cy="914400"/>
          </a:xfrm>
          <a:prstGeom prst="roundRect">
            <a:avLst>
              <a:gd name="adj" fmla="val 8000"/>
            </a:avLst>
          </a:prstGeom>
          <a:solidFill>
            <a:schemeClr val="accent1">
              <a:alpha val="12000"/>
            </a:schemeClr>
          </a:solidFill>
          <a:ln w="12700">
            <a:solidFill>
              <a:schemeClr val="accent1">
                <a:alpha val="0"/>
              </a:schemeClr>
            </a:solidFill>
            <a:prstDash val="solid"/>
          </a:ln>
        </p:spPr>
      </p:sp>
      <p:pic>
        <p:nvPicPr>
          <p:cNvPr id="10" name="Image 1" descr="key">    </p:cNvPr>
          <p:cNvPicPr>
            <a:picLocks noChangeAspect="1"/>
          </p:cNvPicPr>
          <p:nvPr/>
        </p:nvPicPr>
        <p:blipFill>
          <a:blip r:embed="rId2"/>
          <a:stretch>
            <a:fillRect/>
          </a:stretch>
        </p:blipFill>
        <p:spPr>
          <a:xfrm>
            <a:off x="640080" y="5340096"/>
            <a:ext cx="384048" cy="384048"/>
          </a:xfrm>
          <a:prstGeom prst="rect">
            <a:avLst/>
          </a:prstGeom>
        </p:spPr>
      </p:pic>
      <p:sp>
        <p:nvSpPr>
          <p:cNvPr id="11" name="Text 6"/>
          <p:cNvSpPr txBox="1"/>
          <p:nvPr/>
        </p:nvSpPr>
        <p:spPr>
          <a:xfrm>
            <a:off x="1188720" y="5148072"/>
            <a:ext cx="7315200" cy="76809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整门课就是在回答：</a:t>
            </a:r>
            <a:pPr algn="l" indent="0" marL="0">
              <a:lnSpc>
                <a:spcPct val="105000"/>
              </a:lnSpc>
              <a:buNone/>
            </a:pPr>
            <a:r>
              <a:rPr lang="en-US" sz="1600" b="1" dirty="0">
                <a:solidFill>
                  <a:schemeClr val="tx1"/>
                </a:solidFill>
              </a:rPr>
              <a:t>P2P 网络、哈希、工作量证明</a:t>
            </a:r>
            <a:pPr algn="l" indent="0" marL="0">
              <a:lnSpc>
                <a:spcPct val="105000"/>
              </a:lnSpc>
              <a:buNone/>
            </a:pPr>
            <a:r>
              <a:rPr lang="en-US" sz="1600" dirty="0">
                <a:solidFill>
                  <a:schemeClr val="tx1"/>
                </a:solidFill>
              </a:rPr>
              <a:t>这三样东西，怎样合起来防止双重支付？</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时机：雷曼破产后六周，白皮书发布</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来源：美联储 H.4.1 周报；Prasad (2021)；美国财政部公共债务数据</a:t>
            </a:r>
            <a:endParaRPr lang="en-US" sz="1000" dirty="0"/>
          </a:p>
        </p:txBody>
      </p:sp>
      <p:sp>
        <p:nvSpPr>
          <p:cNvPr id="6" name="Shape 3"/>
          <p:cNvSpPr/>
          <p:nvPr/>
        </p:nvSpPr>
        <p:spPr>
          <a:xfrm>
            <a:off x="1847088" y="1977390"/>
            <a:ext cx="0" cy="3360420"/>
          </a:xfrm>
          <a:prstGeom prst="line">
            <a:avLst/>
          </a:prstGeom>
          <a:noFill/>
          <a:ln w="19050">
            <a:solidFill>
              <a:schemeClr val="accent5"/>
            </a:solidFill>
            <a:prstDash val="solid"/>
          </a:ln>
        </p:spPr>
      </p:sp>
      <p:sp>
        <p:nvSpPr>
          <p:cNvPr id="7" name="Shape 4"/>
          <p:cNvSpPr/>
          <p:nvPr/>
        </p:nvSpPr>
        <p:spPr>
          <a:xfrm>
            <a:off x="457200" y="1821942"/>
            <a:ext cx="1188720" cy="310896"/>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457200" y="182194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2008-09-15</a:t>
            </a:r>
            <a:endParaRPr lang="en-US" sz="1200" dirty="0"/>
          </a:p>
        </p:txBody>
      </p:sp>
      <p:sp>
        <p:nvSpPr>
          <p:cNvPr id="9" name="Shape 6"/>
          <p:cNvSpPr/>
          <p:nvPr/>
        </p:nvSpPr>
        <p:spPr>
          <a:xfrm>
            <a:off x="1773936" y="1904238"/>
            <a:ext cx="146304" cy="146304"/>
          </a:xfrm>
          <a:prstGeom prst="ellipse">
            <a:avLst/>
          </a:prstGeom>
          <a:solidFill>
            <a:schemeClr val="accent4"/>
          </a:solidFill>
          <a:ln w="12700">
            <a:solidFill>
              <a:schemeClr val="accent4">
                <a:alpha val="0"/>
              </a:schemeClr>
            </a:solidFill>
            <a:prstDash val="solid"/>
          </a:ln>
        </p:spPr>
      </p:sp>
      <p:sp>
        <p:nvSpPr>
          <p:cNvPr id="10" name="Text 7"/>
          <p:cNvSpPr txBox="1"/>
          <p:nvPr/>
        </p:nvSpPr>
        <p:spPr>
          <a:xfrm>
            <a:off x="2103120" y="1435608"/>
            <a:ext cx="2560320" cy="10835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雷曼兄弟破产</a:t>
            </a:r>
            <a:endParaRPr lang="en-US" sz="1300" dirty="0"/>
          </a:p>
          <a:p>
            <a:pPr algn="l" indent="0" marL="0">
              <a:lnSpc>
                <a:spcPct val="105000"/>
              </a:lnSpc>
              <a:buNone/>
            </a:pPr>
            <a:r>
              <a:rPr lang="en-US" sz="1300" dirty="0">
                <a:solidFill>
                  <a:schemeClr val="accent4"/>
                </a:solidFill>
              </a:rPr>
              <a:t>全球金融危机加剧</a:t>
            </a:r>
            <a:endParaRPr lang="en-US" sz="1300" dirty="0"/>
          </a:p>
        </p:txBody>
      </p:sp>
      <p:sp>
        <p:nvSpPr>
          <p:cNvPr id="11" name="Shape 8"/>
          <p:cNvSpPr/>
          <p:nvPr/>
        </p:nvSpPr>
        <p:spPr>
          <a:xfrm>
            <a:off x="457200" y="2942082"/>
            <a:ext cx="1188720" cy="310896"/>
          </a:xfrm>
          <a:prstGeom prst="roundRect">
            <a:avLst>
              <a:gd name="adj" fmla="val 50000"/>
            </a:avLst>
          </a:prstGeom>
          <a:solidFill>
            <a:schemeClr val="accent1"/>
          </a:solidFill>
          <a:ln w="12700">
            <a:solidFill>
              <a:schemeClr val="accent1">
                <a:alpha val="0"/>
              </a:schemeClr>
            </a:solidFill>
            <a:prstDash val="solid"/>
          </a:ln>
        </p:spPr>
      </p:sp>
      <p:sp>
        <p:nvSpPr>
          <p:cNvPr id="12" name="Text 9"/>
          <p:cNvSpPr txBox="1"/>
          <p:nvPr/>
        </p:nvSpPr>
        <p:spPr>
          <a:xfrm>
            <a:off x="457200" y="2942082"/>
            <a:ext cx="1188720" cy="310896"/>
          </a:xfrm>
          <a:prstGeom prst="rect">
            <a:avLst/>
          </a:prstGeom>
          <a:noFill/>
          <a:ln/>
        </p:spPr>
        <p:txBody>
          <a:bodyPr wrap="square" lIns="0" tIns="0" rIns="0" bIns="0" rtlCol="0" anchor="ctr"/>
          <a:lstStyle/>
          <a:p>
            <a:pPr algn="ctr" indent="0" marL="0">
              <a:buNone/>
            </a:pPr>
            <a:r>
              <a:rPr lang="en-US" sz="1200" b="1" dirty="0">
                <a:solidFill>
                  <a:schemeClr val="tx1"/>
                </a:solidFill>
              </a:rPr>
              <a:t>2008-10-31</a:t>
            </a:r>
            <a:endParaRPr lang="en-US" sz="1200" dirty="0"/>
          </a:p>
        </p:txBody>
      </p:sp>
      <p:sp>
        <p:nvSpPr>
          <p:cNvPr id="13" name="Shape 10"/>
          <p:cNvSpPr/>
          <p:nvPr/>
        </p:nvSpPr>
        <p:spPr>
          <a:xfrm>
            <a:off x="1773936" y="3024378"/>
            <a:ext cx="146304" cy="146304"/>
          </a:xfrm>
          <a:prstGeom prst="ellipse">
            <a:avLst/>
          </a:prstGeom>
          <a:solidFill>
            <a:schemeClr val="accent1"/>
          </a:solidFill>
          <a:ln w="12700">
            <a:solidFill>
              <a:schemeClr val="accent1">
                <a:alpha val="0"/>
              </a:schemeClr>
            </a:solidFill>
            <a:prstDash val="solid"/>
          </a:ln>
        </p:spPr>
      </p:sp>
      <p:sp>
        <p:nvSpPr>
          <p:cNvPr id="14" name="Text 11"/>
          <p:cNvSpPr txBox="1"/>
          <p:nvPr/>
        </p:nvSpPr>
        <p:spPr>
          <a:xfrm>
            <a:off x="2103120" y="2555748"/>
            <a:ext cx="2560320" cy="10835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白皮书发布</a:t>
            </a:r>
            <a:endParaRPr lang="en-US" sz="1300" dirty="0"/>
          </a:p>
          <a:p>
            <a:pPr algn="l" indent="0" marL="0">
              <a:lnSpc>
                <a:spcPct val="105000"/>
              </a:lnSpc>
              <a:buNone/>
            </a:pPr>
            <a:r>
              <a:rPr lang="en-US" sz="1300" dirty="0">
                <a:solidFill>
                  <a:schemeClr val="accent4"/>
                </a:solidFill>
              </a:rPr>
              <a:t>距雷曼破产约六周</a:t>
            </a:r>
            <a:endParaRPr lang="en-US" sz="1300" dirty="0"/>
          </a:p>
        </p:txBody>
      </p:sp>
      <p:sp>
        <p:nvSpPr>
          <p:cNvPr id="15" name="Shape 12"/>
          <p:cNvSpPr/>
          <p:nvPr/>
        </p:nvSpPr>
        <p:spPr>
          <a:xfrm>
            <a:off x="457200" y="4062222"/>
            <a:ext cx="1188720" cy="310896"/>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457200" y="406222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2008-11</a:t>
            </a:r>
            <a:endParaRPr lang="en-US" sz="1200" dirty="0"/>
          </a:p>
        </p:txBody>
      </p:sp>
      <p:sp>
        <p:nvSpPr>
          <p:cNvPr id="17" name="Shape 14"/>
          <p:cNvSpPr/>
          <p:nvPr/>
        </p:nvSpPr>
        <p:spPr>
          <a:xfrm>
            <a:off x="1773936" y="4144518"/>
            <a:ext cx="146304" cy="146304"/>
          </a:xfrm>
          <a:prstGeom prst="ellipse">
            <a:avLst/>
          </a:prstGeom>
          <a:solidFill>
            <a:schemeClr val="accent4"/>
          </a:solidFill>
          <a:ln w="12700">
            <a:solidFill>
              <a:schemeClr val="accent4">
                <a:alpha val="0"/>
              </a:schemeClr>
            </a:solidFill>
            <a:prstDash val="solid"/>
          </a:ln>
        </p:spPr>
      </p:sp>
      <p:sp>
        <p:nvSpPr>
          <p:cNvPr id="18" name="Text 15"/>
          <p:cNvSpPr txBox="1"/>
          <p:nvPr/>
        </p:nvSpPr>
        <p:spPr>
          <a:xfrm>
            <a:off x="2103120" y="3675888"/>
            <a:ext cx="2560320" cy="10835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美联储启动首轮 QE</a:t>
            </a:r>
            <a:endParaRPr lang="en-US" sz="1300" dirty="0"/>
          </a:p>
          <a:p>
            <a:pPr algn="l" indent="0" marL="0">
              <a:lnSpc>
                <a:spcPct val="105000"/>
              </a:lnSpc>
              <a:buNone/>
            </a:pPr>
            <a:r>
              <a:rPr lang="en-US" sz="1300" dirty="0">
                <a:solidFill>
                  <a:schemeClr val="accent4"/>
                </a:solidFill>
              </a:rPr>
              <a:t>12 月政策利率降至 0–0.25%</a:t>
            </a:r>
            <a:endParaRPr lang="en-US" sz="1300" dirty="0"/>
          </a:p>
        </p:txBody>
      </p:sp>
      <p:sp>
        <p:nvSpPr>
          <p:cNvPr id="19" name="Shape 16"/>
          <p:cNvSpPr/>
          <p:nvPr/>
        </p:nvSpPr>
        <p:spPr>
          <a:xfrm>
            <a:off x="457200" y="5182362"/>
            <a:ext cx="1188720" cy="310896"/>
          </a:xfrm>
          <a:prstGeom prst="roundRect">
            <a:avLst>
              <a:gd name="adj" fmla="val 50000"/>
            </a:avLst>
          </a:prstGeom>
          <a:solidFill>
            <a:schemeClr val="tx1"/>
          </a:solidFill>
          <a:ln w="12700">
            <a:solidFill>
              <a:schemeClr val="tx1">
                <a:alpha val="0"/>
              </a:schemeClr>
            </a:solidFill>
            <a:prstDash val="solid"/>
          </a:ln>
        </p:spPr>
      </p:sp>
      <p:sp>
        <p:nvSpPr>
          <p:cNvPr id="20" name="Text 17"/>
          <p:cNvSpPr txBox="1"/>
          <p:nvPr/>
        </p:nvSpPr>
        <p:spPr>
          <a:xfrm>
            <a:off x="457200" y="518236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2009-01-03</a:t>
            </a:r>
            <a:endParaRPr lang="en-US" sz="1200" dirty="0"/>
          </a:p>
        </p:txBody>
      </p:sp>
      <p:sp>
        <p:nvSpPr>
          <p:cNvPr id="21" name="Shape 18"/>
          <p:cNvSpPr/>
          <p:nvPr/>
        </p:nvSpPr>
        <p:spPr>
          <a:xfrm>
            <a:off x="1773936" y="5264658"/>
            <a:ext cx="146304" cy="146304"/>
          </a:xfrm>
          <a:prstGeom prst="ellipse">
            <a:avLst/>
          </a:prstGeom>
          <a:solidFill>
            <a:schemeClr val="accent4"/>
          </a:solidFill>
          <a:ln w="12700">
            <a:solidFill>
              <a:schemeClr val="accent4">
                <a:alpha val="0"/>
              </a:schemeClr>
            </a:solidFill>
            <a:prstDash val="solid"/>
          </a:ln>
        </p:spPr>
      </p:sp>
      <p:sp>
        <p:nvSpPr>
          <p:cNvPr id="22" name="Text 19"/>
          <p:cNvSpPr txBox="1"/>
          <p:nvPr/>
        </p:nvSpPr>
        <p:spPr>
          <a:xfrm>
            <a:off x="2103120" y="4796028"/>
            <a:ext cx="2560320" cy="10835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创世区块被挖出</a:t>
            </a:r>
            <a:endParaRPr lang="en-US" sz="1300" dirty="0"/>
          </a:p>
          <a:p>
            <a:pPr algn="l" indent="0" marL="0">
              <a:lnSpc>
                <a:spcPct val="105000"/>
              </a:lnSpc>
              <a:buNone/>
            </a:pPr>
            <a:r>
              <a:rPr lang="en-US" sz="1300" dirty="0">
                <a:solidFill>
                  <a:schemeClr val="accent4"/>
                </a:solidFill>
              </a:rPr>
              <a:t>写入《泰晤士报》头条</a:t>
            </a:r>
            <a:endParaRPr lang="en-US" sz="1300" dirty="0"/>
          </a:p>
        </p:txBody>
      </p:sp>
      <p:graphicFrame>
        <p:nvGraphicFramePr>
          <p:cNvPr id="23" name="Chart 0" descr=""/>
          <p:cNvGraphicFramePr/>
          <p:nvPr/>
        </p:nvGraphicFramePr>
        <p:xfrm>
          <a:off x="4846320" y="1417320"/>
          <a:ext cx="3840480" cy="402336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txBox="1"/>
          <p:nvPr/>
        </p:nvSpPr>
        <p:spPr>
          <a:xfrm>
            <a:off x="4846320" y="5532120"/>
            <a:ext cx="3840480" cy="365760"/>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同期美国联邦公共债务增加逾 5 万亿美元</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FFFFFF"/>
                </a:solidFill>
              </a:rPr>
              <a:t>中本聪的问题意识：根本问题是“信任”</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1"/>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5"/>
                </a:solidFill>
              </a:rPr>
              <a:t>来源：中本聪，“Bitcoin open source implementation of P2P currency”，P2P Foundation，2009-02-11</a:t>
            </a:r>
            <a:endParaRPr lang="en-US" sz="1000" dirty="0"/>
          </a:p>
        </p:txBody>
      </p:sp>
      <p:sp>
        <p:nvSpPr>
          <p:cNvPr id="6" name="Shape 3"/>
          <p:cNvSpPr/>
          <p:nvPr/>
        </p:nvSpPr>
        <p:spPr>
          <a:xfrm>
            <a:off x="457200" y="1417320"/>
            <a:ext cx="8229600" cy="4526280"/>
          </a:xfrm>
          <a:prstGeom prst="roundRect">
            <a:avLst>
              <a:gd name="adj" fmla="val 1616"/>
            </a:avLst>
          </a:prstGeom>
          <a:solidFill>
            <a:schemeClr val="tx2"/>
          </a:solidFill>
          <a:ln w="12700">
            <a:solidFill>
              <a:schemeClr val="tx2">
                <a:alpha val="0"/>
              </a:schemeClr>
            </a:solidFill>
            <a:prstDash val="solid"/>
          </a:ln>
        </p:spPr>
      </p:sp>
      <p:sp>
        <p:nvSpPr>
          <p:cNvPr id="7" name="Text 4"/>
          <p:cNvSpPr txBox="1"/>
          <p:nvPr/>
        </p:nvSpPr>
        <p:spPr>
          <a:xfrm>
            <a:off x="685800" y="1463040"/>
            <a:ext cx="731520" cy="822960"/>
          </a:xfrm>
          <a:prstGeom prst="rect">
            <a:avLst/>
          </a:prstGeom>
          <a:noFill/>
          <a:ln/>
        </p:spPr>
        <p:txBody>
          <a:bodyPr wrap="square" lIns="0" tIns="0" rIns="0" bIns="0" rtlCol="0" anchor="t"/>
          <a:lstStyle/>
          <a:p>
            <a:pPr indent="0" marL="0">
              <a:buNone/>
            </a:pPr>
            <a:r>
              <a:rPr lang="en-US" sz="6000" b="1" dirty="0">
                <a:solidFill>
                  <a:schemeClr val="accent1"/>
                </a:solidFill>
              </a:rPr>
              <a:t>“</a:t>
            </a:r>
            <a:endParaRPr lang="en-US" sz="6000" dirty="0"/>
          </a:p>
        </p:txBody>
      </p:sp>
      <p:sp>
        <p:nvSpPr>
          <p:cNvPr id="8" name="Text 5"/>
          <p:cNvSpPr txBox="1"/>
          <p:nvPr/>
        </p:nvSpPr>
        <p:spPr>
          <a:xfrm>
            <a:off x="1280160" y="1691640"/>
            <a:ext cx="7040880" cy="3611880"/>
          </a:xfrm>
          <a:prstGeom prst="rect">
            <a:avLst/>
          </a:prstGeom>
          <a:noFill/>
          <a:ln/>
        </p:spPr>
        <p:txBody>
          <a:bodyPr wrap="square" lIns="0" tIns="0" rIns="0" bIns="0" rtlCol="0" anchor="t"/>
          <a:lstStyle/>
          <a:p>
            <a:pPr algn="l" indent="0" marL="0">
              <a:lnSpc>
                <a:spcPct val="124200"/>
              </a:lnSpc>
              <a:spcAft>
                <a:spcPts val="600"/>
              </a:spcAft>
              <a:buNone/>
            </a:pPr>
            <a:r>
              <a:rPr lang="en-US" sz="1900" dirty="0">
                <a:solidFill>
                  <a:schemeClr val="bg1"/>
                </a:solidFill>
              </a:rPr>
              <a:t>传统货币的根本问题，在于它的运行完全依赖信任。我们必须信任中央银行不会滥发货币，但法定货币的历史却充斥着对这种信任的背叛。</a:t>
            </a:r>
            <a:endParaRPr lang="en-US" sz="1900" dirty="0"/>
          </a:p>
          <a:p>
            <a:pPr algn="l" indent="0" marL="0">
              <a:lnSpc>
                <a:spcPct val="124200"/>
              </a:lnSpc>
              <a:spcAft>
                <a:spcPts val="600"/>
              </a:spcAft>
              <a:buNone/>
            </a:pPr>
            <a:r>
              <a:rPr lang="en-US" sz="1900" dirty="0">
                <a:solidFill>
                  <a:schemeClr val="bg1"/>
                </a:solidFill>
              </a:rPr>
              <a:t>我们必须信任银行能妥善保管资金、办理电子转账，但它们却在信贷泡沫的浪潮中大量放贷，而实际储备金微乎其微。</a:t>
            </a:r>
            <a:endParaRPr lang="en-US" sz="1900" dirty="0"/>
          </a:p>
          <a:p>
            <a:pPr algn="l" indent="0" marL="0">
              <a:lnSpc>
                <a:spcPct val="124200"/>
              </a:lnSpc>
              <a:buNone/>
            </a:pPr>
            <a:r>
              <a:rPr lang="en-US" sz="1900" dirty="0">
                <a:solidFill>
                  <a:schemeClr val="bg1"/>
                </a:solidFill>
              </a:rPr>
              <a:t>我们还必须信任它们保护隐私，不让身份窃贼掏空账户。它们庞大的运营成本，则让小额支付几乎无法实现。</a:t>
            </a:r>
            <a:endParaRPr lang="en-US" sz="1900" dirty="0"/>
          </a:p>
        </p:txBody>
      </p:sp>
      <p:sp>
        <p:nvSpPr>
          <p:cNvPr id="9" name="Text 6"/>
          <p:cNvSpPr txBox="1"/>
          <p:nvPr/>
        </p:nvSpPr>
        <p:spPr>
          <a:xfrm>
            <a:off x="1280160" y="5394960"/>
            <a:ext cx="7040880" cy="365760"/>
          </a:xfrm>
          <a:prstGeom prst="rect">
            <a:avLst/>
          </a:prstGeom>
          <a:noFill/>
          <a:ln/>
        </p:spPr>
        <p:txBody>
          <a:bodyPr wrap="square" lIns="0" tIns="0" rIns="0" bIns="0" rtlCol="0" anchor="t"/>
          <a:lstStyle/>
          <a:p>
            <a:pPr algn="l" indent="0" marL="0">
              <a:lnSpc>
                <a:spcPct val="105000"/>
              </a:lnSpc>
              <a:buNone/>
            </a:pPr>
            <a:r>
              <a:rPr lang="en-US" sz="1300" dirty="0">
                <a:solidFill>
                  <a:schemeClr val="accent5"/>
                </a:solidFill>
              </a:rPr>
              <a:t>— 中本聪，2009 年 2 月 11 日</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比特币的“前传”：四十年的积木</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来源：白皮书参考文献 [1]–[8]；Chaum (1983)；Dwork &amp; Naor (1992)；Back (2002)；Dai (1998)；Szabo (2005)；Finney (2004)</a:t>
            </a:r>
            <a:endParaRPr lang="en-US" sz="1000" dirty="0"/>
          </a:p>
        </p:txBody>
      </p:sp>
      <p:sp>
        <p:nvSpPr>
          <p:cNvPr id="6" name="Shape 3"/>
          <p:cNvSpPr/>
          <p:nvPr/>
        </p:nvSpPr>
        <p:spPr>
          <a:xfrm>
            <a:off x="1847088" y="1707969"/>
            <a:ext cx="0" cy="4036423"/>
          </a:xfrm>
          <a:prstGeom prst="line">
            <a:avLst/>
          </a:prstGeom>
          <a:noFill/>
          <a:ln w="19050">
            <a:solidFill>
              <a:schemeClr val="accent5"/>
            </a:solidFill>
            <a:prstDash val="solid"/>
          </a:ln>
        </p:spPr>
      </p:sp>
      <p:sp>
        <p:nvSpPr>
          <p:cNvPr id="7" name="Shape 4"/>
          <p:cNvSpPr/>
          <p:nvPr/>
        </p:nvSpPr>
        <p:spPr>
          <a:xfrm>
            <a:off x="457200" y="1552521"/>
            <a:ext cx="1188720" cy="310896"/>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457200" y="1552521"/>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1982–89</a:t>
            </a:r>
            <a:endParaRPr lang="en-US" sz="1200" dirty="0"/>
          </a:p>
        </p:txBody>
      </p:sp>
      <p:sp>
        <p:nvSpPr>
          <p:cNvPr id="9" name="Shape 6"/>
          <p:cNvSpPr/>
          <p:nvPr/>
        </p:nvSpPr>
        <p:spPr>
          <a:xfrm>
            <a:off x="1773936" y="1634817"/>
            <a:ext cx="146304" cy="146304"/>
          </a:xfrm>
          <a:prstGeom prst="ellipse">
            <a:avLst/>
          </a:prstGeom>
          <a:solidFill>
            <a:schemeClr val="accent4"/>
          </a:solidFill>
          <a:ln w="12700">
            <a:solidFill>
              <a:schemeClr val="accent4">
                <a:alpha val="0"/>
              </a:schemeClr>
            </a:solidFill>
            <a:prstDash val="solid"/>
          </a:ln>
        </p:spPr>
      </p:sp>
      <p:sp>
        <p:nvSpPr>
          <p:cNvPr id="10" name="Text 7"/>
          <p:cNvSpPr txBox="1"/>
          <p:nvPr/>
        </p:nvSpPr>
        <p:spPr>
          <a:xfrm>
            <a:off x="2103120" y="1389888"/>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Chaum：盲签名 → DigiCash</a:t>
            </a:r>
            <a:endParaRPr lang="en-US" sz="1250" dirty="0"/>
          </a:p>
          <a:p>
            <a:pPr algn="l" indent="0" marL="0">
              <a:lnSpc>
                <a:spcPct val="105000"/>
              </a:lnSpc>
              <a:buNone/>
            </a:pPr>
            <a:r>
              <a:rPr lang="en-US" sz="1250" dirty="0">
                <a:solidFill>
                  <a:schemeClr val="accent4"/>
                </a:solidFill>
              </a:rPr>
              <a:t>可匿名的电子现金，但依赖中心化发行方</a:t>
            </a:r>
            <a:endParaRPr lang="en-US" sz="1250" dirty="0"/>
          </a:p>
        </p:txBody>
      </p:sp>
      <p:sp>
        <p:nvSpPr>
          <p:cNvPr id="11" name="Shape 8"/>
          <p:cNvSpPr/>
          <p:nvPr/>
        </p:nvSpPr>
        <p:spPr>
          <a:xfrm>
            <a:off x="457200" y="2225258"/>
            <a:ext cx="1188720" cy="310896"/>
          </a:xfrm>
          <a:prstGeom prst="roundRect">
            <a:avLst>
              <a:gd name="adj" fmla="val 50000"/>
            </a:avLst>
          </a:prstGeom>
          <a:solidFill>
            <a:schemeClr val="tx1"/>
          </a:solidFill>
          <a:ln w="12700">
            <a:solidFill>
              <a:schemeClr val="tx1">
                <a:alpha val="0"/>
              </a:schemeClr>
            </a:solidFill>
            <a:prstDash val="solid"/>
          </a:ln>
        </p:spPr>
      </p:sp>
      <p:sp>
        <p:nvSpPr>
          <p:cNvPr id="12" name="Text 9"/>
          <p:cNvSpPr txBox="1"/>
          <p:nvPr/>
        </p:nvSpPr>
        <p:spPr>
          <a:xfrm>
            <a:off x="457200" y="222525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1991</a:t>
            </a:r>
            <a:endParaRPr lang="en-US" sz="1200" dirty="0"/>
          </a:p>
        </p:txBody>
      </p:sp>
      <p:sp>
        <p:nvSpPr>
          <p:cNvPr id="13" name="Shape 10"/>
          <p:cNvSpPr/>
          <p:nvPr/>
        </p:nvSpPr>
        <p:spPr>
          <a:xfrm>
            <a:off x="1773936" y="2307554"/>
            <a:ext cx="146304" cy="146304"/>
          </a:xfrm>
          <a:prstGeom prst="ellipse">
            <a:avLst/>
          </a:prstGeom>
          <a:solidFill>
            <a:schemeClr val="accent4"/>
          </a:solidFill>
          <a:ln w="12700">
            <a:solidFill>
              <a:schemeClr val="accent4">
                <a:alpha val="0"/>
              </a:schemeClr>
            </a:solidFill>
            <a:prstDash val="solid"/>
          </a:ln>
        </p:spPr>
      </p:sp>
      <p:sp>
        <p:nvSpPr>
          <p:cNvPr id="14" name="Text 11"/>
          <p:cNvSpPr txBox="1"/>
          <p:nvPr/>
        </p:nvSpPr>
        <p:spPr>
          <a:xfrm>
            <a:off x="2103120" y="2062625"/>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Haber &amp; Stornetta：时间戳链</a:t>
            </a:r>
            <a:endParaRPr lang="en-US" sz="1250" dirty="0"/>
          </a:p>
          <a:p>
            <a:pPr algn="l" indent="0" marL="0">
              <a:lnSpc>
                <a:spcPct val="105000"/>
              </a:lnSpc>
              <a:buNone/>
            </a:pPr>
            <a:r>
              <a:rPr lang="en-US" sz="1250" dirty="0">
                <a:solidFill>
                  <a:schemeClr val="accent4"/>
                </a:solidFill>
              </a:rPr>
              <a:t>把文件哈希链接起来，防止事后改日期</a:t>
            </a:r>
            <a:endParaRPr lang="en-US" sz="1250" dirty="0"/>
          </a:p>
        </p:txBody>
      </p:sp>
      <p:sp>
        <p:nvSpPr>
          <p:cNvPr id="15" name="Shape 12"/>
          <p:cNvSpPr/>
          <p:nvPr/>
        </p:nvSpPr>
        <p:spPr>
          <a:xfrm>
            <a:off x="457200" y="2897995"/>
            <a:ext cx="1188720" cy="310896"/>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457200" y="2897995"/>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1992</a:t>
            </a:r>
            <a:endParaRPr lang="en-US" sz="1200" dirty="0"/>
          </a:p>
        </p:txBody>
      </p:sp>
      <p:sp>
        <p:nvSpPr>
          <p:cNvPr id="17" name="Shape 14"/>
          <p:cNvSpPr/>
          <p:nvPr/>
        </p:nvSpPr>
        <p:spPr>
          <a:xfrm>
            <a:off x="1773936" y="2980291"/>
            <a:ext cx="146304" cy="146304"/>
          </a:xfrm>
          <a:prstGeom prst="ellipse">
            <a:avLst/>
          </a:prstGeom>
          <a:solidFill>
            <a:schemeClr val="accent4"/>
          </a:solidFill>
          <a:ln w="12700">
            <a:solidFill>
              <a:schemeClr val="accent4">
                <a:alpha val="0"/>
              </a:schemeClr>
            </a:solidFill>
            <a:prstDash val="solid"/>
          </a:ln>
        </p:spPr>
      </p:sp>
      <p:sp>
        <p:nvSpPr>
          <p:cNvPr id="18" name="Text 15"/>
          <p:cNvSpPr txBox="1"/>
          <p:nvPr/>
        </p:nvSpPr>
        <p:spPr>
          <a:xfrm>
            <a:off x="2103120" y="2735362"/>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Dwork &amp; Naor：为垃圾邮件“定价”</a:t>
            </a:r>
            <a:endParaRPr lang="en-US" sz="1250" dirty="0"/>
          </a:p>
          <a:p>
            <a:pPr algn="l" indent="0" marL="0">
              <a:lnSpc>
                <a:spcPct val="105000"/>
              </a:lnSpc>
              <a:buNone/>
            </a:pPr>
            <a:r>
              <a:rPr lang="en-US" sz="1250" dirty="0">
                <a:solidFill>
                  <a:schemeClr val="accent4"/>
                </a:solidFill>
              </a:rPr>
              <a:t>最早的工作量证明想法：用计算代价设门槛</a:t>
            </a:r>
            <a:endParaRPr lang="en-US" sz="1250" dirty="0"/>
          </a:p>
        </p:txBody>
      </p:sp>
      <p:sp>
        <p:nvSpPr>
          <p:cNvPr id="19" name="Shape 16"/>
          <p:cNvSpPr/>
          <p:nvPr/>
        </p:nvSpPr>
        <p:spPr>
          <a:xfrm>
            <a:off x="457200" y="3570732"/>
            <a:ext cx="1188720" cy="310896"/>
          </a:xfrm>
          <a:prstGeom prst="roundRect">
            <a:avLst>
              <a:gd name="adj" fmla="val 50000"/>
            </a:avLst>
          </a:prstGeom>
          <a:solidFill>
            <a:schemeClr val="tx1"/>
          </a:solidFill>
          <a:ln w="12700">
            <a:solidFill>
              <a:schemeClr val="tx1">
                <a:alpha val="0"/>
              </a:schemeClr>
            </a:solidFill>
            <a:prstDash val="solid"/>
          </a:ln>
        </p:spPr>
      </p:sp>
      <p:sp>
        <p:nvSpPr>
          <p:cNvPr id="20" name="Text 17"/>
          <p:cNvSpPr txBox="1"/>
          <p:nvPr/>
        </p:nvSpPr>
        <p:spPr>
          <a:xfrm>
            <a:off x="457200" y="357073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1997</a:t>
            </a:r>
            <a:endParaRPr lang="en-US" sz="1200" dirty="0"/>
          </a:p>
        </p:txBody>
      </p:sp>
      <p:sp>
        <p:nvSpPr>
          <p:cNvPr id="21" name="Shape 18"/>
          <p:cNvSpPr/>
          <p:nvPr/>
        </p:nvSpPr>
        <p:spPr>
          <a:xfrm>
            <a:off x="1773936" y="3653028"/>
            <a:ext cx="146304" cy="146304"/>
          </a:xfrm>
          <a:prstGeom prst="ellipse">
            <a:avLst/>
          </a:prstGeom>
          <a:solidFill>
            <a:schemeClr val="accent4"/>
          </a:solidFill>
          <a:ln w="12700">
            <a:solidFill>
              <a:schemeClr val="accent4">
                <a:alpha val="0"/>
              </a:schemeClr>
            </a:solidFill>
            <a:prstDash val="solid"/>
          </a:ln>
        </p:spPr>
      </p:sp>
      <p:sp>
        <p:nvSpPr>
          <p:cNvPr id="22" name="Text 19"/>
          <p:cNvSpPr txBox="1"/>
          <p:nvPr/>
        </p:nvSpPr>
        <p:spPr>
          <a:xfrm>
            <a:off x="2103120" y="3408099"/>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Back：Hashcash</a:t>
            </a:r>
            <a:endParaRPr lang="en-US" sz="1250" dirty="0"/>
          </a:p>
          <a:p>
            <a:pPr algn="l" indent="0" marL="0">
              <a:lnSpc>
                <a:spcPct val="105000"/>
              </a:lnSpc>
              <a:buNone/>
            </a:pPr>
            <a:r>
              <a:rPr lang="en-US" sz="1250" dirty="0">
                <a:solidFill>
                  <a:schemeClr val="accent4"/>
                </a:solidFill>
              </a:rPr>
              <a:t>发邮件前先算出前 20 位为 0 的哈希</a:t>
            </a:r>
            <a:endParaRPr lang="en-US" sz="1250" dirty="0"/>
          </a:p>
        </p:txBody>
      </p:sp>
      <p:sp>
        <p:nvSpPr>
          <p:cNvPr id="23" name="Shape 20"/>
          <p:cNvSpPr/>
          <p:nvPr/>
        </p:nvSpPr>
        <p:spPr>
          <a:xfrm>
            <a:off x="457200" y="4243469"/>
            <a:ext cx="1188720" cy="310896"/>
          </a:xfrm>
          <a:prstGeom prst="roundRect">
            <a:avLst>
              <a:gd name="adj" fmla="val 50000"/>
            </a:avLst>
          </a:prstGeom>
          <a:solidFill>
            <a:schemeClr val="tx1"/>
          </a:solidFill>
          <a:ln w="12700">
            <a:solidFill>
              <a:schemeClr val="tx1">
                <a:alpha val="0"/>
              </a:schemeClr>
            </a:solidFill>
            <a:prstDash val="solid"/>
          </a:ln>
        </p:spPr>
      </p:sp>
      <p:sp>
        <p:nvSpPr>
          <p:cNvPr id="24" name="Text 21"/>
          <p:cNvSpPr txBox="1"/>
          <p:nvPr/>
        </p:nvSpPr>
        <p:spPr>
          <a:xfrm>
            <a:off x="457200" y="4243469"/>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1998</a:t>
            </a:r>
            <a:endParaRPr lang="en-US" sz="1200" dirty="0"/>
          </a:p>
        </p:txBody>
      </p:sp>
      <p:sp>
        <p:nvSpPr>
          <p:cNvPr id="25" name="Shape 22"/>
          <p:cNvSpPr/>
          <p:nvPr/>
        </p:nvSpPr>
        <p:spPr>
          <a:xfrm>
            <a:off x="1773936" y="4325765"/>
            <a:ext cx="146304" cy="146304"/>
          </a:xfrm>
          <a:prstGeom prst="ellipse">
            <a:avLst/>
          </a:prstGeom>
          <a:solidFill>
            <a:schemeClr val="accent4"/>
          </a:solidFill>
          <a:ln w="12700">
            <a:solidFill>
              <a:schemeClr val="accent4">
                <a:alpha val="0"/>
              </a:schemeClr>
            </a:solidFill>
            <a:prstDash val="solid"/>
          </a:ln>
        </p:spPr>
      </p:sp>
      <p:sp>
        <p:nvSpPr>
          <p:cNvPr id="26" name="Text 23"/>
          <p:cNvSpPr txBox="1"/>
          <p:nvPr/>
        </p:nvSpPr>
        <p:spPr>
          <a:xfrm>
            <a:off x="2103120" y="4080837"/>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Wei Dai：b-money　Szabo：Bit Gold</a:t>
            </a:r>
            <a:endParaRPr lang="en-US" sz="1250" dirty="0"/>
          </a:p>
          <a:p>
            <a:pPr algn="l" indent="0" marL="0">
              <a:lnSpc>
                <a:spcPct val="105000"/>
              </a:lnSpc>
              <a:buNone/>
            </a:pPr>
            <a:r>
              <a:rPr lang="en-US" sz="1250" dirty="0">
                <a:solidFill>
                  <a:schemeClr val="accent4"/>
                </a:solidFill>
              </a:rPr>
              <a:t>用算力创造“币”的设想，但没有解决共识</a:t>
            </a:r>
            <a:endParaRPr lang="en-US" sz="1250" dirty="0"/>
          </a:p>
        </p:txBody>
      </p:sp>
      <p:sp>
        <p:nvSpPr>
          <p:cNvPr id="27" name="Shape 24"/>
          <p:cNvSpPr/>
          <p:nvPr/>
        </p:nvSpPr>
        <p:spPr>
          <a:xfrm>
            <a:off x="457200" y="4916206"/>
            <a:ext cx="1188720" cy="310896"/>
          </a:xfrm>
          <a:prstGeom prst="roundRect">
            <a:avLst>
              <a:gd name="adj" fmla="val 50000"/>
            </a:avLst>
          </a:prstGeom>
          <a:solidFill>
            <a:schemeClr val="tx1"/>
          </a:solidFill>
          <a:ln w="12700">
            <a:solidFill>
              <a:schemeClr val="tx1">
                <a:alpha val="0"/>
              </a:schemeClr>
            </a:solidFill>
            <a:prstDash val="solid"/>
          </a:ln>
        </p:spPr>
      </p:sp>
      <p:sp>
        <p:nvSpPr>
          <p:cNvPr id="28" name="Text 25"/>
          <p:cNvSpPr txBox="1"/>
          <p:nvPr/>
        </p:nvSpPr>
        <p:spPr>
          <a:xfrm>
            <a:off x="457200" y="4916206"/>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2004</a:t>
            </a:r>
            <a:endParaRPr lang="en-US" sz="1200" dirty="0"/>
          </a:p>
        </p:txBody>
      </p:sp>
      <p:sp>
        <p:nvSpPr>
          <p:cNvPr id="29" name="Shape 26"/>
          <p:cNvSpPr/>
          <p:nvPr/>
        </p:nvSpPr>
        <p:spPr>
          <a:xfrm>
            <a:off x="1773936" y="4998502"/>
            <a:ext cx="146304" cy="146304"/>
          </a:xfrm>
          <a:prstGeom prst="ellipse">
            <a:avLst/>
          </a:prstGeom>
          <a:solidFill>
            <a:schemeClr val="accent4"/>
          </a:solidFill>
          <a:ln w="12700">
            <a:solidFill>
              <a:schemeClr val="accent4">
                <a:alpha val="0"/>
              </a:schemeClr>
            </a:solidFill>
            <a:prstDash val="solid"/>
          </a:ln>
        </p:spPr>
      </p:sp>
      <p:sp>
        <p:nvSpPr>
          <p:cNvPr id="30" name="Text 27"/>
          <p:cNvSpPr txBox="1"/>
          <p:nvPr/>
        </p:nvSpPr>
        <p:spPr>
          <a:xfrm>
            <a:off x="2103120" y="4753574"/>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Finney：RPOW</a:t>
            </a:r>
            <a:endParaRPr lang="en-US" sz="1250" dirty="0"/>
          </a:p>
          <a:p>
            <a:pPr algn="l" indent="0" marL="0">
              <a:lnSpc>
                <a:spcPct val="105000"/>
              </a:lnSpc>
              <a:buNone/>
            </a:pPr>
            <a:r>
              <a:rPr lang="en-US" sz="1250" dirty="0">
                <a:solidFill>
                  <a:schemeClr val="accent4"/>
                </a:solidFill>
              </a:rPr>
              <a:t>可重复使用的工作量证明</a:t>
            </a:r>
            <a:endParaRPr lang="en-US" sz="1250" dirty="0"/>
          </a:p>
        </p:txBody>
      </p:sp>
      <p:sp>
        <p:nvSpPr>
          <p:cNvPr id="31" name="Shape 28"/>
          <p:cNvSpPr/>
          <p:nvPr/>
        </p:nvSpPr>
        <p:spPr>
          <a:xfrm>
            <a:off x="457200" y="5588943"/>
            <a:ext cx="1188720" cy="310896"/>
          </a:xfrm>
          <a:prstGeom prst="roundRect">
            <a:avLst>
              <a:gd name="adj" fmla="val 50000"/>
            </a:avLst>
          </a:prstGeom>
          <a:solidFill>
            <a:schemeClr val="accent1"/>
          </a:solidFill>
          <a:ln w="12700">
            <a:solidFill>
              <a:schemeClr val="accent1">
                <a:alpha val="0"/>
              </a:schemeClr>
            </a:solidFill>
            <a:prstDash val="solid"/>
          </a:ln>
        </p:spPr>
      </p:sp>
      <p:sp>
        <p:nvSpPr>
          <p:cNvPr id="32" name="Text 29"/>
          <p:cNvSpPr txBox="1"/>
          <p:nvPr/>
        </p:nvSpPr>
        <p:spPr>
          <a:xfrm>
            <a:off x="457200" y="5588943"/>
            <a:ext cx="1188720" cy="310896"/>
          </a:xfrm>
          <a:prstGeom prst="rect">
            <a:avLst/>
          </a:prstGeom>
          <a:noFill/>
          <a:ln/>
        </p:spPr>
        <p:txBody>
          <a:bodyPr wrap="square" lIns="0" tIns="0" rIns="0" bIns="0" rtlCol="0" anchor="ctr"/>
          <a:lstStyle/>
          <a:p>
            <a:pPr algn="ctr" indent="0" marL="0">
              <a:buNone/>
            </a:pPr>
            <a:r>
              <a:rPr lang="en-US" sz="1200" b="1" dirty="0">
                <a:solidFill>
                  <a:schemeClr val="tx1"/>
                </a:solidFill>
              </a:rPr>
              <a:t>2008</a:t>
            </a:r>
            <a:endParaRPr lang="en-US" sz="1200" dirty="0"/>
          </a:p>
        </p:txBody>
      </p:sp>
      <p:sp>
        <p:nvSpPr>
          <p:cNvPr id="33" name="Shape 30"/>
          <p:cNvSpPr/>
          <p:nvPr/>
        </p:nvSpPr>
        <p:spPr>
          <a:xfrm>
            <a:off x="1773936" y="5671239"/>
            <a:ext cx="146304" cy="146304"/>
          </a:xfrm>
          <a:prstGeom prst="ellipse">
            <a:avLst/>
          </a:prstGeom>
          <a:solidFill>
            <a:schemeClr val="accent1"/>
          </a:solidFill>
          <a:ln w="12700">
            <a:solidFill>
              <a:schemeClr val="accent1">
                <a:alpha val="0"/>
              </a:schemeClr>
            </a:solidFill>
            <a:prstDash val="solid"/>
          </a:ln>
        </p:spPr>
      </p:sp>
      <p:sp>
        <p:nvSpPr>
          <p:cNvPr id="34" name="Text 31"/>
          <p:cNvSpPr txBox="1"/>
          <p:nvPr/>
        </p:nvSpPr>
        <p:spPr>
          <a:xfrm>
            <a:off x="2103120" y="5426311"/>
            <a:ext cx="6583680" cy="636161"/>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中本聪：比特币</a:t>
            </a:r>
            <a:endParaRPr lang="en-US" sz="1250" dirty="0"/>
          </a:p>
          <a:p>
            <a:pPr algn="l" indent="0" marL="0">
              <a:lnSpc>
                <a:spcPct val="105000"/>
              </a:lnSpc>
              <a:buNone/>
            </a:pPr>
            <a:r>
              <a:rPr lang="en-US" sz="1250" dirty="0">
                <a:solidFill>
                  <a:schemeClr val="accent4"/>
                </a:solidFill>
              </a:rPr>
              <a:t>签名链 + 时间戳链 + PoW + P2P + 激励</a:t>
            </a:r>
            <a:endParaRPr lang="en-US" sz="125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Hashcash：先干点“活”，才能发邮件</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来源：Back (2002)，Hashcash — A Denial of Service Counter-Measure；Dwork &amp; Naor (1992)</a:t>
            </a:r>
            <a:endParaRPr lang="en-US" sz="1000" dirty="0"/>
          </a:p>
        </p:txBody>
      </p:sp>
      <p:sp>
        <p:nvSpPr>
          <p:cNvPr id="6" name="Shape 3"/>
          <p:cNvSpPr/>
          <p:nvPr/>
        </p:nvSpPr>
        <p:spPr>
          <a:xfrm>
            <a:off x="457200" y="1508760"/>
            <a:ext cx="1767840" cy="1097280"/>
          </a:xfrm>
          <a:prstGeom prst="roundRect">
            <a:avLst>
              <a:gd name="adj" fmla="val 6667"/>
            </a:avLst>
          </a:prstGeom>
          <a:solidFill>
            <a:schemeClr val="bg2"/>
          </a:solidFill>
          <a:ln w="12700">
            <a:solidFill>
              <a:schemeClr val="bg2">
                <a:alpha val="0"/>
              </a:schemeClr>
            </a:solidFill>
            <a:prstDash val="solid"/>
          </a:ln>
        </p:spPr>
      </p:sp>
      <p:sp>
        <p:nvSpPr>
          <p:cNvPr id="7" name="Text 4"/>
          <p:cNvSpPr txBox="1"/>
          <p:nvPr/>
        </p:nvSpPr>
        <p:spPr>
          <a:xfrm>
            <a:off x="530352" y="1554480"/>
            <a:ext cx="1621536" cy="1005840"/>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发件人</a:t>
            </a:r>
            <a:endParaRPr lang="en-US" sz="1300" dirty="0"/>
          </a:p>
          <a:p>
            <a:pPr algn="ctr" indent="0" marL="0">
              <a:lnSpc>
                <a:spcPct val="105000"/>
              </a:lnSpc>
              <a:buNone/>
            </a:pPr>
            <a:r>
              <a:rPr lang="en-US" sz="1300" dirty="0">
                <a:solidFill>
                  <a:schemeClr val="accent4"/>
                </a:solidFill>
              </a:rPr>
              <a:t>尝试不同随机数</a:t>
            </a:r>
            <a:endParaRPr lang="en-US" sz="1300" dirty="0"/>
          </a:p>
        </p:txBody>
      </p:sp>
      <p:sp>
        <p:nvSpPr>
          <p:cNvPr id="8" name="Shape 5"/>
          <p:cNvSpPr/>
          <p:nvPr/>
        </p:nvSpPr>
        <p:spPr>
          <a:xfrm>
            <a:off x="2270760" y="2057400"/>
            <a:ext cx="1371600" cy="0"/>
          </a:xfrm>
          <a:prstGeom prst="line">
            <a:avLst/>
          </a:prstGeom>
          <a:noFill/>
          <a:ln w="31750">
            <a:solidFill>
              <a:schemeClr val="accent1"/>
            </a:solidFill>
            <a:prstDash val="solid"/>
            <a:tailEnd type="triangle"/>
          </a:ln>
        </p:spPr>
      </p:sp>
      <p:sp>
        <p:nvSpPr>
          <p:cNvPr id="9" name="Text 6"/>
          <p:cNvSpPr txBox="1"/>
          <p:nvPr/>
        </p:nvSpPr>
        <p:spPr>
          <a:xfrm>
            <a:off x="2243328" y="149047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约 100 万次尝试</a:t>
            </a:r>
            <a:endParaRPr lang="en-US" sz="1200" dirty="0"/>
          </a:p>
        </p:txBody>
      </p:sp>
      <p:sp>
        <p:nvSpPr>
          <p:cNvPr id="10" name="Shape 7"/>
          <p:cNvSpPr/>
          <p:nvPr/>
        </p:nvSpPr>
        <p:spPr>
          <a:xfrm>
            <a:off x="3688080" y="1508760"/>
            <a:ext cx="1767840" cy="1097280"/>
          </a:xfrm>
          <a:prstGeom prst="roundRect">
            <a:avLst>
              <a:gd name="adj" fmla="val 6667"/>
            </a:avLst>
          </a:prstGeom>
          <a:solidFill>
            <a:schemeClr val="bg2"/>
          </a:solidFill>
          <a:ln w="12700">
            <a:solidFill>
              <a:schemeClr val="bg2">
                <a:alpha val="0"/>
              </a:schemeClr>
            </a:solidFill>
            <a:prstDash val="solid"/>
          </a:ln>
        </p:spPr>
      </p:sp>
      <p:sp>
        <p:nvSpPr>
          <p:cNvPr id="11" name="Text 8"/>
          <p:cNvSpPr txBox="1"/>
          <p:nvPr/>
        </p:nvSpPr>
        <p:spPr>
          <a:xfrm>
            <a:off x="3761232" y="1554480"/>
            <a:ext cx="1621536" cy="1005840"/>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带戳记的邮件</a:t>
            </a:r>
            <a:endParaRPr lang="en-US" sz="1300" dirty="0"/>
          </a:p>
          <a:p>
            <a:pPr algn="ctr" indent="0" marL="0">
              <a:lnSpc>
                <a:spcPct val="105000"/>
              </a:lnSpc>
              <a:buNone/>
            </a:pPr>
            <a:r>
              <a:rPr lang="en-US" sz="1300" dirty="0">
                <a:solidFill>
                  <a:schemeClr val="accent4"/>
                </a:solidFill>
              </a:rPr>
              <a:t>哈希前 20 位为 0</a:t>
            </a:r>
            <a:endParaRPr lang="en-US" sz="1300" dirty="0"/>
          </a:p>
        </p:txBody>
      </p:sp>
      <p:sp>
        <p:nvSpPr>
          <p:cNvPr id="12" name="Shape 9"/>
          <p:cNvSpPr/>
          <p:nvPr/>
        </p:nvSpPr>
        <p:spPr>
          <a:xfrm>
            <a:off x="5501640" y="2057400"/>
            <a:ext cx="1371600" cy="0"/>
          </a:xfrm>
          <a:prstGeom prst="line">
            <a:avLst/>
          </a:prstGeom>
          <a:noFill/>
          <a:ln w="31750">
            <a:solidFill>
              <a:schemeClr val="accent1"/>
            </a:solidFill>
            <a:prstDash val="solid"/>
            <a:tailEnd type="triangle"/>
          </a:ln>
        </p:spPr>
      </p:sp>
      <p:sp>
        <p:nvSpPr>
          <p:cNvPr id="13" name="Text 10"/>
          <p:cNvSpPr txBox="1"/>
          <p:nvPr/>
        </p:nvSpPr>
        <p:spPr>
          <a:xfrm>
            <a:off x="5474208" y="149047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发送</a:t>
            </a:r>
            <a:endParaRPr lang="en-US" sz="1200" dirty="0"/>
          </a:p>
        </p:txBody>
      </p:sp>
      <p:sp>
        <p:nvSpPr>
          <p:cNvPr id="14" name="Shape 11"/>
          <p:cNvSpPr/>
          <p:nvPr/>
        </p:nvSpPr>
        <p:spPr>
          <a:xfrm>
            <a:off x="6918960" y="1508760"/>
            <a:ext cx="1767840" cy="1097280"/>
          </a:xfrm>
          <a:prstGeom prst="roundRect">
            <a:avLst>
              <a:gd name="adj" fmla="val 6667"/>
            </a:avLst>
          </a:prstGeom>
          <a:solidFill>
            <a:schemeClr val="bg2"/>
          </a:solidFill>
          <a:ln w="12700">
            <a:solidFill>
              <a:schemeClr val="bg2">
                <a:alpha val="0"/>
              </a:schemeClr>
            </a:solidFill>
            <a:prstDash val="solid"/>
          </a:ln>
        </p:spPr>
      </p:sp>
      <p:sp>
        <p:nvSpPr>
          <p:cNvPr id="15" name="Text 12"/>
          <p:cNvSpPr txBox="1"/>
          <p:nvPr/>
        </p:nvSpPr>
        <p:spPr>
          <a:xfrm>
            <a:off x="6992112" y="1554480"/>
            <a:ext cx="1621536" cy="1005840"/>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收件人</a:t>
            </a:r>
            <a:endParaRPr lang="en-US" sz="1300" dirty="0"/>
          </a:p>
          <a:p>
            <a:pPr algn="ctr" indent="0" marL="0">
              <a:lnSpc>
                <a:spcPct val="105000"/>
              </a:lnSpc>
              <a:buNone/>
            </a:pPr>
            <a:r>
              <a:rPr lang="en-US" sz="1300" dirty="0">
                <a:solidFill>
                  <a:schemeClr val="accent4"/>
                </a:solidFill>
              </a:rPr>
              <a:t>1 次哈希即可验证</a:t>
            </a:r>
            <a:endParaRPr lang="en-US" sz="1300" dirty="0"/>
          </a:p>
        </p:txBody>
      </p:sp>
      <p:sp>
        <p:nvSpPr>
          <p:cNvPr id="16" name="Shape 13"/>
          <p:cNvSpPr/>
          <p:nvPr/>
        </p:nvSpPr>
        <p:spPr>
          <a:xfrm>
            <a:off x="457200" y="2880360"/>
            <a:ext cx="2621280" cy="2286000"/>
          </a:xfrm>
          <a:prstGeom prst="roundRect">
            <a:avLst>
              <a:gd name="adj" fmla="val 3200"/>
            </a:avLst>
          </a:prstGeom>
          <a:solidFill>
            <a:schemeClr val="bg2"/>
          </a:solidFill>
          <a:ln w="12700">
            <a:solidFill>
              <a:schemeClr val="bg2">
                <a:alpha val="0"/>
              </a:schemeClr>
            </a:solidFill>
            <a:prstDash val="solid"/>
          </a:ln>
        </p:spPr>
      </p:sp>
      <p:sp>
        <p:nvSpPr>
          <p:cNvPr id="17" name="Shape 14"/>
          <p:cNvSpPr/>
          <p:nvPr/>
        </p:nvSpPr>
        <p:spPr>
          <a:xfrm>
            <a:off x="640080" y="3044952"/>
            <a:ext cx="502920" cy="502920"/>
          </a:xfrm>
          <a:prstGeom prst="ellipse">
            <a:avLst/>
          </a:prstGeom>
          <a:solidFill>
            <a:schemeClr val="accent1"/>
          </a:solidFill>
          <a:ln w="12700">
            <a:solidFill>
              <a:schemeClr val="accent1">
                <a:alpha val="0"/>
              </a:schemeClr>
            </a:solidFill>
            <a:prstDash val="solid"/>
          </a:ln>
        </p:spPr>
      </p:sp>
      <p:pic>
        <p:nvPicPr>
          <p:cNvPr id="18" name="Image 0" descr="FaBalanceScale">    </p:cNvPr>
          <p:cNvPicPr>
            <a:picLocks noChangeAspect="1"/>
          </p:cNvPicPr>
          <p:nvPr/>
        </p:nvPicPr>
        <p:blipFill>
          <a:blip r:embed="rId1"/>
          <a:stretch>
            <a:fillRect/>
          </a:stretch>
        </p:blipFill>
        <p:spPr>
          <a:xfrm>
            <a:off x="750722" y="3155594"/>
            <a:ext cx="281635" cy="281635"/>
          </a:xfrm>
          <a:prstGeom prst="rect">
            <a:avLst/>
          </a:prstGeom>
        </p:spPr>
      </p:pic>
      <p:sp>
        <p:nvSpPr>
          <p:cNvPr id="19" name="Text 15"/>
          <p:cNvSpPr txBox="1"/>
          <p:nvPr/>
        </p:nvSpPr>
        <p:spPr>
          <a:xfrm>
            <a:off x="640080" y="366674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代价不对称</a:t>
            </a:r>
            <a:endParaRPr lang="en-US" sz="1800" dirty="0"/>
          </a:p>
        </p:txBody>
      </p:sp>
      <p:sp>
        <p:nvSpPr>
          <p:cNvPr id="20" name="Text 16"/>
          <p:cNvSpPr txBox="1"/>
          <p:nvPr/>
        </p:nvSpPr>
        <p:spPr>
          <a:xfrm>
            <a:off x="640080" y="4041648"/>
            <a:ext cx="2255520" cy="101498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发一封信几乎无感，群发一百万封则代价巨大。</a:t>
            </a:r>
            <a:endParaRPr lang="en-US" sz="1400" dirty="0"/>
          </a:p>
        </p:txBody>
      </p:sp>
      <p:sp>
        <p:nvSpPr>
          <p:cNvPr id="21" name="Shape 17"/>
          <p:cNvSpPr/>
          <p:nvPr/>
        </p:nvSpPr>
        <p:spPr>
          <a:xfrm>
            <a:off x="3261360" y="2880360"/>
            <a:ext cx="2621280" cy="2286000"/>
          </a:xfrm>
          <a:prstGeom prst="roundRect">
            <a:avLst>
              <a:gd name="adj" fmla="val 3200"/>
            </a:avLst>
          </a:prstGeom>
          <a:solidFill>
            <a:schemeClr val="bg2"/>
          </a:solidFill>
          <a:ln w="12700">
            <a:solidFill>
              <a:schemeClr val="bg2">
                <a:alpha val="0"/>
              </a:schemeClr>
            </a:solidFill>
            <a:prstDash val="solid"/>
          </a:ln>
        </p:spPr>
      </p:sp>
      <p:sp>
        <p:nvSpPr>
          <p:cNvPr id="22" name="Shape 18"/>
          <p:cNvSpPr/>
          <p:nvPr/>
        </p:nvSpPr>
        <p:spPr>
          <a:xfrm>
            <a:off x="3444240" y="3044952"/>
            <a:ext cx="502920" cy="502920"/>
          </a:xfrm>
          <a:prstGeom prst="ellipse">
            <a:avLst/>
          </a:prstGeom>
          <a:solidFill>
            <a:schemeClr val="accent1"/>
          </a:solidFill>
          <a:ln w="12700">
            <a:solidFill>
              <a:schemeClr val="accent1">
                <a:alpha val="0"/>
              </a:schemeClr>
            </a:solidFill>
            <a:prstDash val="solid"/>
          </a:ln>
        </p:spPr>
      </p:sp>
      <p:pic>
        <p:nvPicPr>
          <p:cNvPr id="23" name="Image 1" descr="FaSearch">    </p:cNvPr>
          <p:cNvPicPr>
            <a:picLocks noChangeAspect="1"/>
          </p:cNvPicPr>
          <p:nvPr/>
        </p:nvPicPr>
        <p:blipFill>
          <a:blip r:embed="rId2"/>
          <a:stretch>
            <a:fillRect/>
          </a:stretch>
        </p:blipFill>
        <p:spPr>
          <a:xfrm>
            <a:off x="3554882" y="3155594"/>
            <a:ext cx="281635" cy="281635"/>
          </a:xfrm>
          <a:prstGeom prst="rect">
            <a:avLst/>
          </a:prstGeom>
        </p:spPr>
      </p:pic>
      <p:sp>
        <p:nvSpPr>
          <p:cNvPr id="24" name="Text 19"/>
          <p:cNvSpPr txBox="1"/>
          <p:nvPr/>
        </p:nvSpPr>
        <p:spPr>
          <a:xfrm>
            <a:off x="3444240" y="366674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难算、易验</a:t>
            </a:r>
            <a:endParaRPr lang="en-US" sz="1800" dirty="0"/>
          </a:p>
        </p:txBody>
      </p:sp>
      <p:sp>
        <p:nvSpPr>
          <p:cNvPr id="25" name="Text 20"/>
          <p:cNvSpPr txBox="1"/>
          <p:nvPr/>
        </p:nvSpPr>
        <p:spPr>
          <a:xfrm>
            <a:off x="3444240" y="4041648"/>
            <a:ext cx="2255520" cy="101498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算要试 100 万次；验证只要 1 次。这是后来 PoW 的原型。</a:t>
            </a:r>
            <a:endParaRPr lang="en-US" sz="1400" dirty="0"/>
          </a:p>
        </p:txBody>
      </p:sp>
      <p:sp>
        <p:nvSpPr>
          <p:cNvPr id="26" name="Shape 21"/>
          <p:cNvSpPr/>
          <p:nvPr/>
        </p:nvSpPr>
        <p:spPr>
          <a:xfrm>
            <a:off x="6065520" y="2880360"/>
            <a:ext cx="2621280" cy="2286000"/>
          </a:xfrm>
          <a:prstGeom prst="roundRect">
            <a:avLst>
              <a:gd name="adj" fmla="val 3200"/>
            </a:avLst>
          </a:prstGeom>
          <a:solidFill>
            <a:schemeClr val="bg2"/>
          </a:solidFill>
          <a:ln w="12700">
            <a:solidFill>
              <a:schemeClr val="bg2">
                <a:alpha val="0"/>
              </a:schemeClr>
            </a:solidFill>
            <a:prstDash val="solid"/>
          </a:ln>
        </p:spPr>
      </p:sp>
      <p:sp>
        <p:nvSpPr>
          <p:cNvPr id="27" name="Shape 22"/>
          <p:cNvSpPr/>
          <p:nvPr/>
        </p:nvSpPr>
        <p:spPr>
          <a:xfrm>
            <a:off x="6248400" y="3044952"/>
            <a:ext cx="502920" cy="502920"/>
          </a:xfrm>
          <a:prstGeom prst="ellipse">
            <a:avLst/>
          </a:prstGeom>
          <a:solidFill>
            <a:schemeClr val="accent2"/>
          </a:solidFill>
          <a:ln w="12700">
            <a:solidFill>
              <a:schemeClr val="accent2">
                <a:alpha val="0"/>
              </a:schemeClr>
            </a:solidFill>
            <a:prstDash val="solid"/>
          </a:ln>
        </p:spPr>
      </p:sp>
      <p:pic>
        <p:nvPicPr>
          <p:cNvPr id="28" name="Image 2" descr="FaTimesCircle">    </p:cNvPr>
          <p:cNvPicPr>
            <a:picLocks noChangeAspect="1"/>
          </p:cNvPicPr>
          <p:nvPr/>
        </p:nvPicPr>
        <p:blipFill>
          <a:blip r:embed="rId3"/>
          <a:stretch>
            <a:fillRect/>
          </a:stretch>
        </p:blipFill>
        <p:spPr>
          <a:xfrm>
            <a:off x="6359042" y="3155594"/>
            <a:ext cx="281635" cy="281635"/>
          </a:xfrm>
          <a:prstGeom prst="rect">
            <a:avLst/>
          </a:prstGeom>
        </p:spPr>
      </p:pic>
      <p:sp>
        <p:nvSpPr>
          <p:cNvPr id="29" name="Text 23"/>
          <p:cNvSpPr txBox="1"/>
          <p:nvPr/>
        </p:nvSpPr>
        <p:spPr>
          <a:xfrm>
            <a:off x="6248400" y="366674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但还不是“钱”</a:t>
            </a:r>
            <a:endParaRPr lang="en-US" sz="1800" dirty="0"/>
          </a:p>
        </p:txBody>
      </p:sp>
      <p:sp>
        <p:nvSpPr>
          <p:cNvPr id="30" name="Text 24"/>
          <p:cNvSpPr txBox="1"/>
          <p:nvPr/>
        </p:nvSpPr>
        <p:spPr>
          <a:xfrm>
            <a:off x="6248400" y="4041648"/>
            <a:ext cx="2255520" cy="101498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戳记不能转手；算力变便宜会“通胀”；没有发行规则。</a:t>
            </a:r>
            <a:endParaRPr lang="en-US" sz="1400" dirty="0"/>
          </a:p>
        </p:txBody>
      </p:sp>
      <p:sp>
        <p:nvSpPr>
          <p:cNvPr id="31" name="Shape 25"/>
          <p:cNvSpPr/>
          <p:nvPr/>
        </p:nvSpPr>
        <p:spPr>
          <a:xfrm>
            <a:off x="457200" y="5303520"/>
            <a:ext cx="8229600" cy="777240"/>
          </a:xfrm>
          <a:prstGeom prst="roundRect">
            <a:avLst>
              <a:gd name="adj" fmla="val 9412"/>
            </a:avLst>
          </a:prstGeom>
          <a:solidFill>
            <a:schemeClr val="accent1">
              <a:alpha val="12000"/>
            </a:schemeClr>
          </a:solidFill>
          <a:ln w="12700">
            <a:solidFill>
              <a:schemeClr val="accent1">
                <a:alpha val="0"/>
              </a:schemeClr>
            </a:solidFill>
            <a:prstDash val="solid"/>
          </a:ln>
        </p:spPr>
      </p:sp>
      <p:pic>
        <p:nvPicPr>
          <p:cNvPr id="32" name="Image 3" descr="key">    </p:cNvPr>
          <p:cNvPicPr>
            <a:picLocks noChangeAspect="1"/>
          </p:cNvPicPr>
          <p:nvPr/>
        </p:nvPicPr>
        <p:blipFill>
          <a:blip r:embed="rId4"/>
          <a:stretch>
            <a:fillRect/>
          </a:stretch>
        </p:blipFill>
        <p:spPr>
          <a:xfrm>
            <a:off x="640080" y="5500116"/>
            <a:ext cx="384048" cy="384048"/>
          </a:xfrm>
          <a:prstGeom prst="rect">
            <a:avLst/>
          </a:prstGeom>
        </p:spPr>
      </p:pic>
      <p:sp>
        <p:nvSpPr>
          <p:cNvPr id="33" name="Text 26"/>
          <p:cNvSpPr txBox="1"/>
          <p:nvPr/>
        </p:nvSpPr>
        <p:spPr>
          <a:xfrm>
            <a:off x="1188720" y="5376672"/>
            <a:ext cx="7315200" cy="63093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比特币在 Hashcash 上补了三样东西：</a:t>
            </a:r>
            <a:pPr algn="l" indent="0" marL="0">
              <a:lnSpc>
                <a:spcPct val="105000"/>
              </a:lnSpc>
              <a:buNone/>
            </a:pPr>
            <a:r>
              <a:rPr lang="en-US" sz="1500" b="1" dirty="0">
                <a:solidFill>
                  <a:schemeClr val="tx1"/>
                </a:solidFill>
              </a:rPr>
              <a:t>可转让的所有权（签名链）、不随算力贬值的难度（难度调整）、发行规则（区块奖励）。</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三个人，一段被写进白皮书的往来</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来源：COPA v Wright 庭审披露的邮件；Hal Finney 推文（2009-01-10）；比特币区块 170</a:t>
            </a:r>
            <a:endParaRPr lang="en-US" sz="1000" dirty="0"/>
          </a:p>
        </p:txBody>
      </p:sp>
      <p:sp>
        <p:nvSpPr>
          <p:cNvPr id="6" name="Shape 3"/>
          <p:cNvSpPr/>
          <p:nvPr/>
        </p:nvSpPr>
        <p:spPr>
          <a:xfrm>
            <a:off x="457200" y="1463040"/>
            <a:ext cx="2621280" cy="3291840"/>
          </a:xfrm>
          <a:prstGeom prst="roundRect">
            <a:avLst>
              <a:gd name="adj" fmla="val 2791"/>
            </a:avLst>
          </a:prstGeom>
          <a:solidFill>
            <a:schemeClr val="bg2"/>
          </a:solidFill>
          <a:ln w="12700">
            <a:solidFill>
              <a:schemeClr val="bg2">
                <a:alpha val="0"/>
              </a:schemeClr>
            </a:solidFill>
            <a:prstDash val="solid"/>
          </a:ln>
        </p:spPr>
      </p:sp>
      <p:sp>
        <p:nvSpPr>
          <p:cNvPr id="7" name="Shape 4"/>
          <p:cNvSpPr/>
          <p:nvPr/>
        </p:nvSpPr>
        <p:spPr>
          <a:xfrm>
            <a:off x="640080" y="1627632"/>
            <a:ext cx="502920" cy="502920"/>
          </a:xfrm>
          <a:prstGeom prst="ellipse">
            <a:avLst/>
          </a:prstGeom>
          <a:solidFill>
            <a:schemeClr val="accent1"/>
          </a:solidFill>
          <a:ln w="12700">
            <a:solidFill>
              <a:schemeClr val="accent1">
                <a:alpha val="0"/>
              </a:schemeClr>
            </a:solidFill>
            <a:prstDash val="solid"/>
          </a:ln>
        </p:spPr>
      </p:sp>
      <p:pic>
        <p:nvPicPr>
          <p:cNvPr id="8" name="Image 0" descr="FaEnvelope">    </p:cNvPr>
          <p:cNvPicPr>
            <a:picLocks noChangeAspect="1"/>
          </p:cNvPicPr>
          <p:nvPr/>
        </p:nvPicPr>
        <p:blipFill>
          <a:blip r:embed="rId1"/>
          <a:stretch>
            <a:fillRect/>
          </a:stretch>
        </p:blipFill>
        <p:spPr>
          <a:xfrm>
            <a:off x="750722" y="1738274"/>
            <a:ext cx="281635" cy="281635"/>
          </a:xfrm>
          <a:prstGeom prst="rect">
            <a:avLst/>
          </a:prstGeom>
        </p:spPr>
      </p:pic>
      <p:sp>
        <p:nvSpPr>
          <p:cNvPr id="9" name="Text 5"/>
          <p:cNvSpPr txBox="1"/>
          <p:nvPr/>
        </p:nvSpPr>
        <p:spPr>
          <a:xfrm>
            <a:off x="64008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Adam Back</a:t>
            </a:r>
            <a:endParaRPr lang="en-US" sz="1800" dirty="0"/>
          </a:p>
        </p:txBody>
      </p:sp>
      <p:sp>
        <p:nvSpPr>
          <p:cNvPr id="10" name="Text 6"/>
          <p:cNvSpPr txBox="1"/>
          <p:nvPr/>
        </p:nvSpPr>
        <p:spPr>
          <a:xfrm>
            <a:off x="640080" y="2624328"/>
            <a:ext cx="2255520" cy="2020824"/>
          </a:xfrm>
          <a:prstGeom prst="rect">
            <a:avLst/>
          </a:prstGeom>
          <a:noFill/>
          <a:ln/>
        </p:spPr>
        <p:txBody>
          <a:bodyPr wrap="square" lIns="0" tIns="0" rIns="0" bIns="0" rtlCol="0" anchor="t"/>
          <a:lstStyle/>
          <a:p>
            <a:pPr algn="l" indent="0" marL="0">
              <a:lnSpc>
                <a:spcPct val="105000"/>
              </a:lnSpc>
              <a:spcAft>
                <a:spcPts val="400"/>
              </a:spcAft>
              <a:buNone/>
            </a:pPr>
            <a:r>
              <a:rPr lang="en-US" sz="1600" dirty="0">
                <a:solidFill>
                  <a:schemeClr val="accent4"/>
                </a:solidFill>
              </a:rPr>
              <a:t>Hashcash 作者（1997）</a:t>
            </a:r>
            <a:endParaRPr lang="en-US" sz="1600" dirty="0"/>
          </a:p>
          <a:p>
            <a:pPr algn="l" indent="0" marL="0">
              <a:lnSpc>
                <a:spcPct val="105000"/>
              </a:lnSpc>
              <a:buNone/>
            </a:pPr>
            <a:r>
              <a:rPr lang="en-US" sz="1600" dirty="0">
                <a:solidFill>
                  <a:schemeClr val="accent4"/>
                </a:solidFill>
              </a:rPr>
              <a:t>收到中本聪来信后，建议他去读 b-money</a:t>
            </a:r>
            <a:endParaRPr lang="en-US" sz="1600" dirty="0"/>
          </a:p>
        </p:txBody>
      </p:sp>
      <p:sp>
        <p:nvSpPr>
          <p:cNvPr id="11" name="Shape 7"/>
          <p:cNvSpPr/>
          <p:nvPr/>
        </p:nvSpPr>
        <p:spPr>
          <a:xfrm>
            <a:off x="3261360" y="1463040"/>
            <a:ext cx="2621280" cy="3291840"/>
          </a:xfrm>
          <a:prstGeom prst="roundRect">
            <a:avLst>
              <a:gd name="adj" fmla="val 2791"/>
            </a:avLst>
          </a:prstGeom>
          <a:solidFill>
            <a:schemeClr val="bg2"/>
          </a:solidFill>
          <a:ln w="12700">
            <a:solidFill>
              <a:schemeClr val="bg2">
                <a:alpha val="0"/>
              </a:schemeClr>
            </a:solidFill>
            <a:prstDash val="solid"/>
          </a:ln>
        </p:spPr>
      </p:sp>
      <p:sp>
        <p:nvSpPr>
          <p:cNvPr id="12" name="Shape 8"/>
          <p:cNvSpPr/>
          <p:nvPr/>
        </p:nvSpPr>
        <p:spPr>
          <a:xfrm>
            <a:off x="3444240" y="1627632"/>
            <a:ext cx="502920" cy="502920"/>
          </a:xfrm>
          <a:prstGeom prst="ellipse">
            <a:avLst/>
          </a:prstGeom>
          <a:solidFill>
            <a:schemeClr val="accent1"/>
          </a:solidFill>
          <a:ln w="12700">
            <a:solidFill>
              <a:schemeClr val="accent1">
                <a:alpha val="0"/>
              </a:schemeClr>
            </a:solidFill>
            <a:prstDash val="solid"/>
          </a:ln>
        </p:spPr>
      </p:sp>
      <p:pic>
        <p:nvPicPr>
          <p:cNvPr id="13" name="Image 1" descr="FaFileAlt">    </p:cNvPr>
          <p:cNvPicPr>
            <a:picLocks noChangeAspect="1"/>
          </p:cNvPicPr>
          <p:nvPr/>
        </p:nvPicPr>
        <p:blipFill>
          <a:blip r:embed="rId2"/>
          <a:stretch>
            <a:fillRect/>
          </a:stretch>
        </p:blipFill>
        <p:spPr>
          <a:xfrm>
            <a:off x="3554882" y="1738274"/>
            <a:ext cx="281635" cy="281635"/>
          </a:xfrm>
          <a:prstGeom prst="rect">
            <a:avLst/>
          </a:prstGeom>
        </p:spPr>
      </p:pic>
      <p:sp>
        <p:nvSpPr>
          <p:cNvPr id="14" name="Text 9"/>
          <p:cNvSpPr txBox="1"/>
          <p:nvPr/>
        </p:nvSpPr>
        <p:spPr>
          <a:xfrm>
            <a:off x="344424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Wei Dai（戴伟）</a:t>
            </a:r>
            <a:endParaRPr lang="en-US" sz="1800" dirty="0"/>
          </a:p>
        </p:txBody>
      </p:sp>
      <p:sp>
        <p:nvSpPr>
          <p:cNvPr id="15" name="Text 10"/>
          <p:cNvSpPr txBox="1"/>
          <p:nvPr/>
        </p:nvSpPr>
        <p:spPr>
          <a:xfrm>
            <a:off x="3444240" y="2624328"/>
            <a:ext cx="2255520" cy="2020824"/>
          </a:xfrm>
          <a:prstGeom prst="rect">
            <a:avLst/>
          </a:prstGeom>
          <a:noFill/>
          <a:ln/>
        </p:spPr>
        <p:txBody>
          <a:bodyPr wrap="square" lIns="0" tIns="0" rIns="0" bIns="0" rtlCol="0" anchor="t"/>
          <a:lstStyle/>
          <a:p>
            <a:pPr algn="l" indent="0" marL="0">
              <a:lnSpc>
                <a:spcPct val="105000"/>
              </a:lnSpc>
              <a:spcAft>
                <a:spcPts val="400"/>
              </a:spcAft>
              <a:buNone/>
            </a:pPr>
            <a:r>
              <a:rPr lang="en-US" sz="1600" dirty="0">
                <a:solidFill>
                  <a:schemeClr val="accent4"/>
                </a:solidFill>
              </a:rPr>
              <a:t>b-money 作者（1998）</a:t>
            </a:r>
            <a:endParaRPr lang="en-US" sz="1600" dirty="0"/>
          </a:p>
          <a:p>
            <a:pPr algn="l" indent="0" marL="0">
              <a:lnSpc>
                <a:spcPct val="105000"/>
              </a:lnSpc>
              <a:buNone/>
            </a:pPr>
            <a:r>
              <a:rPr lang="en-US" sz="1600" dirty="0">
                <a:solidFill>
                  <a:schemeClr val="accent4"/>
                </a:solidFill>
              </a:rPr>
              <a:t>2008-08-22 收到来信，询问发表年份以便引用</a:t>
            </a:r>
            <a:endParaRPr lang="en-US" sz="1600" dirty="0"/>
          </a:p>
        </p:txBody>
      </p:sp>
      <p:sp>
        <p:nvSpPr>
          <p:cNvPr id="16" name="Shape 11"/>
          <p:cNvSpPr/>
          <p:nvPr/>
        </p:nvSpPr>
        <p:spPr>
          <a:xfrm>
            <a:off x="6065520" y="1463040"/>
            <a:ext cx="2621280" cy="3291840"/>
          </a:xfrm>
          <a:prstGeom prst="roundRect">
            <a:avLst>
              <a:gd name="adj" fmla="val 2791"/>
            </a:avLst>
          </a:prstGeom>
          <a:solidFill>
            <a:schemeClr val="bg2"/>
          </a:solidFill>
          <a:ln w="12700">
            <a:solidFill>
              <a:schemeClr val="bg2">
                <a:alpha val="0"/>
              </a:schemeClr>
            </a:solidFill>
            <a:prstDash val="solid"/>
          </a:ln>
        </p:spPr>
      </p:sp>
      <p:sp>
        <p:nvSpPr>
          <p:cNvPr id="17" name="Shape 12"/>
          <p:cNvSpPr/>
          <p:nvPr/>
        </p:nvSpPr>
        <p:spPr>
          <a:xfrm>
            <a:off x="6248400" y="1627632"/>
            <a:ext cx="502920" cy="502920"/>
          </a:xfrm>
          <a:prstGeom prst="ellipse">
            <a:avLst/>
          </a:prstGeom>
          <a:solidFill>
            <a:schemeClr val="accent1"/>
          </a:solidFill>
          <a:ln w="12700">
            <a:solidFill>
              <a:schemeClr val="accent1">
                <a:alpha val="0"/>
              </a:schemeClr>
            </a:solidFill>
            <a:prstDash val="solid"/>
          </a:ln>
        </p:spPr>
      </p:sp>
      <p:pic>
        <p:nvPicPr>
          <p:cNvPr id="18" name="Image 2" descr="FaPlay">    </p:cNvPr>
          <p:cNvPicPr>
            <a:picLocks noChangeAspect="1"/>
          </p:cNvPicPr>
          <p:nvPr/>
        </p:nvPicPr>
        <p:blipFill>
          <a:blip r:embed="rId3"/>
          <a:stretch>
            <a:fillRect/>
          </a:stretch>
        </p:blipFill>
        <p:spPr>
          <a:xfrm>
            <a:off x="6359042" y="1738274"/>
            <a:ext cx="281635" cy="281635"/>
          </a:xfrm>
          <a:prstGeom prst="rect">
            <a:avLst/>
          </a:prstGeom>
        </p:spPr>
      </p:pic>
      <p:sp>
        <p:nvSpPr>
          <p:cNvPr id="19" name="Text 13"/>
          <p:cNvSpPr txBox="1"/>
          <p:nvPr/>
        </p:nvSpPr>
        <p:spPr>
          <a:xfrm>
            <a:off x="624840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Hal Finney</a:t>
            </a:r>
            <a:endParaRPr lang="en-US" sz="1800" dirty="0"/>
          </a:p>
        </p:txBody>
      </p:sp>
      <p:sp>
        <p:nvSpPr>
          <p:cNvPr id="20" name="Text 14"/>
          <p:cNvSpPr txBox="1"/>
          <p:nvPr/>
        </p:nvSpPr>
        <p:spPr>
          <a:xfrm>
            <a:off x="6248400" y="2624328"/>
            <a:ext cx="2255520" cy="2020824"/>
          </a:xfrm>
          <a:prstGeom prst="rect">
            <a:avLst/>
          </a:prstGeom>
          <a:noFill/>
          <a:ln/>
        </p:spPr>
        <p:txBody>
          <a:bodyPr wrap="square" lIns="0" tIns="0" rIns="0" bIns="0" rtlCol="0" anchor="t"/>
          <a:lstStyle/>
          <a:p>
            <a:pPr algn="l" indent="0" marL="0">
              <a:lnSpc>
                <a:spcPct val="105000"/>
              </a:lnSpc>
              <a:spcAft>
                <a:spcPts val="400"/>
              </a:spcAft>
              <a:buNone/>
            </a:pPr>
            <a:r>
              <a:rPr lang="en-US" sz="1600" dirty="0">
                <a:solidFill>
                  <a:schemeClr val="accent4"/>
                </a:solidFill>
              </a:rPr>
              <a:t>RPOW 作者，第一位使用者</a:t>
            </a:r>
            <a:endParaRPr lang="en-US" sz="1600" dirty="0"/>
          </a:p>
          <a:p>
            <a:pPr algn="l" indent="0" marL="0">
              <a:lnSpc>
                <a:spcPct val="105000"/>
              </a:lnSpc>
              <a:buNone/>
            </a:pPr>
            <a:r>
              <a:rPr lang="en-US" sz="1600" dirty="0">
                <a:solidFill>
                  <a:schemeClr val="accent4"/>
                </a:solidFill>
              </a:rPr>
              <a:t>2009-01-10 发推“Running bitcoin”；01-12 收到第一笔转账（区块 170，10 个比特币）</a:t>
            </a:r>
            <a:endParaRPr lang="en-US" sz="1600" dirty="0"/>
          </a:p>
        </p:txBody>
      </p:sp>
      <p:sp>
        <p:nvSpPr>
          <p:cNvPr id="21" name="Shape 15"/>
          <p:cNvSpPr/>
          <p:nvPr/>
        </p:nvSpPr>
        <p:spPr>
          <a:xfrm>
            <a:off x="457200" y="4937760"/>
            <a:ext cx="8229600" cy="1005840"/>
          </a:xfrm>
          <a:prstGeom prst="roundRect">
            <a:avLst>
              <a:gd name="adj" fmla="val 7273"/>
            </a:avLst>
          </a:prstGeom>
          <a:solidFill>
            <a:schemeClr val="accent1">
              <a:alpha val="12000"/>
            </a:schemeClr>
          </a:solidFill>
          <a:ln w="12700">
            <a:solidFill>
              <a:schemeClr val="accent1">
                <a:alpha val="0"/>
              </a:schemeClr>
            </a:solidFill>
            <a:prstDash val="solid"/>
          </a:ln>
        </p:spPr>
      </p:sp>
      <p:pic>
        <p:nvPicPr>
          <p:cNvPr id="22" name="Image 3" descr="key">    </p:cNvPr>
          <p:cNvPicPr>
            <a:picLocks noChangeAspect="1"/>
          </p:cNvPicPr>
          <p:nvPr/>
        </p:nvPicPr>
        <p:blipFill>
          <a:blip r:embed="rId4"/>
          <a:stretch>
            <a:fillRect/>
          </a:stretch>
        </p:blipFill>
        <p:spPr>
          <a:xfrm>
            <a:off x="640080" y="5248656"/>
            <a:ext cx="384048" cy="384048"/>
          </a:xfrm>
          <a:prstGeom prst="rect">
            <a:avLst/>
          </a:prstGeom>
        </p:spPr>
      </p:pic>
      <p:sp>
        <p:nvSpPr>
          <p:cNvPr id="23" name="Text 16"/>
          <p:cNvSpPr txBox="1"/>
          <p:nvPr/>
        </p:nvSpPr>
        <p:spPr>
          <a:xfrm>
            <a:off x="1188720" y="5010912"/>
            <a:ext cx="7315200" cy="85953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白皮书只有 8 篇参考文献，几乎都是“旧积木”。</a:t>
            </a:r>
            <a:pPr algn="l" indent="0" marL="0">
              <a:lnSpc>
                <a:spcPct val="105000"/>
              </a:lnSpc>
              <a:buNone/>
            </a:pPr>
            <a:r>
              <a:rPr lang="en-US" sz="1600" b="1" dirty="0">
                <a:solidFill>
                  <a:schemeClr val="tx1"/>
                </a:solidFill>
              </a:rPr>
              <a:t>创新不在某一块，而在组合，并用经济激励让系统自己转起来。</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好的支付系统要做到四件事——这是全章的主线</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导入</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548640"/>
                <a:gridCol w="2468880"/>
                <a:gridCol w="2194560"/>
                <a:gridCol w="3017520"/>
              </a:tblGrid>
              <a:tr h="457200">
                <a:tc>
                  <a:txBody>
                    <a:bodyPr/>
                    <a:lstStyle/>
                    <a:p>
                      <a:pPr algn="l" indent="0" marL="0">
                        <a:buNone/>
                      </a:pP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要求</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传统系统靠谁</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比特币靠什么</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822960">
                <a:tc>
                  <a:txBody>
                    <a:bodyPr/>
                    <a:lstStyle/>
                    <a:p>
                      <a:pPr algn="l" indent="0" marL="0">
                        <a:buNone/>
                      </a:pPr>
                      <a:r>
                        <a:rPr lang="en-US" sz="1500" b="1" dirty="0">
                          <a:solidFill>
                            <a:schemeClr val="tx1"/>
                          </a:solidFill>
                        </a:rPr>
                        <a:t>①</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tx1"/>
                          </a:solidFill>
                        </a:rPr>
                        <a:t>识别</a:t>
                      </a:r>
                      <a:pPr algn="l" indent="0" marL="0">
                        <a:buNone/>
                      </a:pPr>
                      <a:r>
                        <a:rPr lang="en-US" sz="1500" dirty="0">
                          <a:solidFill>
                            <a:schemeClr val="tx1"/>
                          </a:solidFill>
                        </a:rPr>
                        <a:t>交易双方</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银行账户与实名制</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公钥 / 私钥与数字签名（积木一）</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822960">
                <a:tc>
                  <a:txBody>
                    <a:bodyPr/>
                    <a:lstStyle/>
                    <a:p>
                      <a:pPr algn="l" indent="0" marL="0">
                        <a:buNone/>
                      </a:pPr>
                      <a:r>
                        <a:rPr lang="en-US" sz="1500" b="1" dirty="0">
                          <a:solidFill>
                            <a:schemeClr val="tx1"/>
                          </a:solidFill>
                        </a:rPr>
                        <a:t>②</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tx1"/>
                          </a:solidFill>
                        </a:rPr>
                        <a:t>便捷促成并验证</a:t>
                      </a:r>
                      <a:pPr algn="l" indent="0" marL="0">
                        <a:buNone/>
                      </a:pPr>
                      <a:r>
                        <a:rPr lang="en-US" sz="1500" dirty="0">
                          <a:solidFill>
                            <a:schemeClr val="tx1"/>
                          </a:solidFill>
                        </a:rPr>
                        <a:t>交易</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支付机构的清算系统</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P2P 广播 + 全网节点验证（积木三 / PoW）</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822960">
                <a:tc>
                  <a:txBody>
                    <a:bodyPr/>
                    <a:lstStyle/>
                    <a:p>
                      <a:pPr algn="l" indent="0" marL="0">
                        <a:buNone/>
                      </a:pPr>
                      <a:r>
                        <a:rPr lang="en-US" sz="1500" b="1" dirty="0">
                          <a:solidFill>
                            <a:schemeClr val="tx1"/>
                          </a:solidFill>
                        </a:rPr>
                        <a:t>③</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记录可验证、</a:t>
                      </a:r>
                      <a:pPr algn="l" indent="0" marL="0">
                        <a:buNone/>
                      </a:pPr>
                      <a:r>
                        <a:rPr lang="en-US" sz="1500" b="1" dirty="0">
                          <a:solidFill>
                            <a:schemeClr val="tx1"/>
                          </a:solidFill>
                        </a:rPr>
                        <a:t>不可更改、不可撤销</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银行账本、监管审计</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哈希链 + 默克尔树 + 工作量证明（积木二 / PoW）</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822960">
                <a:tc>
                  <a:txBody>
                    <a:bodyPr/>
                    <a:lstStyle/>
                    <a:p>
                      <a:pPr algn="l" indent="0" marL="0">
                        <a:buNone/>
                      </a:pPr>
                      <a:r>
                        <a:rPr lang="en-US" sz="1500" b="1" dirty="0">
                          <a:solidFill>
                            <a:schemeClr val="tx1"/>
                          </a:solidFill>
                        </a:rPr>
                        <a:t>④</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tx1"/>
                          </a:solidFill>
                        </a:rPr>
                        <a:t>防止同一单位货币重复使用</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银行扣减账户余额</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最长链共识 + UTXO（PoW）</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6" name="Shape 2"/>
          <p:cNvSpPr/>
          <p:nvPr/>
        </p:nvSpPr>
        <p:spPr>
          <a:xfrm>
            <a:off x="457200" y="548640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7" name="Image 0" descr="key">    </p:cNvPr>
          <p:cNvPicPr>
            <a:picLocks noChangeAspect="1"/>
          </p:cNvPicPr>
          <p:nvPr/>
        </p:nvPicPr>
        <p:blipFill>
          <a:blip r:embed="rId1"/>
          <a:stretch>
            <a:fillRect/>
          </a:stretch>
        </p:blipFill>
        <p:spPr>
          <a:xfrm>
            <a:off x="640080" y="5614416"/>
            <a:ext cx="384048" cy="384048"/>
          </a:xfrm>
          <a:prstGeom prst="rect">
            <a:avLst/>
          </a:prstGeom>
        </p:spPr>
      </p:pic>
      <p:sp>
        <p:nvSpPr>
          <p:cNvPr id="8" name="Text 3"/>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比特币用</a:t>
            </a:r>
            <a:pPr algn="l" indent="0" marL="0">
              <a:lnSpc>
                <a:spcPct val="105000"/>
              </a:lnSpc>
              <a:buNone/>
            </a:pPr>
            <a:r>
              <a:rPr lang="en-US" sz="1500" b="1" dirty="0">
                <a:solidFill>
                  <a:schemeClr val="tx1"/>
                </a:solidFill>
              </a:rPr>
              <a:t>面向公众的信任机制</a:t>
            </a:r>
            <a:pPr algn="l" indent="0" marL="0">
              <a:lnSpc>
                <a:spcPct val="105000"/>
              </a:lnSpc>
              <a:buNone/>
            </a:pPr>
            <a:r>
              <a:rPr lang="en-US" sz="1500" dirty="0">
                <a:solidFill>
                  <a:schemeClr val="tx1"/>
                </a:solidFill>
              </a:rPr>
              <a:t>，取代了对政府或私人机构的依赖——本章就是把这句话拆开来看。</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02</a:t>
            </a:r>
            <a:endParaRPr lang="en-US" sz="9600" dirty="0"/>
          </a:p>
        </p:txBody>
      </p:sp>
      <p:pic>
        <p:nvPicPr>
          <p:cNvPr id="3" name="Image 0" descr="FaKey">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积木一：密码学与公私钥</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没有银行，怎么证明“这笔钱是我的、是我愿意付的”？</a:t>
            </a:r>
            <a:endParaRPr lang="en-US" sz="2000" dirty="0"/>
          </a:p>
        </p:txBody>
      </p:sp>
      <p:sp>
        <p:nvSpPr>
          <p:cNvPr id="6"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300" dirty="0">
                <a:solidFill>
                  <a:schemeClr val="accent5"/>
                </a:solidFill>
              </a:rPr>
              <a:t>这一部分回答支付系统的哪个要求？</a:t>
            </a:r>
            <a:endParaRPr lang="en-US" sz="1300" dirty="0"/>
          </a:p>
        </p:txBody>
      </p:sp>
      <p:sp>
        <p:nvSpPr>
          <p:cNvPr id="7" name="Shape 4"/>
          <p:cNvSpPr/>
          <p:nvPr/>
        </p:nvSpPr>
        <p:spPr>
          <a:xfrm>
            <a:off x="457200" y="512064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8" name="Text 5"/>
          <p:cNvSpPr txBox="1"/>
          <p:nvPr/>
        </p:nvSpPr>
        <p:spPr>
          <a:xfrm>
            <a:off x="457200" y="512064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① 识别交易双方</a:t>
            </a:r>
            <a:endParaRPr lang="en-US" sz="1300" dirty="0"/>
          </a:p>
        </p:txBody>
      </p:sp>
      <p:sp>
        <p:nvSpPr>
          <p:cNvPr id="9" name="Shape 6"/>
          <p:cNvSpPr/>
          <p:nvPr/>
        </p:nvSpPr>
        <p:spPr>
          <a:xfrm>
            <a:off x="4617720" y="512064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0" name="Text 7"/>
          <p:cNvSpPr txBox="1"/>
          <p:nvPr/>
        </p:nvSpPr>
        <p:spPr>
          <a:xfrm>
            <a:off x="4617720" y="512064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② 便捷促成并验证交易</a:t>
            </a:r>
            <a:endParaRPr lang="en-US" sz="1300" dirty="0"/>
          </a:p>
        </p:txBody>
      </p:sp>
      <p:sp>
        <p:nvSpPr>
          <p:cNvPr id="11" name="Shape 8"/>
          <p:cNvSpPr/>
          <p:nvPr/>
        </p:nvSpPr>
        <p:spPr>
          <a:xfrm>
            <a:off x="457200" y="5623560"/>
            <a:ext cx="4023360" cy="384048"/>
          </a:xfrm>
          <a:prstGeom prst="roundRect">
            <a:avLst>
              <a:gd name="adj" fmla="val 50000"/>
            </a:avLst>
          </a:prstGeom>
          <a:solidFill>
            <a:schemeClr val="tx2"/>
          </a:solidFill>
          <a:ln w="12700">
            <a:solidFill>
              <a:schemeClr val="tx2">
                <a:alpha val="0"/>
              </a:schemeClr>
            </a:solidFill>
            <a:prstDash val="solid"/>
          </a:ln>
        </p:spPr>
      </p:sp>
      <p:sp>
        <p:nvSpPr>
          <p:cNvPr id="12" name="Text 9"/>
          <p:cNvSpPr txBox="1"/>
          <p:nvPr/>
        </p:nvSpPr>
        <p:spPr>
          <a:xfrm>
            <a:off x="457200" y="562356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③ 记录可验证、不可更改</a:t>
            </a:r>
            <a:endParaRPr lang="en-US" sz="1300" dirty="0"/>
          </a:p>
        </p:txBody>
      </p:sp>
      <p:sp>
        <p:nvSpPr>
          <p:cNvPr id="13" name="Shape 10"/>
          <p:cNvSpPr/>
          <p:nvPr/>
        </p:nvSpPr>
        <p:spPr>
          <a:xfrm>
            <a:off x="4617720" y="5623560"/>
            <a:ext cx="4023360" cy="384048"/>
          </a:xfrm>
          <a:prstGeom prst="roundRect">
            <a:avLst>
              <a:gd name="adj" fmla="val 50000"/>
            </a:avLst>
          </a:prstGeom>
          <a:solidFill>
            <a:schemeClr val="tx2"/>
          </a:solidFill>
          <a:ln w="12700">
            <a:solidFill>
              <a:schemeClr val="tx2">
                <a:alpha val="0"/>
              </a:schemeClr>
            </a:solidFill>
            <a:prstDash val="solid"/>
          </a:ln>
        </p:spPr>
      </p:sp>
      <p:sp>
        <p:nvSpPr>
          <p:cNvPr id="14" name="Text 11"/>
          <p:cNvSpPr txBox="1"/>
          <p:nvPr/>
        </p:nvSpPr>
        <p:spPr>
          <a:xfrm>
            <a:off x="4617720" y="562356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④ 防止同一单位货币重复使用</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“加密货币”其实不加密任何东西</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5" name="Shape 2"/>
          <p:cNvSpPr/>
          <p:nvPr/>
        </p:nvSpPr>
        <p:spPr>
          <a:xfrm>
            <a:off x="457200" y="1417320"/>
            <a:ext cx="4023360" cy="1828800"/>
          </a:xfrm>
          <a:prstGeom prst="roundRect">
            <a:avLst>
              <a:gd name="adj" fmla="val 4000"/>
            </a:avLst>
          </a:prstGeom>
          <a:solidFill>
            <a:schemeClr val="bg2"/>
          </a:solidFill>
          <a:ln w="12700">
            <a:solidFill>
              <a:schemeClr val="bg2">
                <a:alpha val="0"/>
              </a:schemeClr>
            </a:solidFill>
            <a:prstDash val="solid"/>
          </a:ln>
        </p:spPr>
      </p:sp>
      <p:sp>
        <p:nvSpPr>
          <p:cNvPr id="6" name="Shape 3"/>
          <p:cNvSpPr/>
          <p:nvPr/>
        </p:nvSpPr>
        <p:spPr>
          <a:xfrm>
            <a:off x="640080" y="1581912"/>
            <a:ext cx="502920" cy="502920"/>
          </a:xfrm>
          <a:prstGeom prst="ellipse">
            <a:avLst/>
          </a:prstGeom>
          <a:solidFill>
            <a:schemeClr val="accent2"/>
          </a:solidFill>
          <a:ln w="12700">
            <a:solidFill>
              <a:schemeClr val="accent2">
                <a:alpha val="0"/>
              </a:schemeClr>
            </a:solidFill>
            <a:prstDash val="solid"/>
          </a:ln>
        </p:spPr>
      </p:sp>
      <p:pic>
        <p:nvPicPr>
          <p:cNvPr id="7" name="Image 0" descr="FaTimesCircle">    </p:cNvPr>
          <p:cNvPicPr>
            <a:picLocks noChangeAspect="1"/>
          </p:cNvPicPr>
          <p:nvPr/>
        </p:nvPicPr>
        <p:blipFill>
          <a:blip r:embed="rId1"/>
          <a:stretch>
            <a:fillRect/>
          </a:stretch>
        </p:blipFill>
        <p:spPr>
          <a:xfrm>
            <a:off x="750722" y="1692554"/>
            <a:ext cx="281635" cy="281635"/>
          </a:xfrm>
          <a:prstGeom prst="rect">
            <a:avLst/>
          </a:prstGeom>
        </p:spPr>
      </p:pic>
      <p:sp>
        <p:nvSpPr>
          <p:cNvPr id="8" name="Text 4"/>
          <p:cNvSpPr txBox="1"/>
          <p:nvPr/>
        </p:nvSpPr>
        <p:spPr>
          <a:xfrm>
            <a:off x="64008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常见误解</a:t>
            </a:r>
            <a:endParaRPr lang="en-US" sz="1800" dirty="0"/>
          </a:p>
        </p:txBody>
      </p:sp>
      <p:sp>
        <p:nvSpPr>
          <p:cNvPr id="9" name="Text 5"/>
          <p:cNvSpPr txBox="1"/>
          <p:nvPr/>
        </p:nvSpPr>
        <p:spPr>
          <a:xfrm>
            <a:off x="640080" y="2578608"/>
            <a:ext cx="3657600" cy="55778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加密货币 = 把交易内容加密、藏起来，别人看不到。</a:t>
            </a:r>
            <a:endParaRPr lang="en-US" sz="1600" dirty="0"/>
          </a:p>
        </p:txBody>
      </p:sp>
      <p:sp>
        <p:nvSpPr>
          <p:cNvPr id="10" name="Shape 6"/>
          <p:cNvSpPr/>
          <p:nvPr/>
        </p:nvSpPr>
        <p:spPr>
          <a:xfrm>
            <a:off x="4663440" y="1417320"/>
            <a:ext cx="4023360" cy="1828800"/>
          </a:xfrm>
          <a:prstGeom prst="roundRect">
            <a:avLst>
              <a:gd name="adj" fmla="val 4000"/>
            </a:avLst>
          </a:prstGeom>
          <a:solidFill>
            <a:schemeClr val="bg2"/>
          </a:solidFill>
          <a:ln w="12700">
            <a:solidFill>
              <a:schemeClr val="bg2">
                <a:alpha val="0"/>
              </a:schemeClr>
            </a:solidFill>
            <a:prstDash val="solid"/>
          </a:ln>
        </p:spPr>
      </p:sp>
      <p:sp>
        <p:nvSpPr>
          <p:cNvPr id="11" name="Shape 7"/>
          <p:cNvSpPr/>
          <p:nvPr/>
        </p:nvSpPr>
        <p:spPr>
          <a:xfrm>
            <a:off x="4846320" y="1581912"/>
            <a:ext cx="502920" cy="502920"/>
          </a:xfrm>
          <a:prstGeom prst="ellipse">
            <a:avLst/>
          </a:prstGeom>
          <a:solidFill>
            <a:schemeClr val="accent3"/>
          </a:solidFill>
          <a:ln w="12700">
            <a:solidFill>
              <a:schemeClr val="accent3">
                <a:alpha val="0"/>
              </a:schemeClr>
            </a:solidFill>
            <a:prstDash val="solid"/>
          </a:ln>
        </p:spPr>
      </p:sp>
      <p:pic>
        <p:nvPicPr>
          <p:cNvPr id="12" name="Image 1" descr="FaCheckCircle">    </p:cNvPr>
          <p:cNvPicPr>
            <a:picLocks noChangeAspect="1"/>
          </p:cNvPicPr>
          <p:nvPr/>
        </p:nvPicPr>
        <p:blipFill>
          <a:blip r:embed="rId2"/>
          <a:stretch>
            <a:fillRect/>
          </a:stretch>
        </p:blipFill>
        <p:spPr>
          <a:xfrm>
            <a:off x="4956962" y="1692554"/>
            <a:ext cx="281635" cy="281635"/>
          </a:xfrm>
          <a:prstGeom prst="rect">
            <a:avLst/>
          </a:prstGeom>
        </p:spPr>
      </p:pic>
      <p:sp>
        <p:nvSpPr>
          <p:cNvPr id="13" name="Text 8"/>
          <p:cNvSpPr txBox="1"/>
          <p:nvPr/>
        </p:nvSpPr>
        <p:spPr>
          <a:xfrm>
            <a:off x="484632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事实</a:t>
            </a:r>
            <a:endParaRPr lang="en-US" sz="1800" dirty="0"/>
          </a:p>
        </p:txBody>
      </p:sp>
      <p:sp>
        <p:nvSpPr>
          <p:cNvPr id="14" name="Text 9"/>
          <p:cNvSpPr txBox="1"/>
          <p:nvPr/>
        </p:nvSpPr>
        <p:spPr>
          <a:xfrm>
            <a:off x="4846320" y="2578608"/>
            <a:ext cx="3657600" cy="55778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账本完全公开：任何人都能查询每个地址的余额和每笔交易。</a:t>
            </a:r>
            <a:endParaRPr lang="en-US" sz="1600" dirty="0"/>
          </a:p>
        </p:txBody>
      </p:sp>
      <p:sp>
        <p:nvSpPr>
          <p:cNvPr id="15" name="Text 10"/>
          <p:cNvSpPr txBox="1"/>
          <p:nvPr/>
        </p:nvSpPr>
        <p:spPr>
          <a:xfrm>
            <a:off x="457200" y="3474720"/>
            <a:ext cx="8229600" cy="365760"/>
          </a:xfrm>
          <a:prstGeom prst="rect">
            <a:avLst/>
          </a:prstGeom>
          <a:noFill/>
          <a:ln/>
        </p:spPr>
        <p:txBody>
          <a:bodyPr wrap="square" lIns="0" tIns="0" rIns="0" bIns="0" rtlCol="0" anchor="t"/>
          <a:lstStyle/>
          <a:p>
            <a:pPr algn="l" indent="0" marL="0">
              <a:lnSpc>
                <a:spcPct val="105000"/>
              </a:lnSpc>
              <a:buNone/>
            </a:pPr>
            <a:r>
              <a:rPr lang="en-US" sz="1800" b="1" dirty="0">
                <a:solidFill>
                  <a:schemeClr val="accent6"/>
                </a:solidFill>
              </a:rPr>
              <a:t>密码学在比特币里，只做两件事</a:t>
            </a:r>
            <a:endParaRPr lang="en-US" sz="1800" dirty="0"/>
          </a:p>
        </p:txBody>
      </p:sp>
      <p:sp>
        <p:nvSpPr>
          <p:cNvPr id="16" name="Shape 11"/>
          <p:cNvSpPr/>
          <p:nvPr/>
        </p:nvSpPr>
        <p:spPr>
          <a:xfrm>
            <a:off x="457200" y="3931920"/>
            <a:ext cx="4023360" cy="2011680"/>
          </a:xfrm>
          <a:prstGeom prst="roundRect">
            <a:avLst>
              <a:gd name="adj" fmla="val 3636"/>
            </a:avLst>
          </a:prstGeom>
          <a:solidFill>
            <a:schemeClr val="bg2"/>
          </a:solidFill>
          <a:ln w="12700">
            <a:solidFill>
              <a:schemeClr val="bg2">
                <a:alpha val="0"/>
              </a:schemeClr>
            </a:solidFill>
            <a:prstDash val="solid"/>
          </a:ln>
        </p:spPr>
      </p:sp>
      <p:sp>
        <p:nvSpPr>
          <p:cNvPr id="17" name="Shape 12"/>
          <p:cNvSpPr/>
          <p:nvPr/>
        </p:nvSpPr>
        <p:spPr>
          <a:xfrm>
            <a:off x="640080" y="4096512"/>
            <a:ext cx="502920" cy="502920"/>
          </a:xfrm>
          <a:prstGeom prst="ellipse">
            <a:avLst/>
          </a:prstGeom>
          <a:solidFill>
            <a:schemeClr val="accent1"/>
          </a:solidFill>
          <a:ln w="12700">
            <a:solidFill>
              <a:schemeClr val="accent1">
                <a:alpha val="0"/>
              </a:schemeClr>
            </a:solidFill>
            <a:prstDash val="solid"/>
          </a:ln>
        </p:spPr>
      </p:sp>
      <p:pic>
        <p:nvPicPr>
          <p:cNvPr id="18" name="Image 2" descr="FaFileSignature">    </p:cNvPr>
          <p:cNvPicPr>
            <a:picLocks noChangeAspect="1"/>
          </p:cNvPicPr>
          <p:nvPr/>
        </p:nvPicPr>
        <p:blipFill>
          <a:blip r:embed="rId3"/>
          <a:stretch>
            <a:fillRect/>
          </a:stretch>
        </p:blipFill>
        <p:spPr>
          <a:xfrm>
            <a:off x="750722" y="4207154"/>
            <a:ext cx="281635" cy="281635"/>
          </a:xfrm>
          <a:prstGeom prst="rect">
            <a:avLst/>
          </a:prstGeom>
        </p:spPr>
      </p:pic>
      <p:sp>
        <p:nvSpPr>
          <p:cNvPr id="19" name="Text 13"/>
          <p:cNvSpPr txBox="1"/>
          <p:nvPr/>
        </p:nvSpPr>
        <p:spPr>
          <a:xfrm>
            <a:off x="640080" y="47183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签名</a:t>
            </a:r>
            <a:endParaRPr lang="en-US" sz="1800" dirty="0"/>
          </a:p>
        </p:txBody>
      </p:sp>
      <p:sp>
        <p:nvSpPr>
          <p:cNvPr id="20" name="Text 14"/>
          <p:cNvSpPr txBox="1"/>
          <p:nvPr/>
        </p:nvSpPr>
        <p:spPr>
          <a:xfrm>
            <a:off x="640080" y="5093208"/>
            <a:ext cx="3657600" cy="74066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证明“这笔钱是我授权花的”（本部分）</a:t>
            </a:r>
            <a:endParaRPr lang="en-US" sz="1600" dirty="0"/>
          </a:p>
        </p:txBody>
      </p:sp>
      <p:sp>
        <p:nvSpPr>
          <p:cNvPr id="21" name="Shape 15"/>
          <p:cNvSpPr/>
          <p:nvPr/>
        </p:nvSpPr>
        <p:spPr>
          <a:xfrm>
            <a:off x="4663440" y="3931920"/>
            <a:ext cx="4023360" cy="2011680"/>
          </a:xfrm>
          <a:prstGeom prst="roundRect">
            <a:avLst>
              <a:gd name="adj" fmla="val 3636"/>
            </a:avLst>
          </a:prstGeom>
          <a:solidFill>
            <a:schemeClr val="bg2"/>
          </a:solidFill>
          <a:ln w="12700">
            <a:solidFill>
              <a:schemeClr val="bg2">
                <a:alpha val="0"/>
              </a:schemeClr>
            </a:solidFill>
            <a:prstDash val="solid"/>
          </a:ln>
        </p:spPr>
      </p:sp>
      <p:sp>
        <p:nvSpPr>
          <p:cNvPr id="22" name="Shape 16"/>
          <p:cNvSpPr/>
          <p:nvPr/>
        </p:nvSpPr>
        <p:spPr>
          <a:xfrm>
            <a:off x="4846320" y="4096512"/>
            <a:ext cx="502920" cy="502920"/>
          </a:xfrm>
          <a:prstGeom prst="ellipse">
            <a:avLst/>
          </a:prstGeom>
          <a:solidFill>
            <a:schemeClr val="accent1"/>
          </a:solidFill>
          <a:ln w="12700">
            <a:solidFill>
              <a:schemeClr val="accent1">
                <a:alpha val="0"/>
              </a:schemeClr>
            </a:solidFill>
            <a:prstDash val="solid"/>
          </a:ln>
        </p:spPr>
      </p:sp>
      <p:pic>
        <p:nvPicPr>
          <p:cNvPr id="23" name="Image 3" descr="FaFingerprint">    </p:cNvPr>
          <p:cNvPicPr>
            <a:picLocks noChangeAspect="1"/>
          </p:cNvPicPr>
          <p:nvPr/>
        </p:nvPicPr>
        <p:blipFill>
          <a:blip r:embed="rId4"/>
          <a:stretch>
            <a:fillRect/>
          </a:stretch>
        </p:blipFill>
        <p:spPr>
          <a:xfrm>
            <a:off x="4956962" y="4207154"/>
            <a:ext cx="281635" cy="281635"/>
          </a:xfrm>
          <a:prstGeom prst="rect">
            <a:avLst/>
          </a:prstGeom>
        </p:spPr>
      </p:pic>
      <p:sp>
        <p:nvSpPr>
          <p:cNvPr id="24" name="Text 17"/>
          <p:cNvSpPr txBox="1"/>
          <p:nvPr/>
        </p:nvSpPr>
        <p:spPr>
          <a:xfrm>
            <a:off x="4846320" y="47183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哈希</a:t>
            </a:r>
            <a:endParaRPr lang="en-US" sz="1800" dirty="0"/>
          </a:p>
        </p:txBody>
      </p:sp>
      <p:sp>
        <p:nvSpPr>
          <p:cNvPr id="25" name="Text 18"/>
          <p:cNvSpPr txBox="1"/>
          <p:nvPr/>
        </p:nvSpPr>
        <p:spPr>
          <a:xfrm>
            <a:off x="4846320" y="5093208"/>
            <a:ext cx="3657600" cy="74066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给数据做“指纹”，让账本一改就露馅（下一部分）</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密码学简史：从“共享密码本”到“公开的锁”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来源：美国国家情报总监办公室；美国国防部；Diffie &amp; Hellman (1976)</a:t>
            </a:r>
            <a:endParaRPr lang="en-US" sz="1000" dirty="0"/>
          </a:p>
        </p:txBody>
      </p:sp>
      <p:sp>
        <p:nvSpPr>
          <p:cNvPr id="6" name="Shape 3"/>
          <p:cNvSpPr/>
          <p:nvPr/>
        </p:nvSpPr>
        <p:spPr>
          <a:xfrm>
            <a:off x="457200" y="1417320"/>
            <a:ext cx="2651760" cy="3611880"/>
          </a:xfrm>
          <a:prstGeom prst="roundRect">
            <a:avLst>
              <a:gd name="adj" fmla="val 2759"/>
            </a:avLst>
          </a:prstGeom>
          <a:solidFill>
            <a:schemeClr val="bg2"/>
          </a:solidFill>
          <a:ln w="12700">
            <a:solidFill>
              <a:schemeClr val="bg2">
                <a:alpha val="0"/>
              </a:schemeClr>
            </a:solidFill>
            <a:prstDash val="solid"/>
          </a:ln>
        </p:spPr>
      </p:sp>
      <p:pic>
        <p:nvPicPr>
          <p:cNvPr id="7" name="Image 0" descr="二战中的纳瓦霍密语译电员">    </p:cNvPr>
          <p:cNvPicPr>
            <a:picLocks noChangeAspect="1"/>
          </p:cNvPicPr>
          <p:nvPr/>
        </p:nvPicPr>
        <p:blipFill>
          <a:blip r:embed="rId1"/>
          <a:stretch>
            <a:fillRect/>
          </a:stretch>
        </p:blipFill>
        <p:spPr>
          <a:xfrm>
            <a:off x="904570" y="1554480"/>
            <a:ext cx="1757020" cy="1600200"/>
          </a:xfrm>
          <a:prstGeom prst="rect">
            <a:avLst/>
          </a:prstGeom>
        </p:spPr>
      </p:pic>
      <p:sp>
        <p:nvSpPr>
          <p:cNvPr id="8" name="Text 4"/>
          <p:cNvSpPr txBox="1"/>
          <p:nvPr/>
        </p:nvSpPr>
        <p:spPr>
          <a:xfrm>
            <a:off x="594360" y="3246120"/>
            <a:ext cx="237744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1942 纳瓦霍“密语”</a:t>
            </a:r>
            <a:endParaRPr lang="en-US" sz="1600" dirty="0"/>
          </a:p>
        </p:txBody>
      </p:sp>
      <p:sp>
        <p:nvSpPr>
          <p:cNvPr id="9" name="Text 5"/>
          <p:cNvSpPr txBox="1"/>
          <p:nvPr/>
        </p:nvSpPr>
        <p:spPr>
          <a:xfrm>
            <a:off x="594360" y="3611880"/>
            <a:ext cx="2377440" cy="137160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用母语做密码本，收发双方须</a:t>
            </a:r>
            <a:pPr algn="l" indent="0" marL="0">
              <a:lnSpc>
                <a:spcPct val="105000"/>
              </a:lnSpc>
              <a:buNone/>
            </a:pPr>
            <a:r>
              <a:rPr lang="en-US" sz="1400" b="1" dirty="0">
                <a:solidFill>
                  <a:schemeClr val="accent4"/>
                </a:solidFill>
              </a:rPr>
              <a:t>事先共享</a:t>
            </a:r>
            <a:pPr algn="l" indent="0" marL="0">
              <a:lnSpc>
                <a:spcPct val="105000"/>
              </a:lnSpc>
              <a:buNone/>
            </a:pPr>
            <a:r>
              <a:rPr lang="en-US" sz="1400" dirty="0">
                <a:solidFill>
                  <a:schemeClr val="accent4"/>
                </a:solidFill>
              </a:rPr>
              <a:t>。二战期间从未被日军破译。</a:t>
            </a:r>
            <a:endParaRPr lang="en-US" sz="1400" dirty="0"/>
          </a:p>
        </p:txBody>
      </p:sp>
      <p:sp>
        <p:nvSpPr>
          <p:cNvPr id="10" name="Shape 6"/>
          <p:cNvSpPr/>
          <p:nvPr/>
        </p:nvSpPr>
        <p:spPr>
          <a:xfrm>
            <a:off x="3246120" y="1417320"/>
            <a:ext cx="2651760" cy="3611880"/>
          </a:xfrm>
          <a:prstGeom prst="roundRect">
            <a:avLst>
              <a:gd name="adj" fmla="val 2759"/>
            </a:avLst>
          </a:prstGeom>
          <a:solidFill>
            <a:schemeClr val="bg2"/>
          </a:solidFill>
          <a:ln w="12700">
            <a:solidFill>
              <a:schemeClr val="bg2">
                <a:alpha val="0"/>
              </a:schemeClr>
            </a:solidFill>
            <a:prstDash val="solid"/>
          </a:ln>
        </p:spPr>
      </p:sp>
      <p:pic>
        <p:nvPicPr>
          <p:cNvPr id="11" name="Image 1" descr="艾伦·图灵肖像">    </p:cNvPr>
          <p:cNvPicPr>
            <a:picLocks noChangeAspect="1"/>
          </p:cNvPicPr>
          <p:nvPr/>
        </p:nvPicPr>
        <p:blipFill>
          <a:blip r:embed="rId2"/>
          <a:stretch>
            <a:fillRect/>
          </a:stretch>
        </p:blipFill>
        <p:spPr>
          <a:xfrm>
            <a:off x="3999571" y="1554480"/>
            <a:ext cx="1144859" cy="1600200"/>
          </a:xfrm>
          <a:prstGeom prst="rect">
            <a:avLst/>
          </a:prstGeom>
        </p:spPr>
      </p:pic>
      <p:sp>
        <p:nvSpPr>
          <p:cNvPr id="12" name="Text 7"/>
          <p:cNvSpPr txBox="1"/>
          <p:nvPr/>
        </p:nvSpPr>
        <p:spPr>
          <a:xfrm>
            <a:off x="3383280" y="3246120"/>
            <a:ext cx="237744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1939–45 Enigma</a:t>
            </a:r>
            <a:endParaRPr lang="en-US" sz="1600" dirty="0"/>
          </a:p>
        </p:txBody>
      </p:sp>
      <p:sp>
        <p:nvSpPr>
          <p:cNvPr id="13" name="Text 8"/>
          <p:cNvSpPr txBox="1"/>
          <p:nvPr/>
        </p:nvSpPr>
        <p:spPr>
          <a:xfrm>
            <a:off x="3383280" y="3611880"/>
            <a:ext cx="2377440" cy="137160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机器密码被破：波兰人先破，图灵等人改进，缩短了战争进程。</a:t>
            </a:r>
            <a:endParaRPr lang="en-US" sz="1400" dirty="0"/>
          </a:p>
        </p:txBody>
      </p:sp>
      <p:sp>
        <p:nvSpPr>
          <p:cNvPr id="14" name="Shape 9"/>
          <p:cNvSpPr/>
          <p:nvPr/>
        </p:nvSpPr>
        <p:spPr>
          <a:xfrm>
            <a:off x="6035040" y="1417320"/>
            <a:ext cx="2651760" cy="3611880"/>
          </a:xfrm>
          <a:prstGeom prst="roundRect">
            <a:avLst>
              <a:gd name="adj" fmla="val 2759"/>
            </a:avLst>
          </a:prstGeom>
          <a:solidFill>
            <a:schemeClr val="bg2"/>
          </a:solidFill>
          <a:ln w="12700">
            <a:solidFill>
              <a:schemeClr val="bg2">
                <a:alpha val="0"/>
              </a:schemeClr>
            </a:solidFill>
            <a:prstDash val="solid"/>
          </a:ln>
        </p:spPr>
      </p:sp>
      <p:sp>
        <p:nvSpPr>
          <p:cNvPr id="15" name="Shape 10"/>
          <p:cNvSpPr/>
          <p:nvPr/>
        </p:nvSpPr>
        <p:spPr>
          <a:xfrm>
            <a:off x="6675120" y="1600200"/>
            <a:ext cx="1371600" cy="1371600"/>
          </a:xfrm>
          <a:prstGeom prst="ellipse">
            <a:avLst/>
          </a:prstGeom>
          <a:solidFill>
            <a:schemeClr val="accent1"/>
          </a:solidFill>
          <a:ln w="12700">
            <a:solidFill>
              <a:schemeClr val="accent1">
                <a:alpha val="0"/>
              </a:schemeClr>
            </a:solidFill>
            <a:prstDash val="solid"/>
          </a:ln>
        </p:spPr>
      </p:sp>
      <p:pic>
        <p:nvPicPr>
          <p:cNvPr id="16" name="Image 2" descr="key">    </p:cNvPr>
          <p:cNvPicPr>
            <a:picLocks noChangeAspect="1"/>
          </p:cNvPicPr>
          <p:nvPr/>
        </p:nvPicPr>
        <p:blipFill>
          <a:blip r:embed="rId3"/>
          <a:stretch>
            <a:fillRect/>
          </a:stretch>
        </p:blipFill>
        <p:spPr>
          <a:xfrm>
            <a:off x="6995160" y="1920240"/>
            <a:ext cx="731520" cy="731520"/>
          </a:xfrm>
          <a:prstGeom prst="rect">
            <a:avLst/>
          </a:prstGeom>
        </p:spPr>
      </p:pic>
      <p:sp>
        <p:nvSpPr>
          <p:cNvPr id="17" name="Text 11"/>
          <p:cNvSpPr txBox="1"/>
          <p:nvPr/>
        </p:nvSpPr>
        <p:spPr>
          <a:xfrm>
            <a:off x="6172200" y="3246120"/>
            <a:ext cx="237744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1976 公钥密码</a:t>
            </a:r>
            <a:endParaRPr lang="en-US" sz="1600" dirty="0"/>
          </a:p>
        </p:txBody>
      </p:sp>
      <p:sp>
        <p:nvSpPr>
          <p:cNvPr id="18" name="Text 12"/>
          <p:cNvSpPr txBox="1"/>
          <p:nvPr/>
        </p:nvSpPr>
        <p:spPr>
          <a:xfrm>
            <a:off x="6172200" y="3611880"/>
            <a:ext cx="2377440" cy="137160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Diffie–Hellman：一把公开的“锁”，一把私藏的“钥匙”，</a:t>
            </a:r>
            <a:pPr algn="l" indent="0" marL="0">
              <a:lnSpc>
                <a:spcPct val="105000"/>
              </a:lnSpc>
              <a:buNone/>
            </a:pPr>
            <a:r>
              <a:rPr lang="en-US" sz="1400" b="1" dirty="0">
                <a:solidFill>
                  <a:schemeClr val="accent4"/>
                </a:solidFill>
              </a:rPr>
              <a:t>无需事先见面</a:t>
            </a:r>
            <a:pPr algn="l" indent="0" marL="0">
              <a:lnSpc>
                <a:spcPct val="105000"/>
              </a:lnSpc>
              <a:buNone/>
            </a:pPr>
            <a:r>
              <a:rPr lang="en-US" sz="1400" dirty="0">
                <a:solidFill>
                  <a:schemeClr val="accent4"/>
                </a:solidFill>
              </a:rPr>
              <a:t>。</a:t>
            </a:r>
            <a:endParaRPr lang="en-US" sz="1400" dirty="0"/>
          </a:p>
        </p:txBody>
      </p:sp>
      <p:sp>
        <p:nvSpPr>
          <p:cNvPr id="19" name="Shape 13"/>
          <p:cNvSpPr/>
          <p:nvPr/>
        </p:nvSpPr>
        <p:spPr>
          <a:xfrm>
            <a:off x="457200" y="5212080"/>
            <a:ext cx="8229600" cy="868680"/>
          </a:xfrm>
          <a:prstGeom prst="roundRect">
            <a:avLst>
              <a:gd name="adj" fmla="val 8421"/>
            </a:avLst>
          </a:prstGeom>
          <a:solidFill>
            <a:schemeClr val="accent1">
              <a:alpha val="12000"/>
            </a:schemeClr>
          </a:solidFill>
          <a:ln w="12700">
            <a:solidFill>
              <a:schemeClr val="accent1">
                <a:alpha val="0"/>
              </a:schemeClr>
            </a:solidFill>
            <a:prstDash val="solid"/>
          </a:ln>
        </p:spPr>
      </p:sp>
      <p:pic>
        <p:nvPicPr>
          <p:cNvPr id="20" name="Image 3" descr="key">    </p:cNvPr>
          <p:cNvPicPr>
            <a:picLocks noChangeAspect="1"/>
          </p:cNvPicPr>
          <p:nvPr/>
        </p:nvPicPr>
        <p:blipFill>
          <a:blip r:embed="rId4"/>
          <a:stretch>
            <a:fillRect/>
          </a:stretch>
        </p:blipFill>
        <p:spPr>
          <a:xfrm>
            <a:off x="640080" y="5454396"/>
            <a:ext cx="384048" cy="384048"/>
          </a:xfrm>
          <a:prstGeom prst="rect">
            <a:avLst/>
          </a:prstGeom>
        </p:spPr>
      </p:pic>
      <p:sp>
        <p:nvSpPr>
          <p:cNvPr id="21" name="Text 14"/>
          <p:cNvSpPr txBox="1"/>
          <p:nvPr/>
        </p:nvSpPr>
        <p:spPr>
          <a:xfrm>
            <a:off x="1188720" y="5285232"/>
            <a:ext cx="7315200" cy="7223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前两者的痛点是</a:t>
            </a:r>
            <a:pPr algn="l" indent="0" marL="0">
              <a:lnSpc>
                <a:spcPct val="105000"/>
              </a:lnSpc>
              <a:buNone/>
            </a:pPr>
            <a:r>
              <a:rPr lang="en-US" sz="1500" b="1" dirty="0">
                <a:solidFill>
                  <a:schemeClr val="tx1"/>
                </a:solidFill>
              </a:rPr>
              <a:t>密钥分发</a:t>
            </a:r>
            <a:pPr algn="l" indent="0" marL="0">
              <a:lnSpc>
                <a:spcPct val="105000"/>
              </a:lnSpc>
              <a:buNone/>
            </a:pPr>
            <a:r>
              <a:rPr lang="en-US" sz="1500" dirty="0">
                <a:solidFill>
                  <a:schemeClr val="tx1"/>
                </a:solidFill>
              </a:rPr>
              <a:t>；公钥密码让陌生人无需见面也能建立信任——这正是比特币所需要的。</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一对钥匙，两种用法：加密 vs 签名</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5" name="Shape 2"/>
          <p:cNvSpPr/>
          <p:nvPr/>
        </p:nvSpPr>
        <p:spPr>
          <a:xfrm>
            <a:off x="457200" y="1417320"/>
            <a:ext cx="3017520" cy="365760"/>
          </a:xfrm>
          <a:prstGeom prst="roundRect">
            <a:avLst>
              <a:gd name="adj" fmla="val 50000"/>
            </a:avLst>
          </a:prstGeom>
          <a:solidFill>
            <a:schemeClr val="accent5"/>
          </a:solidFill>
          <a:ln w="12700">
            <a:solidFill>
              <a:schemeClr val="accent5">
                <a:alpha val="0"/>
              </a:schemeClr>
            </a:solidFill>
            <a:prstDash val="solid"/>
          </a:ln>
        </p:spPr>
      </p:sp>
      <p:sp>
        <p:nvSpPr>
          <p:cNvPr id="6" name="Text 3"/>
          <p:cNvSpPr txBox="1"/>
          <p:nvPr/>
        </p:nvSpPr>
        <p:spPr>
          <a:xfrm>
            <a:off x="457200" y="1417320"/>
            <a:ext cx="3017520" cy="365760"/>
          </a:xfrm>
          <a:prstGeom prst="rect">
            <a:avLst/>
          </a:prstGeom>
          <a:noFill/>
          <a:ln/>
        </p:spPr>
        <p:txBody>
          <a:bodyPr wrap="square" lIns="0" tIns="0" rIns="0" bIns="0" rtlCol="0" anchor="ctr"/>
          <a:lstStyle/>
          <a:p>
            <a:pPr algn="ctr" indent="0" marL="0">
              <a:buNone/>
            </a:pPr>
            <a:r>
              <a:rPr lang="en-US" sz="1300" b="1" dirty="0">
                <a:solidFill>
                  <a:schemeClr val="tx1"/>
                </a:solidFill>
              </a:rPr>
              <a:t>保密（加密）· 比特币不用</a:t>
            </a:r>
            <a:endParaRPr lang="en-US" sz="1300" dirty="0"/>
          </a:p>
        </p:txBody>
      </p:sp>
      <p:sp>
        <p:nvSpPr>
          <p:cNvPr id="7" name="Shape 4"/>
          <p:cNvSpPr/>
          <p:nvPr/>
        </p:nvSpPr>
        <p:spPr>
          <a:xfrm>
            <a:off x="457200" y="1874520"/>
            <a:ext cx="1767840" cy="914400"/>
          </a:xfrm>
          <a:prstGeom prst="roundRect">
            <a:avLst>
              <a:gd name="adj" fmla="val 8000"/>
            </a:avLst>
          </a:prstGeom>
          <a:solidFill>
            <a:schemeClr val="bg2"/>
          </a:solidFill>
          <a:ln w="12700">
            <a:solidFill>
              <a:schemeClr val="bg2">
                <a:alpha val="0"/>
              </a:schemeClr>
            </a:solidFill>
            <a:prstDash val="solid"/>
          </a:ln>
        </p:spPr>
      </p:sp>
      <p:sp>
        <p:nvSpPr>
          <p:cNvPr id="8" name="Text 5"/>
          <p:cNvSpPr txBox="1"/>
          <p:nvPr/>
        </p:nvSpPr>
        <p:spPr>
          <a:xfrm>
            <a:off x="530352" y="1920240"/>
            <a:ext cx="1621536" cy="82296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Alice 的明文</a:t>
            </a:r>
            <a:endParaRPr lang="en-US" sz="1300" dirty="0"/>
          </a:p>
        </p:txBody>
      </p:sp>
      <p:sp>
        <p:nvSpPr>
          <p:cNvPr id="9" name="Shape 6"/>
          <p:cNvSpPr/>
          <p:nvPr/>
        </p:nvSpPr>
        <p:spPr>
          <a:xfrm>
            <a:off x="2270760" y="2331720"/>
            <a:ext cx="1371600" cy="0"/>
          </a:xfrm>
          <a:prstGeom prst="line">
            <a:avLst/>
          </a:prstGeom>
          <a:noFill/>
          <a:ln w="31750">
            <a:solidFill>
              <a:schemeClr val="accent1"/>
            </a:solidFill>
            <a:prstDash val="solid"/>
            <a:tailEnd type="triangle"/>
          </a:ln>
        </p:spPr>
      </p:sp>
      <p:sp>
        <p:nvSpPr>
          <p:cNvPr id="10" name="Text 7"/>
          <p:cNvSpPr txBox="1"/>
          <p:nvPr/>
        </p:nvSpPr>
        <p:spPr>
          <a:xfrm>
            <a:off x="2243328" y="176479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用 Bob 的公钥加密</a:t>
            </a:r>
            <a:endParaRPr lang="en-US" sz="1200" dirty="0"/>
          </a:p>
        </p:txBody>
      </p:sp>
      <p:sp>
        <p:nvSpPr>
          <p:cNvPr id="11" name="Shape 8"/>
          <p:cNvSpPr/>
          <p:nvPr/>
        </p:nvSpPr>
        <p:spPr>
          <a:xfrm>
            <a:off x="3688080" y="1874520"/>
            <a:ext cx="1767840" cy="914400"/>
          </a:xfrm>
          <a:prstGeom prst="roundRect">
            <a:avLst>
              <a:gd name="adj" fmla="val 8000"/>
            </a:avLst>
          </a:prstGeom>
          <a:solidFill>
            <a:schemeClr val="bg2"/>
          </a:solidFill>
          <a:ln w="12700">
            <a:solidFill>
              <a:schemeClr val="bg2">
                <a:alpha val="0"/>
              </a:schemeClr>
            </a:solidFill>
            <a:prstDash val="solid"/>
          </a:ln>
        </p:spPr>
      </p:sp>
      <p:sp>
        <p:nvSpPr>
          <p:cNvPr id="12" name="Text 9"/>
          <p:cNvSpPr txBox="1"/>
          <p:nvPr/>
        </p:nvSpPr>
        <p:spPr>
          <a:xfrm>
            <a:off x="3761232" y="1920240"/>
            <a:ext cx="1621536" cy="82296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密文</a:t>
            </a:r>
            <a:endParaRPr lang="en-US" sz="1300" dirty="0"/>
          </a:p>
        </p:txBody>
      </p:sp>
      <p:sp>
        <p:nvSpPr>
          <p:cNvPr id="13" name="Shape 10"/>
          <p:cNvSpPr/>
          <p:nvPr/>
        </p:nvSpPr>
        <p:spPr>
          <a:xfrm>
            <a:off x="5501640" y="2331720"/>
            <a:ext cx="1371600" cy="0"/>
          </a:xfrm>
          <a:prstGeom prst="line">
            <a:avLst/>
          </a:prstGeom>
          <a:noFill/>
          <a:ln w="31750">
            <a:solidFill>
              <a:schemeClr val="accent1"/>
            </a:solidFill>
            <a:prstDash val="solid"/>
            <a:tailEnd type="triangle"/>
          </a:ln>
        </p:spPr>
      </p:sp>
      <p:sp>
        <p:nvSpPr>
          <p:cNvPr id="14" name="Text 11"/>
          <p:cNvSpPr txBox="1"/>
          <p:nvPr/>
        </p:nvSpPr>
        <p:spPr>
          <a:xfrm>
            <a:off x="5474208" y="176479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用 Bob 的私钥解密</a:t>
            </a:r>
            <a:endParaRPr lang="en-US" sz="1200" dirty="0"/>
          </a:p>
        </p:txBody>
      </p:sp>
      <p:sp>
        <p:nvSpPr>
          <p:cNvPr id="15" name="Shape 12"/>
          <p:cNvSpPr/>
          <p:nvPr/>
        </p:nvSpPr>
        <p:spPr>
          <a:xfrm>
            <a:off x="6918960" y="1874520"/>
            <a:ext cx="1767840" cy="914400"/>
          </a:xfrm>
          <a:prstGeom prst="roundRect">
            <a:avLst>
              <a:gd name="adj" fmla="val 8000"/>
            </a:avLst>
          </a:prstGeom>
          <a:solidFill>
            <a:schemeClr val="bg2"/>
          </a:solidFill>
          <a:ln w="12700">
            <a:solidFill>
              <a:schemeClr val="bg2">
                <a:alpha val="0"/>
              </a:schemeClr>
            </a:solidFill>
            <a:prstDash val="solid"/>
          </a:ln>
        </p:spPr>
      </p:sp>
      <p:sp>
        <p:nvSpPr>
          <p:cNvPr id="16" name="Text 13"/>
          <p:cNvSpPr txBox="1"/>
          <p:nvPr/>
        </p:nvSpPr>
        <p:spPr>
          <a:xfrm>
            <a:off x="6992112" y="1920240"/>
            <a:ext cx="1621536" cy="82296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Bob 的明文</a:t>
            </a:r>
            <a:endParaRPr lang="en-US" sz="1300" dirty="0"/>
          </a:p>
        </p:txBody>
      </p:sp>
      <p:sp>
        <p:nvSpPr>
          <p:cNvPr id="17" name="Shape 14"/>
          <p:cNvSpPr/>
          <p:nvPr/>
        </p:nvSpPr>
        <p:spPr>
          <a:xfrm>
            <a:off x="457200" y="3429000"/>
            <a:ext cx="3200400" cy="365760"/>
          </a:xfrm>
          <a:prstGeom prst="roundRect">
            <a:avLst>
              <a:gd name="adj" fmla="val 50000"/>
            </a:avLst>
          </a:prstGeom>
          <a:solidFill>
            <a:schemeClr val="accent1"/>
          </a:solidFill>
          <a:ln w="12700">
            <a:solidFill>
              <a:schemeClr val="accent1">
                <a:alpha val="0"/>
              </a:schemeClr>
            </a:solidFill>
            <a:prstDash val="solid"/>
          </a:ln>
        </p:spPr>
      </p:sp>
      <p:sp>
        <p:nvSpPr>
          <p:cNvPr id="18" name="Text 15"/>
          <p:cNvSpPr txBox="1"/>
          <p:nvPr/>
        </p:nvSpPr>
        <p:spPr>
          <a:xfrm>
            <a:off x="457200" y="3429000"/>
            <a:ext cx="3200400" cy="365760"/>
          </a:xfrm>
          <a:prstGeom prst="rect">
            <a:avLst/>
          </a:prstGeom>
          <a:noFill/>
          <a:ln/>
        </p:spPr>
        <p:txBody>
          <a:bodyPr wrap="square" lIns="0" tIns="0" rIns="0" bIns="0" rtlCol="0" anchor="ctr"/>
          <a:lstStyle/>
          <a:p>
            <a:pPr algn="ctr" indent="0" marL="0">
              <a:buNone/>
            </a:pPr>
            <a:r>
              <a:rPr lang="en-US" sz="1300" b="1" dirty="0">
                <a:solidFill>
                  <a:schemeClr val="tx1"/>
                </a:solidFill>
              </a:rPr>
              <a:t>认证（签名）· 比特币用这个</a:t>
            </a:r>
            <a:endParaRPr lang="en-US" sz="1300" dirty="0"/>
          </a:p>
        </p:txBody>
      </p:sp>
      <p:sp>
        <p:nvSpPr>
          <p:cNvPr id="19" name="Shape 16"/>
          <p:cNvSpPr/>
          <p:nvPr/>
        </p:nvSpPr>
        <p:spPr>
          <a:xfrm>
            <a:off x="457200" y="3886200"/>
            <a:ext cx="1767840" cy="914400"/>
          </a:xfrm>
          <a:prstGeom prst="roundRect">
            <a:avLst>
              <a:gd name="adj" fmla="val 8000"/>
            </a:avLst>
          </a:prstGeom>
          <a:solidFill>
            <a:schemeClr val="bg2"/>
          </a:solidFill>
          <a:ln w="12700">
            <a:solidFill>
              <a:schemeClr val="bg2">
                <a:alpha val="0"/>
              </a:schemeClr>
            </a:solidFill>
            <a:prstDash val="solid"/>
          </a:ln>
        </p:spPr>
      </p:sp>
      <p:sp>
        <p:nvSpPr>
          <p:cNvPr id="20" name="Text 17"/>
          <p:cNvSpPr txBox="1"/>
          <p:nvPr/>
        </p:nvSpPr>
        <p:spPr>
          <a:xfrm>
            <a:off x="530352" y="3931920"/>
            <a:ext cx="1621536" cy="82296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Alice 的消息</a:t>
            </a:r>
            <a:endParaRPr lang="en-US" sz="1300" dirty="0"/>
          </a:p>
        </p:txBody>
      </p:sp>
      <p:sp>
        <p:nvSpPr>
          <p:cNvPr id="21" name="Shape 18"/>
          <p:cNvSpPr/>
          <p:nvPr/>
        </p:nvSpPr>
        <p:spPr>
          <a:xfrm>
            <a:off x="2270760" y="4343400"/>
            <a:ext cx="1371600" cy="0"/>
          </a:xfrm>
          <a:prstGeom prst="line">
            <a:avLst/>
          </a:prstGeom>
          <a:noFill/>
          <a:ln w="31750">
            <a:solidFill>
              <a:schemeClr val="accent1"/>
            </a:solidFill>
            <a:prstDash val="solid"/>
            <a:tailEnd type="triangle"/>
          </a:ln>
        </p:spPr>
      </p:sp>
      <p:sp>
        <p:nvSpPr>
          <p:cNvPr id="22" name="Text 19"/>
          <p:cNvSpPr txBox="1"/>
          <p:nvPr/>
        </p:nvSpPr>
        <p:spPr>
          <a:xfrm>
            <a:off x="2243328" y="377647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Alice 的私钥签名</a:t>
            </a:r>
            <a:endParaRPr lang="en-US" sz="1200" dirty="0"/>
          </a:p>
        </p:txBody>
      </p:sp>
      <p:sp>
        <p:nvSpPr>
          <p:cNvPr id="23" name="Shape 20"/>
          <p:cNvSpPr/>
          <p:nvPr/>
        </p:nvSpPr>
        <p:spPr>
          <a:xfrm>
            <a:off x="3688080" y="3886200"/>
            <a:ext cx="1767840" cy="914400"/>
          </a:xfrm>
          <a:prstGeom prst="roundRect">
            <a:avLst>
              <a:gd name="adj" fmla="val 8000"/>
            </a:avLst>
          </a:prstGeom>
          <a:solidFill>
            <a:schemeClr val="bg2"/>
          </a:solidFill>
          <a:ln w="12700">
            <a:solidFill>
              <a:schemeClr val="bg2">
                <a:alpha val="0"/>
              </a:schemeClr>
            </a:solidFill>
            <a:prstDash val="solid"/>
          </a:ln>
        </p:spPr>
      </p:sp>
      <p:sp>
        <p:nvSpPr>
          <p:cNvPr id="24" name="Text 21"/>
          <p:cNvSpPr txBox="1"/>
          <p:nvPr/>
        </p:nvSpPr>
        <p:spPr>
          <a:xfrm>
            <a:off x="3761232" y="3931920"/>
            <a:ext cx="1621536" cy="82296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消息 + 签名</a:t>
            </a:r>
            <a:endParaRPr lang="en-US" sz="1300" dirty="0"/>
          </a:p>
        </p:txBody>
      </p:sp>
      <p:sp>
        <p:nvSpPr>
          <p:cNvPr id="25" name="Shape 22"/>
          <p:cNvSpPr/>
          <p:nvPr/>
        </p:nvSpPr>
        <p:spPr>
          <a:xfrm>
            <a:off x="5501640" y="4343400"/>
            <a:ext cx="1371600" cy="0"/>
          </a:xfrm>
          <a:prstGeom prst="line">
            <a:avLst/>
          </a:prstGeom>
          <a:noFill/>
          <a:ln w="31750">
            <a:solidFill>
              <a:schemeClr val="accent1"/>
            </a:solidFill>
            <a:prstDash val="solid"/>
            <a:tailEnd type="triangle"/>
          </a:ln>
        </p:spPr>
      </p:sp>
      <p:sp>
        <p:nvSpPr>
          <p:cNvPr id="26" name="Text 23"/>
          <p:cNvSpPr txBox="1"/>
          <p:nvPr/>
        </p:nvSpPr>
        <p:spPr>
          <a:xfrm>
            <a:off x="5474208" y="377647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任何人用公钥验证</a:t>
            </a:r>
            <a:endParaRPr lang="en-US" sz="1200" dirty="0"/>
          </a:p>
        </p:txBody>
      </p:sp>
      <p:sp>
        <p:nvSpPr>
          <p:cNvPr id="27" name="Shape 24"/>
          <p:cNvSpPr/>
          <p:nvPr/>
        </p:nvSpPr>
        <p:spPr>
          <a:xfrm>
            <a:off x="6918960" y="3886200"/>
            <a:ext cx="1767840" cy="914400"/>
          </a:xfrm>
          <a:prstGeom prst="roundRect">
            <a:avLst>
              <a:gd name="adj" fmla="val 8000"/>
            </a:avLst>
          </a:prstGeom>
          <a:solidFill>
            <a:schemeClr val="accent3"/>
          </a:solidFill>
          <a:ln w="12700">
            <a:solidFill>
              <a:schemeClr val="accent3">
                <a:alpha val="0"/>
              </a:schemeClr>
            </a:solidFill>
            <a:prstDash val="solid"/>
          </a:ln>
        </p:spPr>
      </p:sp>
      <p:sp>
        <p:nvSpPr>
          <p:cNvPr id="28" name="Text 25"/>
          <p:cNvSpPr txBox="1"/>
          <p:nvPr/>
        </p:nvSpPr>
        <p:spPr>
          <a:xfrm>
            <a:off x="6992112" y="3931920"/>
            <a:ext cx="1621536" cy="822960"/>
          </a:xfrm>
          <a:prstGeom prst="rect">
            <a:avLst/>
          </a:prstGeom>
          <a:noFill/>
          <a:ln/>
        </p:spPr>
        <p:txBody>
          <a:bodyPr wrap="square" lIns="0" tIns="0" rIns="0" bIns="0" rtlCol="0" anchor="ctr"/>
          <a:lstStyle/>
          <a:p>
            <a:pPr algn="ctr" indent="0" marL="0">
              <a:lnSpc>
                <a:spcPct val="105000"/>
              </a:lnSpc>
              <a:buNone/>
            </a:pPr>
            <a:r>
              <a:rPr lang="en-US" sz="1500" b="1" dirty="0">
                <a:solidFill>
                  <a:schemeClr val="bg1"/>
                </a:solidFill>
              </a:rPr>
              <a:t>验证：✓ 或 ✗</a:t>
            </a:r>
            <a:endParaRPr lang="en-US" sz="1300" dirty="0"/>
          </a:p>
        </p:txBody>
      </p:sp>
      <p:sp>
        <p:nvSpPr>
          <p:cNvPr id="29" name="Shape 26"/>
          <p:cNvSpPr/>
          <p:nvPr/>
        </p:nvSpPr>
        <p:spPr>
          <a:xfrm>
            <a:off x="457200" y="5166360"/>
            <a:ext cx="8229600" cy="822960"/>
          </a:xfrm>
          <a:prstGeom prst="roundRect">
            <a:avLst>
              <a:gd name="adj" fmla="val 8889"/>
            </a:avLst>
          </a:prstGeom>
          <a:solidFill>
            <a:schemeClr val="accent1">
              <a:alpha val="12000"/>
            </a:schemeClr>
          </a:solidFill>
          <a:ln w="12700">
            <a:solidFill>
              <a:schemeClr val="accent1">
                <a:alpha val="0"/>
              </a:schemeClr>
            </a:solidFill>
            <a:prstDash val="solid"/>
          </a:ln>
        </p:spPr>
      </p:sp>
      <p:pic>
        <p:nvPicPr>
          <p:cNvPr id="30" name="Image 0" descr="key">    </p:cNvPr>
          <p:cNvPicPr>
            <a:picLocks noChangeAspect="1"/>
          </p:cNvPicPr>
          <p:nvPr/>
        </p:nvPicPr>
        <p:blipFill>
          <a:blip r:embed="rId1"/>
          <a:stretch>
            <a:fillRect/>
          </a:stretch>
        </p:blipFill>
        <p:spPr>
          <a:xfrm>
            <a:off x="640080" y="5385816"/>
            <a:ext cx="384048" cy="384048"/>
          </a:xfrm>
          <a:prstGeom prst="rect">
            <a:avLst/>
          </a:prstGeom>
        </p:spPr>
      </p:pic>
      <p:sp>
        <p:nvSpPr>
          <p:cNvPr id="31" name="Text 27"/>
          <p:cNvSpPr txBox="1"/>
          <p:nvPr/>
        </p:nvSpPr>
        <p:spPr>
          <a:xfrm>
            <a:off x="1188720" y="5239512"/>
            <a:ext cx="7315200" cy="67665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比特币要的是</a:t>
            </a:r>
            <a:pPr algn="l" indent="0" marL="0">
              <a:lnSpc>
                <a:spcPct val="105000"/>
              </a:lnSpc>
              <a:buNone/>
            </a:pPr>
            <a:r>
              <a:rPr lang="en-US" sz="1600" b="1" dirty="0">
                <a:solidFill>
                  <a:schemeClr val="tx1"/>
                </a:solidFill>
              </a:rPr>
              <a:t>授权</a:t>
            </a:r>
            <a:pPr algn="l" indent="0" marL="0">
              <a:lnSpc>
                <a:spcPct val="105000"/>
              </a:lnSpc>
              <a:buNone/>
            </a:pPr>
            <a:r>
              <a:rPr lang="en-US" sz="1600" dirty="0">
                <a:solidFill>
                  <a:schemeClr val="tx1"/>
                </a:solidFill>
              </a:rPr>
              <a:t>，不是</a:t>
            </a:r>
            <a:pPr algn="l" indent="0" marL="0">
              <a:lnSpc>
                <a:spcPct val="105000"/>
              </a:lnSpc>
              <a:buNone/>
            </a:pPr>
            <a:r>
              <a:rPr lang="en-US" sz="1600" b="1" dirty="0">
                <a:solidFill>
                  <a:schemeClr val="tx1"/>
                </a:solidFill>
              </a:rPr>
              <a:t>保密</a:t>
            </a:r>
            <a:pPr algn="l" indent="0" marL="0">
              <a:lnSpc>
                <a:spcPct val="105000"/>
              </a:lnSpc>
              <a:buNone/>
            </a:pPr>
            <a:r>
              <a:rPr lang="en-US" sz="1600" dirty="0">
                <a:solidFill>
                  <a:schemeClr val="tx1"/>
                </a:solidFill>
              </a:rPr>
              <a:t>：账本公开，但只有私钥持有人才能“花”。</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怎样让陌生人相信：“小明确实付了款”？</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5" name="Shape 2"/>
          <p:cNvSpPr/>
          <p:nvPr/>
        </p:nvSpPr>
        <p:spPr>
          <a:xfrm>
            <a:off x="438912" y="1466095"/>
            <a:ext cx="4014216" cy="2279890"/>
          </a:xfrm>
          <a:prstGeom prst="rect">
            <a:avLst/>
          </a:prstGeom>
          <a:solidFill>
            <a:schemeClr val="bg1"/>
          </a:solidFill>
          <a:ln w="9525">
            <a:solidFill>
              <a:schemeClr val="accent5"/>
            </a:solidFill>
            <a:prstDash val="solid"/>
          </a:ln>
        </p:spPr>
      </p:sp>
      <p:pic>
        <p:nvPicPr>
          <p:cNvPr id="6" name="Image 0" descr="漫画：小红声称收到小明付款">    </p:cNvPr>
          <p:cNvPicPr>
            <a:picLocks noChangeAspect="1"/>
          </p:cNvPicPr>
          <p:nvPr/>
        </p:nvPicPr>
        <p:blipFill>
          <a:blip r:embed="rId1"/>
          <a:stretch>
            <a:fillRect/>
          </a:stretch>
        </p:blipFill>
        <p:spPr>
          <a:xfrm>
            <a:off x="457200" y="1484383"/>
            <a:ext cx="3977640" cy="2243314"/>
          </a:xfrm>
          <a:prstGeom prst="rect">
            <a:avLst/>
          </a:prstGeom>
        </p:spPr>
      </p:pic>
      <p:sp>
        <p:nvSpPr>
          <p:cNvPr id="7" name="Shape 3"/>
          <p:cNvSpPr/>
          <p:nvPr/>
        </p:nvSpPr>
        <p:spPr>
          <a:xfrm>
            <a:off x="4690872" y="1469635"/>
            <a:ext cx="4014216" cy="2272809"/>
          </a:xfrm>
          <a:prstGeom prst="rect">
            <a:avLst/>
          </a:prstGeom>
          <a:solidFill>
            <a:schemeClr val="bg1"/>
          </a:solidFill>
          <a:ln w="9525">
            <a:solidFill>
              <a:schemeClr val="accent5"/>
            </a:solidFill>
            <a:prstDash val="solid"/>
          </a:ln>
        </p:spPr>
      </p:sp>
      <p:pic>
        <p:nvPicPr>
          <p:cNvPr id="8" name="Image 1" descr="漫画：小明声称付款给小红">    </p:cNvPr>
          <p:cNvPicPr>
            <a:picLocks noChangeAspect="1"/>
          </p:cNvPicPr>
          <p:nvPr/>
        </p:nvPicPr>
        <p:blipFill>
          <a:blip r:embed="rId2"/>
          <a:stretch>
            <a:fillRect/>
          </a:stretch>
        </p:blipFill>
        <p:spPr>
          <a:xfrm>
            <a:off x="4709160" y="1487923"/>
            <a:ext cx="3977640" cy="2236233"/>
          </a:xfrm>
          <a:prstGeom prst="rect">
            <a:avLst/>
          </a:prstGeom>
        </p:spPr>
      </p:pic>
      <p:sp>
        <p:nvSpPr>
          <p:cNvPr id="9" name="Shape 4"/>
          <p:cNvSpPr/>
          <p:nvPr/>
        </p:nvSpPr>
        <p:spPr>
          <a:xfrm>
            <a:off x="457200" y="3977640"/>
            <a:ext cx="3977640" cy="411480"/>
          </a:xfrm>
          <a:prstGeom prst="roundRect">
            <a:avLst>
              <a:gd name="adj" fmla="val 50000"/>
            </a:avLst>
          </a:prstGeom>
          <a:solidFill>
            <a:schemeClr val="accent2"/>
          </a:solidFill>
          <a:ln w="12700">
            <a:solidFill>
              <a:schemeClr val="accent2">
                <a:alpha val="0"/>
              </a:schemeClr>
            </a:solidFill>
            <a:prstDash val="solid"/>
          </a:ln>
        </p:spPr>
      </p:sp>
      <p:sp>
        <p:nvSpPr>
          <p:cNvPr id="10" name="Text 5"/>
          <p:cNvSpPr txBox="1"/>
          <p:nvPr/>
        </p:nvSpPr>
        <p:spPr>
          <a:xfrm>
            <a:off x="457200" y="3977640"/>
            <a:ext cx="3977640" cy="411480"/>
          </a:xfrm>
          <a:prstGeom prst="rect">
            <a:avLst/>
          </a:prstGeom>
          <a:noFill/>
          <a:ln/>
        </p:spPr>
        <p:txBody>
          <a:bodyPr wrap="square" lIns="0" tIns="0" rIns="0" bIns="0" rtlCol="0" anchor="ctr"/>
          <a:lstStyle/>
          <a:p>
            <a:pPr algn="ctr" indent="0" marL="0">
              <a:buNone/>
            </a:pPr>
            <a:r>
              <a:rPr lang="en-US" sz="1400" b="1" dirty="0">
                <a:solidFill>
                  <a:schemeClr val="bg1"/>
                </a:solidFill>
              </a:rPr>
              <a:t>✗ 小红说“小明付了款”：不可信</a:t>
            </a:r>
            <a:endParaRPr lang="en-US" sz="1400" dirty="0"/>
          </a:p>
        </p:txBody>
      </p:sp>
      <p:sp>
        <p:nvSpPr>
          <p:cNvPr id="11" name="Shape 6"/>
          <p:cNvSpPr/>
          <p:nvPr/>
        </p:nvSpPr>
        <p:spPr>
          <a:xfrm>
            <a:off x="4709160" y="3977640"/>
            <a:ext cx="3977640" cy="411480"/>
          </a:xfrm>
          <a:prstGeom prst="roundRect">
            <a:avLst>
              <a:gd name="adj" fmla="val 50000"/>
            </a:avLst>
          </a:prstGeom>
          <a:solidFill>
            <a:schemeClr val="accent3"/>
          </a:solidFill>
          <a:ln w="12700">
            <a:solidFill>
              <a:schemeClr val="accent3">
                <a:alpha val="0"/>
              </a:schemeClr>
            </a:solidFill>
            <a:prstDash val="solid"/>
          </a:ln>
        </p:spPr>
      </p:sp>
      <p:sp>
        <p:nvSpPr>
          <p:cNvPr id="12" name="Text 7"/>
          <p:cNvSpPr txBox="1"/>
          <p:nvPr/>
        </p:nvSpPr>
        <p:spPr>
          <a:xfrm>
            <a:off x="4709160" y="3977640"/>
            <a:ext cx="3977640" cy="411480"/>
          </a:xfrm>
          <a:prstGeom prst="rect">
            <a:avLst/>
          </a:prstGeom>
          <a:noFill/>
          <a:ln/>
        </p:spPr>
        <p:txBody>
          <a:bodyPr wrap="square" lIns="0" tIns="0" rIns="0" bIns="0" rtlCol="0" anchor="ctr"/>
          <a:lstStyle/>
          <a:p>
            <a:pPr algn="ctr" indent="0" marL="0">
              <a:buNone/>
            </a:pPr>
            <a:r>
              <a:rPr lang="en-US" sz="1400" b="1" dirty="0">
                <a:solidFill>
                  <a:schemeClr val="bg1"/>
                </a:solidFill>
              </a:rPr>
              <a:t>✓ 小明说“我付了款”：若能验证出自小明</a:t>
            </a:r>
            <a:endParaRPr lang="en-US" sz="1400" dirty="0"/>
          </a:p>
        </p:txBody>
      </p:sp>
      <p:sp>
        <p:nvSpPr>
          <p:cNvPr id="13" name="Shape 8"/>
          <p:cNvSpPr/>
          <p:nvPr/>
        </p:nvSpPr>
        <p:spPr>
          <a:xfrm>
            <a:off x="457200" y="4709160"/>
            <a:ext cx="8229600" cy="822960"/>
          </a:xfrm>
          <a:prstGeom prst="roundRect">
            <a:avLst>
              <a:gd name="adj" fmla="val 8889"/>
            </a:avLst>
          </a:prstGeom>
          <a:solidFill>
            <a:schemeClr val="accent1">
              <a:alpha val="12000"/>
            </a:schemeClr>
          </a:solidFill>
          <a:ln w="12700">
            <a:solidFill>
              <a:schemeClr val="accent1">
                <a:alpha val="0"/>
              </a:schemeClr>
            </a:solidFill>
            <a:prstDash val="solid"/>
          </a:ln>
        </p:spPr>
      </p:sp>
      <p:pic>
        <p:nvPicPr>
          <p:cNvPr id="14" name="Image 2" descr="key">    </p:cNvPr>
          <p:cNvPicPr>
            <a:picLocks noChangeAspect="1"/>
          </p:cNvPicPr>
          <p:nvPr/>
        </p:nvPicPr>
        <p:blipFill>
          <a:blip r:embed="rId3"/>
          <a:stretch>
            <a:fillRect/>
          </a:stretch>
        </p:blipFill>
        <p:spPr>
          <a:xfrm>
            <a:off x="640080" y="4928616"/>
            <a:ext cx="384048" cy="384048"/>
          </a:xfrm>
          <a:prstGeom prst="rect">
            <a:avLst/>
          </a:prstGeom>
        </p:spPr>
      </p:pic>
      <p:sp>
        <p:nvSpPr>
          <p:cNvPr id="15" name="Text 9"/>
          <p:cNvSpPr txBox="1"/>
          <p:nvPr/>
        </p:nvSpPr>
        <p:spPr>
          <a:xfrm>
            <a:off x="1188720" y="4782312"/>
            <a:ext cx="7315200" cy="676656"/>
          </a:xfrm>
          <a:prstGeom prst="rect">
            <a:avLst/>
          </a:prstGeom>
          <a:noFill/>
          <a:ln/>
        </p:spPr>
        <p:txBody>
          <a:bodyPr wrap="square" lIns="0" tIns="0" rIns="0" bIns="0" rtlCol="0" anchor="ctr"/>
          <a:lstStyle/>
          <a:p>
            <a:pPr algn="l" indent="0" marL="0">
              <a:lnSpc>
                <a:spcPct val="105000"/>
              </a:lnSpc>
              <a:buNone/>
            </a:pPr>
            <a:r>
              <a:rPr lang="en-US" sz="1800" dirty="0">
                <a:solidFill>
                  <a:schemeClr val="tx1"/>
                </a:solidFill>
              </a:rPr>
              <a:t>如何验证“这句话确实是小明说的”？——</a:t>
            </a:r>
            <a:pPr algn="l" indent="0" marL="0">
              <a:lnSpc>
                <a:spcPct val="105000"/>
              </a:lnSpc>
              <a:buNone/>
            </a:pPr>
            <a:r>
              <a:rPr lang="en-US" sz="1800" b="1" dirty="0">
                <a:solidFill>
                  <a:schemeClr val="tx1"/>
                </a:solidFill>
              </a:rPr>
              <a:t>数字签名</a:t>
            </a:r>
            <a:pPr algn="l" indent="0" marL="0">
              <a:lnSpc>
                <a:spcPct val="105000"/>
              </a:lnSpc>
              <a:buNone/>
            </a:pP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数字签名：不可伪造、不可篡改、不可抵赖</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5" name="Shape 2"/>
          <p:cNvSpPr/>
          <p:nvPr/>
        </p:nvSpPr>
        <p:spPr>
          <a:xfrm>
            <a:off x="438912" y="1419814"/>
            <a:ext cx="8266176" cy="2281012"/>
          </a:xfrm>
          <a:prstGeom prst="rect">
            <a:avLst/>
          </a:prstGeom>
          <a:solidFill>
            <a:schemeClr val="bg1"/>
          </a:solidFill>
          <a:ln w="9525">
            <a:solidFill>
              <a:schemeClr val="accent5"/>
            </a:solidFill>
            <a:prstDash val="solid"/>
          </a:ln>
        </p:spPr>
      </p:sp>
      <p:pic>
        <p:nvPicPr>
          <p:cNvPr id="6" name="Image 0" descr="数字签名与验证流程示意">    </p:cNvPr>
          <p:cNvPicPr>
            <a:picLocks noChangeAspect="1"/>
          </p:cNvPicPr>
          <p:nvPr/>
        </p:nvPicPr>
        <p:blipFill>
          <a:blip r:embed="rId1"/>
          <a:stretch>
            <a:fillRect/>
          </a:stretch>
        </p:blipFill>
        <p:spPr>
          <a:xfrm>
            <a:off x="457200" y="1438102"/>
            <a:ext cx="8229600" cy="2244436"/>
          </a:xfrm>
          <a:prstGeom prst="rect">
            <a:avLst/>
          </a:prstGeom>
        </p:spPr>
      </p:pic>
      <p:sp>
        <p:nvSpPr>
          <p:cNvPr id="7" name="Shape 3"/>
          <p:cNvSpPr/>
          <p:nvPr/>
        </p:nvSpPr>
        <p:spPr>
          <a:xfrm>
            <a:off x="457200" y="3886200"/>
            <a:ext cx="2621280" cy="2103120"/>
          </a:xfrm>
          <a:prstGeom prst="roundRect">
            <a:avLst>
              <a:gd name="adj" fmla="val 3478"/>
            </a:avLst>
          </a:prstGeom>
          <a:solidFill>
            <a:schemeClr val="bg2"/>
          </a:solidFill>
          <a:ln w="12700">
            <a:solidFill>
              <a:schemeClr val="bg2">
                <a:alpha val="0"/>
              </a:schemeClr>
            </a:solidFill>
            <a:prstDash val="solid"/>
          </a:ln>
        </p:spPr>
      </p:sp>
      <p:sp>
        <p:nvSpPr>
          <p:cNvPr id="8" name="Shape 4"/>
          <p:cNvSpPr/>
          <p:nvPr/>
        </p:nvSpPr>
        <p:spPr>
          <a:xfrm>
            <a:off x="640080" y="4050792"/>
            <a:ext cx="502920" cy="502920"/>
          </a:xfrm>
          <a:prstGeom prst="ellipse">
            <a:avLst/>
          </a:prstGeom>
          <a:solidFill>
            <a:schemeClr val="accent1"/>
          </a:solidFill>
          <a:ln w="12700">
            <a:solidFill>
              <a:schemeClr val="accent1">
                <a:alpha val="0"/>
              </a:schemeClr>
            </a:solidFill>
            <a:prstDash val="solid"/>
          </a:ln>
        </p:spPr>
      </p:sp>
      <p:pic>
        <p:nvPicPr>
          <p:cNvPr id="9" name="Image 1" descr="FaUserSecret">    </p:cNvPr>
          <p:cNvPicPr>
            <a:picLocks noChangeAspect="1"/>
          </p:cNvPicPr>
          <p:nvPr/>
        </p:nvPicPr>
        <p:blipFill>
          <a:blip r:embed="rId2"/>
          <a:stretch>
            <a:fillRect/>
          </a:stretch>
        </p:blipFill>
        <p:spPr>
          <a:xfrm>
            <a:off x="750722" y="4161434"/>
            <a:ext cx="281635" cy="281635"/>
          </a:xfrm>
          <a:prstGeom prst="rect">
            <a:avLst/>
          </a:prstGeom>
        </p:spPr>
      </p:pic>
      <p:sp>
        <p:nvSpPr>
          <p:cNvPr id="10" name="Text 5"/>
          <p:cNvSpPr txBox="1"/>
          <p:nvPr/>
        </p:nvSpPr>
        <p:spPr>
          <a:xfrm>
            <a:off x="640080" y="467258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不可伪造</a:t>
            </a:r>
            <a:endParaRPr lang="en-US" sz="1800" dirty="0"/>
          </a:p>
        </p:txBody>
      </p:sp>
      <p:sp>
        <p:nvSpPr>
          <p:cNvPr id="11" name="Text 6"/>
          <p:cNvSpPr txBox="1"/>
          <p:nvPr/>
        </p:nvSpPr>
        <p:spPr>
          <a:xfrm>
            <a:off x="640080" y="5047488"/>
            <a:ext cx="2255520" cy="8321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私钥只有签名人知道，别人造不出有效签名。</a:t>
            </a:r>
            <a:endParaRPr lang="en-US" sz="1500" dirty="0"/>
          </a:p>
        </p:txBody>
      </p:sp>
      <p:sp>
        <p:nvSpPr>
          <p:cNvPr id="12" name="Shape 7"/>
          <p:cNvSpPr/>
          <p:nvPr/>
        </p:nvSpPr>
        <p:spPr>
          <a:xfrm>
            <a:off x="3261360" y="3886200"/>
            <a:ext cx="2621280" cy="2103120"/>
          </a:xfrm>
          <a:prstGeom prst="roundRect">
            <a:avLst>
              <a:gd name="adj" fmla="val 3478"/>
            </a:avLst>
          </a:prstGeom>
          <a:solidFill>
            <a:schemeClr val="bg2"/>
          </a:solidFill>
          <a:ln w="12700">
            <a:solidFill>
              <a:schemeClr val="bg2">
                <a:alpha val="0"/>
              </a:schemeClr>
            </a:solidFill>
            <a:prstDash val="solid"/>
          </a:ln>
        </p:spPr>
      </p:sp>
      <p:sp>
        <p:nvSpPr>
          <p:cNvPr id="13" name="Shape 8"/>
          <p:cNvSpPr/>
          <p:nvPr/>
        </p:nvSpPr>
        <p:spPr>
          <a:xfrm>
            <a:off x="3444240" y="4050792"/>
            <a:ext cx="502920" cy="502920"/>
          </a:xfrm>
          <a:prstGeom prst="ellipse">
            <a:avLst/>
          </a:prstGeom>
          <a:solidFill>
            <a:schemeClr val="accent1"/>
          </a:solidFill>
          <a:ln w="12700">
            <a:solidFill>
              <a:schemeClr val="accent1">
                <a:alpha val="0"/>
              </a:schemeClr>
            </a:solidFill>
            <a:prstDash val="solid"/>
          </a:ln>
        </p:spPr>
      </p:sp>
      <p:pic>
        <p:nvPicPr>
          <p:cNvPr id="14" name="Image 2" descr="FaLock">    </p:cNvPr>
          <p:cNvPicPr>
            <a:picLocks noChangeAspect="1"/>
          </p:cNvPicPr>
          <p:nvPr/>
        </p:nvPicPr>
        <p:blipFill>
          <a:blip r:embed="rId3"/>
          <a:stretch>
            <a:fillRect/>
          </a:stretch>
        </p:blipFill>
        <p:spPr>
          <a:xfrm>
            <a:off x="3554882" y="4161434"/>
            <a:ext cx="281635" cy="281635"/>
          </a:xfrm>
          <a:prstGeom prst="rect">
            <a:avLst/>
          </a:prstGeom>
        </p:spPr>
      </p:pic>
      <p:sp>
        <p:nvSpPr>
          <p:cNvPr id="15" name="Text 9"/>
          <p:cNvSpPr txBox="1"/>
          <p:nvPr/>
        </p:nvSpPr>
        <p:spPr>
          <a:xfrm>
            <a:off x="3444240" y="467258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不可篡改</a:t>
            </a:r>
            <a:endParaRPr lang="en-US" sz="1800" dirty="0"/>
          </a:p>
        </p:txBody>
      </p:sp>
      <p:sp>
        <p:nvSpPr>
          <p:cNvPr id="16" name="Text 10"/>
          <p:cNvSpPr txBox="1"/>
          <p:nvPr/>
        </p:nvSpPr>
        <p:spPr>
          <a:xfrm>
            <a:off x="3444240" y="5047488"/>
            <a:ext cx="2255520" cy="8321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消息被改动一个字节，验证立刻失败。</a:t>
            </a:r>
            <a:endParaRPr lang="en-US" sz="1500" dirty="0"/>
          </a:p>
        </p:txBody>
      </p:sp>
      <p:sp>
        <p:nvSpPr>
          <p:cNvPr id="17" name="Shape 11"/>
          <p:cNvSpPr/>
          <p:nvPr/>
        </p:nvSpPr>
        <p:spPr>
          <a:xfrm>
            <a:off x="6065520" y="3886200"/>
            <a:ext cx="2621280" cy="2103120"/>
          </a:xfrm>
          <a:prstGeom prst="roundRect">
            <a:avLst>
              <a:gd name="adj" fmla="val 3478"/>
            </a:avLst>
          </a:prstGeom>
          <a:solidFill>
            <a:schemeClr val="bg2"/>
          </a:solidFill>
          <a:ln w="12700">
            <a:solidFill>
              <a:schemeClr val="bg2">
                <a:alpha val="0"/>
              </a:schemeClr>
            </a:solidFill>
            <a:prstDash val="solid"/>
          </a:ln>
        </p:spPr>
      </p:sp>
      <p:sp>
        <p:nvSpPr>
          <p:cNvPr id="18" name="Shape 12"/>
          <p:cNvSpPr/>
          <p:nvPr/>
        </p:nvSpPr>
        <p:spPr>
          <a:xfrm>
            <a:off x="6248400" y="4050792"/>
            <a:ext cx="502920" cy="502920"/>
          </a:xfrm>
          <a:prstGeom prst="ellipse">
            <a:avLst/>
          </a:prstGeom>
          <a:solidFill>
            <a:schemeClr val="accent1"/>
          </a:solidFill>
          <a:ln w="12700">
            <a:solidFill>
              <a:schemeClr val="accent1">
                <a:alpha val="0"/>
              </a:schemeClr>
            </a:solidFill>
            <a:prstDash val="solid"/>
          </a:ln>
        </p:spPr>
      </p:sp>
      <p:pic>
        <p:nvPicPr>
          <p:cNvPr id="19" name="Image 3" descr="FaHandshake">    </p:cNvPr>
          <p:cNvPicPr>
            <a:picLocks noChangeAspect="1"/>
          </p:cNvPicPr>
          <p:nvPr/>
        </p:nvPicPr>
        <p:blipFill>
          <a:blip r:embed="rId4"/>
          <a:stretch>
            <a:fillRect/>
          </a:stretch>
        </p:blipFill>
        <p:spPr>
          <a:xfrm>
            <a:off x="6359042" y="4161434"/>
            <a:ext cx="281635" cy="281635"/>
          </a:xfrm>
          <a:prstGeom prst="rect">
            <a:avLst/>
          </a:prstGeom>
        </p:spPr>
      </p:pic>
      <p:sp>
        <p:nvSpPr>
          <p:cNvPr id="20" name="Text 13"/>
          <p:cNvSpPr txBox="1"/>
          <p:nvPr/>
        </p:nvSpPr>
        <p:spPr>
          <a:xfrm>
            <a:off x="6248400" y="467258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不可抵赖</a:t>
            </a:r>
            <a:endParaRPr lang="en-US" sz="1800" dirty="0"/>
          </a:p>
        </p:txBody>
      </p:sp>
      <p:sp>
        <p:nvSpPr>
          <p:cNvPr id="21" name="Text 14"/>
          <p:cNvSpPr txBox="1"/>
          <p:nvPr/>
        </p:nvSpPr>
        <p:spPr>
          <a:xfrm>
            <a:off x="6248400" y="5047488"/>
            <a:ext cx="2255520" cy="8321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验证通过，说明确实是私钥持有人签的。</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与传统支付相比：你凭什么花这笔钱？</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280160"/>
                <a:gridCol w="3017520"/>
                <a:gridCol w="2286000"/>
                <a:gridCol w="1645920"/>
              </a:tblGrid>
              <a:tr h="457200">
                <a:tc>
                  <a:txBody>
                    <a:bodyPr/>
                    <a:lstStyle/>
                    <a:p>
                      <a:pPr algn="l" indent="0" marL="0">
                        <a:buNone/>
                      </a:pPr>
                      <a:r>
                        <a:rPr lang="en-US" sz="1600" b="1" dirty="0">
                          <a:solidFill>
                            <a:schemeClr val="bg1"/>
                          </a:solidFill>
                        </a:rPr>
                        <a:t>支付方式</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凭什么证明你有权花钱</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丢失 / 泄露之后</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谁来背书</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731520">
                <a:tc>
                  <a:txBody>
                    <a:bodyPr/>
                    <a:lstStyle/>
                    <a:p>
                      <a:pPr algn="l" indent="0" marL="0">
                        <a:buNone/>
                      </a:pPr>
                      <a:r>
                        <a:rPr lang="en-US" sz="1600" b="1" dirty="0">
                          <a:solidFill>
                            <a:schemeClr val="tx1"/>
                          </a:solidFill>
                        </a:rPr>
                        <a:t>纸币</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谁持有，谁就是主人</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丢了就没了</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央行</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731520">
                <a:tc>
                  <a:txBody>
                    <a:bodyPr/>
                    <a:lstStyle/>
                    <a:p>
                      <a:pPr algn="l" indent="0" marL="0">
                        <a:buNone/>
                      </a:pPr>
                      <a:r>
                        <a:rPr lang="en-US" sz="1600" b="1" dirty="0">
                          <a:solidFill>
                            <a:schemeClr val="tx1"/>
                          </a:solidFill>
                        </a:rPr>
                        <a:t>支票</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付款人签名 + 账户信息</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可止付</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银行</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731520">
                <a:tc>
                  <a:txBody>
                    <a:bodyPr/>
                    <a:lstStyle/>
                    <a:p>
                      <a:pPr algn="l" indent="0" marL="0">
                        <a:buNone/>
                      </a:pPr>
                      <a:r>
                        <a:rPr lang="en-US" sz="1600" b="1" dirty="0">
                          <a:solidFill>
                            <a:schemeClr val="tx1"/>
                          </a:solidFill>
                        </a:rPr>
                        <a:t>借记卡</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卡号（公开）+ PIN（保密）</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可挂失、可改密码</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银行</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731520">
                <a:tc>
                  <a:txBody>
                    <a:bodyPr/>
                    <a:lstStyle/>
                    <a:p>
                      <a:pPr algn="l" indent="0" marL="0">
                        <a:buNone/>
                      </a:pPr>
                      <a:r>
                        <a:rPr lang="en-US" sz="1600" b="1" dirty="0">
                          <a:solidFill>
                            <a:schemeClr val="tx1"/>
                          </a:solidFill>
                        </a:rPr>
                        <a:t>比特币</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私钥签名</a:t>
                      </a:r>
                      <a:pPr algn="l" indent="0" marL="0">
                        <a:buNone/>
                      </a:pPr>
                      <a:r>
                        <a:rPr lang="en-US" sz="1600" dirty="0">
                          <a:solidFill>
                            <a:schemeClr val="tx1"/>
                          </a:solidFill>
                        </a:rPr>
                        <a:t> + 公开地址</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找不回、追不回</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协议与全网</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6" name="Shape 2"/>
          <p:cNvSpPr/>
          <p:nvPr/>
        </p:nvSpPr>
        <p:spPr>
          <a:xfrm>
            <a:off x="457200" y="5074920"/>
            <a:ext cx="8229600" cy="868680"/>
          </a:xfrm>
          <a:prstGeom prst="roundRect">
            <a:avLst>
              <a:gd name="adj" fmla="val 8421"/>
            </a:avLst>
          </a:prstGeom>
          <a:solidFill>
            <a:schemeClr val="accent1">
              <a:alpha val="12000"/>
            </a:schemeClr>
          </a:solidFill>
          <a:ln w="12700">
            <a:solidFill>
              <a:schemeClr val="accent1">
                <a:alpha val="0"/>
              </a:schemeClr>
            </a:solidFill>
            <a:prstDash val="solid"/>
          </a:ln>
        </p:spPr>
      </p:sp>
      <p:pic>
        <p:nvPicPr>
          <p:cNvPr id="7" name="Image 0" descr="key">    </p:cNvPr>
          <p:cNvPicPr>
            <a:picLocks noChangeAspect="1"/>
          </p:cNvPicPr>
          <p:nvPr/>
        </p:nvPicPr>
        <p:blipFill>
          <a:blip r:embed="rId1"/>
          <a:stretch>
            <a:fillRect/>
          </a:stretch>
        </p:blipFill>
        <p:spPr>
          <a:xfrm>
            <a:off x="640080" y="5317236"/>
            <a:ext cx="384048" cy="384048"/>
          </a:xfrm>
          <a:prstGeom prst="rect">
            <a:avLst/>
          </a:prstGeom>
        </p:spPr>
      </p:pic>
      <p:sp>
        <p:nvSpPr>
          <p:cNvPr id="8" name="Text 3"/>
          <p:cNvSpPr txBox="1"/>
          <p:nvPr/>
        </p:nvSpPr>
        <p:spPr>
          <a:xfrm>
            <a:off x="1188720" y="5148072"/>
            <a:ext cx="7315200" cy="72237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比特币把“证明你有权花钱”从银行手里拿了回来——</a:t>
            </a:r>
            <a:pPr algn="l" indent="0" marL="0">
              <a:lnSpc>
                <a:spcPct val="105000"/>
              </a:lnSpc>
              <a:buNone/>
            </a:pPr>
            <a:r>
              <a:rPr lang="en-US" sz="1700" b="1" dirty="0">
                <a:solidFill>
                  <a:schemeClr val="tx1"/>
                </a:solidFill>
              </a:rPr>
              <a:t>保管的责任也一并拿了回来</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私钥 → 公钥 → 地址：一条只能单向走的链</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来源：secp256k1 曲线参数；比特币地址格式（P2PKH / P2WPKH / P2TR）</a:t>
            </a:r>
            <a:endParaRPr lang="en-US" sz="1000" dirty="0"/>
          </a:p>
        </p:txBody>
      </p:sp>
      <p:sp>
        <p:nvSpPr>
          <p:cNvPr id="6" name="Shape 3"/>
          <p:cNvSpPr/>
          <p:nvPr/>
        </p:nvSpPr>
        <p:spPr>
          <a:xfrm>
            <a:off x="457200" y="1508760"/>
            <a:ext cx="1584960" cy="1051560"/>
          </a:xfrm>
          <a:prstGeom prst="roundRect">
            <a:avLst>
              <a:gd name="adj" fmla="val 6957"/>
            </a:avLst>
          </a:prstGeom>
          <a:solidFill>
            <a:schemeClr val="accent1"/>
          </a:solidFill>
          <a:ln w="12700">
            <a:solidFill>
              <a:schemeClr val="accent1">
                <a:alpha val="0"/>
              </a:schemeClr>
            </a:solidFill>
            <a:prstDash val="solid"/>
          </a:ln>
        </p:spPr>
      </p:sp>
      <p:sp>
        <p:nvSpPr>
          <p:cNvPr id="7" name="Text 4"/>
          <p:cNvSpPr txBox="1"/>
          <p:nvPr/>
        </p:nvSpPr>
        <p:spPr>
          <a:xfrm>
            <a:off x="530352" y="1554480"/>
            <a:ext cx="1438656" cy="960120"/>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私钥</a:t>
            </a:r>
            <a:endParaRPr lang="en-US" sz="1300" dirty="0"/>
          </a:p>
          <a:p>
            <a:pPr algn="ctr" indent="0" marL="0">
              <a:lnSpc>
                <a:spcPct val="105000"/>
              </a:lnSpc>
              <a:buNone/>
            </a:pPr>
            <a:r>
              <a:rPr lang="en-US" sz="1300" dirty="0">
                <a:solidFill>
                  <a:schemeClr val="tx1"/>
                </a:solidFill>
              </a:rPr>
              <a:t>256 位随机数</a:t>
            </a:r>
            <a:endParaRPr lang="en-US" sz="1300" dirty="0"/>
          </a:p>
        </p:txBody>
      </p:sp>
      <p:sp>
        <p:nvSpPr>
          <p:cNvPr id="8" name="Shape 5"/>
          <p:cNvSpPr/>
          <p:nvPr/>
        </p:nvSpPr>
        <p:spPr>
          <a:xfrm>
            <a:off x="2087880" y="2034540"/>
            <a:ext cx="1645920" cy="0"/>
          </a:xfrm>
          <a:prstGeom prst="line">
            <a:avLst/>
          </a:prstGeom>
          <a:noFill/>
          <a:ln w="31750">
            <a:solidFill>
              <a:schemeClr val="accent1"/>
            </a:solidFill>
            <a:prstDash val="solid"/>
            <a:tailEnd type="triangle"/>
          </a:ln>
        </p:spPr>
      </p:sp>
      <p:sp>
        <p:nvSpPr>
          <p:cNvPr id="9" name="Text 6"/>
          <p:cNvSpPr txBox="1"/>
          <p:nvPr/>
        </p:nvSpPr>
        <p:spPr>
          <a:xfrm>
            <a:off x="2060448" y="1467612"/>
            <a:ext cx="170078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椭圆曲线乘法</a:t>
            </a:r>
            <a:endParaRPr lang="en-US" sz="1200" dirty="0"/>
          </a:p>
          <a:p>
            <a:pPr algn="ctr" indent="0" marL="0">
              <a:lnSpc>
                <a:spcPct val="105000"/>
              </a:lnSpc>
              <a:buNone/>
            </a:pPr>
            <a:r>
              <a:rPr lang="en-US" sz="1200" dirty="0">
                <a:solidFill>
                  <a:schemeClr val="accent4"/>
                </a:solidFill>
              </a:rPr>
              <a:t>（单向）</a:t>
            </a:r>
            <a:endParaRPr lang="en-US" sz="1200" dirty="0"/>
          </a:p>
        </p:txBody>
      </p:sp>
      <p:sp>
        <p:nvSpPr>
          <p:cNvPr id="10" name="Shape 7"/>
          <p:cNvSpPr/>
          <p:nvPr/>
        </p:nvSpPr>
        <p:spPr>
          <a:xfrm>
            <a:off x="3779520" y="1508760"/>
            <a:ext cx="1584960" cy="1051560"/>
          </a:xfrm>
          <a:prstGeom prst="roundRect">
            <a:avLst>
              <a:gd name="adj" fmla="val 6957"/>
            </a:avLst>
          </a:prstGeom>
          <a:solidFill>
            <a:schemeClr val="bg2"/>
          </a:solidFill>
          <a:ln w="12700">
            <a:solidFill>
              <a:schemeClr val="bg2">
                <a:alpha val="0"/>
              </a:schemeClr>
            </a:solidFill>
            <a:prstDash val="solid"/>
          </a:ln>
        </p:spPr>
      </p:sp>
      <p:sp>
        <p:nvSpPr>
          <p:cNvPr id="11" name="Text 8"/>
          <p:cNvSpPr txBox="1"/>
          <p:nvPr/>
        </p:nvSpPr>
        <p:spPr>
          <a:xfrm>
            <a:off x="3852672" y="1554480"/>
            <a:ext cx="1438656" cy="960120"/>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公钥</a:t>
            </a:r>
            <a:endParaRPr lang="en-US" sz="1300" dirty="0"/>
          </a:p>
          <a:p>
            <a:pPr algn="ctr" indent="0" marL="0">
              <a:lnSpc>
                <a:spcPct val="105000"/>
              </a:lnSpc>
              <a:buNone/>
            </a:pPr>
            <a:r>
              <a:rPr lang="en-US" sz="1300" dirty="0">
                <a:solidFill>
                  <a:schemeClr val="accent4"/>
                </a:solidFill>
              </a:rPr>
              <a:t>椭圆曲线上的点</a:t>
            </a:r>
            <a:endParaRPr lang="en-US" sz="1300" dirty="0"/>
          </a:p>
        </p:txBody>
      </p:sp>
      <p:sp>
        <p:nvSpPr>
          <p:cNvPr id="12" name="Shape 9"/>
          <p:cNvSpPr/>
          <p:nvPr/>
        </p:nvSpPr>
        <p:spPr>
          <a:xfrm>
            <a:off x="5410200" y="2034540"/>
            <a:ext cx="1645920" cy="0"/>
          </a:xfrm>
          <a:prstGeom prst="line">
            <a:avLst/>
          </a:prstGeom>
          <a:noFill/>
          <a:ln w="31750">
            <a:solidFill>
              <a:schemeClr val="accent1"/>
            </a:solidFill>
            <a:prstDash val="solid"/>
            <a:tailEnd type="triangle"/>
          </a:ln>
        </p:spPr>
      </p:sp>
      <p:sp>
        <p:nvSpPr>
          <p:cNvPr id="13" name="Text 10"/>
          <p:cNvSpPr txBox="1"/>
          <p:nvPr/>
        </p:nvSpPr>
        <p:spPr>
          <a:xfrm>
            <a:off x="5382768" y="1467612"/>
            <a:ext cx="170078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哈希 + 校验码</a:t>
            </a:r>
            <a:endParaRPr lang="en-US" sz="1200" dirty="0"/>
          </a:p>
          <a:p>
            <a:pPr algn="ctr" indent="0" marL="0">
              <a:lnSpc>
                <a:spcPct val="105000"/>
              </a:lnSpc>
              <a:buNone/>
            </a:pPr>
            <a:r>
              <a:rPr lang="en-US" sz="1200" dirty="0">
                <a:solidFill>
                  <a:schemeClr val="accent4"/>
                </a:solidFill>
              </a:rPr>
              <a:t>（单向）</a:t>
            </a:r>
            <a:endParaRPr lang="en-US" sz="1200" dirty="0"/>
          </a:p>
        </p:txBody>
      </p:sp>
      <p:sp>
        <p:nvSpPr>
          <p:cNvPr id="14" name="Shape 11"/>
          <p:cNvSpPr/>
          <p:nvPr/>
        </p:nvSpPr>
        <p:spPr>
          <a:xfrm>
            <a:off x="7101840" y="1508760"/>
            <a:ext cx="1584960" cy="1051560"/>
          </a:xfrm>
          <a:prstGeom prst="roundRect">
            <a:avLst>
              <a:gd name="adj" fmla="val 6957"/>
            </a:avLst>
          </a:prstGeom>
          <a:solidFill>
            <a:schemeClr val="bg2"/>
          </a:solidFill>
          <a:ln w="12700">
            <a:solidFill>
              <a:schemeClr val="bg2">
                <a:alpha val="0"/>
              </a:schemeClr>
            </a:solidFill>
            <a:prstDash val="solid"/>
          </a:ln>
        </p:spPr>
      </p:sp>
      <p:sp>
        <p:nvSpPr>
          <p:cNvPr id="15" name="Text 12"/>
          <p:cNvSpPr txBox="1"/>
          <p:nvPr/>
        </p:nvSpPr>
        <p:spPr>
          <a:xfrm>
            <a:off x="7174992" y="1554480"/>
            <a:ext cx="1438656" cy="960120"/>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地址</a:t>
            </a:r>
            <a:endParaRPr lang="en-US" sz="1300" dirty="0"/>
          </a:p>
          <a:p>
            <a:pPr algn="ctr" indent="0" marL="0">
              <a:lnSpc>
                <a:spcPct val="105000"/>
              </a:lnSpc>
              <a:buNone/>
            </a:pPr>
            <a:r>
              <a:rPr lang="en-US" sz="1300" dirty="0">
                <a:solidFill>
                  <a:schemeClr val="accent4"/>
                </a:solidFill>
              </a:rPr>
              <a:t>bc1q… / 1…</a:t>
            </a:r>
            <a:endParaRPr lang="en-US" sz="1300" dirty="0"/>
          </a:p>
        </p:txBody>
      </p:sp>
      <p:sp>
        <p:nvSpPr>
          <p:cNvPr id="16" name="Shape 13"/>
          <p:cNvSpPr/>
          <p:nvPr/>
        </p:nvSpPr>
        <p:spPr>
          <a:xfrm flipH="1">
            <a:off x="1463040" y="2788920"/>
            <a:ext cx="6217920" cy="0"/>
          </a:xfrm>
          <a:prstGeom prst="line">
            <a:avLst/>
          </a:prstGeom>
          <a:noFill/>
          <a:ln w="25400">
            <a:solidFill>
              <a:schemeClr val="accent2"/>
            </a:solidFill>
            <a:prstDash val="dash"/>
            <a:tailEnd type="triangle"/>
          </a:ln>
        </p:spPr>
      </p:sp>
      <p:sp>
        <p:nvSpPr>
          <p:cNvPr id="17" name="Text 14"/>
          <p:cNvSpPr txBox="1"/>
          <p:nvPr/>
        </p:nvSpPr>
        <p:spPr>
          <a:xfrm>
            <a:off x="2286000" y="2834640"/>
            <a:ext cx="4572000" cy="32004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 无法反向推出（只能暴力穷举）</a:t>
            </a:r>
            <a:endParaRPr lang="en-US" sz="1400" dirty="0"/>
          </a:p>
        </p:txBody>
      </p:sp>
      <p:sp>
        <p:nvSpPr>
          <p:cNvPr id="18" name="Shape 15"/>
          <p:cNvSpPr/>
          <p:nvPr/>
        </p:nvSpPr>
        <p:spPr>
          <a:xfrm>
            <a:off x="457200" y="3383280"/>
            <a:ext cx="2621280" cy="2468880"/>
          </a:xfrm>
          <a:prstGeom prst="roundRect">
            <a:avLst>
              <a:gd name="adj" fmla="val 2963"/>
            </a:avLst>
          </a:prstGeom>
          <a:solidFill>
            <a:schemeClr val="bg2"/>
          </a:solidFill>
          <a:ln w="12700">
            <a:solidFill>
              <a:schemeClr val="bg2">
                <a:alpha val="0"/>
              </a:schemeClr>
            </a:solidFill>
            <a:prstDash val="solid"/>
          </a:ln>
        </p:spPr>
      </p:sp>
      <p:sp>
        <p:nvSpPr>
          <p:cNvPr id="19" name="Text 16"/>
          <p:cNvSpPr txBox="1"/>
          <p:nvPr/>
        </p:nvSpPr>
        <p:spPr>
          <a:xfrm>
            <a:off x="640080" y="3547872"/>
            <a:ext cx="225552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私钥</a:t>
            </a:r>
            <a:endParaRPr lang="en-US" sz="1700" dirty="0"/>
          </a:p>
        </p:txBody>
      </p:sp>
      <p:sp>
        <p:nvSpPr>
          <p:cNvPr id="20" name="Text 17"/>
          <p:cNvSpPr txBox="1"/>
          <p:nvPr/>
        </p:nvSpPr>
        <p:spPr>
          <a:xfrm>
            <a:off x="640080" y="3906012"/>
            <a:ext cx="2255520" cy="1836420"/>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范围 1～n−1，n≈2²⁵⁶−4.3×10³⁸；必须来自密码学安全的随机数。</a:t>
            </a:r>
            <a:endParaRPr lang="en-US" sz="1500" dirty="0"/>
          </a:p>
        </p:txBody>
      </p:sp>
      <p:sp>
        <p:nvSpPr>
          <p:cNvPr id="21" name="Shape 18"/>
          <p:cNvSpPr/>
          <p:nvPr/>
        </p:nvSpPr>
        <p:spPr>
          <a:xfrm>
            <a:off x="3261360" y="3383280"/>
            <a:ext cx="2621280" cy="2468880"/>
          </a:xfrm>
          <a:prstGeom prst="roundRect">
            <a:avLst>
              <a:gd name="adj" fmla="val 2963"/>
            </a:avLst>
          </a:prstGeom>
          <a:solidFill>
            <a:schemeClr val="bg2"/>
          </a:solidFill>
          <a:ln w="12700">
            <a:solidFill>
              <a:schemeClr val="bg2">
                <a:alpha val="0"/>
              </a:schemeClr>
            </a:solidFill>
            <a:prstDash val="solid"/>
          </a:ln>
        </p:spPr>
      </p:sp>
      <p:sp>
        <p:nvSpPr>
          <p:cNvPr id="22" name="Text 19"/>
          <p:cNvSpPr txBox="1"/>
          <p:nvPr/>
        </p:nvSpPr>
        <p:spPr>
          <a:xfrm>
            <a:off x="3444240" y="3547872"/>
            <a:ext cx="225552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签名算法</a:t>
            </a:r>
            <a:endParaRPr lang="en-US" sz="1700" dirty="0"/>
          </a:p>
        </p:txBody>
      </p:sp>
      <p:sp>
        <p:nvSpPr>
          <p:cNvPr id="23" name="Text 20"/>
          <p:cNvSpPr txBox="1"/>
          <p:nvPr/>
        </p:nvSpPr>
        <p:spPr>
          <a:xfrm>
            <a:off x="3444240" y="3906012"/>
            <a:ext cx="2255520" cy="1836420"/>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ECDSA（secp256k1）；2021 年 Taproot 升级加入 Schnorr 签名。</a:t>
            </a:r>
            <a:endParaRPr lang="en-US" sz="1500" dirty="0"/>
          </a:p>
        </p:txBody>
      </p:sp>
      <p:sp>
        <p:nvSpPr>
          <p:cNvPr id="24" name="Shape 21"/>
          <p:cNvSpPr/>
          <p:nvPr/>
        </p:nvSpPr>
        <p:spPr>
          <a:xfrm>
            <a:off x="6065520" y="3383280"/>
            <a:ext cx="2621280" cy="2468880"/>
          </a:xfrm>
          <a:prstGeom prst="roundRect">
            <a:avLst>
              <a:gd name="adj" fmla="val 2963"/>
            </a:avLst>
          </a:prstGeom>
          <a:solidFill>
            <a:schemeClr val="bg2"/>
          </a:solidFill>
          <a:ln w="12700">
            <a:solidFill>
              <a:schemeClr val="bg2">
                <a:alpha val="0"/>
              </a:schemeClr>
            </a:solidFill>
            <a:prstDash val="solid"/>
          </a:ln>
        </p:spPr>
      </p:sp>
      <p:sp>
        <p:nvSpPr>
          <p:cNvPr id="25" name="Text 22"/>
          <p:cNvSpPr txBox="1"/>
          <p:nvPr/>
        </p:nvSpPr>
        <p:spPr>
          <a:xfrm>
            <a:off x="6248400" y="3547872"/>
            <a:ext cx="225552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地址</a:t>
            </a:r>
            <a:endParaRPr lang="en-US" sz="1700" dirty="0"/>
          </a:p>
        </p:txBody>
      </p:sp>
      <p:sp>
        <p:nvSpPr>
          <p:cNvPr id="26" name="Text 23"/>
          <p:cNvSpPr txBox="1"/>
          <p:nvPr/>
        </p:nvSpPr>
        <p:spPr>
          <a:xfrm>
            <a:off x="6248400" y="3906012"/>
            <a:ext cx="2255520" cy="1836420"/>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公钥的哈希 + 校验码：更短、更安全，也让公钥在花费前不暴露。</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比特币的“银行卡”：卡号公开，密码不能改</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pic>
        <p:nvPicPr>
          <p:cNvPr id="5" name="Image 0" descr="“比特币银行卡”示意图">    </p:cNvPr>
          <p:cNvPicPr>
            <a:picLocks noChangeAspect="1"/>
          </p:cNvPicPr>
          <p:nvPr/>
        </p:nvPicPr>
        <p:blipFill>
          <a:blip r:embed="rId1"/>
          <a:stretch>
            <a:fillRect/>
          </a:stretch>
        </p:blipFill>
        <p:spPr>
          <a:xfrm>
            <a:off x="457200" y="1536693"/>
            <a:ext cx="4023360" cy="2321573"/>
          </a:xfrm>
          <a:prstGeom prst="rect">
            <a:avLst/>
          </a:prstGeom>
        </p:spPr>
      </p:pic>
      <p:sp>
        <p:nvSpPr>
          <p:cNvPr id="6" name="Text 2"/>
          <p:cNvSpPr txBox="1"/>
          <p:nvPr/>
        </p:nvSpPr>
        <p:spPr>
          <a:xfrm>
            <a:off x="4754880" y="1463040"/>
            <a:ext cx="3931920" cy="301752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600" b="1" dirty="0">
                <a:solidFill>
                  <a:schemeClr val="tx1"/>
                </a:solidFill>
              </a:rPr>
              <a:t>地址 ≈ 卡号</a:t>
            </a:r>
            <a:pPr algn="l" marL="254000" indent="-254000">
              <a:lnSpc>
                <a:spcPct val="105000"/>
              </a:lnSpc>
              <a:spcAft>
                <a:spcPts val="800"/>
              </a:spcAft>
              <a:buSzPct val="100000"/>
              <a:buChar char="•"/>
            </a:pPr>
            <a:r>
              <a:rPr lang="en-US" sz="1600" dirty="0">
                <a:solidFill>
                  <a:schemeClr val="tx1"/>
                </a:solidFill>
              </a:rPr>
              <a:t>：公开，任何人可查余额</a:t>
            </a:r>
            <a:endParaRPr lang="en-US" sz="1600" dirty="0"/>
          </a:p>
          <a:p>
            <a:pPr algn="l" marL="254000" indent="-254000">
              <a:lnSpc>
                <a:spcPct val="105000"/>
              </a:lnSpc>
              <a:spcAft>
                <a:spcPts val="800"/>
              </a:spcAft>
              <a:buSzPct val="100000"/>
              <a:buChar char="•"/>
            </a:pPr>
            <a:r>
              <a:rPr lang="en-US" sz="1600" b="1" dirty="0">
                <a:solidFill>
                  <a:schemeClr val="tx1"/>
                </a:solidFill>
              </a:rPr>
              <a:t>私钥 ≈ 密码</a:t>
            </a:r>
            <a:pPr algn="l" marL="254000" indent="-254000">
              <a:lnSpc>
                <a:spcPct val="105000"/>
              </a:lnSpc>
              <a:spcAft>
                <a:spcPts val="800"/>
              </a:spcAft>
              <a:buSzPct val="100000"/>
              <a:buChar char="•"/>
            </a:pPr>
            <a:r>
              <a:rPr lang="en-US" sz="1600" dirty="0">
                <a:solidFill>
                  <a:schemeClr val="tx1"/>
                </a:solidFill>
              </a:rPr>
              <a:t>：花钱的唯一凭证</a:t>
            </a:r>
            <a:endParaRPr lang="en-US" sz="1600" dirty="0"/>
          </a:p>
          <a:p>
            <a:pPr algn="l" marL="254000" indent="-254000">
              <a:lnSpc>
                <a:spcPct val="105000"/>
              </a:lnSpc>
              <a:spcAft>
                <a:spcPts val="800"/>
              </a:spcAft>
              <a:buSzPct val="100000"/>
              <a:buChar char="•"/>
            </a:pPr>
            <a:r>
              <a:rPr lang="en-US" sz="1600" dirty="0">
                <a:solidFill>
                  <a:schemeClr val="tx1"/>
                </a:solidFill>
              </a:rPr>
              <a:t>密码</a:t>
            </a:r>
            <a:pPr algn="l" marL="254000" indent="-254000">
              <a:lnSpc>
                <a:spcPct val="105000"/>
              </a:lnSpc>
              <a:spcAft>
                <a:spcPts val="800"/>
              </a:spcAft>
              <a:buSzPct val="100000"/>
              <a:buChar char="•"/>
            </a:pPr>
            <a:r>
              <a:rPr lang="en-US" sz="1600" b="1" dirty="0">
                <a:solidFill>
                  <a:schemeClr val="tx1"/>
                </a:solidFill>
              </a:rPr>
              <a:t>不能改</a:t>
            </a:r>
            <a:pPr algn="l" marL="254000" indent="-254000">
              <a:lnSpc>
                <a:spcPct val="105000"/>
              </a:lnSpc>
              <a:spcAft>
                <a:spcPts val="800"/>
              </a:spcAft>
              <a:buSzPct val="100000"/>
              <a:buChar char="•"/>
            </a:pPr>
            <a:r>
              <a:rPr lang="en-US" sz="1600" dirty="0">
                <a:solidFill>
                  <a:schemeClr val="tx1"/>
                </a:solidFill>
              </a:rPr>
              <a:t>：先有私钥，才有地址；“改密码”＝换新卡并转移资金</a:t>
            </a:r>
            <a:endParaRPr lang="en-US" sz="1600" dirty="0"/>
          </a:p>
          <a:p>
            <a:pPr algn="l" marL="254000" indent="-254000">
              <a:lnSpc>
                <a:spcPct val="105000"/>
              </a:lnSpc>
              <a:buSzPct val="100000"/>
              <a:buChar char="•"/>
            </a:pPr>
            <a:r>
              <a:rPr lang="en-US" sz="1600" b="1" dirty="0">
                <a:solidFill>
                  <a:schemeClr val="tx1"/>
                </a:solidFill>
              </a:rPr>
              <a:t>没有客服、没有挂失</a:t>
            </a:r>
            <a:endParaRPr lang="en-US" sz="1600" dirty="0"/>
          </a:p>
        </p:txBody>
      </p:sp>
      <p:sp>
        <p:nvSpPr>
          <p:cNvPr id="7" name="Shape 3"/>
          <p:cNvSpPr/>
          <p:nvPr/>
        </p:nvSpPr>
        <p:spPr>
          <a:xfrm>
            <a:off x="457200" y="4846320"/>
            <a:ext cx="8229600" cy="868680"/>
          </a:xfrm>
          <a:prstGeom prst="roundRect">
            <a:avLst>
              <a:gd name="adj" fmla="val 8421"/>
            </a:avLst>
          </a:prstGeom>
          <a:solidFill>
            <a:schemeClr val="accent2">
              <a:alpha val="12000"/>
            </a:schemeClr>
          </a:solidFill>
          <a:ln w="12700">
            <a:solidFill>
              <a:schemeClr val="accent2">
                <a:alpha val="0"/>
              </a:schemeClr>
            </a:solidFill>
            <a:prstDash val="solid"/>
          </a:ln>
        </p:spPr>
      </p:sp>
      <p:pic>
        <p:nvPicPr>
          <p:cNvPr id="8" name="Image 1" descr="warn">    </p:cNvPr>
          <p:cNvPicPr>
            <a:picLocks noChangeAspect="1"/>
          </p:cNvPicPr>
          <p:nvPr/>
        </p:nvPicPr>
        <p:blipFill>
          <a:blip r:embed="rId2"/>
          <a:stretch>
            <a:fillRect/>
          </a:stretch>
        </p:blipFill>
        <p:spPr>
          <a:xfrm>
            <a:off x="640080" y="5088636"/>
            <a:ext cx="384048" cy="384048"/>
          </a:xfrm>
          <a:prstGeom prst="rect">
            <a:avLst/>
          </a:prstGeom>
        </p:spPr>
      </p:pic>
      <p:sp>
        <p:nvSpPr>
          <p:cNvPr id="9" name="Text 4"/>
          <p:cNvSpPr txBox="1"/>
          <p:nvPr/>
        </p:nvSpPr>
        <p:spPr>
          <a:xfrm>
            <a:off x="1188720" y="4919472"/>
            <a:ext cx="7315200" cy="72237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账本只记录地址，不记录姓名：比特币是</a:t>
            </a:r>
            <a:pPr algn="l" indent="0" marL="0">
              <a:lnSpc>
                <a:spcPct val="105000"/>
              </a:lnSpc>
              <a:buNone/>
            </a:pPr>
            <a:r>
              <a:rPr lang="en-US" sz="1700" b="1" dirty="0">
                <a:solidFill>
                  <a:schemeClr val="tx1"/>
                </a:solidFill>
              </a:rPr>
              <a:t>假名</a:t>
            </a:r>
            <a:pPr algn="l" indent="0" marL="0">
              <a:lnSpc>
                <a:spcPct val="105000"/>
              </a:lnSpc>
              <a:buNone/>
            </a:pPr>
            <a:r>
              <a:rPr lang="en-US" sz="1700" dirty="0">
                <a:solidFill>
                  <a:schemeClr val="tx1"/>
                </a:solidFill>
              </a:rPr>
              <a:t>，不是匿名。</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谁来替你保管私钥？钱包的四种取舍</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5" name="Shape 2"/>
          <p:cNvSpPr/>
          <p:nvPr/>
        </p:nvSpPr>
        <p:spPr>
          <a:xfrm>
            <a:off x="1554480" y="1417320"/>
            <a:ext cx="3429000" cy="347472"/>
          </a:xfrm>
          <a:prstGeom prst="roundRect">
            <a:avLst>
              <a:gd name="adj" fmla="val 50000"/>
            </a:avLst>
          </a:prstGeom>
          <a:solidFill>
            <a:schemeClr val="tx1"/>
          </a:solidFill>
          <a:ln w="12700">
            <a:solidFill>
              <a:schemeClr val="tx1">
                <a:alpha val="0"/>
              </a:schemeClr>
            </a:solidFill>
            <a:prstDash val="solid"/>
          </a:ln>
        </p:spPr>
      </p:sp>
      <p:sp>
        <p:nvSpPr>
          <p:cNvPr id="6" name="Text 3"/>
          <p:cNvSpPr txBox="1"/>
          <p:nvPr/>
        </p:nvSpPr>
        <p:spPr>
          <a:xfrm>
            <a:off x="1554480" y="1417320"/>
            <a:ext cx="3429000" cy="347472"/>
          </a:xfrm>
          <a:prstGeom prst="rect">
            <a:avLst/>
          </a:prstGeom>
          <a:noFill/>
          <a:ln/>
        </p:spPr>
        <p:txBody>
          <a:bodyPr wrap="square" lIns="0" tIns="0" rIns="0" bIns="0" rtlCol="0" anchor="ctr"/>
          <a:lstStyle/>
          <a:p>
            <a:pPr algn="ctr" indent="0" marL="0">
              <a:buNone/>
            </a:pPr>
            <a:r>
              <a:rPr lang="en-US" sz="1300" b="1" dirty="0">
                <a:solidFill>
                  <a:schemeClr val="bg1"/>
                </a:solidFill>
              </a:rPr>
              <a:t>托管（别人替你保管）</a:t>
            </a:r>
            <a:endParaRPr lang="en-US" sz="1300" dirty="0"/>
          </a:p>
        </p:txBody>
      </p:sp>
      <p:sp>
        <p:nvSpPr>
          <p:cNvPr id="7" name="Shape 4"/>
          <p:cNvSpPr/>
          <p:nvPr/>
        </p:nvSpPr>
        <p:spPr>
          <a:xfrm>
            <a:off x="5120640" y="1417320"/>
            <a:ext cx="3429000" cy="347472"/>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5120640" y="1417320"/>
            <a:ext cx="3429000" cy="347472"/>
          </a:xfrm>
          <a:prstGeom prst="rect">
            <a:avLst/>
          </a:prstGeom>
          <a:noFill/>
          <a:ln/>
        </p:spPr>
        <p:txBody>
          <a:bodyPr wrap="square" lIns="0" tIns="0" rIns="0" bIns="0" rtlCol="0" anchor="ctr"/>
          <a:lstStyle/>
          <a:p>
            <a:pPr algn="ctr" indent="0" marL="0">
              <a:buNone/>
            </a:pPr>
            <a:r>
              <a:rPr lang="en-US" sz="1300" b="1" dirty="0">
                <a:solidFill>
                  <a:schemeClr val="bg1"/>
                </a:solidFill>
              </a:rPr>
              <a:t>自托管（你自己保管）</a:t>
            </a:r>
            <a:endParaRPr lang="en-US" sz="1300" dirty="0"/>
          </a:p>
        </p:txBody>
      </p:sp>
      <p:sp>
        <p:nvSpPr>
          <p:cNvPr id="9" name="Shape 6"/>
          <p:cNvSpPr/>
          <p:nvPr/>
        </p:nvSpPr>
        <p:spPr>
          <a:xfrm>
            <a:off x="457200" y="2331720"/>
            <a:ext cx="960120" cy="365760"/>
          </a:xfrm>
          <a:prstGeom prst="roundRect">
            <a:avLst>
              <a:gd name="adj" fmla="val 50000"/>
            </a:avLst>
          </a:prstGeom>
          <a:solidFill>
            <a:schemeClr val="accent1"/>
          </a:solidFill>
          <a:ln w="12700">
            <a:solidFill>
              <a:schemeClr val="accent1">
                <a:alpha val="0"/>
              </a:schemeClr>
            </a:solidFill>
            <a:prstDash val="solid"/>
          </a:ln>
        </p:spPr>
      </p:sp>
      <p:sp>
        <p:nvSpPr>
          <p:cNvPr id="10" name="Text 7"/>
          <p:cNvSpPr txBox="1"/>
          <p:nvPr/>
        </p:nvSpPr>
        <p:spPr>
          <a:xfrm>
            <a:off x="457200" y="2331720"/>
            <a:ext cx="960120" cy="365760"/>
          </a:xfrm>
          <a:prstGeom prst="rect">
            <a:avLst/>
          </a:prstGeom>
          <a:noFill/>
          <a:ln/>
        </p:spPr>
        <p:txBody>
          <a:bodyPr wrap="square" lIns="0" tIns="0" rIns="0" bIns="0" rtlCol="0" anchor="ctr"/>
          <a:lstStyle/>
          <a:p>
            <a:pPr algn="ctr" indent="0" marL="0">
              <a:buNone/>
            </a:pPr>
            <a:r>
              <a:rPr lang="en-US" sz="1300" b="1" dirty="0">
                <a:solidFill>
                  <a:schemeClr val="tx1"/>
                </a:solidFill>
              </a:rPr>
              <a:t>热 · 联网</a:t>
            </a:r>
            <a:endParaRPr lang="en-US" sz="1300" dirty="0"/>
          </a:p>
        </p:txBody>
      </p:sp>
      <p:sp>
        <p:nvSpPr>
          <p:cNvPr id="11" name="Shape 8"/>
          <p:cNvSpPr/>
          <p:nvPr/>
        </p:nvSpPr>
        <p:spPr>
          <a:xfrm>
            <a:off x="457200" y="4023360"/>
            <a:ext cx="960120" cy="365760"/>
          </a:xfrm>
          <a:prstGeom prst="roundRect">
            <a:avLst>
              <a:gd name="adj" fmla="val 50000"/>
            </a:avLst>
          </a:prstGeom>
          <a:solidFill>
            <a:schemeClr val="accent5"/>
          </a:solidFill>
          <a:ln w="12700">
            <a:solidFill>
              <a:schemeClr val="accent5">
                <a:alpha val="0"/>
              </a:schemeClr>
            </a:solidFill>
            <a:prstDash val="solid"/>
          </a:ln>
        </p:spPr>
      </p:sp>
      <p:sp>
        <p:nvSpPr>
          <p:cNvPr id="12" name="Text 9"/>
          <p:cNvSpPr txBox="1"/>
          <p:nvPr/>
        </p:nvSpPr>
        <p:spPr>
          <a:xfrm>
            <a:off x="457200" y="4023360"/>
            <a:ext cx="960120" cy="365760"/>
          </a:xfrm>
          <a:prstGeom prst="rect">
            <a:avLst/>
          </a:prstGeom>
          <a:noFill/>
          <a:ln/>
        </p:spPr>
        <p:txBody>
          <a:bodyPr wrap="square" lIns="0" tIns="0" rIns="0" bIns="0" rtlCol="0" anchor="ctr"/>
          <a:lstStyle/>
          <a:p>
            <a:pPr algn="ctr" indent="0" marL="0">
              <a:buNone/>
            </a:pPr>
            <a:r>
              <a:rPr lang="en-US" sz="1300" b="1" dirty="0">
                <a:solidFill>
                  <a:schemeClr val="tx1"/>
                </a:solidFill>
              </a:rPr>
              <a:t>冷 · 离线</a:t>
            </a:r>
            <a:endParaRPr lang="en-US" sz="1300" dirty="0"/>
          </a:p>
        </p:txBody>
      </p:sp>
      <p:sp>
        <p:nvSpPr>
          <p:cNvPr id="13" name="Shape 10"/>
          <p:cNvSpPr/>
          <p:nvPr/>
        </p:nvSpPr>
        <p:spPr>
          <a:xfrm>
            <a:off x="1554480" y="1874520"/>
            <a:ext cx="3429000" cy="1554480"/>
          </a:xfrm>
          <a:prstGeom prst="roundRect">
            <a:avLst>
              <a:gd name="adj" fmla="val 4706"/>
            </a:avLst>
          </a:prstGeom>
          <a:solidFill>
            <a:schemeClr val="bg2"/>
          </a:solidFill>
          <a:ln w="12700">
            <a:solidFill>
              <a:schemeClr val="bg2">
                <a:alpha val="0"/>
              </a:schemeClr>
            </a:solidFill>
            <a:prstDash val="solid"/>
          </a:ln>
        </p:spPr>
      </p:sp>
      <p:sp>
        <p:nvSpPr>
          <p:cNvPr id="14" name="Shape 11"/>
          <p:cNvSpPr/>
          <p:nvPr/>
        </p:nvSpPr>
        <p:spPr>
          <a:xfrm>
            <a:off x="1691640" y="2011680"/>
            <a:ext cx="457200" cy="457200"/>
          </a:xfrm>
          <a:prstGeom prst="ellipse">
            <a:avLst/>
          </a:prstGeom>
          <a:solidFill>
            <a:schemeClr val="accent1"/>
          </a:solidFill>
          <a:ln w="12700">
            <a:solidFill>
              <a:schemeClr val="accent1">
                <a:alpha val="0"/>
              </a:schemeClr>
            </a:solidFill>
            <a:prstDash val="solid"/>
          </a:ln>
        </p:spPr>
      </p:sp>
      <p:pic>
        <p:nvPicPr>
          <p:cNvPr id="15" name="Image 0" descr="FaUniversity">    </p:cNvPr>
          <p:cNvPicPr>
            <a:picLocks noChangeAspect="1"/>
          </p:cNvPicPr>
          <p:nvPr/>
        </p:nvPicPr>
        <p:blipFill>
          <a:blip r:embed="rId1"/>
          <a:stretch>
            <a:fillRect/>
          </a:stretch>
        </p:blipFill>
        <p:spPr>
          <a:xfrm>
            <a:off x="1792224" y="2112264"/>
            <a:ext cx="256032" cy="256032"/>
          </a:xfrm>
          <a:prstGeom prst="rect">
            <a:avLst/>
          </a:prstGeom>
        </p:spPr>
      </p:pic>
      <p:sp>
        <p:nvSpPr>
          <p:cNvPr id="16" name="Text 12"/>
          <p:cNvSpPr txBox="1"/>
          <p:nvPr/>
        </p:nvSpPr>
        <p:spPr>
          <a:xfrm>
            <a:off x="2286000" y="2057400"/>
            <a:ext cx="260604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交易所账户</a:t>
            </a:r>
            <a:endParaRPr lang="en-US" sz="1600" dirty="0"/>
          </a:p>
        </p:txBody>
      </p:sp>
      <p:sp>
        <p:nvSpPr>
          <p:cNvPr id="17" name="Text 13"/>
          <p:cNvSpPr txBox="1"/>
          <p:nvPr/>
        </p:nvSpPr>
        <p:spPr>
          <a:xfrm>
            <a:off x="1691640" y="2587752"/>
            <a:ext cx="3154680" cy="77724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方便，但“不是你的钥匙，就不是你的币”。</a:t>
            </a:r>
            <a:endParaRPr lang="en-US" sz="1400" dirty="0"/>
          </a:p>
        </p:txBody>
      </p:sp>
      <p:sp>
        <p:nvSpPr>
          <p:cNvPr id="18" name="Shape 14"/>
          <p:cNvSpPr/>
          <p:nvPr/>
        </p:nvSpPr>
        <p:spPr>
          <a:xfrm>
            <a:off x="5120640" y="1874520"/>
            <a:ext cx="3429000" cy="1554480"/>
          </a:xfrm>
          <a:prstGeom prst="roundRect">
            <a:avLst>
              <a:gd name="adj" fmla="val 4706"/>
            </a:avLst>
          </a:prstGeom>
          <a:solidFill>
            <a:schemeClr val="bg2"/>
          </a:solidFill>
          <a:ln w="12700">
            <a:solidFill>
              <a:schemeClr val="bg2">
                <a:alpha val="0"/>
              </a:schemeClr>
            </a:solidFill>
            <a:prstDash val="solid"/>
          </a:ln>
        </p:spPr>
      </p:sp>
      <p:sp>
        <p:nvSpPr>
          <p:cNvPr id="19" name="Shape 15"/>
          <p:cNvSpPr/>
          <p:nvPr/>
        </p:nvSpPr>
        <p:spPr>
          <a:xfrm>
            <a:off x="5257800" y="2011680"/>
            <a:ext cx="457200" cy="457200"/>
          </a:xfrm>
          <a:prstGeom prst="ellipse">
            <a:avLst/>
          </a:prstGeom>
          <a:solidFill>
            <a:schemeClr val="accent1"/>
          </a:solidFill>
          <a:ln w="12700">
            <a:solidFill>
              <a:schemeClr val="accent1">
                <a:alpha val="0"/>
              </a:schemeClr>
            </a:solidFill>
            <a:prstDash val="solid"/>
          </a:ln>
        </p:spPr>
      </p:sp>
      <p:pic>
        <p:nvPicPr>
          <p:cNvPr id="20" name="Image 1" descr="FaMobileAlt">    </p:cNvPr>
          <p:cNvPicPr>
            <a:picLocks noChangeAspect="1"/>
          </p:cNvPicPr>
          <p:nvPr/>
        </p:nvPicPr>
        <p:blipFill>
          <a:blip r:embed="rId2"/>
          <a:stretch>
            <a:fillRect/>
          </a:stretch>
        </p:blipFill>
        <p:spPr>
          <a:xfrm>
            <a:off x="5358384" y="2112264"/>
            <a:ext cx="256032" cy="256032"/>
          </a:xfrm>
          <a:prstGeom prst="rect">
            <a:avLst/>
          </a:prstGeom>
        </p:spPr>
      </p:pic>
      <p:sp>
        <p:nvSpPr>
          <p:cNvPr id="21" name="Text 16"/>
          <p:cNvSpPr txBox="1"/>
          <p:nvPr/>
        </p:nvSpPr>
        <p:spPr>
          <a:xfrm>
            <a:off x="5852160" y="2057400"/>
            <a:ext cx="260604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手机 / 桌面钱包</a:t>
            </a:r>
            <a:endParaRPr lang="en-US" sz="1600" dirty="0"/>
          </a:p>
        </p:txBody>
      </p:sp>
      <p:sp>
        <p:nvSpPr>
          <p:cNvPr id="22" name="Text 17"/>
          <p:cNvSpPr txBox="1"/>
          <p:nvPr/>
        </p:nvSpPr>
        <p:spPr>
          <a:xfrm>
            <a:off x="5257800" y="2587752"/>
            <a:ext cx="3154680" cy="77724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私钥在你手里，但设备联网，要防木马与钓鱼。</a:t>
            </a:r>
            <a:endParaRPr lang="en-US" sz="1400" dirty="0"/>
          </a:p>
        </p:txBody>
      </p:sp>
      <p:sp>
        <p:nvSpPr>
          <p:cNvPr id="23" name="Shape 18"/>
          <p:cNvSpPr/>
          <p:nvPr/>
        </p:nvSpPr>
        <p:spPr>
          <a:xfrm>
            <a:off x="1554480" y="3566160"/>
            <a:ext cx="3429000" cy="1554480"/>
          </a:xfrm>
          <a:prstGeom prst="roundRect">
            <a:avLst>
              <a:gd name="adj" fmla="val 4706"/>
            </a:avLst>
          </a:prstGeom>
          <a:solidFill>
            <a:schemeClr val="bg2"/>
          </a:solidFill>
          <a:ln w="12700">
            <a:solidFill>
              <a:schemeClr val="bg2">
                <a:alpha val="0"/>
              </a:schemeClr>
            </a:solidFill>
            <a:prstDash val="solid"/>
          </a:ln>
        </p:spPr>
      </p:sp>
      <p:sp>
        <p:nvSpPr>
          <p:cNvPr id="24" name="Shape 19"/>
          <p:cNvSpPr/>
          <p:nvPr/>
        </p:nvSpPr>
        <p:spPr>
          <a:xfrm>
            <a:off x="1691640" y="3703320"/>
            <a:ext cx="457200" cy="457200"/>
          </a:xfrm>
          <a:prstGeom prst="ellipse">
            <a:avLst/>
          </a:prstGeom>
          <a:solidFill>
            <a:schemeClr val="accent1"/>
          </a:solidFill>
          <a:ln w="12700">
            <a:solidFill>
              <a:schemeClr val="accent1">
                <a:alpha val="0"/>
              </a:schemeClr>
            </a:solidFill>
            <a:prstDash val="solid"/>
          </a:ln>
        </p:spPr>
      </p:sp>
      <p:pic>
        <p:nvPicPr>
          <p:cNvPr id="25" name="Image 2" descr="FaLock">    </p:cNvPr>
          <p:cNvPicPr>
            <a:picLocks noChangeAspect="1"/>
          </p:cNvPicPr>
          <p:nvPr/>
        </p:nvPicPr>
        <p:blipFill>
          <a:blip r:embed="rId3"/>
          <a:stretch>
            <a:fillRect/>
          </a:stretch>
        </p:blipFill>
        <p:spPr>
          <a:xfrm>
            <a:off x="1792224" y="3803904"/>
            <a:ext cx="256032" cy="256032"/>
          </a:xfrm>
          <a:prstGeom prst="rect">
            <a:avLst/>
          </a:prstGeom>
        </p:spPr>
      </p:pic>
      <p:sp>
        <p:nvSpPr>
          <p:cNvPr id="26" name="Text 20"/>
          <p:cNvSpPr txBox="1"/>
          <p:nvPr/>
        </p:nvSpPr>
        <p:spPr>
          <a:xfrm>
            <a:off x="2286000" y="3749040"/>
            <a:ext cx="260604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机构级托管</a:t>
            </a:r>
            <a:endParaRPr lang="en-US" sz="1600" dirty="0"/>
          </a:p>
        </p:txBody>
      </p:sp>
      <p:sp>
        <p:nvSpPr>
          <p:cNvPr id="27" name="Text 21"/>
          <p:cNvSpPr txBox="1"/>
          <p:nvPr/>
        </p:nvSpPr>
        <p:spPr>
          <a:xfrm>
            <a:off x="1691640" y="4279392"/>
            <a:ext cx="3154680" cy="77724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离线保管 + 保险与审计，例如 ETF 的托管人。</a:t>
            </a:r>
            <a:endParaRPr lang="en-US" sz="1400" dirty="0"/>
          </a:p>
        </p:txBody>
      </p:sp>
      <p:sp>
        <p:nvSpPr>
          <p:cNvPr id="28" name="Shape 22"/>
          <p:cNvSpPr/>
          <p:nvPr/>
        </p:nvSpPr>
        <p:spPr>
          <a:xfrm>
            <a:off x="5120640" y="3566160"/>
            <a:ext cx="3429000" cy="1554480"/>
          </a:xfrm>
          <a:prstGeom prst="roundRect">
            <a:avLst>
              <a:gd name="adj" fmla="val 4706"/>
            </a:avLst>
          </a:prstGeom>
          <a:solidFill>
            <a:schemeClr val="bg2"/>
          </a:solidFill>
          <a:ln w="12700">
            <a:solidFill>
              <a:schemeClr val="bg2">
                <a:alpha val="0"/>
              </a:schemeClr>
            </a:solidFill>
            <a:prstDash val="solid"/>
          </a:ln>
        </p:spPr>
      </p:sp>
      <p:sp>
        <p:nvSpPr>
          <p:cNvPr id="29" name="Shape 23"/>
          <p:cNvSpPr/>
          <p:nvPr/>
        </p:nvSpPr>
        <p:spPr>
          <a:xfrm>
            <a:off x="5257800" y="3703320"/>
            <a:ext cx="457200" cy="457200"/>
          </a:xfrm>
          <a:prstGeom prst="ellipse">
            <a:avLst/>
          </a:prstGeom>
          <a:solidFill>
            <a:schemeClr val="accent1"/>
          </a:solidFill>
          <a:ln w="12700">
            <a:solidFill>
              <a:schemeClr val="accent1">
                <a:alpha val="0"/>
              </a:schemeClr>
            </a:solidFill>
            <a:prstDash val="solid"/>
          </a:ln>
        </p:spPr>
      </p:sp>
      <p:pic>
        <p:nvPicPr>
          <p:cNvPr id="30" name="Image 3" descr="FaKey">    </p:cNvPr>
          <p:cNvPicPr>
            <a:picLocks noChangeAspect="1"/>
          </p:cNvPicPr>
          <p:nvPr/>
        </p:nvPicPr>
        <p:blipFill>
          <a:blip r:embed="rId4"/>
          <a:stretch>
            <a:fillRect/>
          </a:stretch>
        </p:blipFill>
        <p:spPr>
          <a:xfrm>
            <a:off x="5358384" y="3803904"/>
            <a:ext cx="256032" cy="256032"/>
          </a:xfrm>
          <a:prstGeom prst="rect">
            <a:avLst/>
          </a:prstGeom>
        </p:spPr>
      </p:pic>
      <p:sp>
        <p:nvSpPr>
          <p:cNvPr id="31" name="Text 24"/>
          <p:cNvSpPr txBox="1"/>
          <p:nvPr/>
        </p:nvSpPr>
        <p:spPr>
          <a:xfrm>
            <a:off x="5852160" y="3749040"/>
            <a:ext cx="260604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硬件钱包 + 助记词</a:t>
            </a:r>
            <a:endParaRPr lang="en-US" sz="1600" dirty="0"/>
          </a:p>
        </p:txBody>
      </p:sp>
      <p:sp>
        <p:nvSpPr>
          <p:cNvPr id="32" name="Text 25"/>
          <p:cNvSpPr txBox="1"/>
          <p:nvPr/>
        </p:nvSpPr>
        <p:spPr>
          <a:xfrm>
            <a:off x="5257800" y="4279392"/>
            <a:ext cx="3154680" cy="77724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私钥不出设备；助记词离线抄写，可配合多签。</a:t>
            </a:r>
            <a:endParaRPr lang="en-US" sz="1400" dirty="0"/>
          </a:p>
        </p:txBody>
      </p:sp>
      <p:sp>
        <p:nvSpPr>
          <p:cNvPr id="33" name="Shape 26"/>
          <p:cNvSpPr/>
          <p:nvPr/>
        </p:nvSpPr>
        <p:spPr>
          <a:xfrm>
            <a:off x="457200" y="5257800"/>
            <a:ext cx="8229600" cy="822960"/>
          </a:xfrm>
          <a:prstGeom prst="roundRect">
            <a:avLst>
              <a:gd name="adj" fmla="val 8889"/>
            </a:avLst>
          </a:prstGeom>
          <a:solidFill>
            <a:schemeClr val="accent1">
              <a:alpha val="12000"/>
            </a:schemeClr>
          </a:solidFill>
          <a:ln w="12700">
            <a:solidFill>
              <a:schemeClr val="accent1">
                <a:alpha val="0"/>
              </a:schemeClr>
            </a:solidFill>
            <a:prstDash val="solid"/>
          </a:ln>
        </p:spPr>
      </p:sp>
      <p:pic>
        <p:nvPicPr>
          <p:cNvPr id="34" name="Image 4" descr="key">    </p:cNvPr>
          <p:cNvPicPr>
            <a:picLocks noChangeAspect="1"/>
          </p:cNvPicPr>
          <p:nvPr/>
        </p:nvPicPr>
        <p:blipFill>
          <a:blip r:embed="rId5"/>
          <a:stretch>
            <a:fillRect/>
          </a:stretch>
        </p:blipFill>
        <p:spPr>
          <a:xfrm>
            <a:off x="640080" y="5477256"/>
            <a:ext cx="384048" cy="384048"/>
          </a:xfrm>
          <a:prstGeom prst="rect">
            <a:avLst/>
          </a:prstGeom>
        </p:spPr>
      </p:pic>
      <p:sp>
        <p:nvSpPr>
          <p:cNvPr id="35" name="Text 27"/>
          <p:cNvSpPr txBox="1"/>
          <p:nvPr/>
        </p:nvSpPr>
        <p:spPr>
          <a:xfrm>
            <a:off x="1188720" y="5330952"/>
            <a:ext cx="7315200" cy="676656"/>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助记词（BIP39，12/24 个词）</a:t>
            </a:r>
            <a:pPr algn="l" indent="0" marL="0">
              <a:lnSpc>
                <a:spcPct val="105000"/>
              </a:lnSpc>
              <a:buNone/>
            </a:pPr>
            <a:r>
              <a:rPr lang="en-US" sz="1400" dirty="0">
                <a:solidFill>
                  <a:schemeClr val="tx1"/>
                </a:solidFill>
              </a:rPr>
              <a:t>是私钥的标准备份；纸钱包、脑钱包已被淘汰（脑钱包会被字典攻击扫光）。</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私钥的安全：随机数、保管，以及远处的量子阴影</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积木一 · 密码学</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来源：Bitcoin 开发者社区讨论；Google Quantum AI（2026-03，据媒体报道）；BIP-360</a:t>
            </a:r>
            <a:endParaRPr lang="en-US" sz="1000" dirty="0"/>
          </a:p>
        </p:txBody>
      </p:sp>
      <p:sp>
        <p:nvSpPr>
          <p:cNvPr id="6" name="Shape 3"/>
          <p:cNvSpPr/>
          <p:nvPr/>
        </p:nvSpPr>
        <p:spPr>
          <a:xfrm>
            <a:off x="457200" y="1463040"/>
            <a:ext cx="2621280" cy="3383280"/>
          </a:xfrm>
          <a:prstGeom prst="roundRect">
            <a:avLst>
              <a:gd name="adj" fmla="val 2791"/>
            </a:avLst>
          </a:prstGeom>
          <a:solidFill>
            <a:schemeClr val="bg2"/>
          </a:solidFill>
          <a:ln w="12700">
            <a:solidFill>
              <a:schemeClr val="bg2">
                <a:alpha val="0"/>
              </a:schemeClr>
            </a:solidFill>
            <a:prstDash val="solid"/>
          </a:ln>
        </p:spPr>
      </p:sp>
      <p:sp>
        <p:nvSpPr>
          <p:cNvPr id="7" name="Shape 4"/>
          <p:cNvSpPr/>
          <p:nvPr/>
        </p:nvSpPr>
        <p:spPr>
          <a:xfrm>
            <a:off x="640080" y="1627632"/>
            <a:ext cx="502920" cy="502920"/>
          </a:xfrm>
          <a:prstGeom prst="ellipse">
            <a:avLst/>
          </a:prstGeom>
          <a:solidFill>
            <a:schemeClr val="accent1"/>
          </a:solidFill>
          <a:ln w="12700">
            <a:solidFill>
              <a:schemeClr val="accent1">
                <a:alpha val="0"/>
              </a:schemeClr>
            </a:solidFill>
            <a:prstDash val="solid"/>
          </a:ln>
        </p:spPr>
      </p:sp>
      <p:pic>
        <p:nvPicPr>
          <p:cNvPr id="8" name="Image 0" descr="FaRandom">    </p:cNvPr>
          <p:cNvPicPr>
            <a:picLocks noChangeAspect="1"/>
          </p:cNvPicPr>
          <p:nvPr/>
        </p:nvPicPr>
        <p:blipFill>
          <a:blip r:embed="rId1"/>
          <a:stretch>
            <a:fillRect/>
          </a:stretch>
        </p:blipFill>
        <p:spPr>
          <a:xfrm>
            <a:off x="750722" y="1738274"/>
            <a:ext cx="281635" cy="281635"/>
          </a:xfrm>
          <a:prstGeom prst="rect">
            <a:avLst/>
          </a:prstGeom>
        </p:spPr>
      </p:pic>
      <p:sp>
        <p:nvSpPr>
          <p:cNvPr id="9" name="Text 5"/>
          <p:cNvSpPr txBox="1"/>
          <p:nvPr/>
        </p:nvSpPr>
        <p:spPr>
          <a:xfrm>
            <a:off x="64008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随机数</a:t>
            </a:r>
            <a:endParaRPr lang="en-US" sz="1800" dirty="0"/>
          </a:p>
        </p:txBody>
      </p:sp>
      <p:sp>
        <p:nvSpPr>
          <p:cNvPr id="10" name="Text 6"/>
          <p:cNvSpPr txBox="1"/>
          <p:nvPr/>
        </p:nvSpPr>
        <p:spPr>
          <a:xfrm>
            <a:off x="640080" y="2624328"/>
            <a:ext cx="2255520" cy="2112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必须用密码学安全的随机数发生器（CSPRNG）。2013 年 Android 的缺陷曾导致私钥被推出、比特币被盗。</a:t>
            </a:r>
            <a:endParaRPr lang="en-US" sz="1400" dirty="0"/>
          </a:p>
        </p:txBody>
      </p:sp>
      <p:sp>
        <p:nvSpPr>
          <p:cNvPr id="11" name="Shape 7"/>
          <p:cNvSpPr/>
          <p:nvPr/>
        </p:nvSpPr>
        <p:spPr>
          <a:xfrm>
            <a:off x="3261360" y="1463040"/>
            <a:ext cx="2621280" cy="3383280"/>
          </a:xfrm>
          <a:prstGeom prst="roundRect">
            <a:avLst>
              <a:gd name="adj" fmla="val 2791"/>
            </a:avLst>
          </a:prstGeom>
          <a:solidFill>
            <a:schemeClr val="bg2"/>
          </a:solidFill>
          <a:ln w="12700">
            <a:solidFill>
              <a:schemeClr val="bg2">
                <a:alpha val="0"/>
              </a:schemeClr>
            </a:solidFill>
            <a:prstDash val="solid"/>
          </a:ln>
        </p:spPr>
      </p:sp>
      <p:sp>
        <p:nvSpPr>
          <p:cNvPr id="12" name="Shape 8"/>
          <p:cNvSpPr/>
          <p:nvPr/>
        </p:nvSpPr>
        <p:spPr>
          <a:xfrm>
            <a:off x="3444240" y="1627632"/>
            <a:ext cx="502920" cy="502920"/>
          </a:xfrm>
          <a:prstGeom prst="ellipse">
            <a:avLst/>
          </a:prstGeom>
          <a:solidFill>
            <a:schemeClr val="accent1"/>
          </a:solidFill>
          <a:ln w="12700">
            <a:solidFill>
              <a:schemeClr val="accent1">
                <a:alpha val="0"/>
              </a:schemeClr>
            </a:solidFill>
            <a:prstDash val="solid"/>
          </a:ln>
        </p:spPr>
      </p:sp>
      <p:pic>
        <p:nvPicPr>
          <p:cNvPr id="13" name="Image 1" descr="FaLock">    </p:cNvPr>
          <p:cNvPicPr>
            <a:picLocks noChangeAspect="1"/>
          </p:cNvPicPr>
          <p:nvPr/>
        </p:nvPicPr>
        <p:blipFill>
          <a:blip r:embed="rId2"/>
          <a:stretch>
            <a:fillRect/>
          </a:stretch>
        </p:blipFill>
        <p:spPr>
          <a:xfrm>
            <a:off x="3554882" y="1738274"/>
            <a:ext cx="281635" cy="281635"/>
          </a:xfrm>
          <a:prstGeom prst="rect">
            <a:avLst/>
          </a:prstGeom>
        </p:spPr>
      </p:pic>
      <p:sp>
        <p:nvSpPr>
          <p:cNvPr id="14" name="Text 9"/>
          <p:cNvSpPr txBox="1"/>
          <p:nvPr/>
        </p:nvSpPr>
        <p:spPr>
          <a:xfrm>
            <a:off x="344424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保管</a:t>
            </a:r>
            <a:endParaRPr lang="en-US" sz="1800" dirty="0"/>
          </a:p>
        </p:txBody>
      </p:sp>
      <p:sp>
        <p:nvSpPr>
          <p:cNvPr id="15" name="Text 10"/>
          <p:cNvSpPr txBox="1"/>
          <p:nvPr/>
        </p:nvSpPr>
        <p:spPr>
          <a:xfrm>
            <a:off x="3444240" y="2624328"/>
            <a:ext cx="2255520" cy="2112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助记词只离线备份；永远不要输入网站、发给“客服”或拍照上传。</a:t>
            </a:r>
            <a:endParaRPr lang="en-US" sz="1400" dirty="0"/>
          </a:p>
        </p:txBody>
      </p:sp>
      <p:sp>
        <p:nvSpPr>
          <p:cNvPr id="16" name="Shape 11"/>
          <p:cNvSpPr/>
          <p:nvPr/>
        </p:nvSpPr>
        <p:spPr>
          <a:xfrm>
            <a:off x="6065520" y="1463040"/>
            <a:ext cx="2621280" cy="3383280"/>
          </a:xfrm>
          <a:prstGeom prst="roundRect">
            <a:avLst>
              <a:gd name="adj" fmla="val 2791"/>
            </a:avLst>
          </a:prstGeom>
          <a:solidFill>
            <a:schemeClr val="bg2"/>
          </a:solidFill>
          <a:ln w="12700">
            <a:solidFill>
              <a:schemeClr val="bg2">
                <a:alpha val="0"/>
              </a:schemeClr>
            </a:solidFill>
            <a:prstDash val="solid"/>
          </a:ln>
        </p:spPr>
      </p:sp>
      <p:sp>
        <p:nvSpPr>
          <p:cNvPr id="17" name="Shape 12"/>
          <p:cNvSpPr/>
          <p:nvPr/>
        </p:nvSpPr>
        <p:spPr>
          <a:xfrm>
            <a:off x="6248400" y="1627632"/>
            <a:ext cx="502920" cy="502920"/>
          </a:xfrm>
          <a:prstGeom prst="ellipse">
            <a:avLst/>
          </a:prstGeom>
          <a:solidFill>
            <a:schemeClr val="accent1"/>
          </a:solidFill>
          <a:ln w="12700">
            <a:solidFill>
              <a:schemeClr val="accent1">
                <a:alpha val="0"/>
              </a:schemeClr>
            </a:solidFill>
            <a:prstDash val="solid"/>
          </a:ln>
        </p:spPr>
      </p:sp>
      <p:pic>
        <p:nvPicPr>
          <p:cNvPr id="18" name="Image 2" descr="FaMicrochip">    </p:cNvPr>
          <p:cNvPicPr>
            <a:picLocks noChangeAspect="1"/>
          </p:cNvPicPr>
          <p:nvPr/>
        </p:nvPicPr>
        <p:blipFill>
          <a:blip r:embed="rId3"/>
          <a:stretch>
            <a:fillRect/>
          </a:stretch>
        </p:blipFill>
        <p:spPr>
          <a:xfrm>
            <a:off x="6359042" y="1738274"/>
            <a:ext cx="281635" cy="281635"/>
          </a:xfrm>
          <a:prstGeom prst="rect">
            <a:avLst/>
          </a:prstGeom>
        </p:spPr>
      </p:pic>
      <p:sp>
        <p:nvSpPr>
          <p:cNvPr id="19" name="Text 13"/>
          <p:cNvSpPr txBox="1"/>
          <p:nvPr/>
        </p:nvSpPr>
        <p:spPr>
          <a:xfrm>
            <a:off x="624840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量子计算（远期）</a:t>
            </a:r>
            <a:endParaRPr lang="en-US" sz="1800" dirty="0"/>
          </a:p>
        </p:txBody>
      </p:sp>
      <p:sp>
        <p:nvSpPr>
          <p:cNvPr id="20" name="Text 14"/>
          <p:cNvSpPr txBox="1"/>
          <p:nvPr/>
        </p:nvSpPr>
        <p:spPr>
          <a:xfrm>
            <a:off x="6248400" y="2624328"/>
            <a:ext cx="2255520" cy="2112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理论上可从公钥推出私钥；至今没有这样的机器。社区已在讨论抗量子升级。</a:t>
            </a:r>
            <a:endParaRPr lang="en-US" sz="1400" dirty="0"/>
          </a:p>
        </p:txBody>
      </p:sp>
      <p:sp>
        <p:nvSpPr>
          <p:cNvPr id="21" name="Shape 15"/>
          <p:cNvSpPr/>
          <p:nvPr/>
        </p:nvSpPr>
        <p:spPr>
          <a:xfrm>
            <a:off x="457200" y="5074920"/>
            <a:ext cx="8229600" cy="822960"/>
          </a:xfrm>
          <a:prstGeom prst="roundRect">
            <a:avLst>
              <a:gd name="adj" fmla="val 8889"/>
            </a:avLst>
          </a:prstGeom>
          <a:solidFill>
            <a:schemeClr val="accent2">
              <a:alpha val="12000"/>
            </a:schemeClr>
          </a:solidFill>
          <a:ln w="12700">
            <a:solidFill>
              <a:schemeClr val="accent2">
                <a:alpha val="0"/>
              </a:schemeClr>
            </a:solidFill>
            <a:prstDash val="solid"/>
          </a:ln>
        </p:spPr>
      </p:sp>
      <p:pic>
        <p:nvPicPr>
          <p:cNvPr id="22" name="Image 3" descr="warn">    </p:cNvPr>
          <p:cNvPicPr>
            <a:picLocks noChangeAspect="1"/>
          </p:cNvPicPr>
          <p:nvPr/>
        </p:nvPicPr>
        <p:blipFill>
          <a:blip r:embed="rId4"/>
          <a:stretch>
            <a:fillRect/>
          </a:stretch>
        </p:blipFill>
        <p:spPr>
          <a:xfrm>
            <a:off x="640080" y="5294376"/>
            <a:ext cx="384048" cy="384048"/>
          </a:xfrm>
          <a:prstGeom prst="rect">
            <a:avLst/>
          </a:prstGeom>
        </p:spPr>
      </p:pic>
      <p:sp>
        <p:nvSpPr>
          <p:cNvPr id="23" name="Text 16"/>
          <p:cNvSpPr txBox="1"/>
          <p:nvPr/>
        </p:nvSpPr>
        <p:spPr>
          <a:xfrm>
            <a:off x="1188720" y="5148072"/>
            <a:ext cx="7315200" cy="67665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私钥一旦泄露或丢失，</a:t>
            </a:r>
            <a:pPr algn="l" indent="0" marL="0">
              <a:lnSpc>
                <a:spcPct val="105000"/>
              </a:lnSpc>
              <a:buNone/>
            </a:pPr>
            <a:r>
              <a:rPr lang="en-US" sz="1700" b="1" dirty="0">
                <a:solidFill>
                  <a:schemeClr val="tx1"/>
                </a:solidFill>
              </a:rPr>
              <a:t>没有任何机构可以替你找回或撤销</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随堂小测：密钥与签名</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随堂小测 · 积木一</a:t>
            </a:r>
            <a:endParaRPr lang="en-US" sz="1200" dirty="0"/>
          </a:p>
        </p:txBody>
      </p:sp>
      <p:sp>
        <p:nvSpPr>
          <p:cNvPr id="5" name="Shape 2"/>
          <p:cNvSpPr/>
          <p:nvPr/>
        </p:nvSpPr>
        <p:spPr>
          <a:xfrm>
            <a:off x="457200" y="1371600"/>
            <a:ext cx="8229600" cy="1417320"/>
          </a:xfrm>
          <a:prstGeom prst="roundRect">
            <a:avLst>
              <a:gd name="adj" fmla="val 5161"/>
            </a:avLst>
          </a:prstGeom>
          <a:solidFill>
            <a:schemeClr val="bg2"/>
          </a:solidFill>
          <a:ln w="12700">
            <a:solidFill>
              <a:schemeClr val="bg2">
                <a:alpha val="0"/>
              </a:schemeClr>
            </a:solidFill>
            <a:prstDash val="solid"/>
          </a:ln>
        </p:spPr>
      </p:sp>
      <p:sp>
        <p:nvSpPr>
          <p:cNvPr id="6" name="Shape 3"/>
          <p:cNvSpPr/>
          <p:nvPr/>
        </p:nvSpPr>
        <p:spPr>
          <a:xfrm>
            <a:off x="640080" y="1796796"/>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79679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1271016"/>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比特币交易中，私钥的作用是什么？</a:t>
            </a:r>
            <a:endParaRPr lang="en-US" sz="1500" dirty="0"/>
          </a:p>
          <a:p>
            <a:pPr algn="l" indent="0" marL="0">
              <a:lnSpc>
                <a:spcPct val="105000"/>
              </a:lnSpc>
              <a:buNone/>
            </a:pPr>
            <a:r>
              <a:rPr lang="en-US" sz="1400" dirty="0">
                <a:solidFill>
                  <a:schemeClr val="accent4"/>
                </a:solidFill>
              </a:rPr>
              <a:t>A 加密交易内容　B 对交易签名　C 保存账户余额　D 参与挖矿</a:t>
            </a:r>
            <a:endParaRPr lang="en-US" sz="1500" dirty="0"/>
          </a:p>
        </p:txBody>
      </p:sp>
      <p:sp>
        <p:nvSpPr>
          <p:cNvPr id="9" name="Shape 6"/>
          <p:cNvSpPr/>
          <p:nvPr/>
        </p:nvSpPr>
        <p:spPr>
          <a:xfrm>
            <a:off x="7772400" y="1897380"/>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897380"/>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11" name="Shape 8"/>
          <p:cNvSpPr/>
          <p:nvPr/>
        </p:nvSpPr>
        <p:spPr>
          <a:xfrm>
            <a:off x="457200" y="2898648"/>
            <a:ext cx="8229600" cy="1417320"/>
          </a:xfrm>
          <a:prstGeom prst="roundRect">
            <a:avLst>
              <a:gd name="adj" fmla="val 5161"/>
            </a:avLst>
          </a:prstGeom>
          <a:solidFill>
            <a:schemeClr val="bg2"/>
          </a:solidFill>
          <a:ln w="12700">
            <a:solidFill>
              <a:schemeClr val="bg2">
                <a:alpha val="0"/>
              </a:schemeClr>
            </a:solidFill>
            <a:prstDash val="solid"/>
          </a:ln>
        </p:spPr>
      </p:sp>
      <p:sp>
        <p:nvSpPr>
          <p:cNvPr id="12" name="Shape 9"/>
          <p:cNvSpPr/>
          <p:nvPr/>
        </p:nvSpPr>
        <p:spPr>
          <a:xfrm>
            <a:off x="640080" y="3323844"/>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332384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971800"/>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如果你的私钥泄露了，攻击者能做什么？为什么没人能帮你撤销？</a:t>
            </a:r>
            <a:endParaRPr lang="en-US" sz="1500" dirty="0"/>
          </a:p>
        </p:txBody>
      </p:sp>
      <p:sp>
        <p:nvSpPr>
          <p:cNvPr id="15" name="Shape 12"/>
          <p:cNvSpPr/>
          <p:nvPr/>
        </p:nvSpPr>
        <p:spPr>
          <a:xfrm>
            <a:off x="7772400" y="3424428"/>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342442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7" name="Shape 14"/>
          <p:cNvSpPr/>
          <p:nvPr/>
        </p:nvSpPr>
        <p:spPr>
          <a:xfrm>
            <a:off x="457200" y="4425696"/>
            <a:ext cx="8229600" cy="1417320"/>
          </a:xfrm>
          <a:prstGeom prst="roundRect">
            <a:avLst>
              <a:gd name="adj" fmla="val 5161"/>
            </a:avLst>
          </a:prstGeom>
          <a:solidFill>
            <a:schemeClr val="bg2"/>
          </a:solidFill>
          <a:ln w="12700">
            <a:solidFill>
              <a:schemeClr val="bg2">
                <a:alpha val="0"/>
              </a:schemeClr>
            </a:solidFill>
            <a:prstDash val="solid"/>
          </a:ln>
        </p:spPr>
      </p:sp>
      <p:sp>
        <p:nvSpPr>
          <p:cNvPr id="18" name="Shape 15"/>
          <p:cNvSpPr/>
          <p:nvPr/>
        </p:nvSpPr>
        <p:spPr>
          <a:xfrm>
            <a:off x="640080" y="485089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85089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4498848"/>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“公钥相当于银行卡号”这个类比有哪些不准确之处？</a:t>
            </a:r>
            <a:endParaRPr lang="en-US" sz="1500" dirty="0"/>
          </a:p>
        </p:txBody>
      </p:sp>
      <p:sp>
        <p:nvSpPr>
          <p:cNvPr id="21" name="Shape 18"/>
          <p:cNvSpPr/>
          <p:nvPr/>
        </p:nvSpPr>
        <p:spPr>
          <a:xfrm>
            <a:off x="7772400" y="495147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95147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03</a:t>
            </a:r>
            <a:endParaRPr lang="en-US" sz="9600" dirty="0"/>
          </a:p>
        </p:txBody>
      </p:sp>
      <p:pic>
        <p:nvPicPr>
          <p:cNvPr id="3" name="Image 0" descr="FaFingerprint">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积木二：哈希函数与默克尔树</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一整块交易怎样压成“一枚指纹”？谁改动哪怕一个字节，都能被立刻发现？</a:t>
            </a:r>
            <a:endParaRPr lang="en-US" sz="2000" dirty="0"/>
          </a:p>
        </p:txBody>
      </p:sp>
      <p:sp>
        <p:nvSpPr>
          <p:cNvPr id="6"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300" dirty="0">
                <a:solidFill>
                  <a:schemeClr val="accent5"/>
                </a:solidFill>
              </a:rPr>
              <a:t>这一部分回答支付系统的哪个要求？</a:t>
            </a:r>
            <a:endParaRPr lang="en-US" sz="1300" dirty="0"/>
          </a:p>
        </p:txBody>
      </p:sp>
      <p:sp>
        <p:nvSpPr>
          <p:cNvPr id="7" name="Shape 4"/>
          <p:cNvSpPr/>
          <p:nvPr/>
        </p:nvSpPr>
        <p:spPr>
          <a:xfrm>
            <a:off x="457200" y="5120640"/>
            <a:ext cx="4023360" cy="384048"/>
          </a:xfrm>
          <a:prstGeom prst="roundRect">
            <a:avLst>
              <a:gd name="adj" fmla="val 50000"/>
            </a:avLst>
          </a:prstGeom>
          <a:solidFill>
            <a:schemeClr val="tx2"/>
          </a:solidFill>
          <a:ln w="12700">
            <a:solidFill>
              <a:schemeClr val="tx2">
                <a:alpha val="0"/>
              </a:schemeClr>
            </a:solidFill>
            <a:prstDash val="solid"/>
          </a:ln>
        </p:spPr>
      </p:sp>
      <p:sp>
        <p:nvSpPr>
          <p:cNvPr id="8" name="Text 5"/>
          <p:cNvSpPr txBox="1"/>
          <p:nvPr/>
        </p:nvSpPr>
        <p:spPr>
          <a:xfrm>
            <a:off x="457200" y="512064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① 识别交易双方</a:t>
            </a:r>
            <a:endParaRPr lang="en-US" sz="1300" dirty="0"/>
          </a:p>
        </p:txBody>
      </p:sp>
      <p:sp>
        <p:nvSpPr>
          <p:cNvPr id="9" name="Shape 6"/>
          <p:cNvSpPr/>
          <p:nvPr/>
        </p:nvSpPr>
        <p:spPr>
          <a:xfrm>
            <a:off x="4617720" y="5120640"/>
            <a:ext cx="4023360" cy="384048"/>
          </a:xfrm>
          <a:prstGeom prst="roundRect">
            <a:avLst>
              <a:gd name="adj" fmla="val 50000"/>
            </a:avLst>
          </a:prstGeom>
          <a:solidFill>
            <a:schemeClr val="tx2"/>
          </a:solidFill>
          <a:ln w="12700">
            <a:solidFill>
              <a:schemeClr val="tx2">
                <a:alpha val="0"/>
              </a:schemeClr>
            </a:solidFill>
            <a:prstDash val="solid"/>
          </a:ln>
        </p:spPr>
      </p:sp>
      <p:sp>
        <p:nvSpPr>
          <p:cNvPr id="10" name="Text 7"/>
          <p:cNvSpPr txBox="1"/>
          <p:nvPr/>
        </p:nvSpPr>
        <p:spPr>
          <a:xfrm>
            <a:off x="4617720" y="512064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② 便捷促成并验证交易</a:t>
            </a:r>
            <a:endParaRPr lang="en-US" sz="1300" dirty="0"/>
          </a:p>
        </p:txBody>
      </p:sp>
      <p:sp>
        <p:nvSpPr>
          <p:cNvPr id="11" name="Shape 8"/>
          <p:cNvSpPr/>
          <p:nvPr/>
        </p:nvSpPr>
        <p:spPr>
          <a:xfrm>
            <a:off x="45720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2" name="Text 9"/>
          <p:cNvSpPr txBox="1"/>
          <p:nvPr/>
        </p:nvSpPr>
        <p:spPr>
          <a:xfrm>
            <a:off x="45720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③ 记录可验证、不可更改</a:t>
            </a:r>
            <a:endParaRPr lang="en-US" sz="1300" dirty="0"/>
          </a:p>
        </p:txBody>
      </p:sp>
      <p:sp>
        <p:nvSpPr>
          <p:cNvPr id="13" name="Shape 10"/>
          <p:cNvSpPr/>
          <p:nvPr/>
        </p:nvSpPr>
        <p:spPr>
          <a:xfrm>
            <a:off x="4617720" y="5623560"/>
            <a:ext cx="4023360" cy="384048"/>
          </a:xfrm>
          <a:prstGeom prst="roundRect">
            <a:avLst>
              <a:gd name="adj" fmla="val 50000"/>
            </a:avLst>
          </a:prstGeom>
          <a:solidFill>
            <a:schemeClr val="tx2"/>
          </a:solidFill>
          <a:ln w="12700">
            <a:solidFill>
              <a:schemeClr val="tx2">
                <a:alpha val="0"/>
              </a:schemeClr>
            </a:solidFill>
            <a:prstDash val="solid"/>
          </a:ln>
        </p:spPr>
      </p:sp>
      <p:sp>
        <p:nvSpPr>
          <p:cNvPr id="14" name="Text 11"/>
          <p:cNvSpPr txBox="1"/>
          <p:nvPr/>
        </p:nvSpPr>
        <p:spPr>
          <a:xfrm>
            <a:off x="4617720" y="562356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④ 防止同一单位货币重复使用</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为什么需要哈希：海量交易，要能被快速验证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哈希</a:t>
            </a:r>
            <a:endParaRPr lang="en-US" sz="1200" dirty="0"/>
          </a:p>
        </p:txBody>
      </p:sp>
      <p:sp>
        <p:nvSpPr>
          <p:cNvPr id="5" name="Shape 2"/>
          <p:cNvSpPr/>
          <p:nvPr/>
        </p:nvSpPr>
        <p:spPr>
          <a:xfrm>
            <a:off x="457200" y="1554480"/>
            <a:ext cx="1767840" cy="1188720"/>
          </a:xfrm>
          <a:prstGeom prst="roundRect">
            <a:avLst>
              <a:gd name="adj" fmla="val 6154"/>
            </a:avLst>
          </a:prstGeom>
          <a:solidFill>
            <a:schemeClr val="bg2"/>
          </a:solidFill>
          <a:ln w="12700">
            <a:solidFill>
              <a:schemeClr val="bg2">
                <a:alpha val="0"/>
              </a:schemeClr>
            </a:solidFill>
            <a:prstDash val="solid"/>
          </a:ln>
        </p:spPr>
      </p:sp>
      <p:sp>
        <p:nvSpPr>
          <p:cNvPr id="6" name="Text 3"/>
          <p:cNvSpPr txBox="1"/>
          <p:nvPr/>
        </p:nvSpPr>
        <p:spPr>
          <a:xfrm>
            <a:off x="530352" y="1600200"/>
            <a:ext cx="1621536" cy="109728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海量交易</a:t>
            </a:r>
            <a:endParaRPr lang="en-US" sz="1400" dirty="0"/>
          </a:p>
          <a:p>
            <a:pPr algn="ctr" indent="0" marL="0">
              <a:lnSpc>
                <a:spcPct val="105000"/>
              </a:lnSpc>
              <a:buNone/>
            </a:pPr>
            <a:r>
              <a:rPr lang="en-US" sz="1400" dirty="0">
                <a:solidFill>
                  <a:schemeClr val="accent4"/>
                </a:solidFill>
              </a:rPr>
              <a:t>双方公钥、金额、时间……</a:t>
            </a:r>
            <a:endParaRPr lang="en-US" sz="1400" dirty="0"/>
          </a:p>
        </p:txBody>
      </p:sp>
      <p:sp>
        <p:nvSpPr>
          <p:cNvPr id="7" name="Shape 4"/>
          <p:cNvSpPr/>
          <p:nvPr/>
        </p:nvSpPr>
        <p:spPr>
          <a:xfrm>
            <a:off x="2270760" y="2148840"/>
            <a:ext cx="1371600" cy="0"/>
          </a:xfrm>
          <a:prstGeom prst="line">
            <a:avLst/>
          </a:prstGeom>
          <a:noFill/>
          <a:ln w="31750">
            <a:solidFill>
              <a:schemeClr val="accent1"/>
            </a:solidFill>
            <a:prstDash val="solid"/>
            <a:tailEnd type="triangle"/>
          </a:ln>
        </p:spPr>
      </p:sp>
      <p:sp>
        <p:nvSpPr>
          <p:cNvPr id="8" name="Text 5"/>
          <p:cNvSpPr txBox="1"/>
          <p:nvPr/>
        </p:nvSpPr>
        <p:spPr>
          <a:xfrm>
            <a:off x="2243328" y="158191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哈希</a:t>
            </a:r>
            <a:endParaRPr lang="en-US" sz="1200" dirty="0"/>
          </a:p>
        </p:txBody>
      </p:sp>
      <p:sp>
        <p:nvSpPr>
          <p:cNvPr id="9" name="Shape 6"/>
          <p:cNvSpPr/>
          <p:nvPr/>
        </p:nvSpPr>
        <p:spPr>
          <a:xfrm>
            <a:off x="3688080" y="1554480"/>
            <a:ext cx="1767840" cy="1188720"/>
          </a:xfrm>
          <a:prstGeom prst="roundRect">
            <a:avLst>
              <a:gd name="adj" fmla="val 6154"/>
            </a:avLst>
          </a:prstGeom>
          <a:solidFill>
            <a:schemeClr val="bg2"/>
          </a:solidFill>
          <a:ln w="12700">
            <a:solidFill>
              <a:schemeClr val="bg2">
                <a:alpha val="0"/>
              </a:schemeClr>
            </a:solidFill>
            <a:prstDash val="solid"/>
          </a:ln>
        </p:spPr>
      </p:sp>
      <p:sp>
        <p:nvSpPr>
          <p:cNvPr id="10" name="Text 7"/>
          <p:cNvSpPr txBox="1"/>
          <p:nvPr/>
        </p:nvSpPr>
        <p:spPr>
          <a:xfrm>
            <a:off x="3761232" y="1600200"/>
            <a:ext cx="1621536" cy="109728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每笔一枚指纹</a:t>
            </a:r>
            <a:endParaRPr lang="en-US" sz="1400" dirty="0"/>
          </a:p>
          <a:p>
            <a:pPr algn="ctr" indent="0" marL="0">
              <a:lnSpc>
                <a:spcPct val="105000"/>
              </a:lnSpc>
              <a:buNone/>
            </a:pPr>
            <a:r>
              <a:rPr lang="en-US" sz="1400" dirty="0">
                <a:solidFill>
                  <a:schemeClr val="accent4"/>
                </a:solidFill>
              </a:rPr>
              <a:t>哈希：定长 256 位</a:t>
            </a:r>
            <a:endParaRPr lang="en-US" sz="1400" dirty="0"/>
          </a:p>
        </p:txBody>
      </p:sp>
      <p:sp>
        <p:nvSpPr>
          <p:cNvPr id="11" name="Shape 8"/>
          <p:cNvSpPr/>
          <p:nvPr/>
        </p:nvSpPr>
        <p:spPr>
          <a:xfrm>
            <a:off x="5501640" y="2148840"/>
            <a:ext cx="1371600" cy="0"/>
          </a:xfrm>
          <a:prstGeom prst="line">
            <a:avLst/>
          </a:prstGeom>
          <a:noFill/>
          <a:ln w="31750">
            <a:solidFill>
              <a:schemeClr val="accent1"/>
            </a:solidFill>
            <a:prstDash val="solid"/>
            <a:tailEnd type="triangle"/>
          </a:ln>
        </p:spPr>
      </p:sp>
      <p:sp>
        <p:nvSpPr>
          <p:cNvPr id="12" name="Text 9"/>
          <p:cNvSpPr txBox="1"/>
          <p:nvPr/>
        </p:nvSpPr>
        <p:spPr>
          <a:xfrm>
            <a:off x="5474208" y="1581912"/>
            <a:ext cx="1426464" cy="502920"/>
          </a:xfrm>
          <a:prstGeom prst="rect">
            <a:avLst/>
          </a:prstGeom>
          <a:noFill/>
          <a:ln/>
        </p:spPr>
        <p:txBody>
          <a:bodyPr wrap="square" lIns="0" tIns="0" rIns="0" bIns="0" rtlCol="0" anchor="b"/>
          <a:lstStyle/>
          <a:p>
            <a:pPr algn="ctr" indent="0" marL="0">
              <a:lnSpc>
                <a:spcPct val="105000"/>
              </a:lnSpc>
              <a:buNone/>
            </a:pPr>
            <a:r>
              <a:rPr lang="en-US" sz="1200" dirty="0">
                <a:solidFill>
                  <a:schemeClr val="accent4"/>
                </a:solidFill>
              </a:rPr>
              <a:t>两两合并再哈希</a:t>
            </a:r>
            <a:endParaRPr lang="en-US" sz="1200" dirty="0"/>
          </a:p>
        </p:txBody>
      </p:sp>
      <p:sp>
        <p:nvSpPr>
          <p:cNvPr id="13" name="Shape 10"/>
          <p:cNvSpPr/>
          <p:nvPr/>
        </p:nvSpPr>
        <p:spPr>
          <a:xfrm>
            <a:off x="6918960" y="1554480"/>
            <a:ext cx="1767840" cy="1188720"/>
          </a:xfrm>
          <a:prstGeom prst="roundRect">
            <a:avLst>
              <a:gd name="adj" fmla="val 6154"/>
            </a:avLst>
          </a:prstGeom>
          <a:solidFill>
            <a:schemeClr val="bg2"/>
          </a:solidFill>
          <a:ln w="12700">
            <a:solidFill>
              <a:schemeClr val="bg2">
                <a:alpha val="0"/>
              </a:schemeClr>
            </a:solidFill>
            <a:prstDash val="solid"/>
          </a:ln>
        </p:spPr>
      </p:sp>
      <p:sp>
        <p:nvSpPr>
          <p:cNvPr id="14" name="Text 11"/>
          <p:cNvSpPr txBox="1"/>
          <p:nvPr/>
        </p:nvSpPr>
        <p:spPr>
          <a:xfrm>
            <a:off x="6992112" y="1600200"/>
            <a:ext cx="1621536" cy="109728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整块一枚指纹</a:t>
            </a:r>
            <a:endParaRPr lang="en-US" sz="1400" dirty="0"/>
          </a:p>
          <a:p>
            <a:pPr algn="ctr" indent="0" marL="0">
              <a:lnSpc>
                <a:spcPct val="105000"/>
              </a:lnSpc>
              <a:buNone/>
            </a:pPr>
            <a:r>
              <a:rPr lang="en-US" sz="1400" dirty="0">
                <a:solidFill>
                  <a:schemeClr val="accent4"/>
                </a:solidFill>
              </a:rPr>
              <a:t>默克尔根：32 字节</a:t>
            </a:r>
            <a:endParaRPr lang="en-US" sz="1400" dirty="0"/>
          </a:p>
        </p:txBody>
      </p:sp>
      <p:sp>
        <p:nvSpPr>
          <p:cNvPr id="15" name="Shape 12"/>
          <p:cNvSpPr/>
          <p:nvPr/>
        </p:nvSpPr>
        <p:spPr>
          <a:xfrm>
            <a:off x="457200" y="3017520"/>
            <a:ext cx="2621280" cy="2286000"/>
          </a:xfrm>
          <a:prstGeom prst="roundRect">
            <a:avLst>
              <a:gd name="adj" fmla="val 3200"/>
            </a:avLst>
          </a:prstGeom>
          <a:solidFill>
            <a:schemeClr val="bg2"/>
          </a:solidFill>
          <a:ln w="12700">
            <a:solidFill>
              <a:schemeClr val="bg2">
                <a:alpha val="0"/>
              </a:schemeClr>
            </a:solidFill>
            <a:prstDash val="solid"/>
          </a:ln>
        </p:spPr>
      </p:sp>
      <p:sp>
        <p:nvSpPr>
          <p:cNvPr id="16" name="Shape 13"/>
          <p:cNvSpPr/>
          <p:nvPr/>
        </p:nvSpPr>
        <p:spPr>
          <a:xfrm>
            <a:off x="640080" y="3182112"/>
            <a:ext cx="502920" cy="502920"/>
          </a:xfrm>
          <a:prstGeom prst="ellipse">
            <a:avLst/>
          </a:prstGeom>
          <a:solidFill>
            <a:schemeClr val="accent1"/>
          </a:solidFill>
          <a:ln w="12700">
            <a:solidFill>
              <a:schemeClr val="accent1">
                <a:alpha val="0"/>
              </a:schemeClr>
            </a:solidFill>
            <a:prstDash val="solid"/>
          </a:ln>
        </p:spPr>
      </p:sp>
      <p:pic>
        <p:nvPicPr>
          <p:cNvPr id="17" name="Image 0" descr="FaDatabase">    </p:cNvPr>
          <p:cNvPicPr>
            <a:picLocks noChangeAspect="1"/>
          </p:cNvPicPr>
          <p:nvPr/>
        </p:nvPicPr>
        <p:blipFill>
          <a:blip r:embed="rId1"/>
          <a:stretch>
            <a:fillRect/>
          </a:stretch>
        </p:blipFill>
        <p:spPr>
          <a:xfrm>
            <a:off x="750722" y="3292754"/>
            <a:ext cx="281635" cy="281635"/>
          </a:xfrm>
          <a:prstGeom prst="rect">
            <a:avLst/>
          </a:prstGeom>
        </p:spPr>
      </p:pic>
      <p:sp>
        <p:nvSpPr>
          <p:cNvPr id="18" name="Text 14"/>
          <p:cNvSpPr txBox="1"/>
          <p:nvPr/>
        </p:nvSpPr>
        <p:spPr>
          <a:xfrm>
            <a:off x="640080" y="38039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要解决的问题</a:t>
            </a:r>
            <a:endParaRPr lang="en-US" sz="1800" dirty="0"/>
          </a:p>
        </p:txBody>
      </p:sp>
      <p:sp>
        <p:nvSpPr>
          <p:cNvPr id="19" name="Text 15"/>
          <p:cNvSpPr txBox="1"/>
          <p:nvPr/>
        </p:nvSpPr>
        <p:spPr>
          <a:xfrm>
            <a:off x="640080" y="4178808"/>
            <a:ext cx="2255520" cy="10149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验证需要传输和比对的信息太多，既慢又占空间。</a:t>
            </a:r>
            <a:endParaRPr lang="en-US" sz="1500" dirty="0"/>
          </a:p>
        </p:txBody>
      </p:sp>
      <p:sp>
        <p:nvSpPr>
          <p:cNvPr id="20" name="Shape 16"/>
          <p:cNvSpPr/>
          <p:nvPr/>
        </p:nvSpPr>
        <p:spPr>
          <a:xfrm>
            <a:off x="3261360" y="3017520"/>
            <a:ext cx="2621280" cy="2286000"/>
          </a:xfrm>
          <a:prstGeom prst="roundRect">
            <a:avLst>
              <a:gd name="adj" fmla="val 3200"/>
            </a:avLst>
          </a:prstGeom>
          <a:solidFill>
            <a:schemeClr val="bg2"/>
          </a:solidFill>
          <a:ln w="12700">
            <a:solidFill>
              <a:schemeClr val="bg2">
                <a:alpha val="0"/>
              </a:schemeClr>
            </a:solidFill>
            <a:prstDash val="solid"/>
          </a:ln>
        </p:spPr>
      </p:sp>
      <p:sp>
        <p:nvSpPr>
          <p:cNvPr id="21" name="Shape 17"/>
          <p:cNvSpPr/>
          <p:nvPr/>
        </p:nvSpPr>
        <p:spPr>
          <a:xfrm>
            <a:off x="3444240" y="3182112"/>
            <a:ext cx="502920" cy="502920"/>
          </a:xfrm>
          <a:prstGeom prst="ellipse">
            <a:avLst/>
          </a:prstGeom>
          <a:solidFill>
            <a:schemeClr val="accent1"/>
          </a:solidFill>
          <a:ln w="12700">
            <a:solidFill>
              <a:schemeClr val="accent1">
                <a:alpha val="0"/>
              </a:schemeClr>
            </a:solidFill>
            <a:prstDash val="solid"/>
          </a:ln>
        </p:spPr>
      </p:sp>
      <p:pic>
        <p:nvPicPr>
          <p:cNvPr id="22" name="Image 1" descr="FaFingerprint">    </p:cNvPr>
          <p:cNvPicPr>
            <a:picLocks noChangeAspect="1"/>
          </p:cNvPicPr>
          <p:nvPr/>
        </p:nvPicPr>
        <p:blipFill>
          <a:blip r:embed="rId2"/>
          <a:stretch>
            <a:fillRect/>
          </a:stretch>
        </p:blipFill>
        <p:spPr>
          <a:xfrm>
            <a:off x="3554882" y="3292754"/>
            <a:ext cx="281635" cy="281635"/>
          </a:xfrm>
          <a:prstGeom prst="rect">
            <a:avLst/>
          </a:prstGeom>
        </p:spPr>
      </p:pic>
      <p:sp>
        <p:nvSpPr>
          <p:cNvPr id="23" name="Text 18"/>
          <p:cNvSpPr txBox="1"/>
          <p:nvPr/>
        </p:nvSpPr>
        <p:spPr>
          <a:xfrm>
            <a:off x="3444240" y="38039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工具一：哈希</a:t>
            </a:r>
            <a:endParaRPr lang="en-US" sz="1800" dirty="0"/>
          </a:p>
        </p:txBody>
      </p:sp>
      <p:sp>
        <p:nvSpPr>
          <p:cNvPr id="24" name="Text 19"/>
          <p:cNvSpPr txBox="1"/>
          <p:nvPr/>
        </p:nvSpPr>
        <p:spPr>
          <a:xfrm>
            <a:off x="3444240" y="4178808"/>
            <a:ext cx="2255520" cy="10149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把任意信息压成固定长度的“指纹”，便于快速比对。</a:t>
            </a:r>
            <a:endParaRPr lang="en-US" sz="1500" dirty="0"/>
          </a:p>
        </p:txBody>
      </p:sp>
      <p:sp>
        <p:nvSpPr>
          <p:cNvPr id="25" name="Shape 20"/>
          <p:cNvSpPr/>
          <p:nvPr/>
        </p:nvSpPr>
        <p:spPr>
          <a:xfrm>
            <a:off x="6065520" y="3017520"/>
            <a:ext cx="2621280" cy="2286000"/>
          </a:xfrm>
          <a:prstGeom prst="roundRect">
            <a:avLst>
              <a:gd name="adj" fmla="val 3200"/>
            </a:avLst>
          </a:prstGeom>
          <a:solidFill>
            <a:schemeClr val="bg2"/>
          </a:solidFill>
          <a:ln w="12700">
            <a:solidFill>
              <a:schemeClr val="bg2">
                <a:alpha val="0"/>
              </a:schemeClr>
            </a:solidFill>
            <a:prstDash val="solid"/>
          </a:ln>
        </p:spPr>
      </p:sp>
      <p:sp>
        <p:nvSpPr>
          <p:cNvPr id="26" name="Shape 21"/>
          <p:cNvSpPr/>
          <p:nvPr/>
        </p:nvSpPr>
        <p:spPr>
          <a:xfrm>
            <a:off x="6248400" y="3182112"/>
            <a:ext cx="502920" cy="502920"/>
          </a:xfrm>
          <a:prstGeom prst="ellipse">
            <a:avLst/>
          </a:prstGeom>
          <a:solidFill>
            <a:schemeClr val="accent1"/>
          </a:solidFill>
          <a:ln w="12700">
            <a:solidFill>
              <a:schemeClr val="accent1">
                <a:alpha val="0"/>
              </a:schemeClr>
            </a:solidFill>
            <a:prstDash val="solid"/>
          </a:ln>
        </p:spPr>
      </p:sp>
      <p:pic>
        <p:nvPicPr>
          <p:cNvPr id="27" name="Image 2" descr="FaSitemap">    </p:cNvPr>
          <p:cNvPicPr>
            <a:picLocks noChangeAspect="1"/>
          </p:cNvPicPr>
          <p:nvPr/>
        </p:nvPicPr>
        <p:blipFill>
          <a:blip r:embed="rId3"/>
          <a:stretch>
            <a:fillRect/>
          </a:stretch>
        </p:blipFill>
        <p:spPr>
          <a:xfrm>
            <a:off x="6359042" y="3292754"/>
            <a:ext cx="281635" cy="281635"/>
          </a:xfrm>
          <a:prstGeom prst="rect">
            <a:avLst/>
          </a:prstGeom>
        </p:spPr>
      </p:pic>
      <p:sp>
        <p:nvSpPr>
          <p:cNvPr id="28" name="Text 22"/>
          <p:cNvSpPr txBox="1"/>
          <p:nvPr/>
        </p:nvSpPr>
        <p:spPr>
          <a:xfrm>
            <a:off x="6248400" y="38039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工具二：默克尔树</a:t>
            </a:r>
            <a:endParaRPr lang="en-US" sz="1800" dirty="0"/>
          </a:p>
        </p:txBody>
      </p:sp>
      <p:sp>
        <p:nvSpPr>
          <p:cNvPr id="29" name="Text 23"/>
          <p:cNvSpPr txBox="1"/>
          <p:nvPr/>
        </p:nvSpPr>
        <p:spPr>
          <a:xfrm>
            <a:off x="6248400" y="4178808"/>
            <a:ext cx="2255520" cy="10149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把一整块交易的指纹合并成一枚根，验证大大简化。</a:t>
            </a:r>
            <a:endParaRPr lang="en-US" sz="1500" dirty="0"/>
          </a:p>
        </p:txBody>
      </p:sp>
      <p:sp>
        <p:nvSpPr>
          <p:cNvPr id="30" name="Shape 24"/>
          <p:cNvSpPr/>
          <p:nvPr/>
        </p:nvSpPr>
        <p:spPr>
          <a:xfrm>
            <a:off x="457200" y="544068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31" name="Image 3" descr="key">    </p:cNvPr>
          <p:cNvPicPr>
            <a:picLocks noChangeAspect="1"/>
          </p:cNvPicPr>
          <p:nvPr/>
        </p:nvPicPr>
        <p:blipFill>
          <a:blip r:embed="rId4"/>
          <a:stretch>
            <a:fillRect/>
          </a:stretch>
        </p:blipFill>
        <p:spPr>
          <a:xfrm>
            <a:off x="640080" y="5568696"/>
            <a:ext cx="384048" cy="384048"/>
          </a:xfrm>
          <a:prstGeom prst="rect">
            <a:avLst/>
          </a:prstGeom>
        </p:spPr>
      </p:pic>
      <p:sp>
        <p:nvSpPr>
          <p:cNvPr id="32" name="Text 25"/>
          <p:cNvSpPr txBox="1"/>
          <p:nvPr/>
        </p:nvSpPr>
        <p:spPr>
          <a:xfrm>
            <a:off x="1188720" y="5513832"/>
            <a:ext cx="7315200" cy="49377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效率与可靠性之间的平衡，靠的就是</a:t>
            </a:r>
            <a:pPr algn="l" indent="0" marL="0">
              <a:lnSpc>
                <a:spcPct val="105000"/>
              </a:lnSpc>
              <a:buNone/>
            </a:pPr>
            <a:r>
              <a:rPr lang="en-US" sz="1600" b="1" dirty="0">
                <a:solidFill>
                  <a:schemeClr val="tx1"/>
                </a:solidFill>
              </a:rPr>
              <a:t>哈希函数 + 默克尔树</a:t>
            </a:r>
            <a:pPr algn="l" indent="0" marL="0">
              <a:lnSpc>
                <a:spcPct val="105000"/>
              </a:lnSpc>
              <a:buNone/>
            </a:pP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哈希函数：把任意数据压成一枚“数字指纹”</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哈希</a:t>
            </a:r>
            <a:endParaRPr lang="en-US" sz="1200" dirty="0"/>
          </a:p>
        </p:txBody>
      </p:sp>
      <p:sp>
        <p:nvSpPr>
          <p:cNvPr id="5" name="Shape 2"/>
          <p:cNvSpPr/>
          <p:nvPr/>
        </p:nvSpPr>
        <p:spPr>
          <a:xfrm>
            <a:off x="457200" y="1508760"/>
            <a:ext cx="2194560" cy="1005840"/>
          </a:xfrm>
          <a:prstGeom prst="roundRect">
            <a:avLst>
              <a:gd name="adj" fmla="val 7273"/>
            </a:avLst>
          </a:prstGeom>
          <a:solidFill>
            <a:schemeClr val="bg2"/>
          </a:solidFill>
          <a:ln w="12700">
            <a:solidFill>
              <a:schemeClr val="bg2">
                <a:alpha val="0"/>
              </a:schemeClr>
            </a:solidFill>
            <a:prstDash val="solid"/>
          </a:ln>
        </p:spPr>
      </p:sp>
      <p:sp>
        <p:nvSpPr>
          <p:cNvPr id="6" name="Text 3"/>
          <p:cNvSpPr txBox="1"/>
          <p:nvPr/>
        </p:nvSpPr>
        <p:spPr>
          <a:xfrm>
            <a:off x="530352" y="1554480"/>
            <a:ext cx="2048256" cy="91440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任意长度的输入</a:t>
            </a:r>
            <a:endParaRPr lang="en-US" sz="1300" dirty="0"/>
          </a:p>
          <a:p>
            <a:pPr algn="ctr" indent="0" marL="0">
              <a:lnSpc>
                <a:spcPct val="105000"/>
              </a:lnSpc>
              <a:buNone/>
            </a:pPr>
            <a:r>
              <a:rPr lang="en-US" sz="1300" dirty="0">
                <a:solidFill>
                  <a:schemeClr val="accent4"/>
                </a:solidFill>
              </a:rPr>
              <a:t>一条消息、一个文件…</a:t>
            </a:r>
            <a:endParaRPr lang="en-US" sz="1300" dirty="0"/>
          </a:p>
        </p:txBody>
      </p:sp>
      <p:sp>
        <p:nvSpPr>
          <p:cNvPr id="7" name="Shape 4"/>
          <p:cNvSpPr/>
          <p:nvPr/>
        </p:nvSpPr>
        <p:spPr>
          <a:xfrm>
            <a:off x="2697480" y="2011680"/>
            <a:ext cx="731520" cy="0"/>
          </a:xfrm>
          <a:prstGeom prst="line">
            <a:avLst/>
          </a:prstGeom>
          <a:noFill/>
          <a:ln w="31750">
            <a:solidFill>
              <a:schemeClr val="accent1"/>
            </a:solidFill>
            <a:prstDash val="solid"/>
            <a:tailEnd type="triangle"/>
          </a:ln>
        </p:spPr>
      </p:sp>
      <p:sp>
        <p:nvSpPr>
          <p:cNvPr id="8" name="Shape 5"/>
          <p:cNvSpPr/>
          <p:nvPr/>
        </p:nvSpPr>
        <p:spPr>
          <a:xfrm>
            <a:off x="3474720" y="1508760"/>
            <a:ext cx="2194560" cy="1005840"/>
          </a:xfrm>
          <a:prstGeom prst="roundRect">
            <a:avLst>
              <a:gd name="adj" fmla="val 7273"/>
            </a:avLst>
          </a:prstGeom>
          <a:solidFill>
            <a:schemeClr val="accent1"/>
          </a:solidFill>
          <a:ln w="12700">
            <a:solidFill>
              <a:schemeClr val="accent1">
                <a:alpha val="0"/>
              </a:schemeClr>
            </a:solidFill>
            <a:prstDash val="solid"/>
          </a:ln>
        </p:spPr>
      </p:sp>
      <p:sp>
        <p:nvSpPr>
          <p:cNvPr id="9" name="Text 6"/>
          <p:cNvSpPr txBox="1"/>
          <p:nvPr/>
        </p:nvSpPr>
        <p:spPr>
          <a:xfrm>
            <a:off x="3547872" y="1554480"/>
            <a:ext cx="2048256" cy="914400"/>
          </a:xfrm>
          <a:prstGeom prst="rect">
            <a:avLst/>
          </a:prstGeom>
          <a:noFill/>
          <a:ln/>
        </p:spPr>
        <p:txBody>
          <a:bodyPr wrap="square" lIns="0" tIns="0" rIns="0" bIns="0" rtlCol="0" anchor="ctr"/>
          <a:lstStyle/>
          <a:p>
            <a:pPr algn="ctr" indent="0" marL="0">
              <a:lnSpc>
                <a:spcPct val="105000"/>
              </a:lnSpc>
              <a:buNone/>
            </a:pPr>
            <a:r>
              <a:rPr lang="en-US" sz="1600" b="1" dirty="0">
                <a:solidFill>
                  <a:schemeClr val="tx1"/>
                </a:solidFill>
              </a:rPr>
              <a:t>H（SHA-256）</a:t>
            </a:r>
            <a:endParaRPr lang="en-US" sz="1300" dirty="0"/>
          </a:p>
        </p:txBody>
      </p:sp>
      <p:sp>
        <p:nvSpPr>
          <p:cNvPr id="10" name="Shape 7"/>
          <p:cNvSpPr/>
          <p:nvPr/>
        </p:nvSpPr>
        <p:spPr>
          <a:xfrm>
            <a:off x="5715000" y="2011680"/>
            <a:ext cx="731520" cy="0"/>
          </a:xfrm>
          <a:prstGeom prst="line">
            <a:avLst/>
          </a:prstGeom>
          <a:noFill/>
          <a:ln w="31750">
            <a:solidFill>
              <a:schemeClr val="accent1"/>
            </a:solidFill>
            <a:prstDash val="solid"/>
            <a:tailEnd type="triangle"/>
          </a:ln>
        </p:spPr>
      </p:sp>
      <p:sp>
        <p:nvSpPr>
          <p:cNvPr id="11" name="Shape 8"/>
          <p:cNvSpPr/>
          <p:nvPr/>
        </p:nvSpPr>
        <p:spPr>
          <a:xfrm>
            <a:off x="6492240" y="1508760"/>
            <a:ext cx="2194560" cy="1005840"/>
          </a:xfrm>
          <a:prstGeom prst="roundRect">
            <a:avLst>
              <a:gd name="adj" fmla="val 7273"/>
            </a:avLst>
          </a:prstGeom>
          <a:solidFill>
            <a:schemeClr val="bg2"/>
          </a:solidFill>
          <a:ln w="12700">
            <a:solidFill>
              <a:schemeClr val="bg2">
                <a:alpha val="0"/>
              </a:schemeClr>
            </a:solidFill>
            <a:prstDash val="solid"/>
          </a:ln>
        </p:spPr>
      </p:sp>
      <p:sp>
        <p:nvSpPr>
          <p:cNvPr id="12" name="Text 9"/>
          <p:cNvSpPr txBox="1"/>
          <p:nvPr/>
        </p:nvSpPr>
        <p:spPr>
          <a:xfrm>
            <a:off x="6565392" y="1554480"/>
            <a:ext cx="2048256" cy="91440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固定 256 位输出</a:t>
            </a:r>
            <a:endParaRPr lang="en-US" sz="1300" dirty="0"/>
          </a:p>
          <a:p>
            <a:pPr algn="ctr" indent="0" marL="0">
              <a:lnSpc>
                <a:spcPct val="105000"/>
              </a:lnSpc>
              <a:buNone/>
            </a:pPr>
            <a:r>
              <a:rPr lang="en-US" sz="1300" dirty="0">
                <a:solidFill>
                  <a:schemeClr val="accent4"/>
                </a:solidFill>
              </a:rPr>
              <a:t>64 个十六进制字符</a:t>
            </a:r>
            <a:endParaRPr lang="en-US" sz="1300" dirty="0"/>
          </a:p>
        </p:txBody>
      </p:sp>
      <p:sp>
        <p:nvSpPr>
          <p:cNvPr id="13" name="Shape 10"/>
          <p:cNvSpPr/>
          <p:nvPr/>
        </p:nvSpPr>
        <p:spPr>
          <a:xfrm>
            <a:off x="457200" y="2743200"/>
            <a:ext cx="4046220" cy="1577340"/>
          </a:xfrm>
          <a:prstGeom prst="roundRect">
            <a:avLst>
              <a:gd name="adj" fmla="val 4638"/>
            </a:avLst>
          </a:prstGeom>
          <a:solidFill>
            <a:schemeClr val="bg2"/>
          </a:solidFill>
          <a:ln w="12700">
            <a:solidFill>
              <a:schemeClr val="bg2">
                <a:alpha val="0"/>
              </a:schemeClr>
            </a:solidFill>
            <a:prstDash val="solid"/>
          </a:ln>
        </p:spPr>
      </p:sp>
      <p:sp>
        <p:nvSpPr>
          <p:cNvPr id="14" name="Shape 11"/>
          <p:cNvSpPr/>
          <p:nvPr/>
        </p:nvSpPr>
        <p:spPr>
          <a:xfrm>
            <a:off x="640080" y="2907792"/>
            <a:ext cx="502920" cy="502920"/>
          </a:xfrm>
          <a:prstGeom prst="ellipse">
            <a:avLst/>
          </a:prstGeom>
          <a:solidFill>
            <a:schemeClr val="accent1"/>
          </a:solidFill>
          <a:ln w="12700">
            <a:solidFill>
              <a:schemeClr val="accent1">
                <a:alpha val="0"/>
              </a:schemeClr>
            </a:solidFill>
            <a:prstDash val="solid"/>
          </a:ln>
        </p:spPr>
      </p:sp>
      <p:pic>
        <p:nvPicPr>
          <p:cNvPr id="15" name="Image 0" descr="FaRegClock">    </p:cNvPr>
          <p:cNvPicPr>
            <a:picLocks noChangeAspect="1"/>
          </p:cNvPicPr>
          <p:nvPr/>
        </p:nvPicPr>
        <p:blipFill>
          <a:blip r:embed="rId1"/>
          <a:stretch>
            <a:fillRect/>
          </a:stretch>
        </p:blipFill>
        <p:spPr>
          <a:xfrm>
            <a:off x="750722" y="3018434"/>
            <a:ext cx="281635" cy="281635"/>
          </a:xfrm>
          <a:prstGeom prst="rect">
            <a:avLst/>
          </a:prstGeom>
        </p:spPr>
      </p:pic>
      <p:sp>
        <p:nvSpPr>
          <p:cNvPr id="16" name="Text 12"/>
          <p:cNvSpPr txBox="1"/>
          <p:nvPr/>
        </p:nvSpPr>
        <p:spPr>
          <a:xfrm>
            <a:off x="640080" y="3529584"/>
            <a:ext cx="368046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确定性</a:t>
            </a:r>
            <a:endParaRPr lang="en-US" sz="1800" dirty="0"/>
          </a:p>
        </p:txBody>
      </p:sp>
      <p:sp>
        <p:nvSpPr>
          <p:cNvPr id="17" name="Text 13"/>
          <p:cNvSpPr txBox="1"/>
          <p:nvPr/>
        </p:nvSpPr>
        <p:spPr>
          <a:xfrm>
            <a:off x="640080" y="3904488"/>
            <a:ext cx="3680460" cy="30632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同样的输入，永远得到同样的输出。</a:t>
            </a:r>
            <a:endParaRPr lang="en-US" sz="1600" dirty="0"/>
          </a:p>
        </p:txBody>
      </p:sp>
      <p:sp>
        <p:nvSpPr>
          <p:cNvPr id="18" name="Shape 14"/>
          <p:cNvSpPr/>
          <p:nvPr/>
        </p:nvSpPr>
        <p:spPr>
          <a:xfrm>
            <a:off x="4640580" y="2743200"/>
            <a:ext cx="4046220" cy="1577340"/>
          </a:xfrm>
          <a:prstGeom prst="roundRect">
            <a:avLst>
              <a:gd name="adj" fmla="val 4638"/>
            </a:avLst>
          </a:prstGeom>
          <a:solidFill>
            <a:schemeClr val="bg2"/>
          </a:solidFill>
          <a:ln w="12700">
            <a:solidFill>
              <a:schemeClr val="bg2">
                <a:alpha val="0"/>
              </a:schemeClr>
            </a:solidFill>
            <a:prstDash val="solid"/>
          </a:ln>
        </p:spPr>
      </p:sp>
      <p:sp>
        <p:nvSpPr>
          <p:cNvPr id="19" name="Shape 15"/>
          <p:cNvSpPr/>
          <p:nvPr/>
        </p:nvSpPr>
        <p:spPr>
          <a:xfrm>
            <a:off x="4823460" y="2907792"/>
            <a:ext cx="502920" cy="502920"/>
          </a:xfrm>
          <a:prstGeom prst="ellipse">
            <a:avLst/>
          </a:prstGeom>
          <a:solidFill>
            <a:schemeClr val="accent1"/>
          </a:solidFill>
          <a:ln w="12700">
            <a:solidFill>
              <a:schemeClr val="accent1">
                <a:alpha val="0"/>
              </a:schemeClr>
            </a:solidFill>
            <a:prstDash val="solid"/>
          </a:ln>
        </p:spPr>
      </p:sp>
      <p:pic>
        <p:nvPicPr>
          <p:cNvPr id="20" name="Image 1" descr="FaFire">    </p:cNvPr>
          <p:cNvPicPr>
            <a:picLocks noChangeAspect="1"/>
          </p:cNvPicPr>
          <p:nvPr/>
        </p:nvPicPr>
        <p:blipFill>
          <a:blip r:embed="rId2"/>
          <a:stretch>
            <a:fillRect/>
          </a:stretch>
        </p:blipFill>
        <p:spPr>
          <a:xfrm>
            <a:off x="4934102" y="3018434"/>
            <a:ext cx="281635" cy="281635"/>
          </a:xfrm>
          <a:prstGeom prst="rect">
            <a:avLst/>
          </a:prstGeom>
        </p:spPr>
      </p:pic>
      <p:sp>
        <p:nvSpPr>
          <p:cNvPr id="21" name="Text 16"/>
          <p:cNvSpPr txBox="1"/>
          <p:nvPr/>
        </p:nvSpPr>
        <p:spPr>
          <a:xfrm>
            <a:off x="4823460" y="3529584"/>
            <a:ext cx="368046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雪崩效应</a:t>
            </a:r>
            <a:endParaRPr lang="en-US" sz="1800" dirty="0"/>
          </a:p>
        </p:txBody>
      </p:sp>
      <p:sp>
        <p:nvSpPr>
          <p:cNvPr id="22" name="Text 17"/>
          <p:cNvSpPr txBox="1"/>
          <p:nvPr/>
        </p:nvSpPr>
        <p:spPr>
          <a:xfrm>
            <a:off x="4823460" y="3904488"/>
            <a:ext cx="3680460" cy="30632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输入改动一个比特，输出面目全非。</a:t>
            </a:r>
            <a:endParaRPr lang="en-US" sz="1600" dirty="0"/>
          </a:p>
        </p:txBody>
      </p:sp>
      <p:sp>
        <p:nvSpPr>
          <p:cNvPr id="23" name="Shape 18"/>
          <p:cNvSpPr/>
          <p:nvPr/>
        </p:nvSpPr>
        <p:spPr>
          <a:xfrm>
            <a:off x="457200" y="4457700"/>
            <a:ext cx="4046220" cy="1577340"/>
          </a:xfrm>
          <a:prstGeom prst="roundRect">
            <a:avLst>
              <a:gd name="adj" fmla="val 4638"/>
            </a:avLst>
          </a:prstGeom>
          <a:solidFill>
            <a:schemeClr val="bg2"/>
          </a:solidFill>
          <a:ln w="12700">
            <a:solidFill>
              <a:schemeClr val="bg2">
                <a:alpha val="0"/>
              </a:schemeClr>
            </a:solidFill>
            <a:prstDash val="solid"/>
          </a:ln>
        </p:spPr>
      </p:sp>
      <p:sp>
        <p:nvSpPr>
          <p:cNvPr id="24" name="Shape 19"/>
          <p:cNvSpPr/>
          <p:nvPr/>
        </p:nvSpPr>
        <p:spPr>
          <a:xfrm>
            <a:off x="640080" y="4622292"/>
            <a:ext cx="502920" cy="502920"/>
          </a:xfrm>
          <a:prstGeom prst="ellipse">
            <a:avLst/>
          </a:prstGeom>
          <a:solidFill>
            <a:schemeClr val="accent1"/>
          </a:solidFill>
          <a:ln w="12700">
            <a:solidFill>
              <a:schemeClr val="accent1">
                <a:alpha val="0"/>
              </a:schemeClr>
            </a:solidFill>
            <a:prstDash val="solid"/>
          </a:ln>
        </p:spPr>
      </p:sp>
      <p:pic>
        <p:nvPicPr>
          <p:cNvPr id="25" name="Image 2" descr="FaLock">    </p:cNvPr>
          <p:cNvPicPr>
            <a:picLocks noChangeAspect="1"/>
          </p:cNvPicPr>
          <p:nvPr/>
        </p:nvPicPr>
        <p:blipFill>
          <a:blip r:embed="rId3"/>
          <a:stretch>
            <a:fillRect/>
          </a:stretch>
        </p:blipFill>
        <p:spPr>
          <a:xfrm>
            <a:off x="750722" y="4732934"/>
            <a:ext cx="281635" cy="281635"/>
          </a:xfrm>
          <a:prstGeom prst="rect">
            <a:avLst/>
          </a:prstGeom>
        </p:spPr>
      </p:pic>
      <p:sp>
        <p:nvSpPr>
          <p:cNvPr id="26" name="Text 20"/>
          <p:cNvSpPr txBox="1"/>
          <p:nvPr/>
        </p:nvSpPr>
        <p:spPr>
          <a:xfrm>
            <a:off x="640080" y="5244084"/>
            <a:ext cx="368046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单向性</a:t>
            </a:r>
            <a:endParaRPr lang="en-US" sz="1800" dirty="0"/>
          </a:p>
        </p:txBody>
      </p:sp>
      <p:sp>
        <p:nvSpPr>
          <p:cNvPr id="27" name="Text 21"/>
          <p:cNvSpPr txBox="1"/>
          <p:nvPr/>
        </p:nvSpPr>
        <p:spPr>
          <a:xfrm>
            <a:off x="640080" y="5618988"/>
            <a:ext cx="3680460" cy="30632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从输出几乎不可能反推出输入。</a:t>
            </a:r>
            <a:endParaRPr lang="en-US" sz="1600" dirty="0"/>
          </a:p>
        </p:txBody>
      </p:sp>
      <p:sp>
        <p:nvSpPr>
          <p:cNvPr id="28" name="Shape 22"/>
          <p:cNvSpPr/>
          <p:nvPr/>
        </p:nvSpPr>
        <p:spPr>
          <a:xfrm>
            <a:off x="4640580" y="4457700"/>
            <a:ext cx="4046220" cy="1577340"/>
          </a:xfrm>
          <a:prstGeom prst="roundRect">
            <a:avLst>
              <a:gd name="adj" fmla="val 4638"/>
            </a:avLst>
          </a:prstGeom>
          <a:solidFill>
            <a:schemeClr val="bg2"/>
          </a:solidFill>
          <a:ln w="12700">
            <a:solidFill>
              <a:schemeClr val="bg2">
                <a:alpha val="0"/>
              </a:schemeClr>
            </a:solidFill>
            <a:prstDash val="solid"/>
          </a:ln>
        </p:spPr>
      </p:sp>
      <p:sp>
        <p:nvSpPr>
          <p:cNvPr id="29" name="Shape 23"/>
          <p:cNvSpPr/>
          <p:nvPr/>
        </p:nvSpPr>
        <p:spPr>
          <a:xfrm>
            <a:off x="4823460" y="4622292"/>
            <a:ext cx="502920" cy="502920"/>
          </a:xfrm>
          <a:prstGeom prst="ellipse">
            <a:avLst/>
          </a:prstGeom>
          <a:solidFill>
            <a:schemeClr val="accent1"/>
          </a:solidFill>
          <a:ln w="12700">
            <a:solidFill>
              <a:schemeClr val="accent1">
                <a:alpha val="0"/>
              </a:schemeClr>
            </a:solidFill>
            <a:prstDash val="solid"/>
          </a:ln>
        </p:spPr>
      </p:sp>
      <p:pic>
        <p:nvPicPr>
          <p:cNvPr id="30" name="Image 3" descr="FaRandom">    </p:cNvPr>
          <p:cNvPicPr>
            <a:picLocks noChangeAspect="1"/>
          </p:cNvPicPr>
          <p:nvPr/>
        </p:nvPicPr>
        <p:blipFill>
          <a:blip r:embed="rId4"/>
          <a:stretch>
            <a:fillRect/>
          </a:stretch>
        </p:blipFill>
        <p:spPr>
          <a:xfrm>
            <a:off x="4934102" y="4732934"/>
            <a:ext cx="281635" cy="281635"/>
          </a:xfrm>
          <a:prstGeom prst="rect">
            <a:avLst/>
          </a:prstGeom>
        </p:spPr>
      </p:pic>
      <p:sp>
        <p:nvSpPr>
          <p:cNvPr id="31" name="Text 24"/>
          <p:cNvSpPr txBox="1"/>
          <p:nvPr/>
        </p:nvSpPr>
        <p:spPr>
          <a:xfrm>
            <a:off x="4823460" y="5244084"/>
            <a:ext cx="368046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抗碰撞</a:t>
            </a:r>
            <a:endParaRPr lang="en-US" sz="1800" dirty="0"/>
          </a:p>
        </p:txBody>
      </p:sp>
      <p:sp>
        <p:nvSpPr>
          <p:cNvPr id="32" name="Text 25"/>
          <p:cNvSpPr txBox="1"/>
          <p:nvPr/>
        </p:nvSpPr>
        <p:spPr>
          <a:xfrm>
            <a:off x="4823460" y="5618988"/>
            <a:ext cx="3680460" cy="306324"/>
          </a:xfrm>
          <a:prstGeom prst="rect">
            <a:avLst/>
          </a:prstGeom>
          <a:noFill/>
          <a:ln/>
        </p:spPr>
        <p:txBody>
          <a:bodyPr wrap="square" lIns="0" tIns="0" rIns="0" bIns="0" rtlCol="0" anchor="t"/>
          <a:lstStyle/>
          <a:p>
            <a:pPr algn="l" indent="0" marL="0">
              <a:lnSpc>
                <a:spcPct val="105000"/>
              </a:lnSpc>
              <a:buNone/>
            </a:pPr>
            <a:r>
              <a:rPr lang="en-US" sz="1600" dirty="0">
                <a:solidFill>
                  <a:schemeClr val="accent4"/>
                </a:solidFill>
              </a:rPr>
              <a:t>几乎找不到两个不同输入产生同一输出。</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实测 SHA-256：只差一个字母，结果面目全非</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哈希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来源：作者用 Python hashlib 实际计算；演示网站：Anders Brownworth, Blockchain Demo（andersbrownworth.com/blockchain）</a:t>
            </a:r>
            <a:endParaRPr lang="en-US" sz="1000" dirty="0"/>
          </a:p>
        </p:txBody>
      </p:sp>
      <p:sp>
        <p:nvSpPr>
          <p:cNvPr id="6" name="Shape 3"/>
          <p:cNvSpPr/>
          <p:nvPr/>
        </p:nvSpPr>
        <p:spPr>
          <a:xfrm>
            <a:off x="457200" y="1463040"/>
            <a:ext cx="8229600" cy="914400"/>
          </a:xfrm>
          <a:prstGeom prst="roundRect">
            <a:avLst>
              <a:gd name="adj" fmla="val 8000"/>
            </a:avLst>
          </a:prstGeom>
          <a:solidFill>
            <a:schemeClr val="bg2"/>
          </a:solidFill>
          <a:ln w="12700">
            <a:solidFill>
              <a:schemeClr val="bg2">
                <a:alpha val="0"/>
              </a:schemeClr>
            </a:solidFill>
            <a:prstDash val="solid"/>
          </a:ln>
        </p:spPr>
      </p:sp>
      <p:sp>
        <p:nvSpPr>
          <p:cNvPr id="7" name="Text 4"/>
          <p:cNvSpPr txBox="1"/>
          <p:nvPr/>
        </p:nvSpPr>
        <p:spPr>
          <a:xfrm>
            <a:off x="640080" y="1508760"/>
            <a:ext cx="2103120" cy="822960"/>
          </a:xfrm>
          <a:prstGeom prst="rect">
            <a:avLst/>
          </a:prstGeom>
          <a:noFill/>
          <a:ln/>
        </p:spPr>
        <p:txBody>
          <a:bodyPr wrap="square" lIns="0" tIns="0" rIns="0" bIns="0" rtlCol="0" anchor="ctr"/>
          <a:lstStyle/>
          <a:p>
            <a:pPr algn="l" indent="0" marL="0">
              <a:lnSpc>
                <a:spcPct val="105000"/>
              </a:lnSpc>
              <a:buNone/>
            </a:pPr>
            <a:r>
              <a:rPr lang="en-US" sz="1600" b="1" dirty="0">
                <a:solidFill>
                  <a:schemeClr val="tx1"/>
                </a:solidFill>
              </a:rPr>
              <a:t>bitcoin</a:t>
            </a:r>
            <a:endParaRPr lang="en-US" sz="1600" dirty="0"/>
          </a:p>
        </p:txBody>
      </p:sp>
      <p:sp>
        <p:nvSpPr>
          <p:cNvPr id="8" name="Text 5"/>
          <p:cNvSpPr txBox="1"/>
          <p:nvPr/>
        </p:nvSpPr>
        <p:spPr>
          <a:xfrm>
            <a:off x="2834640" y="1572768"/>
            <a:ext cx="5669280" cy="731520"/>
          </a:xfrm>
          <a:prstGeom prst="rect">
            <a:avLst/>
          </a:prstGeom>
          <a:noFill/>
          <a:ln/>
        </p:spPr>
        <p:txBody>
          <a:bodyPr wrap="square" lIns="0" tIns="0" rIns="0" bIns="0" rtlCol="0" anchor="ctr"/>
          <a:lstStyle/>
          <a:p>
            <a:pPr algn="l" indent="0" marL="0">
              <a:lnSpc>
                <a:spcPct val="105000"/>
              </a:lnSpc>
              <a:spcAft>
                <a:spcPts val="200"/>
              </a:spcAft>
              <a:buNone/>
            </a:pPr>
            <a:r>
              <a:rPr lang="en-US" sz="1500" dirty="0">
                <a:solidFill>
                  <a:schemeClr val="tx1"/>
                </a:solidFill>
                <a:latin typeface="Consolas" pitchFamily="34" charset="0"/>
                <a:ea typeface="Consolas" pitchFamily="34" charset="-122"/>
                <a:cs typeface="Consolas" pitchFamily="34" charset="-120"/>
              </a:rPr>
              <a:t>6b88c087247aa2f07ee1c5956b8e1a9f</a:t>
            </a:r>
            <a:endParaRPr lang="en-US" sz="1500" dirty="0"/>
          </a:p>
          <a:p>
            <a:pPr algn="l" indent="0" marL="0">
              <a:lnSpc>
                <a:spcPct val="105000"/>
              </a:lnSpc>
              <a:buNone/>
            </a:pPr>
            <a:r>
              <a:rPr lang="en-US" sz="1500" dirty="0">
                <a:solidFill>
                  <a:schemeClr val="tx1"/>
                </a:solidFill>
                <a:latin typeface="Consolas" pitchFamily="34" charset="0"/>
                <a:ea typeface="Consolas" pitchFamily="34" charset="-122"/>
                <a:cs typeface="Consolas" pitchFamily="34" charset="-120"/>
              </a:rPr>
              <a:t>4c7f892a70e324f1bb3d161e05ca107b</a:t>
            </a:r>
            <a:endParaRPr lang="en-US" sz="1500" dirty="0"/>
          </a:p>
        </p:txBody>
      </p:sp>
      <p:sp>
        <p:nvSpPr>
          <p:cNvPr id="9" name="Shape 6"/>
          <p:cNvSpPr/>
          <p:nvPr/>
        </p:nvSpPr>
        <p:spPr>
          <a:xfrm>
            <a:off x="457200" y="2487168"/>
            <a:ext cx="8229600" cy="914400"/>
          </a:xfrm>
          <a:prstGeom prst="roundRect">
            <a:avLst>
              <a:gd name="adj" fmla="val 8000"/>
            </a:avLst>
          </a:prstGeom>
          <a:solidFill>
            <a:schemeClr val="bg2"/>
          </a:solidFill>
          <a:ln w="12700">
            <a:solidFill>
              <a:schemeClr val="bg2">
                <a:alpha val="0"/>
              </a:schemeClr>
            </a:solidFill>
            <a:prstDash val="solid"/>
          </a:ln>
        </p:spPr>
      </p:sp>
      <p:sp>
        <p:nvSpPr>
          <p:cNvPr id="10" name="Text 7"/>
          <p:cNvSpPr txBox="1"/>
          <p:nvPr/>
        </p:nvSpPr>
        <p:spPr>
          <a:xfrm>
            <a:off x="640080" y="2532888"/>
            <a:ext cx="2103120" cy="822960"/>
          </a:xfrm>
          <a:prstGeom prst="rect">
            <a:avLst/>
          </a:prstGeom>
          <a:noFill/>
          <a:ln/>
        </p:spPr>
        <p:txBody>
          <a:bodyPr wrap="square" lIns="0" tIns="0" rIns="0" bIns="0" rtlCol="0" anchor="ctr"/>
          <a:lstStyle/>
          <a:p>
            <a:pPr algn="l" indent="0" marL="0">
              <a:lnSpc>
                <a:spcPct val="105000"/>
              </a:lnSpc>
              <a:buNone/>
            </a:pPr>
            <a:r>
              <a:rPr lang="en-US" sz="1600" b="1" dirty="0">
                <a:solidFill>
                  <a:schemeClr val="tx1"/>
                </a:solidFill>
              </a:rPr>
              <a:t>Bitcoin</a:t>
            </a:r>
            <a:endParaRPr lang="en-US" sz="1600" dirty="0"/>
          </a:p>
        </p:txBody>
      </p:sp>
      <p:sp>
        <p:nvSpPr>
          <p:cNvPr id="11" name="Text 8"/>
          <p:cNvSpPr txBox="1"/>
          <p:nvPr/>
        </p:nvSpPr>
        <p:spPr>
          <a:xfrm>
            <a:off x="2834640" y="2596896"/>
            <a:ext cx="5669280" cy="731520"/>
          </a:xfrm>
          <a:prstGeom prst="rect">
            <a:avLst/>
          </a:prstGeom>
          <a:noFill/>
          <a:ln/>
        </p:spPr>
        <p:txBody>
          <a:bodyPr wrap="square" lIns="0" tIns="0" rIns="0" bIns="0" rtlCol="0" anchor="ctr"/>
          <a:lstStyle/>
          <a:p>
            <a:pPr algn="l" indent="0" marL="0">
              <a:lnSpc>
                <a:spcPct val="105000"/>
              </a:lnSpc>
              <a:spcAft>
                <a:spcPts val="200"/>
              </a:spcAft>
              <a:buNone/>
            </a:pPr>
            <a:r>
              <a:rPr lang="en-US" sz="1500" dirty="0">
                <a:solidFill>
                  <a:schemeClr val="accent6"/>
                </a:solidFill>
                <a:latin typeface="Consolas" pitchFamily="34" charset="0"/>
                <a:ea typeface="Consolas" pitchFamily="34" charset="-122"/>
                <a:cs typeface="Consolas" pitchFamily="34" charset="-120"/>
              </a:rPr>
              <a:t>b4056df6691f8dc72e56302ddad345d6</a:t>
            </a:r>
            <a:endParaRPr lang="en-US" sz="1500" dirty="0"/>
          </a:p>
          <a:p>
            <a:pPr algn="l" indent="0" marL="0">
              <a:lnSpc>
                <a:spcPct val="105000"/>
              </a:lnSpc>
              <a:buNone/>
            </a:pPr>
            <a:r>
              <a:rPr lang="en-US" sz="1500" dirty="0">
                <a:solidFill>
                  <a:schemeClr val="accent6"/>
                </a:solidFill>
                <a:latin typeface="Consolas" pitchFamily="34" charset="0"/>
                <a:ea typeface="Consolas" pitchFamily="34" charset="-122"/>
                <a:cs typeface="Consolas" pitchFamily="34" charset="-120"/>
              </a:rPr>
              <a:t>5fead3ead9299609a826e2344eb63aa4</a:t>
            </a:r>
            <a:endParaRPr lang="en-US" sz="1500" dirty="0"/>
          </a:p>
        </p:txBody>
      </p:sp>
      <p:sp>
        <p:nvSpPr>
          <p:cNvPr id="12" name="Shape 9"/>
          <p:cNvSpPr/>
          <p:nvPr/>
        </p:nvSpPr>
        <p:spPr>
          <a:xfrm>
            <a:off x="457200" y="3511296"/>
            <a:ext cx="8229600" cy="914400"/>
          </a:xfrm>
          <a:prstGeom prst="roundRect">
            <a:avLst>
              <a:gd name="adj" fmla="val 8000"/>
            </a:avLst>
          </a:prstGeom>
          <a:solidFill>
            <a:schemeClr val="bg2"/>
          </a:solidFill>
          <a:ln w="12700">
            <a:solidFill>
              <a:schemeClr val="bg2">
                <a:alpha val="0"/>
              </a:schemeClr>
            </a:solidFill>
            <a:prstDash val="solid"/>
          </a:ln>
        </p:spPr>
      </p:sp>
      <p:sp>
        <p:nvSpPr>
          <p:cNvPr id="13" name="Text 10"/>
          <p:cNvSpPr txBox="1"/>
          <p:nvPr/>
        </p:nvSpPr>
        <p:spPr>
          <a:xfrm>
            <a:off x="640080" y="3557016"/>
            <a:ext cx="2103120" cy="822960"/>
          </a:xfrm>
          <a:prstGeom prst="rect">
            <a:avLst/>
          </a:prstGeom>
          <a:noFill/>
          <a:ln/>
        </p:spPr>
        <p:txBody>
          <a:bodyPr wrap="square" lIns="0" tIns="0" rIns="0" bIns="0" rtlCol="0" anchor="ctr"/>
          <a:lstStyle/>
          <a:p>
            <a:pPr algn="l" indent="0" marL="0">
              <a:lnSpc>
                <a:spcPct val="105000"/>
              </a:lnSpc>
              <a:buNone/>
            </a:pPr>
            <a:r>
              <a:rPr lang="en-US" sz="1600" b="1" dirty="0">
                <a:solidFill>
                  <a:schemeClr val="tx1"/>
                </a:solidFill>
              </a:rPr>
              <a:t>“bitcoin ”（末尾多一个空格）</a:t>
            </a:r>
            <a:endParaRPr lang="en-US" sz="1600" dirty="0"/>
          </a:p>
        </p:txBody>
      </p:sp>
      <p:sp>
        <p:nvSpPr>
          <p:cNvPr id="14" name="Text 11"/>
          <p:cNvSpPr txBox="1"/>
          <p:nvPr/>
        </p:nvSpPr>
        <p:spPr>
          <a:xfrm>
            <a:off x="2834640" y="3621024"/>
            <a:ext cx="5669280" cy="731520"/>
          </a:xfrm>
          <a:prstGeom prst="rect">
            <a:avLst/>
          </a:prstGeom>
          <a:noFill/>
          <a:ln/>
        </p:spPr>
        <p:txBody>
          <a:bodyPr wrap="square" lIns="0" tIns="0" rIns="0" bIns="0" rtlCol="0" anchor="ctr"/>
          <a:lstStyle/>
          <a:p>
            <a:pPr algn="l" indent="0" marL="0">
              <a:lnSpc>
                <a:spcPct val="105000"/>
              </a:lnSpc>
              <a:spcAft>
                <a:spcPts val="200"/>
              </a:spcAft>
              <a:buNone/>
            </a:pPr>
            <a:r>
              <a:rPr lang="en-US" sz="1500" dirty="0">
                <a:solidFill>
                  <a:schemeClr val="accent6"/>
                </a:solidFill>
                <a:latin typeface="Consolas" pitchFamily="34" charset="0"/>
                <a:ea typeface="Consolas" pitchFamily="34" charset="-122"/>
                <a:cs typeface="Consolas" pitchFamily="34" charset="-120"/>
              </a:rPr>
              <a:t>f9cb9e88550b4481e5bc5d87c88c3e07</a:t>
            </a:r>
            <a:endParaRPr lang="en-US" sz="1500" dirty="0"/>
          </a:p>
          <a:p>
            <a:pPr algn="l" indent="0" marL="0">
              <a:lnSpc>
                <a:spcPct val="105000"/>
              </a:lnSpc>
              <a:buNone/>
            </a:pPr>
            <a:r>
              <a:rPr lang="en-US" sz="1500" dirty="0">
                <a:solidFill>
                  <a:schemeClr val="accent6"/>
                </a:solidFill>
                <a:latin typeface="Consolas" pitchFamily="34" charset="0"/>
                <a:ea typeface="Consolas" pitchFamily="34" charset="-122"/>
                <a:cs typeface="Consolas" pitchFamily="34" charset="-120"/>
              </a:rPr>
              <a:t>d9112749378e294146766258a864231c</a:t>
            </a:r>
            <a:endParaRPr lang="en-US" sz="1500" dirty="0"/>
          </a:p>
        </p:txBody>
      </p:sp>
      <p:sp>
        <p:nvSpPr>
          <p:cNvPr id="15" name="Shape 12"/>
          <p:cNvSpPr/>
          <p:nvPr/>
        </p:nvSpPr>
        <p:spPr>
          <a:xfrm>
            <a:off x="457200" y="4617720"/>
            <a:ext cx="3931920" cy="1463040"/>
          </a:xfrm>
          <a:prstGeom prst="roundRect">
            <a:avLst>
              <a:gd name="adj" fmla="val 5000"/>
            </a:avLst>
          </a:prstGeom>
          <a:solidFill>
            <a:schemeClr val="bg2"/>
          </a:solidFill>
          <a:ln w="12700">
            <a:solidFill>
              <a:schemeClr val="bg2">
                <a:alpha val="0"/>
              </a:schemeClr>
            </a:solidFill>
            <a:prstDash val="solid"/>
          </a:ln>
        </p:spPr>
      </p:sp>
      <p:sp>
        <p:nvSpPr>
          <p:cNvPr id="16" name="Text 13"/>
          <p:cNvSpPr txBox="1"/>
          <p:nvPr/>
        </p:nvSpPr>
        <p:spPr>
          <a:xfrm>
            <a:off x="594360" y="4727448"/>
            <a:ext cx="3657600" cy="731520"/>
          </a:xfrm>
          <a:prstGeom prst="rect">
            <a:avLst/>
          </a:prstGeom>
          <a:noFill/>
          <a:ln/>
        </p:spPr>
        <p:txBody>
          <a:bodyPr wrap="square" lIns="0" tIns="0" rIns="0" bIns="0" rtlCol="0" anchor="ctr"/>
          <a:lstStyle/>
          <a:p>
            <a:pPr algn="ctr" indent="0" marL="0">
              <a:lnSpc>
                <a:spcPct val="105000"/>
              </a:lnSpc>
              <a:buNone/>
            </a:pPr>
            <a:r>
              <a:rPr lang="en-US" sz="3200" b="1" dirty="0">
                <a:solidFill>
                  <a:schemeClr val="accent6"/>
                </a:solidFill>
              </a:rPr>
              <a:t>138 / 256</a:t>
            </a:r>
            <a:endParaRPr lang="en-US" sz="3200" dirty="0"/>
          </a:p>
        </p:txBody>
      </p:sp>
      <p:sp>
        <p:nvSpPr>
          <p:cNvPr id="17" name="Text 14"/>
          <p:cNvSpPr txBox="1"/>
          <p:nvPr/>
        </p:nvSpPr>
        <p:spPr>
          <a:xfrm>
            <a:off x="594360" y="5466283"/>
            <a:ext cx="3657600" cy="555955"/>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bitcoin 与 Bitcoin 的输出中不同的位数（≈54%）</a:t>
            </a:r>
            <a:endParaRPr lang="en-US" sz="1400" dirty="0"/>
          </a:p>
        </p:txBody>
      </p:sp>
      <p:sp>
        <p:nvSpPr>
          <p:cNvPr id="18" name="Shape 15"/>
          <p:cNvSpPr/>
          <p:nvPr/>
        </p:nvSpPr>
        <p:spPr>
          <a:xfrm>
            <a:off x="4572000" y="4617720"/>
            <a:ext cx="4114800" cy="1463040"/>
          </a:xfrm>
          <a:prstGeom prst="roundRect">
            <a:avLst>
              <a:gd name="adj" fmla="val 5000"/>
            </a:avLst>
          </a:prstGeom>
          <a:solidFill>
            <a:schemeClr val="accent1">
              <a:alpha val="12000"/>
            </a:schemeClr>
          </a:solidFill>
          <a:ln w="12700">
            <a:solidFill>
              <a:schemeClr val="accent1">
                <a:alpha val="0"/>
              </a:schemeClr>
            </a:solidFill>
            <a:prstDash val="solid"/>
          </a:ln>
        </p:spPr>
      </p:sp>
      <p:pic>
        <p:nvPicPr>
          <p:cNvPr id="19" name="Image 0" descr="key">    </p:cNvPr>
          <p:cNvPicPr>
            <a:picLocks noChangeAspect="1"/>
          </p:cNvPicPr>
          <p:nvPr/>
        </p:nvPicPr>
        <p:blipFill>
          <a:blip r:embed="rId1"/>
          <a:stretch>
            <a:fillRect/>
          </a:stretch>
        </p:blipFill>
        <p:spPr>
          <a:xfrm>
            <a:off x="4754880" y="5157216"/>
            <a:ext cx="384048" cy="384048"/>
          </a:xfrm>
          <a:prstGeom prst="rect">
            <a:avLst/>
          </a:prstGeom>
        </p:spPr>
      </p:pic>
      <p:sp>
        <p:nvSpPr>
          <p:cNvPr id="20" name="Text 16"/>
          <p:cNvSpPr txBox="1"/>
          <p:nvPr/>
        </p:nvSpPr>
        <p:spPr>
          <a:xfrm>
            <a:off x="5303520" y="4690872"/>
            <a:ext cx="3200400" cy="131673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改一个字母，约</a:t>
            </a:r>
            <a:pPr algn="l" indent="0" marL="0">
              <a:lnSpc>
                <a:spcPct val="105000"/>
              </a:lnSpc>
              <a:buNone/>
            </a:pPr>
            <a:r>
              <a:rPr lang="en-US" sz="1600" b="1" dirty="0">
                <a:solidFill>
                  <a:schemeClr val="tx1"/>
                </a:solidFill>
              </a:rPr>
              <a:t>一半的位</a:t>
            </a:r>
            <a:pPr algn="l" indent="0" marL="0">
              <a:lnSpc>
                <a:spcPct val="105000"/>
              </a:lnSpc>
              <a:buNone/>
            </a:pPr>
            <a:r>
              <a:rPr lang="en-US" sz="1600" dirty="0">
                <a:solidFill>
                  <a:schemeClr val="tx1"/>
                </a:solidFill>
              </a:rPr>
              <a:t>都变了：无法“逐步逼近”，只能穷举。</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哈希不是加密：只能验证，不能还原</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哈希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来源：王小云等 (2004, 2005)；Stevens 等 (2017) SHAttered；NIST</a:t>
            </a:r>
            <a:endParaRPr lang="en-US" sz="1000" dirty="0"/>
          </a:p>
        </p:txBody>
      </p:sp>
      <p:sp>
        <p:nvSpPr>
          <p:cNvPr id="6" name="Shape 3"/>
          <p:cNvSpPr/>
          <p:nvPr/>
        </p:nvSpPr>
        <p:spPr>
          <a:xfrm>
            <a:off x="457200" y="1417320"/>
            <a:ext cx="4023360" cy="1828800"/>
          </a:xfrm>
          <a:prstGeom prst="roundRect">
            <a:avLst>
              <a:gd name="adj" fmla="val 4000"/>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8" name="Image 0" descr="FaLockOpen">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加密：可逆</a:t>
            </a:r>
            <a:endParaRPr lang="en-US" sz="1800" dirty="0"/>
          </a:p>
        </p:txBody>
      </p:sp>
      <p:sp>
        <p:nvSpPr>
          <p:cNvPr id="10" name="Text 6"/>
          <p:cNvSpPr txBox="1"/>
          <p:nvPr/>
        </p:nvSpPr>
        <p:spPr>
          <a:xfrm>
            <a:off x="640080" y="2578608"/>
            <a:ext cx="3657600" cy="5577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有密钥就能解密，还原出原文。</a:t>
            </a:r>
            <a:endParaRPr lang="en-US" sz="1500" dirty="0"/>
          </a:p>
        </p:txBody>
      </p:sp>
      <p:sp>
        <p:nvSpPr>
          <p:cNvPr id="11" name="Shape 7"/>
          <p:cNvSpPr/>
          <p:nvPr/>
        </p:nvSpPr>
        <p:spPr>
          <a:xfrm>
            <a:off x="4663440" y="1417320"/>
            <a:ext cx="4023360" cy="1828800"/>
          </a:xfrm>
          <a:prstGeom prst="roundRect">
            <a:avLst>
              <a:gd name="adj" fmla="val 4000"/>
            </a:avLst>
          </a:prstGeom>
          <a:solidFill>
            <a:schemeClr val="bg2"/>
          </a:solidFill>
          <a:ln w="12700">
            <a:solidFill>
              <a:schemeClr val="bg2">
                <a:alpha val="0"/>
              </a:schemeClr>
            </a:solidFill>
            <a:prstDash val="solid"/>
          </a:ln>
        </p:spPr>
      </p:sp>
      <p:sp>
        <p:nvSpPr>
          <p:cNvPr id="12" name="Shape 8"/>
          <p:cNvSpPr/>
          <p:nvPr/>
        </p:nvSpPr>
        <p:spPr>
          <a:xfrm>
            <a:off x="4846320" y="1581912"/>
            <a:ext cx="502920" cy="502920"/>
          </a:xfrm>
          <a:prstGeom prst="ellipse">
            <a:avLst/>
          </a:prstGeom>
          <a:solidFill>
            <a:schemeClr val="accent1"/>
          </a:solidFill>
          <a:ln w="12700">
            <a:solidFill>
              <a:schemeClr val="accent1">
                <a:alpha val="0"/>
              </a:schemeClr>
            </a:solidFill>
            <a:prstDash val="solid"/>
          </a:ln>
        </p:spPr>
      </p:sp>
      <p:pic>
        <p:nvPicPr>
          <p:cNvPr id="13" name="Image 1" descr="FaFingerprint">    </p:cNvPr>
          <p:cNvPicPr>
            <a:picLocks noChangeAspect="1"/>
          </p:cNvPicPr>
          <p:nvPr/>
        </p:nvPicPr>
        <p:blipFill>
          <a:blip r:embed="rId2"/>
          <a:stretch>
            <a:fillRect/>
          </a:stretch>
        </p:blipFill>
        <p:spPr>
          <a:xfrm>
            <a:off x="4956962" y="1692554"/>
            <a:ext cx="281635" cy="281635"/>
          </a:xfrm>
          <a:prstGeom prst="rect">
            <a:avLst/>
          </a:prstGeom>
        </p:spPr>
      </p:pic>
      <p:sp>
        <p:nvSpPr>
          <p:cNvPr id="14" name="Text 9"/>
          <p:cNvSpPr txBox="1"/>
          <p:nvPr/>
        </p:nvSpPr>
        <p:spPr>
          <a:xfrm>
            <a:off x="484632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哈希：不可逆</a:t>
            </a:r>
            <a:endParaRPr lang="en-US" sz="1800" dirty="0"/>
          </a:p>
        </p:txBody>
      </p:sp>
      <p:sp>
        <p:nvSpPr>
          <p:cNvPr id="15" name="Text 10"/>
          <p:cNvSpPr txBox="1"/>
          <p:nvPr/>
        </p:nvSpPr>
        <p:spPr>
          <a:xfrm>
            <a:off x="4846320" y="2578608"/>
            <a:ext cx="3657600" cy="5577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信息在压缩中丢失，只能验证，无法还原。</a:t>
            </a:r>
            <a:endParaRPr lang="en-US" sz="1500" dirty="0"/>
          </a:p>
        </p:txBody>
      </p:sp>
      <p:sp>
        <p:nvSpPr>
          <p:cNvPr id="16" name="Text 11"/>
          <p:cNvSpPr txBox="1"/>
          <p:nvPr/>
        </p:nvSpPr>
        <p:spPr>
          <a:xfrm>
            <a:off x="457200" y="3337560"/>
            <a:ext cx="8229600" cy="68580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碰撞</a:t>
            </a:r>
            <a:pPr algn="l" indent="0" marL="0">
              <a:lnSpc>
                <a:spcPct val="105000"/>
              </a:lnSpc>
              <a:buNone/>
            </a:pPr>
            <a:r>
              <a:rPr lang="en-US" sz="1600" b="1" dirty="0">
                <a:solidFill>
                  <a:schemeClr val="tx1"/>
                </a:solidFill>
              </a:rPr>
              <a:t>必然存在</a:t>
            </a:r>
            <a:pPr algn="l" indent="0" marL="0">
              <a:lnSpc>
                <a:spcPct val="105000"/>
              </a:lnSpc>
              <a:buNone/>
            </a:pPr>
            <a:r>
              <a:rPr lang="en-US" sz="1600" dirty="0">
                <a:solidFill>
                  <a:schemeClr val="tx1"/>
                </a:solidFill>
              </a:rPr>
              <a:t>（无限输入 → 有限输出），关键是“</a:t>
            </a:r>
            <a:pPr algn="l" indent="0" marL="0">
              <a:lnSpc>
                <a:spcPct val="105000"/>
              </a:lnSpc>
              <a:buNone/>
            </a:pPr>
            <a:r>
              <a:rPr lang="en-US" sz="1600" b="1" dirty="0">
                <a:solidFill>
                  <a:schemeClr val="tx1"/>
                </a:solidFill>
              </a:rPr>
              <a:t>找不到</a:t>
            </a:r>
            <a:pPr algn="l" indent="0" marL="0">
              <a:lnSpc>
                <a:spcPct val="105000"/>
              </a:lnSpc>
              <a:buNone/>
            </a:pPr>
            <a:r>
              <a:rPr lang="en-US" sz="1600" dirty="0">
                <a:solidFill>
                  <a:schemeClr val="tx1"/>
                </a:solidFill>
              </a:rPr>
              <a:t>”：SHA-256 找碰撞约需 2¹²⁸ 次。</a:t>
            </a:r>
            <a:endParaRPr lang="en-US" sz="1600" dirty="0"/>
          </a:p>
        </p:txBody>
      </p:sp>
      <p:sp>
        <p:nvSpPr>
          <p:cNvPr id="17" name="Shape 12"/>
          <p:cNvSpPr/>
          <p:nvPr/>
        </p:nvSpPr>
        <p:spPr>
          <a:xfrm>
            <a:off x="457200" y="4206240"/>
            <a:ext cx="1851660" cy="1280160"/>
          </a:xfrm>
          <a:prstGeom prst="roundRect">
            <a:avLst>
              <a:gd name="adj" fmla="val 5714"/>
            </a:avLst>
          </a:prstGeom>
          <a:solidFill>
            <a:schemeClr val="bg2"/>
          </a:solidFill>
          <a:ln w="12700">
            <a:solidFill>
              <a:schemeClr val="bg2">
                <a:alpha val="0"/>
              </a:schemeClr>
            </a:solidFill>
            <a:prstDash val="solid"/>
          </a:ln>
        </p:spPr>
      </p:sp>
      <p:sp>
        <p:nvSpPr>
          <p:cNvPr id="18" name="Text 13"/>
          <p:cNvSpPr txBox="1"/>
          <p:nvPr/>
        </p:nvSpPr>
        <p:spPr>
          <a:xfrm>
            <a:off x="530352" y="4261104"/>
            <a:ext cx="1705356"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2004</a:t>
            </a:r>
            <a:endParaRPr lang="en-US" sz="1300" dirty="0"/>
          </a:p>
          <a:p>
            <a:pPr algn="ctr" indent="0" marL="0">
              <a:lnSpc>
                <a:spcPct val="105000"/>
              </a:lnSpc>
              <a:buNone/>
            </a:pPr>
            <a:r>
              <a:rPr lang="en-US" sz="1300" dirty="0">
                <a:solidFill>
                  <a:schemeClr val="accent4"/>
                </a:solidFill>
              </a:rPr>
              <a:t>王小云：MD5 碰撞</a:t>
            </a:r>
            <a:endParaRPr lang="en-US" sz="1300" dirty="0"/>
          </a:p>
        </p:txBody>
      </p:sp>
      <p:sp>
        <p:nvSpPr>
          <p:cNvPr id="19" name="Shape 14"/>
          <p:cNvSpPr/>
          <p:nvPr/>
        </p:nvSpPr>
        <p:spPr>
          <a:xfrm>
            <a:off x="2345436" y="4745736"/>
            <a:ext cx="201168" cy="201168"/>
          </a:xfrm>
          <a:prstGeom prst="rightArrow">
            <a:avLst/>
          </a:prstGeom>
          <a:solidFill>
            <a:schemeClr val="accent1"/>
          </a:solidFill>
          <a:ln w="12700">
            <a:solidFill>
              <a:schemeClr val="accent1">
                <a:alpha val="0"/>
              </a:schemeClr>
            </a:solidFill>
            <a:prstDash val="solid"/>
          </a:ln>
        </p:spPr>
      </p:sp>
      <p:sp>
        <p:nvSpPr>
          <p:cNvPr id="20" name="Shape 15"/>
          <p:cNvSpPr/>
          <p:nvPr/>
        </p:nvSpPr>
        <p:spPr>
          <a:xfrm>
            <a:off x="2583180" y="4206240"/>
            <a:ext cx="1851660" cy="1280160"/>
          </a:xfrm>
          <a:prstGeom prst="roundRect">
            <a:avLst>
              <a:gd name="adj" fmla="val 5714"/>
            </a:avLst>
          </a:prstGeom>
          <a:solidFill>
            <a:schemeClr val="bg2"/>
          </a:solidFill>
          <a:ln w="12700">
            <a:solidFill>
              <a:schemeClr val="bg2">
                <a:alpha val="0"/>
              </a:schemeClr>
            </a:solidFill>
            <a:prstDash val="solid"/>
          </a:ln>
        </p:spPr>
      </p:sp>
      <p:sp>
        <p:nvSpPr>
          <p:cNvPr id="21" name="Text 16"/>
          <p:cNvSpPr txBox="1"/>
          <p:nvPr/>
        </p:nvSpPr>
        <p:spPr>
          <a:xfrm>
            <a:off x="2656332" y="4261104"/>
            <a:ext cx="1705356"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2005</a:t>
            </a:r>
            <a:endParaRPr lang="en-US" sz="1300" dirty="0"/>
          </a:p>
          <a:p>
            <a:pPr algn="ctr" indent="0" marL="0">
              <a:lnSpc>
                <a:spcPct val="105000"/>
              </a:lnSpc>
              <a:buNone/>
            </a:pPr>
            <a:r>
              <a:rPr lang="en-US" sz="1300" dirty="0">
                <a:solidFill>
                  <a:schemeClr val="accent4"/>
                </a:solidFill>
              </a:rPr>
              <a:t>王小云等：SHA-1 攻击方法</a:t>
            </a:r>
            <a:endParaRPr lang="en-US" sz="1300" dirty="0"/>
          </a:p>
        </p:txBody>
      </p:sp>
      <p:sp>
        <p:nvSpPr>
          <p:cNvPr id="22" name="Shape 17"/>
          <p:cNvSpPr/>
          <p:nvPr/>
        </p:nvSpPr>
        <p:spPr>
          <a:xfrm>
            <a:off x="4471416" y="4745736"/>
            <a:ext cx="201168" cy="201168"/>
          </a:xfrm>
          <a:prstGeom prst="rightArrow">
            <a:avLst/>
          </a:prstGeom>
          <a:solidFill>
            <a:schemeClr val="accent1"/>
          </a:solidFill>
          <a:ln w="12700">
            <a:solidFill>
              <a:schemeClr val="accent1">
                <a:alpha val="0"/>
              </a:schemeClr>
            </a:solidFill>
            <a:prstDash val="solid"/>
          </a:ln>
        </p:spPr>
      </p:sp>
      <p:sp>
        <p:nvSpPr>
          <p:cNvPr id="23" name="Shape 18"/>
          <p:cNvSpPr/>
          <p:nvPr/>
        </p:nvSpPr>
        <p:spPr>
          <a:xfrm>
            <a:off x="4709160" y="4206240"/>
            <a:ext cx="1851660" cy="1280160"/>
          </a:xfrm>
          <a:prstGeom prst="roundRect">
            <a:avLst>
              <a:gd name="adj" fmla="val 5714"/>
            </a:avLst>
          </a:prstGeom>
          <a:solidFill>
            <a:schemeClr val="bg2"/>
          </a:solidFill>
          <a:ln w="12700">
            <a:solidFill>
              <a:schemeClr val="bg2">
                <a:alpha val="0"/>
              </a:schemeClr>
            </a:solidFill>
            <a:prstDash val="solid"/>
          </a:ln>
        </p:spPr>
      </p:sp>
      <p:sp>
        <p:nvSpPr>
          <p:cNvPr id="24" name="Text 19"/>
          <p:cNvSpPr txBox="1"/>
          <p:nvPr/>
        </p:nvSpPr>
        <p:spPr>
          <a:xfrm>
            <a:off x="4782312" y="4261104"/>
            <a:ext cx="1705356"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2017</a:t>
            </a:r>
            <a:endParaRPr lang="en-US" sz="1300" dirty="0"/>
          </a:p>
          <a:p>
            <a:pPr algn="ctr" indent="0" marL="0">
              <a:lnSpc>
                <a:spcPct val="105000"/>
              </a:lnSpc>
              <a:buNone/>
            </a:pPr>
            <a:r>
              <a:rPr lang="en-US" sz="1300" dirty="0">
                <a:solidFill>
                  <a:schemeClr val="accent4"/>
                </a:solidFill>
              </a:rPr>
              <a:t>SHAttered：首个 SHA-1 实际碰撞</a:t>
            </a:r>
            <a:endParaRPr lang="en-US" sz="1300" dirty="0"/>
          </a:p>
        </p:txBody>
      </p:sp>
      <p:sp>
        <p:nvSpPr>
          <p:cNvPr id="25" name="Shape 20"/>
          <p:cNvSpPr/>
          <p:nvPr/>
        </p:nvSpPr>
        <p:spPr>
          <a:xfrm>
            <a:off x="6597396" y="4745736"/>
            <a:ext cx="201168" cy="201168"/>
          </a:xfrm>
          <a:prstGeom prst="rightArrow">
            <a:avLst/>
          </a:prstGeom>
          <a:solidFill>
            <a:schemeClr val="accent1"/>
          </a:solidFill>
          <a:ln w="12700">
            <a:solidFill>
              <a:schemeClr val="accent1">
                <a:alpha val="0"/>
              </a:schemeClr>
            </a:solidFill>
            <a:prstDash val="solid"/>
          </a:ln>
        </p:spPr>
      </p:sp>
      <p:sp>
        <p:nvSpPr>
          <p:cNvPr id="26" name="Shape 21"/>
          <p:cNvSpPr/>
          <p:nvPr/>
        </p:nvSpPr>
        <p:spPr>
          <a:xfrm>
            <a:off x="6835140" y="4206240"/>
            <a:ext cx="1851660" cy="1280160"/>
          </a:xfrm>
          <a:prstGeom prst="roundRect">
            <a:avLst>
              <a:gd name="adj" fmla="val 5714"/>
            </a:avLst>
          </a:prstGeom>
          <a:solidFill>
            <a:schemeClr val="accent1"/>
          </a:solidFill>
          <a:ln w="12700">
            <a:solidFill>
              <a:schemeClr val="accent1">
                <a:alpha val="0"/>
              </a:schemeClr>
            </a:solidFill>
            <a:prstDash val="solid"/>
          </a:ln>
        </p:spPr>
      </p:sp>
      <p:sp>
        <p:nvSpPr>
          <p:cNvPr id="27" name="Text 22"/>
          <p:cNvSpPr txBox="1"/>
          <p:nvPr/>
        </p:nvSpPr>
        <p:spPr>
          <a:xfrm>
            <a:off x="6908292" y="4261104"/>
            <a:ext cx="1705356"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今天</a:t>
            </a:r>
            <a:endParaRPr lang="en-US" sz="1300" dirty="0"/>
          </a:p>
          <a:p>
            <a:pPr algn="ctr" indent="0" marL="0">
              <a:lnSpc>
                <a:spcPct val="105000"/>
              </a:lnSpc>
              <a:buNone/>
            </a:pPr>
            <a:r>
              <a:rPr lang="en-US" sz="1300" dirty="0">
                <a:solidFill>
                  <a:schemeClr val="accent4"/>
                </a:solidFill>
              </a:rPr>
              <a:t>SHA-256：无已知实际碰撞</a:t>
            </a:r>
            <a:endParaRPr lang="en-US" sz="1300" dirty="0"/>
          </a:p>
        </p:txBody>
      </p:sp>
      <p:sp>
        <p:nvSpPr>
          <p:cNvPr id="28" name="Text 23"/>
          <p:cNvSpPr txBox="1"/>
          <p:nvPr/>
        </p:nvSpPr>
        <p:spPr>
          <a:xfrm>
            <a:off x="457200" y="5669280"/>
            <a:ext cx="8229600" cy="41148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软件校验、证书、比特币，都在从“被攻破的哈希”迁移到更强的哈希。</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SHA-256：256 位意味着多大的搜索空间？</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哈希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来源：NIST FIPS 180；比特币全网算力约 1 ZH/s（2026 年，mempool.space / 公开报道）；作者计算</a:t>
            </a:r>
            <a:endParaRPr lang="en-US" sz="1000" dirty="0"/>
          </a:p>
        </p:txBody>
      </p:sp>
      <p:sp>
        <p:nvSpPr>
          <p:cNvPr id="6" name="Text 3"/>
          <p:cNvSpPr txBox="1"/>
          <p:nvPr/>
        </p:nvSpPr>
        <p:spPr>
          <a:xfrm>
            <a:off x="457200" y="1463040"/>
            <a:ext cx="4023360" cy="4480560"/>
          </a:xfrm>
          <a:prstGeom prst="rect">
            <a:avLst/>
          </a:prstGeom>
          <a:noFill/>
          <a:ln/>
        </p:spPr>
        <p:txBody>
          <a:bodyPr wrap="square" lIns="0" tIns="0" rIns="0" bIns="0" rtlCol="0" anchor="t"/>
          <a:lstStyle/>
          <a:p>
            <a:pPr algn="l" marL="254000" indent="-254000">
              <a:lnSpc>
                <a:spcPct val="105000"/>
              </a:lnSpc>
              <a:spcAft>
                <a:spcPts val="1200"/>
              </a:spcAft>
              <a:buSzPct val="100000"/>
              <a:buChar char="•"/>
            </a:pPr>
            <a:r>
              <a:rPr lang="en-US" sz="1600" dirty="0">
                <a:solidFill>
                  <a:schemeClr val="tx1"/>
                </a:solidFill>
              </a:rPr>
              <a:t>输出：</a:t>
            </a:r>
            <a:pPr algn="l" marL="254000" indent="-254000">
              <a:lnSpc>
                <a:spcPct val="105000"/>
              </a:lnSpc>
              <a:spcAft>
                <a:spcPts val="1200"/>
              </a:spcAft>
              <a:buSzPct val="100000"/>
              <a:buChar char="•"/>
            </a:pPr>
            <a:r>
              <a:rPr lang="en-US" sz="1600" b="1" dirty="0">
                <a:solidFill>
                  <a:schemeClr val="tx1"/>
                </a:solidFill>
              </a:rPr>
              <a:t>256 位 = 32 字节 = 64 个十六进制字符</a:t>
            </a:r>
            <a:endParaRPr lang="en-US" sz="1600" dirty="0"/>
          </a:p>
          <a:p>
            <a:pPr algn="l" marL="254000" indent="-254000">
              <a:lnSpc>
                <a:spcPct val="105000"/>
              </a:lnSpc>
              <a:spcAft>
                <a:spcPts val="1200"/>
              </a:spcAft>
              <a:buSzPct val="100000"/>
              <a:buChar char="•"/>
            </a:pPr>
            <a:r>
              <a:rPr lang="en-US" sz="1600" dirty="0">
                <a:solidFill>
                  <a:schemeClr val="tx1"/>
                </a:solidFill>
              </a:rPr>
              <a:t>设计与发布：美国国安局（NSA）设计，NIST 于 2001 年发布（SHA-2 家族）</a:t>
            </a:r>
            <a:endParaRPr lang="en-US" sz="1600" dirty="0"/>
          </a:p>
          <a:p>
            <a:pPr algn="l" marL="254000" indent="-254000">
              <a:lnSpc>
                <a:spcPct val="105000"/>
              </a:lnSpc>
              <a:spcAft>
                <a:spcPts val="1200"/>
              </a:spcAft>
              <a:buSzPct val="100000"/>
              <a:buChar char="•"/>
            </a:pPr>
            <a:r>
              <a:rPr lang="en-US" sz="1600" dirty="0">
                <a:solidFill>
                  <a:schemeClr val="tx1"/>
                </a:solidFill>
              </a:rPr>
              <a:t>比特币的用法：对区块头做</a:t>
            </a:r>
            <a:pPr algn="l" marL="254000" indent="-254000">
              <a:lnSpc>
                <a:spcPct val="105000"/>
              </a:lnSpc>
              <a:spcAft>
                <a:spcPts val="1200"/>
              </a:spcAft>
              <a:buSzPct val="100000"/>
              <a:buChar char="•"/>
            </a:pPr>
            <a:r>
              <a:rPr lang="en-US" sz="1600" b="1" dirty="0">
                <a:solidFill>
                  <a:schemeClr val="tx1"/>
                </a:solidFill>
              </a:rPr>
              <a:t>两次</a:t>
            </a:r>
            <a:pPr algn="l" marL="254000" indent="-254000">
              <a:lnSpc>
                <a:spcPct val="105000"/>
              </a:lnSpc>
              <a:spcAft>
                <a:spcPts val="1200"/>
              </a:spcAft>
              <a:buSzPct val="100000"/>
              <a:buChar char="•"/>
            </a:pPr>
            <a:r>
              <a:rPr lang="en-US" sz="1600" dirty="0">
                <a:solidFill>
                  <a:schemeClr val="tx1"/>
                </a:solidFill>
              </a:rPr>
              <a:t> SHA-256</a:t>
            </a:r>
            <a:endParaRPr lang="en-US" sz="1600" dirty="0"/>
          </a:p>
          <a:p>
            <a:pPr algn="l" marL="254000" indent="-254000">
              <a:lnSpc>
                <a:spcPct val="105000"/>
              </a:lnSpc>
              <a:buSzPct val="100000"/>
              <a:buChar char="•"/>
            </a:pPr>
            <a:r>
              <a:rPr lang="en-US" sz="1600" dirty="0">
                <a:solidFill>
                  <a:schemeClr val="tx1"/>
                </a:solidFill>
              </a:rPr>
              <a:t>1 个十六进制字符 = 4 位；2 个字符 = 1 字节</a:t>
            </a:r>
            <a:endParaRPr lang="en-US" sz="1600" dirty="0"/>
          </a:p>
        </p:txBody>
      </p:sp>
      <p:sp>
        <p:nvSpPr>
          <p:cNvPr id="7" name="Shape 4"/>
          <p:cNvSpPr/>
          <p:nvPr/>
        </p:nvSpPr>
        <p:spPr>
          <a:xfrm>
            <a:off x="4754880" y="1463040"/>
            <a:ext cx="3931920" cy="1371600"/>
          </a:xfrm>
          <a:prstGeom prst="roundRect">
            <a:avLst>
              <a:gd name="adj" fmla="val 5333"/>
            </a:avLst>
          </a:prstGeom>
          <a:solidFill>
            <a:schemeClr val="bg2"/>
          </a:solidFill>
          <a:ln w="12700">
            <a:solidFill>
              <a:schemeClr val="bg2">
                <a:alpha val="0"/>
              </a:schemeClr>
            </a:solidFill>
            <a:prstDash val="solid"/>
          </a:ln>
        </p:spPr>
      </p:sp>
      <p:sp>
        <p:nvSpPr>
          <p:cNvPr id="8" name="Text 5"/>
          <p:cNvSpPr txBox="1"/>
          <p:nvPr/>
        </p:nvSpPr>
        <p:spPr>
          <a:xfrm>
            <a:off x="4892040" y="1572768"/>
            <a:ext cx="3657600" cy="68580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≈1.2×10⁷⁷</a:t>
            </a:r>
            <a:endParaRPr lang="en-US" sz="3000" dirty="0"/>
          </a:p>
        </p:txBody>
      </p:sp>
      <p:sp>
        <p:nvSpPr>
          <p:cNvPr id="9" name="Text 6"/>
          <p:cNvSpPr txBox="1"/>
          <p:nvPr/>
        </p:nvSpPr>
        <p:spPr>
          <a:xfrm>
            <a:off x="4892040" y="2258568"/>
            <a:ext cx="3657600" cy="521208"/>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2²⁵⁶ 种可能的输出</a:t>
            </a:r>
            <a:endParaRPr lang="en-US" sz="1400" dirty="0"/>
          </a:p>
        </p:txBody>
      </p:sp>
      <p:sp>
        <p:nvSpPr>
          <p:cNvPr id="10" name="Shape 7"/>
          <p:cNvSpPr/>
          <p:nvPr/>
        </p:nvSpPr>
        <p:spPr>
          <a:xfrm>
            <a:off x="4754880" y="2971800"/>
            <a:ext cx="3931920" cy="1371600"/>
          </a:xfrm>
          <a:prstGeom prst="roundRect">
            <a:avLst>
              <a:gd name="adj" fmla="val 5333"/>
            </a:avLst>
          </a:prstGeom>
          <a:solidFill>
            <a:schemeClr val="bg2"/>
          </a:solidFill>
          <a:ln w="12700">
            <a:solidFill>
              <a:schemeClr val="bg2">
                <a:alpha val="0"/>
              </a:schemeClr>
            </a:solidFill>
            <a:prstDash val="solid"/>
          </a:ln>
        </p:spPr>
      </p:sp>
      <p:sp>
        <p:nvSpPr>
          <p:cNvPr id="11" name="Text 8"/>
          <p:cNvSpPr txBox="1"/>
          <p:nvPr/>
        </p:nvSpPr>
        <p:spPr>
          <a:xfrm>
            <a:off x="4892040" y="3081528"/>
            <a:ext cx="3657600" cy="68580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≈10²¹ 次/秒</a:t>
            </a:r>
            <a:endParaRPr lang="en-US" sz="3000" dirty="0"/>
          </a:p>
        </p:txBody>
      </p:sp>
      <p:sp>
        <p:nvSpPr>
          <p:cNvPr id="12" name="Text 9"/>
          <p:cNvSpPr txBox="1"/>
          <p:nvPr/>
        </p:nvSpPr>
        <p:spPr>
          <a:xfrm>
            <a:off x="4892040" y="3767328"/>
            <a:ext cx="3657600" cy="521208"/>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全比特币网络的哈希算力（约 1 ZH/s）</a:t>
            </a:r>
            <a:endParaRPr lang="en-US" sz="1400" dirty="0"/>
          </a:p>
        </p:txBody>
      </p:sp>
      <p:sp>
        <p:nvSpPr>
          <p:cNvPr id="13" name="Shape 10"/>
          <p:cNvSpPr/>
          <p:nvPr/>
        </p:nvSpPr>
        <p:spPr>
          <a:xfrm>
            <a:off x="4754880" y="4480560"/>
            <a:ext cx="3931920" cy="1600200"/>
          </a:xfrm>
          <a:prstGeom prst="roundRect">
            <a:avLst>
              <a:gd name="adj" fmla="val 4571"/>
            </a:avLst>
          </a:prstGeom>
          <a:solidFill>
            <a:schemeClr val="bg2"/>
          </a:solidFill>
          <a:ln w="12700">
            <a:solidFill>
              <a:schemeClr val="bg2">
                <a:alpha val="0"/>
              </a:schemeClr>
            </a:solidFill>
            <a:prstDash val="solid"/>
          </a:ln>
        </p:spPr>
      </p:sp>
      <p:sp>
        <p:nvSpPr>
          <p:cNvPr id="14" name="Text 11"/>
          <p:cNvSpPr txBox="1"/>
          <p:nvPr/>
        </p:nvSpPr>
        <p:spPr>
          <a:xfrm>
            <a:off x="4892040" y="4590288"/>
            <a:ext cx="3657600" cy="80010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≈4×10⁴⁸ 年</a:t>
            </a:r>
            <a:endParaRPr lang="en-US" sz="3000" dirty="0"/>
          </a:p>
        </p:txBody>
      </p:sp>
      <p:sp>
        <p:nvSpPr>
          <p:cNvPr id="15" name="Text 12"/>
          <p:cNvSpPr txBox="1"/>
          <p:nvPr/>
        </p:nvSpPr>
        <p:spPr>
          <a:xfrm>
            <a:off x="4892040" y="5408676"/>
            <a:ext cx="3657600" cy="608076"/>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以全网算力遍历 2²⁵⁶ 所需的时间（宇宙年龄约 1.4×10¹⁰ 年）</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哈希就在你身边：校验、口令、版本、区块链</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哈希</a:t>
            </a:r>
            <a:endParaRPr lang="en-US" sz="1200" dirty="0"/>
          </a:p>
        </p:txBody>
      </p:sp>
      <p:sp>
        <p:nvSpPr>
          <p:cNvPr id="5" name="Shape 2"/>
          <p:cNvSpPr/>
          <p:nvPr/>
        </p:nvSpPr>
        <p:spPr>
          <a:xfrm>
            <a:off x="438912" y="1444752"/>
            <a:ext cx="4608576" cy="3077284"/>
          </a:xfrm>
          <a:prstGeom prst="rect">
            <a:avLst/>
          </a:prstGeom>
          <a:solidFill>
            <a:schemeClr val="bg1"/>
          </a:solidFill>
          <a:ln w="9525">
            <a:solidFill>
              <a:schemeClr val="accent5"/>
            </a:solidFill>
            <a:prstDash val="solid"/>
          </a:ln>
        </p:spPr>
      </p:sp>
      <p:pic>
        <p:nvPicPr>
          <p:cNvPr id="6" name="Image 0" descr="软件下载页上的 MD5 校验值">    </p:cNvPr>
          <p:cNvPicPr>
            <a:picLocks noChangeAspect="1"/>
          </p:cNvPicPr>
          <p:nvPr/>
        </p:nvPicPr>
        <p:blipFill>
          <a:blip r:embed="rId1"/>
          <a:stretch>
            <a:fillRect/>
          </a:stretch>
        </p:blipFill>
        <p:spPr>
          <a:xfrm>
            <a:off x="457200" y="1463040"/>
            <a:ext cx="4572000" cy="3040708"/>
          </a:xfrm>
          <a:prstGeom prst="rect">
            <a:avLst/>
          </a:prstGeom>
        </p:spPr>
      </p:pic>
      <p:sp>
        <p:nvSpPr>
          <p:cNvPr id="7" name="Text 3"/>
          <p:cNvSpPr txBox="1"/>
          <p:nvPr/>
        </p:nvSpPr>
        <p:spPr>
          <a:xfrm>
            <a:off x="457200" y="4983480"/>
            <a:ext cx="4572000" cy="640080"/>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图中的 MD5 已不再安全，今天应使用 SHA-256；此处仅作演示。</a:t>
            </a:r>
            <a:endParaRPr lang="en-US" sz="1300" dirty="0"/>
          </a:p>
        </p:txBody>
      </p:sp>
      <p:sp>
        <p:nvSpPr>
          <p:cNvPr id="8" name="Text 4"/>
          <p:cNvSpPr txBox="1"/>
          <p:nvPr/>
        </p:nvSpPr>
        <p:spPr>
          <a:xfrm>
            <a:off x="5303520" y="1463040"/>
            <a:ext cx="3383280" cy="3657600"/>
          </a:xfrm>
          <a:prstGeom prst="rect">
            <a:avLst/>
          </a:prstGeom>
          <a:noFill/>
          <a:ln/>
        </p:spPr>
        <p:txBody>
          <a:bodyPr wrap="square" lIns="0" tIns="0" rIns="0" bIns="0" rtlCol="0" anchor="t"/>
          <a:lstStyle/>
          <a:p>
            <a:pPr algn="l" marL="254000" indent="-254000">
              <a:lnSpc>
                <a:spcPct val="105000"/>
              </a:lnSpc>
              <a:spcAft>
                <a:spcPts val="1200"/>
              </a:spcAft>
              <a:buSzPct val="100000"/>
              <a:buChar char="•"/>
            </a:pPr>
            <a:r>
              <a:rPr lang="en-US" sz="1600" b="1" dirty="0">
                <a:solidFill>
                  <a:schemeClr val="tx1"/>
                </a:solidFill>
              </a:rPr>
              <a:t>软件下载</a:t>
            </a:r>
            <a:pPr algn="l" marL="254000" indent="-254000">
              <a:lnSpc>
                <a:spcPct val="105000"/>
              </a:lnSpc>
              <a:spcAft>
                <a:spcPts val="1200"/>
              </a:spcAft>
              <a:buSzPct val="100000"/>
              <a:buChar char="•"/>
            </a:pPr>
            <a:r>
              <a:rPr lang="en-US" sz="1600" dirty="0">
                <a:solidFill>
                  <a:schemeClr val="tx1"/>
                </a:solidFill>
              </a:rPr>
              <a:t>：核对哈希，确认文件没被替换</a:t>
            </a:r>
            <a:endParaRPr lang="en-US" sz="1600" dirty="0"/>
          </a:p>
          <a:p>
            <a:pPr algn="l" marL="254000" indent="-254000">
              <a:lnSpc>
                <a:spcPct val="105000"/>
              </a:lnSpc>
              <a:spcAft>
                <a:spcPts val="1200"/>
              </a:spcAft>
              <a:buSzPct val="100000"/>
              <a:buChar char="•"/>
            </a:pPr>
            <a:r>
              <a:rPr lang="en-US" sz="1600" b="1" dirty="0">
                <a:solidFill>
                  <a:schemeClr val="tx1"/>
                </a:solidFill>
              </a:rPr>
              <a:t>网站口令</a:t>
            </a:r>
            <a:pPr algn="l" marL="254000" indent="-254000">
              <a:lnSpc>
                <a:spcPct val="105000"/>
              </a:lnSpc>
              <a:spcAft>
                <a:spcPts val="1200"/>
              </a:spcAft>
              <a:buSzPct val="100000"/>
              <a:buChar char="•"/>
            </a:pPr>
            <a:r>
              <a:rPr lang="en-US" sz="1600" dirty="0">
                <a:solidFill>
                  <a:schemeClr val="tx1"/>
                </a:solidFill>
              </a:rPr>
              <a:t>：保存“加盐哈希”，而不是明文</a:t>
            </a:r>
            <a:endParaRPr lang="en-US" sz="1600" dirty="0"/>
          </a:p>
          <a:p>
            <a:pPr algn="l" marL="254000" indent="-254000">
              <a:lnSpc>
                <a:spcPct val="105000"/>
              </a:lnSpc>
              <a:spcAft>
                <a:spcPts val="1200"/>
              </a:spcAft>
              <a:buSzPct val="100000"/>
              <a:buChar char="•"/>
            </a:pPr>
            <a:r>
              <a:rPr lang="en-US" sz="1600" b="1" dirty="0">
                <a:solidFill>
                  <a:schemeClr val="tx1"/>
                </a:solidFill>
              </a:rPr>
              <a:t>Git</a:t>
            </a:r>
            <a:pPr algn="l" marL="254000" indent="-254000">
              <a:lnSpc>
                <a:spcPct val="105000"/>
              </a:lnSpc>
              <a:spcAft>
                <a:spcPts val="1200"/>
              </a:spcAft>
              <a:buSzPct val="100000"/>
              <a:buChar char="•"/>
            </a:pPr>
            <a:r>
              <a:rPr lang="en-US" sz="1600" dirty="0">
                <a:solidFill>
                  <a:schemeClr val="tx1"/>
                </a:solidFill>
              </a:rPr>
              <a:t>：每次提交由哈希标识</a:t>
            </a:r>
            <a:endParaRPr lang="en-US" sz="1600" dirty="0"/>
          </a:p>
          <a:p>
            <a:pPr algn="l" marL="254000" indent="-254000">
              <a:lnSpc>
                <a:spcPct val="105000"/>
              </a:lnSpc>
              <a:buSzPct val="100000"/>
              <a:buChar char="•"/>
            </a:pPr>
            <a:r>
              <a:rPr lang="en-US" sz="1600" b="1" dirty="0">
                <a:solidFill>
                  <a:schemeClr val="tx1"/>
                </a:solidFill>
              </a:rPr>
              <a:t>区块链</a:t>
            </a:r>
            <a:pPr algn="l" marL="254000" indent="-254000">
              <a:lnSpc>
                <a:spcPct val="105000"/>
              </a:lnSpc>
              <a:buSzPct val="100000"/>
              <a:buChar char="•"/>
            </a:pPr>
            <a:r>
              <a:rPr lang="en-US" sz="1600" dirty="0">
                <a:solidFill>
                  <a:schemeClr val="tx1"/>
                </a:solidFill>
              </a:rPr>
              <a:t>：用哈希把区块“链”起来</a:t>
            </a:r>
            <a:endParaRPr lang="en-US" sz="1600" dirty="0"/>
          </a:p>
        </p:txBody>
      </p:sp>
      <p:sp>
        <p:nvSpPr>
          <p:cNvPr id="9" name="Shape 5"/>
          <p:cNvSpPr/>
          <p:nvPr/>
        </p:nvSpPr>
        <p:spPr>
          <a:xfrm>
            <a:off x="457200" y="5349240"/>
            <a:ext cx="8229600" cy="731520"/>
          </a:xfrm>
          <a:prstGeom prst="roundRect">
            <a:avLst>
              <a:gd name="adj" fmla="val 10000"/>
            </a:avLst>
          </a:prstGeom>
          <a:solidFill>
            <a:schemeClr val="accent1">
              <a:alpha val="12000"/>
            </a:schemeClr>
          </a:solidFill>
          <a:ln w="12700">
            <a:solidFill>
              <a:schemeClr val="accent1">
                <a:alpha val="0"/>
              </a:schemeClr>
            </a:solidFill>
            <a:prstDash val="solid"/>
          </a:ln>
        </p:spPr>
      </p:sp>
      <p:pic>
        <p:nvPicPr>
          <p:cNvPr id="10" name="Image 1" descr="key">    </p:cNvPr>
          <p:cNvPicPr>
            <a:picLocks noChangeAspect="1"/>
          </p:cNvPicPr>
          <p:nvPr/>
        </p:nvPicPr>
        <p:blipFill>
          <a:blip r:embed="rId2"/>
          <a:stretch>
            <a:fillRect/>
          </a:stretch>
        </p:blipFill>
        <p:spPr>
          <a:xfrm>
            <a:off x="640080" y="5522976"/>
            <a:ext cx="384048" cy="384048"/>
          </a:xfrm>
          <a:prstGeom prst="rect">
            <a:avLst/>
          </a:prstGeom>
        </p:spPr>
      </p:pic>
      <p:sp>
        <p:nvSpPr>
          <p:cNvPr id="11" name="Text 6"/>
          <p:cNvSpPr txBox="1"/>
          <p:nvPr/>
        </p:nvSpPr>
        <p:spPr>
          <a:xfrm>
            <a:off x="1188720" y="5422392"/>
            <a:ext cx="7315200" cy="58521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哈希是整个区块链的“胶水”：下一部分，它会把区块一个个粘成一条链。</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默克尔树：把一整块交易压成一枚“根哈希”</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默克尔树</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来源：Ralph Merkle (1979)；Prasad (2021) Fig. 4.2</a:t>
            </a:r>
            <a:endParaRPr lang="en-US" sz="1000" dirty="0"/>
          </a:p>
        </p:txBody>
      </p:sp>
      <p:sp>
        <p:nvSpPr>
          <p:cNvPr id="6" name="Shape 3"/>
          <p:cNvSpPr/>
          <p:nvPr/>
        </p:nvSpPr>
        <p:spPr>
          <a:xfrm>
            <a:off x="438912" y="1399032"/>
            <a:ext cx="4791456" cy="3532282"/>
          </a:xfrm>
          <a:prstGeom prst="rect">
            <a:avLst/>
          </a:prstGeom>
          <a:solidFill>
            <a:schemeClr val="bg1"/>
          </a:solidFill>
          <a:ln w="9525">
            <a:solidFill>
              <a:schemeClr val="accent5"/>
            </a:solidFill>
            <a:prstDash val="solid"/>
          </a:ln>
        </p:spPr>
      </p:sp>
      <p:pic>
        <p:nvPicPr>
          <p:cNvPr id="7" name="Image 0" descr="四笔交易的默克尔树">    </p:cNvPr>
          <p:cNvPicPr>
            <a:picLocks noChangeAspect="1"/>
          </p:cNvPicPr>
          <p:nvPr/>
        </p:nvPicPr>
        <p:blipFill>
          <a:blip r:embed="rId1"/>
          <a:stretch>
            <a:fillRect/>
          </a:stretch>
        </p:blipFill>
        <p:spPr>
          <a:xfrm>
            <a:off x="457200" y="1417320"/>
            <a:ext cx="4754880" cy="3495706"/>
          </a:xfrm>
          <a:prstGeom prst="rect">
            <a:avLst/>
          </a:prstGeom>
        </p:spPr>
      </p:pic>
      <p:sp>
        <p:nvSpPr>
          <p:cNvPr id="8" name="Shape 4"/>
          <p:cNvSpPr/>
          <p:nvPr/>
        </p:nvSpPr>
        <p:spPr>
          <a:xfrm>
            <a:off x="5440680" y="1508760"/>
            <a:ext cx="3246120" cy="914400"/>
          </a:xfrm>
          <a:prstGeom prst="roundRect">
            <a:avLst>
              <a:gd name="adj" fmla="val 8000"/>
            </a:avLst>
          </a:prstGeom>
          <a:solidFill>
            <a:schemeClr val="bg2"/>
          </a:solidFill>
          <a:ln w="12700">
            <a:solidFill>
              <a:schemeClr val="bg2">
                <a:alpha val="0"/>
              </a:schemeClr>
            </a:solidFill>
            <a:prstDash val="solid"/>
          </a:ln>
        </p:spPr>
      </p:sp>
      <p:sp>
        <p:nvSpPr>
          <p:cNvPr id="9" name="Shape 5"/>
          <p:cNvSpPr/>
          <p:nvPr/>
        </p:nvSpPr>
        <p:spPr>
          <a:xfrm>
            <a:off x="5577840" y="1709928"/>
            <a:ext cx="512064" cy="512064"/>
          </a:xfrm>
          <a:prstGeom prst="ellipse">
            <a:avLst/>
          </a:prstGeom>
          <a:solidFill>
            <a:schemeClr val="accent1"/>
          </a:solidFill>
          <a:ln w="12700">
            <a:solidFill>
              <a:schemeClr val="accent1">
                <a:alpha val="0"/>
              </a:schemeClr>
            </a:solidFill>
            <a:prstDash val="solid"/>
          </a:ln>
        </p:spPr>
      </p:sp>
      <p:sp>
        <p:nvSpPr>
          <p:cNvPr id="10" name="Text 6"/>
          <p:cNvSpPr txBox="1"/>
          <p:nvPr/>
        </p:nvSpPr>
        <p:spPr>
          <a:xfrm>
            <a:off x="5577840" y="1709928"/>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1" name="Text 7"/>
          <p:cNvSpPr txBox="1"/>
          <p:nvPr/>
        </p:nvSpPr>
        <p:spPr>
          <a:xfrm>
            <a:off x="6217920" y="1554480"/>
            <a:ext cx="2377440" cy="822960"/>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对每笔交易分别计算哈希：叶子</a:t>
            </a:r>
            <a:endParaRPr lang="en-US" sz="1500" dirty="0"/>
          </a:p>
        </p:txBody>
      </p:sp>
      <p:sp>
        <p:nvSpPr>
          <p:cNvPr id="12" name="Shape 8"/>
          <p:cNvSpPr/>
          <p:nvPr/>
        </p:nvSpPr>
        <p:spPr>
          <a:xfrm>
            <a:off x="5440680" y="2606040"/>
            <a:ext cx="3246120" cy="914400"/>
          </a:xfrm>
          <a:prstGeom prst="roundRect">
            <a:avLst>
              <a:gd name="adj" fmla="val 8000"/>
            </a:avLst>
          </a:prstGeom>
          <a:solidFill>
            <a:schemeClr val="bg2"/>
          </a:solidFill>
          <a:ln w="12700">
            <a:solidFill>
              <a:schemeClr val="bg2">
                <a:alpha val="0"/>
              </a:schemeClr>
            </a:solidFill>
            <a:prstDash val="solid"/>
          </a:ln>
        </p:spPr>
      </p:sp>
      <p:sp>
        <p:nvSpPr>
          <p:cNvPr id="13" name="Shape 9"/>
          <p:cNvSpPr/>
          <p:nvPr/>
        </p:nvSpPr>
        <p:spPr>
          <a:xfrm>
            <a:off x="5577840" y="2807208"/>
            <a:ext cx="512064" cy="512064"/>
          </a:xfrm>
          <a:prstGeom prst="ellipse">
            <a:avLst/>
          </a:prstGeom>
          <a:solidFill>
            <a:schemeClr val="accent1"/>
          </a:solidFill>
          <a:ln w="12700">
            <a:solidFill>
              <a:schemeClr val="accent1">
                <a:alpha val="0"/>
              </a:schemeClr>
            </a:solidFill>
            <a:prstDash val="solid"/>
          </a:ln>
        </p:spPr>
      </p:sp>
      <p:sp>
        <p:nvSpPr>
          <p:cNvPr id="14" name="Text 10"/>
          <p:cNvSpPr txBox="1"/>
          <p:nvPr/>
        </p:nvSpPr>
        <p:spPr>
          <a:xfrm>
            <a:off x="5577840" y="2807208"/>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5" name="Text 11"/>
          <p:cNvSpPr txBox="1"/>
          <p:nvPr/>
        </p:nvSpPr>
        <p:spPr>
          <a:xfrm>
            <a:off x="6217920" y="2651760"/>
            <a:ext cx="2377440" cy="822960"/>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两两拼接，再次哈希</a:t>
            </a:r>
            <a:endParaRPr lang="en-US" sz="1500" dirty="0"/>
          </a:p>
        </p:txBody>
      </p:sp>
      <p:sp>
        <p:nvSpPr>
          <p:cNvPr id="16" name="Shape 12"/>
          <p:cNvSpPr/>
          <p:nvPr/>
        </p:nvSpPr>
        <p:spPr>
          <a:xfrm>
            <a:off x="5440680" y="3703320"/>
            <a:ext cx="3246120" cy="914400"/>
          </a:xfrm>
          <a:prstGeom prst="roundRect">
            <a:avLst>
              <a:gd name="adj" fmla="val 8000"/>
            </a:avLst>
          </a:prstGeom>
          <a:solidFill>
            <a:schemeClr val="bg2"/>
          </a:solidFill>
          <a:ln w="12700">
            <a:solidFill>
              <a:schemeClr val="bg2">
                <a:alpha val="0"/>
              </a:schemeClr>
            </a:solidFill>
            <a:prstDash val="solid"/>
          </a:ln>
        </p:spPr>
      </p:sp>
      <p:sp>
        <p:nvSpPr>
          <p:cNvPr id="17" name="Shape 13"/>
          <p:cNvSpPr/>
          <p:nvPr/>
        </p:nvSpPr>
        <p:spPr>
          <a:xfrm>
            <a:off x="5577840" y="3904488"/>
            <a:ext cx="512064" cy="512064"/>
          </a:xfrm>
          <a:prstGeom prst="ellipse">
            <a:avLst/>
          </a:prstGeom>
          <a:solidFill>
            <a:schemeClr val="accent1"/>
          </a:solidFill>
          <a:ln w="12700">
            <a:solidFill>
              <a:schemeClr val="accent1">
                <a:alpha val="0"/>
              </a:schemeClr>
            </a:solidFill>
            <a:prstDash val="solid"/>
          </a:ln>
        </p:spPr>
      </p:sp>
      <p:sp>
        <p:nvSpPr>
          <p:cNvPr id="18" name="Text 14"/>
          <p:cNvSpPr txBox="1"/>
          <p:nvPr/>
        </p:nvSpPr>
        <p:spPr>
          <a:xfrm>
            <a:off x="5577840" y="3904488"/>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Text 15"/>
          <p:cNvSpPr txBox="1"/>
          <p:nvPr/>
        </p:nvSpPr>
        <p:spPr>
          <a:xfrm>
            <a:off x="6217920" y="3749040"/>
            <a:ext cx="2377440" cy="822960"/>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重复，直到只剩一个：</a:t>
            </a:r>
            <a:pPr algn="l" indent="0" marL="0">
              <a:lnSpc>
                <a:spcPct val="105000"/>
              </a:lnSpc>
              <a:buNone/>
            </a:pPr>
            <a:r>
              <a:rPr lang="en-US" sz="1500" b="1" dirty="0">
                <a:solidFill>
                  <a:schemeClr val="tx1"/>
                </a:solidFill>
              </a:rPr>
              <a:t>根哈希</a:t>
            </a:r>
            <a:endParaRPr lang="en-US" sz="1500" dirty="0"/>
          </a:p>
        </p:txBody>
      </p:sp>
      <p:sp>
        <p:nvSpPr>
          <p:cNvPr id="20" name="Shape 16"/>
          <p:cNvSpPr/>
          <p:nvPr/>
        </p:nvSpPr>
        <p:spPr>
          <a:xfrm>
            <a:off x="457200" y="5166360"/>
            <a:ext cx="8229600" cy="868680"/>
          </a:xfrm>
          <a:prstGeom prst="roundRect">
            <a:avLst>
              <a:gd name="adj" fmla="val 8421"/>
            </a:avLst>
          </a:prstGeom>
          <a:solidFill>
            <a:schemeClr val="accent1">
              <a:alpha val="12000"/>
            </a:schemeClr>
          </a:solidFill>
          <a:ln w="12700">
            <a:solidFill>
              <a:schemeClr val="accent1">
                <a:alpha val="0"/>
              </a:schemeClr>
            </a:solidFill>
            <a:prstDash val="solid"/>
          </a:ln>
        </p:spPr>
      </p:sp>
      <p:pic>
        <p:nvPicPr>
          <p:cNvPr id="21" name="Image 1" descr="key">    </p:cNvPr>
          <p:cNvPicPr>
            <a:picLocks noChangeAspect="1"/>
          </p:cNvPicPr>
          <p:nvPr/>
        </p:nvPicPr>
        <p:blipFill>
          <a:blip r:embed="rId2"/>
          <a:stretch>
            <a:fillRect/>
          </a:stretch>
        </p:blipFill>
        <p:spPr>
          <a:xfrm>
            <a:off x="640080" y="5408676"/>
            <a:ext cx="384048" cy="384048"/>
          </a:xfrm>
          <a:prstGeom prst="rect">
            <a:avLst/>
          </a:prstGeom>
        </p:spPr>
      </p:pic>
      <p:sp>
        <p:nvSpPr>
          <p:cNvPr id="22" name="Text 17"/>
          <p:cNvSpPr txBox="1"/>
          <p:nvPr/>
        </p:nvSpPr>
        <p:spPr>
          <a:xfrm>
            <a:off x="1188720" y="5239512"/>
            <a:ext cx="7315200" cy="7223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比特币区块头里只放这一枚 32 字节的根；它就是整块交易的</a:t>
            </a:r>
            <a:pPr algn="l" indent="0" marL="0">
              <a:lnSpc>
                <a:spcPct val="105000"/>
              </a:lnSpc>
              <a:buNone/>
            </a:pPr>
            <a:r>
              <a:rPr lang="en-US" sz="1500" b="1" dirty="0">
                <a:solidFill>
                  <a:schemeClr val="tx1"/>
                </a:solidFill>
              </a:rPr>
              <a:t>唯一数字指纹</a:t>
            </a:r>
            <a:pPr algn="l" indent="0" marL="0">
              <a:lnSpc>
                <a:spcPct val="105000"/>
              </a:lnSpc>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改一笔，根全变：默克尔树让篡改无处可藏</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默克尔树</a:t>
            </a:r>
            <a:endParaRPr lang="en-US" sz="1200" dirty="0"/>
          </a:p>
        </p:txBody>
      </p:sp>
      <p:sp>
        <p:nvSpPr>
          <p:cNvPr id="5" name="Shape 2"/>
          <p:cNvSpPr/>
          <p:nvPr/>
        </p:nvSpPr>
        <p:spPr>
          <a:xfrm>
            <a:off x="438912" y="1399032"/>
            <a:ext cx="4974336" cy="3319899"/>
          </a:xfrm>
          <a:prstGeom prst="rect">
            <a:avLst/>
          </a:prstGeom>
          <a:solidFill>
            <a:schemeClr val="bg1"/>
          </a:solidFill>
          <a:ln w="9525">
            <a:solidFill>
              <a:schemeClr val="accent5"/>
            </a:solidFill>
            <a:prstDash val="solid"/>
          </a:ln>
        </p:spPr>
      </p:sp>
      <p:pic>
        <p:nvPicPr>
          <p:cNvPr id="6" name="Image 0" descr="篡改一笔交易后默克尔根完全改变">    </p:cNvPr>
          <p:cNvPicPr>
            <a:picLocks noChangeAspect="1"/>
          </p:cNvPicPr>
          <p:nvPr/>
        </p:nvPicPr>
        <p:blipFill>
          <a:blip r:embed="rId1"/>
          <a:stretch>
            <a:fillRect/>
          </a:stretch>
        </p:blipFill>
        <p:spPr>
          <a:xfrm>
            <a:off x="457200" y="1417320"/>
            <a:ext cx="4937760" cy="3283323"/>
          </a:xfrm>
          <a:prstGeom prst="rect">
            <a:avLst/>
          </a:prstGeom>
        </p:spPr>
      </p:pic>
      <p:sp>
        <p:nvSpPr>
          <p:cNvPr id="7" name="Shape 3"/>
          <p:cNvSpPr/>
          <p:nvPr/>
        </p:nvSpPr>
        <p:spPr>
          <a:xfrm>
            <a:off x="5623560" y="1463040"/>
            <a:ext cx="3063240" cy="749808"/>
          </a:xfrm>
          <a:prstGeom prst="roundRect">
            <a:avLst>
              <a:gd name="adj" fmla="val 9756"/>
            </a:avLst>
          </a:prstGeom>
          <a:solidFill>
            <a:schemeClr val="bg2"/>
          </a:solidFill>
          <a:ln w="12700">
            <a:solidFill>
              <a:schemeClr val="bg2">
                <a:alpha val="0"/>
              </a:schemeClr>
            </a:solidFill>
            <a:prstDash val="solid"/>
          </a:ln>
        </p:spPr>
      </p:sp>
      <p:sp>
        <p:nvSpPr>
          <p:cNvPr id="8" name="Text 4"/>
          <p:cNvSpPr txBox="1"/>
          <p:nvPr/>
        </p:nvSpPr>
        <p:spPr>
          <a:xfrm>
            <a:off x="5760720" y="1499616"/>
            <a:ext cx="2788920" cy="676656"/>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改一笔交易</a:t>
            </a:r>
            <a:endParaRPr lang="en-US" sz="1400" dirty="0"/>
          </a:p>
          <a:p>
            <a:pPr algn="l" indent="0" marL="0">
              <a:lnSpc>
                <a:spcPct val="105000"/>
              </a:lnSpc>
              <a:buNone/>
            </a:pPr>
            <a:r>
              <a:rPr lang="en-US" sz="1300" dirty="0">
                <a:solidFill>
                  <a:schemeClr val="accent4"/>
                </a:solidFill>
              </a:rPr>
              <a:t>如 10.20 → 10.21</a:t>
            </a:r>
            <a:endParaRPr lang="en-US" sz="1400" dirty="0"/>
          </a:p>
        </p:txBody>
      </p:sp>
      <p:sp>
        <p:nvSpPr>
          <p:cNvPr id="9" name="Shape 5"/>
          <p:cNvSpPr/>
          <p:nvPr/>
        </p:nvSpPr>
        <p:spPr>
          <a:xfrm>
            <a:off x="7150608" y="2231136"/>
            <a:ext cx="0" cy="237744"/>
          </a:xfrm>
          <a:prstGeom prst="line">
            <a:avLst/>
          </a:prstGeom>
          <a:noFill/>
          <a:ln w="31750">
            <a:solidFill>
              <a:schemeClr val="accent1"/>
            </a:solidFill>
            <a:prstDash val="solid"/>
            <a:tailEnd type="triangle"/>
          </a:ln>
        </p:spPr>
      </p:sp>
      <p:sp>
        <p:nvSpPr>
          <p:cNvPr id="10" name="Shape 6"/>
          <p:cNvSpPr/>
          <p:nvPr/>
        </p:nvSpPr>
        <p:spPr>
          <a:xfrm>
            <a:off x="5623560" y="2487168"/>
            <a:ext cx="3063240" cy="749808"/>
          </a:xfrm>
          <a:prstGeom prst="roundRect">
            <a:avLst>
              <a:gd name="adj" fmla="val 9756"/>
            </a:avLst>
          </a:prstGeom>
          <a:solidFill>
            <a:schemeClr val="bg2"/>
          </a:solidFill>
          <a:ln w="12700">
            <a:solidFill>
              <a:schemeClr val="bg2">
                <a:alpha val="0"/>
              </a:schemeClr>
            </a:solidFill>
            <a:prstDash val="solid"/>
          </a:ln>
        </p:spPr>
      </p:sp>
      <p:sp>
        <p:nvSpPr>
          <p:cNvPr id="11" name="Text 7"/>
          <p:cNvSpPr txBox="1"/>
          <p:nvPr/>
        </p:nvSpPr>
        <p:spPr>
          <a:xfrm>
            <a:off x="5760720" y="2523744"/>
            <a:ext cx="2788920" cy="676656"/>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叶子哈希变</a:t>
            </a:r>
            <a:endParaRPr lang="en-US" sz="1400" dirty="0"/>
          </a:p>
          <a:p>
            <a:pPr algn="l" indent="0" marL="0">
              <a:lnSpc>
                <a:spcPct val="105000"/>
              </a:lnSpc>
              <a:buNone/>
            </a:pPr>
            <a:r>
              <a:rPr lang="en-US" sz="1300" dirty="0">
                <a:solidFill>
                  <a:schemeClr val="accent4"/>
                </a:solidFill>
              </a:rPr>
              <a:t>该交易的指纹不同了</a:t>
            </a:r>
            <a:endParaRPr lang="en-US" sz="1400" dirty="0"/>
          </a:p>
        </p:txBody>
      </p:sp>
      <p:sp>
        <p:nvSpPr>
          <p:cNvPr id="12" name="Shape 8"/>
          <p:cNvSpPr/>
          <p:nvPr/>
        </p:nvSpPr>
        <p:spPr>
          <a:xfrm>
            <a:off x="7150608" y="3255264"/>
            <a:ext cx="0" cy="237744"/>
          </a:xfrm>
          <a:prstGeom prst="line">
            <a:avLst/>
          </a:prstGeom>
          <a:noFill/>
          <a:ln w="31750">
            <a:solidFill>
              <a:schemeClr val="accent1"/>
            </a:solidFill>
            <a:prstDash val="solid"/>
            <a:tailEnd type="triangle"/>
          </a:ln>
        </p:spPr>
      </p:sp>
      <p:sp>
        <p:nvSpPr>
          <p:cNvPr id="13" name="Shape 9"/>
          <p:cNvSpPr/>
          <p:nvPr/>
        </p:nvSpPr>
        <p:spPr>
          <a:xfrm>
            <a:off x="5623560" y="3511296"/>
            <a:ext cx="3063240" cy="749808"/>
          </a:xfrm>
          <a:prstGeom prst="roundRect">
            <a:avLst>
              <a:gd name="adj" fmla="val 9756"/>
            </a:avLst>
          </a:prstGeom>
          <a:solidFill>
            <a:schemeClr val="bg2"/>
          </a:solidFill>
          <a:ln w="12700">
            <a:solidFill>
              <a:schemeClr val="bg2">
                <a:alpha val="0"/>
              </a:schemeClr>
            </a:solidFill>
            <a:prstDash val="solid"/>
          </a:ln>
        </p:spPr>
      </p:sp>
      <p:sp>
        <p:nvSpPr>
          <p:cNvPr id="14" name="Text 10"/>
          <p:cNvSpPr txBox="1"/>
          <p:nvPr/>
        </p:nvSpPr>
        <p:spPr>
          <a:xfrm>
            <a:off x="5760720" y="3547872"/>
            <a:ext cx="2788920" cy="676656"/>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沿分支向上全变</a:t>
            </a:r>
            <a:endParaRPr lang="en-US" sz="1400" dirty="0"/>
          </a:p>
          <a:p>
            <a:pPr algn="l" indent="0" marL="0">
              <a:lnSpc>
                <a:spcPct val="105000"/>
              </a:lnSpc>
              <a:buNone/>
            </a:pPr>
            <a:r>
              <a:rPr lang="en-US" sz="1300" dirty="0">
                <a:solidFill>
                  <a:schemeClr val="accent4"/>
                </a:solidFill>
              </a:rPr>
              <a:t>父节点逐层变化</a:t>
            </a:r>
            <a:endParaRPr lang="en-US" sz="1400" dirty="0"/>
          </a:p>
        </p:txBody>
      </p:sp>
      <p:sp>
        <p:nvSpPr>
          <p:cNvPr id="15" name="Shape 11"/>
          <p:cNvSpPr/>
          <p:nvPr/>
        </p:nvSpPr>
        <p:spPr>
          <a:xfrm>
            <a:off x="7150608" y="4279392"/>
            <a:ext cx="0" cy="237744"/>
          </a:xfrm>
          <a:prstGeom prst="line">
            <a:avLst/>
          </a:prstGeom>
          <a:noFill/>
          <a:ln w="31750">
            <a:solidFill>
              <a:schemeClr val="accent1"/>
            </a:solidFill>
            <a:prstDash val="solid"/>
            <a:tailEnd type="triangle"/>
          </a:ln>
        </p:spPr>
      </p:sp>
      <p:sp>
        <p:nvSpPr>
          <p:cNvPr id="16" name="Shape 12"/>
          <p:cNvSpPr/>
          <p:nvPr/>
        </p:nvSpPr>
        <p:spPr>
          <a:xfrm>
            <a:off x="5623560" y="4535424"/>
            <a:ext cx="3063240" cy="749808"/>
          </a:xfrm>
          <a:prstGeom prst="roundRect">
            <a:avLst>
              <a:gd name="adj" fmla="val 9756"/>
            </a:avLst>
          </a:prstGeom>
          <a:solidFill>
            <a:schemeClr val="accent1"/>
          </a:solidFill>
          <a:ln w="12700">
            <a:solidFill>
              <a:schemeClr val="accent1">
                <a:alpha val="0"/>
              </a:schemeClr>
            </a:solidFill>
            <a:prstDash val="solid"/>
          </a:ln>
        </p:spPr>
      </p:sp>
      <p:sp>
        <p:nvSpPr>
          <p:cNvPr id="17" name="Text 13"/>
          <p:cNvSpPr txBox="1"/>
          <p:nvPr/>
        </p:nvSpPr>
        <p:spPr>
          <a:xfrm>
            <a:off x="5760720" y="4572000"/>
            <a:ext cx="2788920" cy="676656"/>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根哈希完全不同</a:t>
            </a:r>
            <a:endParaRPr lang="en-US" sz="1400" dirty="0"/>
          </a:p>
          <a:p>
            <a:pPr algn="l" indent="0" marL="0">
              <a:lnSpc>
                <a:spcPct val="105000"/>
              </a:lnSpc>
              <a:buNone/>
            </a:pPr>
            <a:r>
              <a:rPr lang="en-US" sz="1300" dirty="0">
                <a:solidFill>
                  <a:schemeClr val="tx1"/>
                </a:solidFill>
              </a:rPr>
              <a:t>区块头随之改变</a:t>
            </a:r>
            <a:endParaRPr lang="en-US" sz="1400" dirty="0"/>
          </a:p>
        </p:txBody>
      </p:sp>
      <p:sp>
        <p:nvSpPr>
          <p:cNvPr id="18" name="Shape 14"/>
          <p:cNvSpPr/>
          <p:nvPr/>
        </p:nvSpPr>
        <p:spPr>
          <a:xfrm>
            <a:off x="457200" y="5440680"/>
            <a:ext cx="8229600" cy="685800"/>
          </a:xfrm>
          <a:prstGeom prst="roundRect">
            <a:avLst>
              <a:gd name="adj" fmla="val 10667"/>
            </a:avLst>
          </a:prstGeom>
          <a:solidFill>
            <a:schemeClr val="accent1">
              <a:alpha val="12000"/>
            </a:schemeClr>
          </a:solidFill>
          <a:ln w="12700">
            <a:solidFill>
              <a:schemeClr val="accent1">
                <a:alpha val="0"/>
              </a:schemeClr>
            </a:solidFill>
            <a:prstDash val="solid"/>
          </a:ln>
        </p:spPr>
      </p:sp>
      <p:pic>
        <p:nvPicPr>
          <p:cNvPr id="19" name="Image 1" descr="key">    </p:cNvPr>
          <p:cNvPicPr>
            <a:picLocks noChangeAspect="1"/>
          </p:cNvPicPr>
          <p:nvPr/>
        </p:nvPicPr>
        <p:blipFill>
          <a:blip r:embed="rId2"/>
          <a:stretch>
            <a:fillRect/>
          </a:stretch>
        </p:blipFill>
        <p:spPr>
          <a:xfrm>
            <a:off x="640080" y="5591556"/>
            <a:ext cx="384048" cy="384048"/>
          </a:xfrm>
          <a:prstGeom prst="rect">
            <a:avLst/>
          </a:prstGeom>
        </p:spPr>
      </p:pic>
      <p:sp>
        <p:nvSpPr>
          <p:cNvPr id="20" name="Text 15"/>
          <p:cNvSpPr txBox="1"/>
          <p:nvPr/>
        </p:nvSpPr>
        <p:spPr>
          <a:xfrm>
            <a:off x="1188720" y="5513832"/>
            <a:ext cx="7315200" cy="53949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树根是 64 个十六进制字符（256 位）。</a:t>
            </a:r>
            <a:pPr algn="l" indent="0" marL="0">
              <a:lnSpc>
                <a:spcPct val="105000"/>
              </a:lnSpc>
              <a:buNone/>
            </a:pPr>
            <a:r>
              <a:rPr lang="en-US" sz="1500" b="1" dirty="0">
                <a:solidFill>
                  <a:schemeClr val="tx1"/>
                </a:solidFill>
              </a:rPr>
              <a:t>任何一笔交易被改动，根就会变。</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默克尔证明：只需 3 个哈希，验证一笔交易</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默克尔树</a:t>
            </a:r>
            <a:endParaRPr lang="en-US" sz="1200" dirty="0"/>
          </a:p>
        </p:txBody>
      </p:sp>
      <p:sp>
        <p:nvSpPr>
          <p:cNvPr id="5" name="Shape 2"/>
          <p:cNvSpPr/>
          <p:nvPr/>
        </p:nvSpPr>
        <p:spPr>
          <a:xfrm flipV="1">
            <a:off x="987552" y="4572000"/>
            <a:ext cx="0" cy="411480"/>
          </a:xfrm>
          <a:prstGeom prst="line">
            <a:avLst/>
          </a:prstGeom>
          <a:noFill/>
          <a:ln w="15875">
            <a:solidFill>
              <a:schemeClr val="accent5"/>
            </a:solidFill>
            <a:prstDash val="solid"/>
          </a:ln>
        </p:spPr>
      </p:sp>
      <p:sp>
        <p:nvSpPr>
          <p:cNvPr id="6" name="Shape 3"/>
          <p:cNvSpPr/>
          <p:nvPr/>
        </p:nvSpPr>
        <p:spPr>
          <a:xfrm flipV="1">
            <a:off x="987552" y="3703320"/>
            <a:ext cx="512064" cy="411480"/>
          </a:xfrm>
          <a:prstGeom prst="line">
            <a:avLst/>
          </a:prstGeom>
          <a:noFill/>
          <a:ln w="15875">
            <a:solidFill>
              <a:schemeClr val="accent5"/>
            </a:solidFill>
            <a:prstDash val="solid"/>
          </a:ln>
        </p:spPr>
      </p:sp>
      <p:sp>
        <p:nvSpPr>
          <p:cNvPr id="7" name="Shape 4"/>
          <p:cNvSpPr/>
          <p:nvPr/>
        </p:nvSpPr>
        <p:spPr>
          <a:xfrm flipV="1">
            <a:off x="2011680" y="4572000"/>
            <a:ext cx="0" cy="411480"/>
          </a:xfrm>
          <a:prstGeom prst="line">
            <a:avLst/>
          </a:prstGeom>
          <a:noFill/>
          <a:ln w="15875">
            <a:solidFill>
              <a:schemeClr val="accent5"/>
            </a:solidFill>
            <a:prstDash val="solid"/>
          </a:ln>
        </p:spPr>
      </p:sp>
      <p:sp>
        <p:nvSpPr>
          <p:cNvPr id="8" name="Shape 5"/>
          <p:cNvSpPr/>
          <p:nvPr/>
        </p:nvSpPr>
        <p:spPr>
          <a:xfrm flipH="1" flipV="1">
            <a:off x="1499616" y="3703320"/>
            <a:ext cx="512064" cy="411480"/>
          </a:xfrm>
          <a:prstGeom prst="line">
            <a:avLst/>
          </a:prstGeom>
          <a:noFill/>
          <a:ln w="15875">
            <a:solidFill>
              <a:schemeClr val="accent5"/>
            </a:solidFill>
            <a:prstDash val="solid"/>
          </a:ln>
        </p:spPr>
      </p:sp>
      <p:sp>
        <p:nvSpPr>
          <p:cNvPr id="9" name="Shape 6"/>
          <p:cNvSpPr/>
          <p:nvPr/>
        </p:nvSpPr>
        <p:spPr>
          <a:xfrm flipV="1">
            <a:off x="3035808" y="4572000"/>
            <a:ext cx="0" cy="411480"/>
          </a:xfrm>
          <a:prstGeom prst="line">
            <a:avLst/>
          </a:prstGeom>
          <a:noFill/>
          <a:ln w="38100">
            <a:solidFill>
              <a:schemeClr val="accent1"/>
            </a:solidFill>
            <a:prstDash val="solid"/>
          </a:ln>
        </p:spPr>
      </p:sp>
      <p:sp>
        <p:nvSpPr>
          <p:cNvPr id="10" name="Shape 7"/>
          <p:cNvSpPr/>
          <p:nvPr/>
        </p:nvSpPr>
        <p:spPr>
          <a:xfrm flipV="1">
            <a:off x="3035808" y="3703320"/>
            <a:ext cx="512064" cy="411480"/>
          </a:xfrm>
          <a:prstGeom prst="line">
            <a:avLst/>
          </a:prstGeom>
          <a:noFill/>
          <a:ln w="38100">
            <a:solidFill>
              <a:schemeClr val="accent1"/>
            </a:solidFill>
            <a:prstDash val="solid"/>
          </a:ln>
        </p:spPr>
      </p:sp>
      <p:sp>
        <p:nvSpPr>
          <p:cNvPr id="11" name="Shape 8"/>
          <p:cNvSpPr/>
          <p:nvPr/>
        </p:nvSpPr>
        <p:spPr>
          <a:xfrm flipV="1">
            <a:off x="4059936" y="4572000"/>
            <a:ext cx="0" cy="411480"/>
          </a:xfrm>
          <a:prstGeom prst="line">
            <a:avLst/>
          </a:prstGeom>
          <a:noFill/>
          <a:ln w="15875">
            <a:solidFill>
              <a:schemeClr val="accent5"/>
            </a:solidFill>
            <a:prstDash val="solid"/>
          </a:ln>
        </p:spPr>
      </p:sp>
      <p:sp>
        <p:nvSpPr>
          <p:cNvPr id="12" name="Shape 9"/>
          <p:cNvSpPr/>
          <p:nvPr/>
        </p:nvSpPr>
        <p:spPr>
          <a:xfrm flipH="1" flipV="1">
            <a:off x="3547872" y="3703320"/>
            <a:ext cx="512064" cy="411480"/>
          </a:xfrm>
          <a:prstGeom prst="line">
            <a:avLst/>
          </a:prstGeom>
          <a:noFill/>
          <a:ln w="15875">
            <a:solidFill>
              <a:schemeClr val="accent5"/>
            </a:solidFill>
            <a:prstDash val="solid"/>
          </a:ln>
        </p:spPr>
      </p:sp>
      <p:sp>
        <p:nvSpPr>
          <p:cNvPr id="13" name="Shape 10"/>
          <p:cNvSpPr/>
          <p:nvPr/>
        </p:nvSpPr>
        <p:spPr>
          <a:xfrm flipV="1">
            <a:off x="5084064" y="4572000"/>
            <a:ext cx="0" cy="411480"/>
          </a:xfrm>
          <a:prstGeom prst="line">
            <a:avLst/>
          </a:prstGeom>
          <a:noFill/>
          <a:ln w="15875">
            <a:solidFill>
              <a:schemeClr val="accent5"/>
            </a:solidFill>
            <a:prstDash val="solid"/>
          </a:ln>
        </p:spPr>
      </p:sp>
      <p:sp>
        <p:nvSpPr>
          <p:cNvPr id="14" name="Shape 11"/>
          <p:cNvSpPr/>
          <p:nvPr/>
        </p:nvSpPr>
        <p:spPr>
          <a:xfrm flipV="1">
            <a:off x="5084064" y="3703320"/>
            <a:ext cx="512064" cy="411480"/>
          </a:xfrm>
          <a:prstGeom prst="line">
            <a:avLst/>
          </a:prstGeom>
          <a:noFill/>
          <a:ln w="15875">
            <a:solidFill>
              <a:schemeClr val="accent5"/>
            </a:solidFill>
            <a:prstDash val="solid"/>
          </a:ln>
        </p:spPr>
      </p:sp>
      <p:sp>
        <p:nvSpPr>
          <p:cNvPr id="15" name="Shape 12"/>
          <p:cNvSpPr/>
          <p:nvPr/>
        </p:nvSpPr>
        <p:spPr>
          <a:xfrm flipV="1">
            <a:off x="6108192" y="4572000"/>
            <a:ext cx="0" cy="411480"/>
          </a:xfrm>
          <a:prstGeom prst="line">
            <a:avLst/>
          </a:prstGeom>
          <a:noFill/>
          <a:ln w="15875">
            <a:solidFill>
              <a:schemeClr val="accent5"/>
            </a:solidFill>
            <a:prstDash val="solid"/>
          </a:ln>
        </p:spPr>
      </p:sp>
      <p:sp>
        <p:nvSpPr>
          <p:cNvPr id="16" name="Shape 13"/>
          <p:cNvSpPr/>
          <p:nvPr/>
        </p:nvSpPr>
        <p:spPr>
          <a:xfrm flipH="1" flipV="1">
            <a:off x="5596128" y="3703320"/>
            <a:ext cx="512064" cy="411480"/>
          </a:xfrm>
          <a:prstGeom prst="line">
            <a:avLst/>
          </a:prstGeom>
          <a:noFill/>
          <a:ln w="15875">
            <a:solidFill>
              <a:schemeClr val="accent5"/>
            </a:solidFill>
            <a:prstDash val="solid"/>
          </a:ln>
        </p:spPr>
      </p:sp>
      <p:sp>
        <p:nvSpPr>
          <p:cNvPr id="17" name="Shape 14"/>
          <p:cNvSpPr/>
          <p:nvPr/>
        </p:nvSpPr>
        <p:spPr>
          <a:xfrm flipV="1">
            <a:off x="7132320" y="4572000"/>
            <a:ext cx="0" cy="411480"/>
          </a:xfrm>
          <a:prstGeom prst="line">
            <a:avLst/>
          </a:prstGeom>
          <a:noFill/>
          <a:ln w="15875">
            <a:solidFill>
              <a:schemeClr val="accent5"/>
            </a:solidFill>
            <a:prstDash val="solid"/>
          </a:ln>
        </p:spPr>
      </p:sp>
      <p:sp>
        <p:nvSpPr>
          <p:cNvPr id="18" name="Shape 15"/>
          <p:cNvSpPr/>
          <p:nvPr/>
        </p:nvSpPr>
        <p:spPr>
          <a:xfrm flipV="1">
            <a:off x="7132320" y="3703320"/>
            <a:ext cx="512064" cy="411480"/>
          </a:xfrm>
          <a:prstGeom prst="line">
            <a:avLst/>
          </a:prstGeom>
          <a:noFill/>
          <a:ln w="15875">
            <a:solidFill>
              <a:schemeClr val="accent5"/>
            </a:solidFill>
            <a:prstDash val="solid"/>
          </a:ln>
        </p:spPr>
      </p:sp>
      <p:sp>
        <p:nvSpPr>
          <p:cNvPr id="19" name="Shape 16"/>
          <p:cNvSpPr/>
          <p:nvPr/>
        </p:nvSpPr>
        <p:spPr>
          <a:xfrm flipV="1">
            <a:off x="8156448" y="4572000"/>
            <a:ext cx="0" cy="411480"/>
          </a:xfrm>
          <a:prstGeom prst="line">
            <a:avLst/>
          </a:prstGeom>
          <a:noFill/>
          <a:ln w="15875">
            <a:solidFill>
              <a:schemeClr val="accent5"/>
            </a:solidFill>
            <a:prstDash val="solid"/>
          </a:ln>
        </p:spPr>
      </p:sp>
      <p:sp>
        <p:nvSpPr>
          <p:cNvPr id="20" name="Shape 17"/>
          <p:cNvSpPr/>
          <p:nvPr/>
        </p:nvSpPr>
        <p:spPr>
          <a:xfrm flipH="1" flipV="1">
            <a:off x="7644384" y="3703320"/>
            <a:ext cx="512064" cy="411480"/>
          </a:xfrm>
          <a:prstGeom prst="line">
            <a:avLst/>
          </a:prstGeom>
          <a:noFill/>
          <a:ln w="15875">
            <a:solidFill>
              <a:schemeClr val="accent5"/>
            </a:solidFill>
            <a:prstDash val="solid"/>
          </a:ln>
        </p:spPr>
      </p:sp>
      <p:sp>
        <p:nvSpPr>
          <p:cNvPr id="21" name="Shape 18"/>
          <p:cNvSpPr/>
          <p:nvPr/>
        </p:nvSpPr>
        <p:spPr>
          <a:xfrm flipH="1" flipV="1">
            <a:off x="3547872" y="3703320"/>
            <a:ext cx="512064" cy="411480"/>
          </a:xfrm>
          <a:prstGeom prst="line">
            <a:avLst/>
          </a:prstGeom>
          <a:noFill/>
          <a:ln w="15875">
            <a:solidFill>
              <a:schemeClr val="accent5"/>
            </a:solidFill>
            <a:prstDash val="solid"/>
          </a:ln>
        </p:spPr>
      </p:sp>
      <p:sp>
        <p:nvSpPr>
          <p:cNvPr id="22" name="Shape 19"/>
          <p:cNvSpPr/>
          <p:nvPr/>
        </p:nvSpPr>
        <p:spPr>
          <a:xfrm flipV="1">
            <a:off x="1499616" y="2834640"/>
            <a:ext cx="1024128" cy="411480"/>
          </a:xfrm>
          <a:prstGeom prst="line">
            <a:avLst/>
          </a:prstGeom>
          <a:noFill/>
          <a:ln w="15875">
            <a:solidFill>
              <a:schemeClr val="accent5"/>
            </a:solidFill>
            <a:prstDash val="solid"/>
          </a:ln>
        </p:spPr>
      </p:sp>
      <p:sp>
        <p:nvSpPr>
          <p:cNvPr id="23" name="Shape 20"/>
          <p:cNvSpPr/>
          <p:nvPr/>
        </p:nvSpPr>
        <p:spPr>
          <a:xfrm flipH="1" flipV="1">
            <a:off x="2523744" y="2834640"/>
            <a:ext cx="1024128" cy="411480"/>
          </a:xfrm>
          <a:prstGeom prst="line">
            <a:avLst/>
          </a:prstGeom>
          <a:noFill/>
          <a:ln w="38100">
            <a:solidFill>
              <a:schemeClr val="accent1"/>
            </a:solidFill>
            <a:prstDash val="solid"/>
          </a:ln>
        </p:spPr>
      </p:sp>
      <p:sp>
        <p:nvSpPr>
          <p:cNvPr id="24" name="Shape 21"/>
          <p:cNvSpPr/>
          <p:nvPr/>
        </p:nvSpPr>
        <p:spPr>
          <a:xfrm flipV="1">
            <a:off x="5596128" y="2834640"/>
            <a:ext cx="1024128" cy="411480"/>
          </a:xfrm>
          <a:prstGeom prst="line">
            <a:avLst/>
          </a:prstGeom>
          <a:noFill/>
          <a:ln w="15875">
            <a:solidFill>
              <a:schemeClr val="accent5"/>
            </a:solidFill>
            <a:prstDash val="solid"/>
          </a:ln>
        </p:spPr>
      </p:sp>
      <p:sp>
        <p:nvSpPr>
          <p:cNvPr id="25" name="Shape 22"/>
          <p:cNvSpPr/>
          <p:nvPr/>
        </p:nvSpPr>
        <p:spPr>
          <a:xfrm flipH="1" flipV="1">
            <a:off x="6620256" y="2834640"/>
            <a:ext cx="1024128" cy="411480"/>
          </a:xfrm>
          <a:prstGeom prst="line">
            <a:avLst/>
          </a:prstGeom>
          <a:noFill/>
          <a:ln w="15875">
            <a:solidFill>
              <a:schemeClr val="accent5"/>
            </a:solidFill>
            <a:prstDash val="solid"/>
          </a:ln>
        </p:spPr>
      </p:sp>
      <p:sp>
        <p:nvSpPr>
          <p:cNvPr id="26" name="Shape 23"/>
          <p:cNvSpPr/>
          <p:nvPr/>
        </p:nvSpPr>
        <p:spPr>
          <a:xfrm flipV="1">
            <a:off x="2523744" y="1965960"/>
            <a:ext cx="2048256" cy="411480"/>
          </a:xfrm>
          <a:prstGeom prst="line">
            <a:avLst/>
          </a:prstGeom>
          <a:noFill/>
          <a:ln w="38100">
            <a:solidFill>
              <a:schemeClr val="accent1"/>
            </a:solidFill>
            <a:prstDash val="solid"/>
          </a:ln>
        </p:spPr>
      </p:sp>
      <p:sp>
        <p:nvSpPr>
          <p:cNvPr id="27" name="Shape 24"/>
          <p:cNvSpPr/>
          <p:nvPr/>
        </p:nvSpPr>
        <p:spPr>
          <a:xfrm flipH="1" flipV="1">
            <a:off x="4572000" y="1965960"/>
            <a:ext cx="2048256" cy="411480"/>
          </a:xfrm>
          <a:prstGeom prst="line">
            <a:avLst/>
          </a:prstGeom>
          <a:noFill/>
          <a:ln w="15875">
            <a:solidFill>
              <a:schemeClr val="accent5"/>
            </a:solidFill>
            <a:prstDash val="solid"/>
          </a:ln>
        </p:spPr>
      </p:sp>
      <p:sp>
        <p:nvSpPr>
          <p:cNvPr id="28" name="Shape 25"/>
          <p:cNvSpPr/>
          <p:nvPr/>
        </p:nvSpPr>
        <p:spPr>
          <a:xfrm>
            <a:off x="566928"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29" name="Text 26"/>
          <p:cNvSpPr txBox="1"/>
          <p:nvPr/>
        </p:nvSpPr>
        <p:spPr>
          <a:xfrm>
            <a:off x="566928"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Tx1</a:t>
            </a:r>
            <a:endParaRPr lang="en-US" sz="1400" dirty="0"/>
          </a:p>
        </p:txBody>
      </p:sp>
      <p:sp>
        <p:nvSpPr>
          <p:cNvPr id="30" name="Shape 27"/>
          <p:cNvSpPr/>
          <p:nvPr/>
        </p:nvSpPr>
        <p:spPr>
          <a:xfrm>
            <a:off x="566928" y="4114800"/>
            <a:ext cx="841248" cy="457200"/>
          </a:xfrm>
          <a:prstGeom prst="roundRect">
            <a:avLst>
              <a:gd name="adj" fmla="val 12000"/>
            </a:avLst>
          </a:prstGeom>
          <a:solidFill>
            <a:schemeClr val="bg2"/>
          </a:solidFill>
          <a:ln w="12700">
            <a:solidFill>
              <a:schemeClr val="bg2">
                <a:alpha val="0"/>
              </a:schemeClr>
            </a:solidFill>
            <a:prstDash val="solid"/>
          </a:ln>
        </p:spPr>
      </p:sp>
      <p:sp>
        <p:nvSpPr>
          <p:cNvPr id="31" name="Text 28"/>
          <p:cNvSpPr txBox="1"/>
          <p:nvPr/>
        </p:nvSpPr>
        <p:spPr>
          <a:xfrm>
            <a:off x="566928" y="411480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H1</a:t>
            </a:r>
            <a:endParaRPr lang="en-US" sz="1400" dirty="0"/>
          </a:p>
        </p:txBody>
      </p:sp>
      <p:sp>
        <p:nvSpPr>
          <p:cNvPr id="32" name="Shape 29"/>
          <p:cNvSpPr/>
          <p:nvPr/>
        </p:nvSpPr>
        <p:spPr>
          <a:xfrm>
            <a:off x="1591056"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33" name="Text 30"/>
          <p:cNvSpPr txBox="1"/>
          <p:nvPr/>
        </p:nvSpPr>
        <p:spPr>
          <a:xfrm>
            <a:off x="1591056"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Tx2</a:t>
            </a:r>
            <a:endParaRPr lang="en-US" sz="1400" dirty="0"/>
          </a:p>
        </p:txBody>
      </p:sp>
      <p:sp>
        <p:nvSpPr>
          <p:cNvPr id="34" name="Shape 31"/>
          <p:cNvSpPr/>
          <p:nvPr/>
        </p:nvSpPr>
        <p:spPr>
          <a:xfrm>
            <a:off x="1591056" y="4114800"/>
            <a:ext cx="841248" cy="457200"/>
          </a:xfrm>
          <a:prstGeom prst="roundRect">
            <a:avLst>
              <a:gd name="adj" fmla="val 12000"/>
            </a:avLst>
          </a:prstGeom>
          <a:solidFill>
            <a:schemeClr val="bg2"/>
          </a:solidFill>
          <a:ln w="12700">
            <a:solidFill>
              <a:schemeClr val="bg2">
                <a:alpha val="0"/>
              </a:schemeClr>
            </a:solidFill>
            <a:prstDash val="solid"/>
          </a:ln>
        </p:spPr>
      </p:sp>
      <p:sp>
        <p:nvSpPr>
          <p:cNvPr id="35" name="Text 32"/>
          <p:cNvSpPr txBox="1"/>
          <p:nvPr/>
        </p:nvSpPr>
        <p:spPr>
          <a:xfrm>
            <a:off x="1591056" y="411480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H2</a:t>
            </a:r>
            <a:endParaRPr lang="en-US" sz="1400" dirty="0"/>
          </a:p>
        </p:txBody>
      </p:sp>
      <p:sp>
        <p:nvSpPr>
          <p:cNvPr id="36" name="Shape 33"/>
          <p:cNvSpPr/>
          <p:nvPr/>
        </p:nvSpPr>
        <p:spPr>
          <a:xfrm>
            <a:off x="2615184" y="4983480"/>
            <a:ext cx="841248" cy="457200"/>
          </a:xfrm>
          <a:prstGeom prst="roundRect">
            <a:avLst>
              <a:gd name="adj" fmla="val 12000"/>
            </a:avLst>
          </a:prstGeom>
          <a:solidFill>
            <a:schemeClr val="accent1"/>
          </a:solidFill>
          <a:ln w="12700">
            <a:solidFill>
              <a:schemeClr val="accent1">
                <a:alpha val="0"/>
              </a:schemeClr>
            </a:solidFill>
            <a:prstDash val="solid"/>
          </a:ln>
        </p:spPr>
      </p:sp>
      <p:sp>
        <p:nvSpPr>
          <p:cNvPr id="37" name="Text 34"/>
          <p:cNvSpPr txBox="1"/>
          <p:nvPr/>
        </p:nvSpPr>
        <p:spPr>
          <a:xfrm>
            <a:off x="2615184" y="4983480"/>
            <a:ext cx="841248"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latin typeface="Consolas" pitchFamily="34" charset="0"/>
                <a:ea typeface="Consolas" pitchFamily="34" charset="-122"/>
                <a:cs typeface="Consolas" pitchFamily="34" charset="-120"/>
              </a:rPr>
              <a:t>Tx3</a:t>
            </a:r>
            <a:endParaRPr lang="en-US" sz="1400" dirty="0"/>
          </a:p>
        </p:txBody>
      </p:sp>
      <p:sp>
        <p:nvSpPr>
          <p:cNvPr id="38" name="Shape 35"/>
          <p:cNvSpPr/>
          <p:nvPr/>
        </p:nvSpPr>
        <p:spPr>
          <a:xfrm>
            <a:off x="2615184" y="4114800"/>
            <a:ext cx="841248" cy="457200"/>
          </a:xfrm>
          <a:prstGeom prst="roundRect">
            <a:avLst>
              <a:gd name="adj" fmla="val 12000"/>
            </a:avLst>
          </a:prstGeom>
          <a:solidFill>
            <a:schemeClr val="accent1"/>
          </a:solidFill>
          <a:ln w="12700">
            <a:solidFill>
              <a:schemeClr val="accent1">
                <a:alpha val="0"/>
              </a:schemeClr>
            </a:solidFill>
            <a:prstDash val="solid"/>
          </a:ln>
        </p:spPr>
      </p:sp>
      <p:sp>
        <p:nvSpPr>
          <p:cNvPr id="39" name="Text 36"/>
          <p:cNvSpPr txBox="1"/>
          <p:nvPr/>
        </p:nvSpPr>
        <p:spPr>
          <a:xfrm>
            <a:off x="2615184" y="4114800"/>
            <a:ext cx="841248"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latin typeface="Consolas" pitchFamily="34" charset="0"/>
                <a:ea typeface="Consolas" pitchFamily="34" charset="-122"/>
                <a:cs typeface="Consolas" pitchFamily="34" charset="-120"/>
              </a:rPr>
              <a:t>H3</a:t>
            </a:r>
            <a:endParaRPr lang="en-US" sz="1400" dirty="0"/>
          </a:p>
        </p:txBody>
      </p:sp>
      <p:sp>
        <p:nvSpPr>
          <p:cNvPr id="40" name="Shape 37"/>
          <p:cNvSpPr/>
          <p:nvPr/>
        </p:nvSpPr>
        <p:spPr>
          <a:xfrm>
            <a:off x="3639312"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41" name="Text 38"/>
          <p:cNvSpPr txBox="1"/>
          <p:nvPr/>
        </p:nvSpPr>
        <p:spPr>
          <a:xfrm>
            <a:off x="3639312"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Tx4</a:t>
            </a:r>
            <a:endParaRPr lang="en-US" sz="1400" dirty="0"/>
          </a:p>
        </p:txBody>
      </p:sp>
      <p:sp>
        <p:nvSpPr>
          <p:cNvPr id="42" name="Shape 39"/>
          <p:cNvSpPr/>
          <p:nvPr/>
        </p:nvSpPr>
        <p:spPr>
          <a:xfrm>
            <a:off x="3639312" y="4114800"/>
            <a:ext cx="841248" cy="457200"/>
          </a:xfrm>
          <a:prstGeom prst="roundRect">
            <a:avLst>
              <a:gd name="adj" fmla="val 12000"/>
            </a:avLst>
          </a:prstGeom>
          <a:solidFill>
            <a:schemeClr val="accent3"/>
          </a:solidFill>
          <a:ln w="12700">
            <a:solidFill>
              <a:schemeClr val="accent3">
                <a:alpha val="0"/>
              </a:schemeClr>
            </a:solidFill>
            <a:prstDash val="solid"/>
          </a:ln>
        </p:spPr>
      </p:sp>
      <p:sp>
        <p:nvSpPr>
          <p:cNvPr id="43" name="Text 40"/>
          <p:cNvSpPr txBox="1"/>
          <p:nvPr/>
        </p:nvSpPr>
        <p:spPr>
          <a:xfrm>
            <a:off x="3639312" y="4114800"/>
            <a:ext cx="841248"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latin typeface="Consolas" pitchFamily="34" charset="0"/>
                <a:ea typeface="Consolas" pitchFamily="34" charset="-122"/>
                <a:cs typeface="Consolas" pitchFamily="34" charset="-120"/>
              </a:rPr>
              <a:t>H4</a:t>
            </a:r>
            <a:endParaRPr lang="en-US" sz="1400" dirty="0"/>
          </a:p>
        </p:txBody>
      </p:sp>
      <p:sp>
        <p:nvSpPr>
          <p:cNvPr id="44" name="Shape 41"/>
          <p:cNvSpPr/>
          <p:nvPr/>
        </p:nvSpPr>
        <p:spPr>
          <a:xfrm>
            <a:off x="4663440"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45" name="Text 42"/>
          <p:cNvSpPr txBox="1"/>
          <p:nvPr/>
        </p:nvSpPr>
        <p:spPr>
          <a:xfrm>
            <a:off x="4663440"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Tx5</a:t>
            </a:r>
            <a:endParaRPr lang="en-US" sz="1400" dirty="0"/>
          </a:p>
        </p:txBody>
      </p:sp>
      <p:sp>
        <p:nvSpPr>
          <p:cNvPr id="46" name="Shape 43"/>
          <p:cNvSpPr/>
          <p:nvPr/>
        </p:nvSpPr>
        <p:spPr>
          <a:xfrm>
            <a:off x="4663440" y="4114800"/>
            <a:ext cx="841248" cy="457200"/>
          </a:xfrm>
          <a:prstGeom prst="roundRect">
            <a:avLst>
              <a:gd name="adj" fmla="val 12000"/>
            </a:avLst>
          </a:prstGeom>
          <a:solidFill>
            <a:schemeClr val="bg2"/>
          </a:solidFill>
          <a:ln w="12700">
            <a:solidFill>
              <a:schemeClr val="bg2">
                <a:alpha val="0"/>
              </a:schemeClr>
            </a:solidFill>
            <a:prstDash val="solid"/>
          </a:ln>
        </p:spPr>
      </p:sp>
      <p:sp>
        <p:nvSpPr>
          <p:cNvPr id="47" name="Text 44"/>
          <p:cNvSpPr txBox="1"/>
          <p:nvPr/>
        </p:nvSpPr>
        <p:spPr>
          <a:xfrm>
            <a:off x="4663440" y="411480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H5</a:t>
            </a:r>
            <a:endParaRPr lang="en-US" sz="1400" dirty="0"/>
          </a:p>
        </p:txBody>
      </p:sp>
      <p:sp>
        <p:nvSpPr>
          <p:cNvPr id="48" name="Shape 45"/>
          <p:cNvSpPr/>
          <p:nvPr/>
        </p:nvSpPr>
        <p:spPr>
          <a:xfrm>
            <a:off x="5687568"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49" name="Text 46"/>
          <p:cNvSpPr txBox="1"/>
          <p:nvPr/>
        </p:nvSpPr>
        <p:spPr>
          <a:xfrm>
            <a:off x="5687568"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Tx6</a:t>
            </a:r>
            <a:endParaRPr lang="en-US" sz="1400" dirty="0"/>
          </a:p>
        </p:txBody>
      </p:sp>
      <p:sp>
        <p:nvSpPr>
          <p:cNvPr id="50" name="Shape 47"/>
          <p:cNvSpPr/>
          <p:nvPr/>
        </p:nvSpPr>
        <p:spPr>
          <a:xfrm>
            <a:off x="5687568" y="4114800"/>
            <a:ext cx="841248" cy="457200"/>
          </a:xfrm>
          <a:prstGeom prst="roundRect">
            <a:avLst>
              <a:gd name="adj" fmla="val 12000"/>
            </a:avLst>
          </a:prstGeom>
          <a:solidFill>
            <a:schemeClr val="bg2"/>
          </a:solidFill>
          <a:ln w="12700">
            <a:solidFill>
              <a:schemeClr val="bg2">
                <a:alpha val="0"/>
              </a:schemeClr>
            </a:solidFill>
            <a:prstDash val="solid"/>
          </a:ln>
        </p:spPr>
      </p:sp>
      <p:sp>
        <p:nvSpPr>
          <p:cNvPr id="51" name="Text 48"/>
          <p:cNvSpPr txBox="1"/>
          <p:nvPr/>
        </p:nvSpPr>
        <p:spPr>
          <a:xfrm>
            <a:off x="5687568" y="411480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H6</a:t>
            </a:r>
            <a:endParaRPr lang="en-US" sz="1400" dirty="0"/>
          </a:p>
        </p:txBody>
      </p:sp>
      <p:sp>
        <p:nvSpPr>
          <p:cNvPr id="52" name="Shape 49"/>
          <p:cNvSpPr/>
          <p:nvPr/>
        </p:nvSpPr>
        <p:spPr>
          <a:xfrm>
            <a:off x="6711696"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53" name="Text 50"/>
          <p:cNvSpPr txBox="1"/>
          <p:nvPr/>
        </p:nvSpPr>
        <p:spPr>
          <a:xfrm>
            <a:off x="6711696"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Tx7</a:t>
            </a:r>
            <a:endParaRPr lang="en-US" sz="1400" dirty="0"/>
          </a:p>
        </p:txBody>
      </p:sp>
      <p:sp>
        <p:nvSpPr>
          <p:cNvPr id="54" name="Shape 51"/>
          <p:cNvSpPr/>
          <p:nvPr/>
        </p:nvSpPr>
        <p:spPr>
          <a:xfrm>
            <a:off x="6711696" y="4114800"/>
            <a:ext cx="841248" cy="457200"/>
          </a:xfrm>
          <a:prstGeom prst="roundRect">
            <a:avLst>
              <a:gd name="adj" fmla="val 12000"/>
            </a:avLst>
          </a:prstGeom>
          <a:solidFill>
            <a:schemeClr val="bg2"/>
          </a:solidFill>
          <a:ln w="12700">
            <a:solidFill>
              <a:schemeClr val="bg2">
                <a:alpha val="0"/>
              </a:schemeClr>
            </a:solidFill>
            <a:prstDash val="solid"/>
          </a:ln>
        </p:spPr>
      </p:sp>
      <p:sp>
        <p:nvSpPr>
          <p:cNvPr id="55" name="Text 52"/>
          <p:cNvSpPr txBox="1"/>
          <p:nvPr/>
        </p:nvSpPr>
        <p:spPr>
          <a:xfrm>
            <a:off x="6711696" y="411480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H7</a:t>
            </a:r>
            <a:endParaRPr lang="en-US" sz="1400" dirty="0"/>
          </a:p>
        </p:txBody>
      </p:sp>
      <p:sp>
        <p:nvSpPr>
          <p:cNvPr id="56" name="Shape 53"/>
          <p:cNvSpPr/>
          <p:nvPr/>
        </p:nvSpPr>
        <p:spPr>
          <a:xfrm>
            <a:off x="7735824" y="4983480"/>
            <a:ext cx="841248" cy="457200"/>
          </a:xfrm>
          <a:prstGeom prst="roundRect">
            <a:avLst>
              <a:gd name="adj" fmla="val 12000"/>
            </a:avLst>
          </a:prstGeom>
          <a:solidFill>
            <a:schemeClr val="bg2"/>
          </a:solidFill>
          <a:ln w="12700">
            <a:solidFill>
              <a:schemeClr val="bg2">
                <a:alpha val="0"/>
              </a:schemeClr>
            </a:solidFill>
            <a:prstDash val="solid"/>
          </a:ln>
        </p:spPr>
      </p:sp>
      <p:sp>
        <p:nvSpPr>
          <p:cNvPr id="57" name="Text 54"/>
          <p:cNvSpPr txBox="1"/>
          <p:nvPr/>
        </p:nvSpPr>
        <p:spPr>
          <a:xfrm>
            <a:off x="7735824" y="498348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Tx8</a:t>
            </a:r>
            <a:endParaRPr lang="en-US" sz="1400" dirty="0"/>
          </a:p>
        </p:txBody>
      </p:sp>
      <p:sp>
        <p:nvSpPr>
          <p:cNvPr id="58" name="Shape 55"/>
          <p:cNvSpPr/>
          <p:nvPr/>
        </p:nvSpPr>
        <p:spPr>
          <a:xfrm>
            <a:off x="7735824" y="4114800"/>
            <a:ext cx="841248" cy="457200"/>
          </a:xfrm>
          <a:prstGeom prst="roundRect">
            <a:avLst>
              <a:gd name="adj" fmla="val 12000"/>
            </a:avLst>
          </a:prstGeom>
          <a:solidFill>
            <a:schemeClr val="bg2"/>
          </a:solidFill>
          <a:ln w="12700">
            <a:solidFill>
              <a:schemeClr val="bg2">
                <a:alpha val="0"/>
              </a:schemeClr>
            </a:solidFill>
            <a:prstDash val="solid"/>
          </a:ln>
        </p:spPr>
      </p:sp>
      <p:sp>
        <p:nvSpPr>
          <p:cNvPr id="59" name="Text 56"/>
          <p:cNvSpPr txBox="1"/>
          <p:nvPr/>
        </p:nvSpPr>
        <p:spPr>
          <a:xfrm>
            <a:off x="7735824" y="4114800"/>
            <a:ext cx="841248"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H8</a:t>
            </a:r>
            <a:endParaRPr lang="en-US" sz="1400" dirty="0"/>
          </a:p>
        </p:txBody>
      </p:sp>
      <p:sp>
        <p:nvSpPr>
          <p:cNvPr id="60" name="Shape 57"/>
          <p:cNvSpPr/>
          <p:nvPr/>
        </p:nvSpPr>
        <p:spPr>
          <a:xfrm>
            <a:off x="996696" y="3246120"/>
            <a:ext cx="1005840" cy="457200"/>
          </a:xfrm>
          <a:prstGeom prst="roundRect">
            <a:avLst>
              <a:gd name="adj" fmla="val 12000"/>
            </a:avLst>
          </a:prstGeom>
          <a:solidFill>
            <a:schemeClr val="accent3"/>
          </a:solidFill>
          <a:ln w="12700">
            <a:solidFill>
              <a:schemeClr val="accent3">
                <a:alpha val="0"/>
              </a:schemeClr>
            </a:solidFill>
            <a:prstDash val="solid"/>
          </a:ln>
        </p:spPr>
      </p:sp>
      <p:sp>
        <p:nvSpPr>
          <p:cNvPr id="61" name="Text 58"/>
          <p:cNvSpPr txBox="1"/>
          <p:nvPr/>
        </p:nvSpPr>
        <p:spPr>
          <a:xfrm>
            <a:off x="996696" y="3246120"/>
            <a:ext cx="1005840"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latin typeface="Consolas" pitchFamily="34" charset="0"/>
                <a:ea typeface="Consolas" pitchFamily="34" charset="-122"/>
                <a:cs typeface="Consolas" pitchFamily="34" charset="-120"/>
              </a:rPr>
              <a:t>H12</a:t>
            </a:r>
            <a:endParaRPr lang="en-US" sz="1400" dirty="0"/>
          </a:p>
        </p:txBody>
      </p:sp>
      <p:sp>
        <p:nvSpPr>
          <p:cNvPr id="62" name="Shape 59"/>
          <p:cNvSpPr/>
          <p:nvPr/>
        </p:nvSpPr>
        <p:spPr>
          <a:xfrm>
            <a:off x="3044952" y="3246120"/>
            <a:ext cx="1005840" cy="457200"/>
          </a:xfrm>
          <a:prstGeom prst="roundRect">
            <a:avLst>
              <a:gd name="adj" fmla="val 12000"/>
            </a:avLst>
          </a:prstGeom>
          <a:solidFill>
            <a:schemeClr val="accent1"/>
          </a:solidFill>
          <a:ln w="12700">
            <a:solidFill>
              <a:schemeClr val="accent1">
                <a:alpha val="0"/>
              </a:schemeClr>
            </a:solidFill>
            <a:prstDash val="solid"/>
          </a:ln>
        </p:spPr>
      </p:sp>
      <p:sp>
        <p:nvSpPr>
          <p:cNvPr id="63" name="Text 60"/>
          <p:cNvSpPr txBox="1"/>
          <p:nvPr/>
        </p:nvSpPr>
        <p:spPr>
          <a:xfrm>
            <a:off x="3044952" y="3246120"/>
            <a:ext cx="1005840"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latin typeface="Consolas" pitchFamily="34" charset="0"/>
                <a:ea typeface="Consolas" pitchFamily="34" charset="-122"/>
                <a:cs typeface="Consolas" pitchFamily="34" charset="-120"/>
              </a:rPr>
              <a:t>H34</a:t>
            </a:r>
            <a:endParaRPr lang="en-US" sz="1400" dirty="0"/>
          </a:p>
        </p:txBody>
      </p:sp>
      <p:sp>
        <p:nvSpPr>
          <p:cNvPr id="64" name="Shape 61"/>
          <p:cNvSpPr/>
          <p:nvPr/>
        </p:nvSpPr>
        <p:spPr>
          <a:xfrm>
            <a:off x="5093208" y="3246120"/>
            <a:ext cx="1005840" cy="457200"/>
          </a:xfrm>
          <a:prstGeom prst="roundRect">
            <a:avLst>
              <a:gd name="adj" fmla="val 12000"/>
            </a:avLst>
          </a:prstGeom>
          <a:solidFill>
            <a:schemeClr val="bg2"/>
          </a:solidFill>
          <a:ln w="12700">
            <a:solidFill>
              <a:schemeClr val="bg2">
                <a:alpha val="0"/>
              </a:schemeClr>
            </a:solidFill>
            <a:prstDash val="solid"/>
          </a:ln>
        </p:spPr>
      </p:sp>
      <p:sp>
        <p:nvSpPr>
          <p:cNvPr id="65" name="Text 62"/>
          <p:cNvSpPr txBox="1"/>
          <p:nvPr/>
        </p:nvSpPr>
        <p:spPr>
          <a:xfrm>
            <a:off x="5093208" y="3246120"/>
            <a:ext cx="1005840"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H56</a:t>
            </a:r>
            <a:endParaRPr lang="en-US" sz="1400" dirty="0"/>
          </a:p>
        </p:txBody>
      </p:sp>
      <p:sp>
        <p:nvSpPr>
          <p:cNvPr id="66" name="Shape 63"/>
          <p:cNvSpPr/>
          <p:nvPr/>
        </p:nvSpPr>
        <p:spPr>
          <a:xfrm>
            <a:off x="7141464" y="3246120"/>
            <a:ext cx="1005840" cy="457200"/>
          </a:xfrm>
          <a:prstGeom prst="roundRect">
            <a:avLst>
              <a:gd name="adj" fmla="val 12000"/>
            </a:avLst>
          </a:prstGeom>
          <a:solidFill>
            <a:schemeClr val="bg2"/>
          </a:solidFill>
          <a:ln w="12700">
            <a:solidFill>
              <a:schemeClr val="bg2">
                <a:alpha val="0"/>
              </a:schemeClr>
            </a:solidFill>
            <a:prstDash val="solid"/>
          </a:ln>
        </p:spPr>
      </p:sp>
      <p:sp>
        <p:nvSpPr>
          <p:cNvPr id="67" name="Text 64"/>
          <p:cNvSpPr txBox="1"/>
          <p:nvPr/>
        </p:nvSpPr>
        <p:spPr>
          <a:xfrm>
            <a:off x="7141464" y="3246120"/>
            <a:ext cx="1005840" cy="45720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latin typeface="Consolas" pitchFamily="34" charset="0"/>
                <a:ea typeface="Consolas" pitchFamily="34" charset="-122"/>
                <a:cs typeface="Consolas" pitchFamily="34" charset="-120"/>
              </a:rPr>
              <a:t>H78</a:t>
            </a:r>
            <a:endParaRPr lang="en-US" sz="1400" dirty="0"/>
          </a:p>
        </p:txBody>
      </p:sp>
      <p:sp>
        <p:nvSpPr>
          <p:cNvPr id="68" name="Shape 65"/>
          <p:cNvSpPr/>
          <p:nvPr/>
        </p:nvSpPr>
        <p:spPr>
          <a:xfrm>
            <a:off x="1929384" y="2377440"/>
            <a:ext cx="1188720" cy="457200"/>
          </a:xfrm>
          <a:prstGeom prst="roundRect">
            <a:avLst>
              <a:gd name="adj" fmla="val 12000"/>
            </a:avLst>
          </a:prstGeom>
          <a:solidFill>
            <a:schemeClr val="accent1"/>
          </a:solidFill>
          <a:ln w="12700">
            <a:solidFill>
              <a:schemeClr val="accent1">
                <a:alpha val="0"/>
              </a:schemeClr>
            </a:solidFill>
            <a:prstDash val="solid"/>
          </a:ln>
        </p:spPr>
      </p:sp>
      <p:sp>
        <p:nvSpPr>
          <p:cNvPr id="69" name="Text 66"/>
          <p:cNvSpPr txBox="1"/>
          <p:nvPr/>
        </p:nvSpPr>
        <p:spPr>
          <a:xfrm>
            <a:off x="1929384" y="2377440"/>
            <a:ext cx="1188720"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latin typeface="Consolas" pitchFamily="34" charset="0"/>
                <a:ea typeface="Consolas" pitchFamily="34" charset="-122"/>
                <a:cs typeface="Consolas" pitchFamily="34" charset="-120"/>
              </a:rPr>
              <a:t>H1234</a:t>
            </a:r>
            <a:endParaRPr lang="en-US" sz="1400" dirty="0"/>
          </a:p>
        </p:txBody>
      </p:sp>
      <p:sp>
        <p:nvSpPr>
          <p:cNvPr id="70" name="Shape 67"/>
          <p:cNvSpPr/>
          <p:nvPr/>
        </p:nvSpPr>
        <p:spPr>
          <a:xfrm>
            <a:off x="6025896" y="2377440"/>
            <a:ext cx="1188720" cy="457200"/>
          </a:xfrm>
          <a:prstGeom prst="roundRect">
            <a:avLst>
              <a:gd name="adj" fmla="val 12000"/>
            </a:avLst>
          </a:prstGeom>
          <a:solidFill>
            <a:schemeClr val="accent3"/>
          </a:solidFill>
          <a:ln w="12700">
            <a:solidFill>
              <a:schemeClr val="accent3">
                <a:alpha val="0"/>
              </a:schemeClr>
            </a:solidFill>
            <a:prstDash val="solid"/>
          </a:ln>
        </p:spPr>
      </p:sp>
      <p:sp>
        <p:nvSpPr>
          <p:cNvPr id="71" name="Text 68"/>
          <p:cNvSpPr txBox="1"/>
          <p:nvPr/>
        </p:nvSpPr>
        <p:spPr>
          <a:xfrm>
            <a:off x="6025896" y="2377440"/>
            <a:ext cx="1188720"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latin typeface="Consolas" pitchFamily="34" charset="0"/>
                <a:ea typeface="Consolas" pitchFamily="34" charset="-122"/>
                <a:cs typeface="Consolas" pitchFamily="34" charset="-120"/>
              </a:rPr>
              <a:t>H5678</a:t>
            </a:r>
            <a:endParaRPr lang="en-US" sz="1400" dirty="0"/>
          </a:p>
        </p:txBody>
      </p:sp>
      <p:sp>
        <p:nvSpPr>
          <p:cNvPr id="72" name="Shape 69"/>
          <p:cNvSpPr/>
          <p:nvPr/>
        </p:nvSpPr>
        <p:spPr>
          <a:xfrm>
            <a:off x="3886200" y="1508760"/>
            <a:ext cx="1371600" cy="457200"/>
          </a:xfrm>
          <a:prstGeom prst="roundRect">
            <a:avLst>
              <a:gd name="adj" fmla="val 12000"/>
            </a:avLst>
          </a:prstGeom>
          <a:solidFill>
            <a:schemeClr val="accent1"/>
          </a:solidFill>
          <a:ln w="12700">
            <a:solidFill>
              <a:schemeClr val="accent1">
                <a:alpha val="0"/>
              </a:schemeClr>
            </a:solidFill>
            <a:prstDash val="solid"/>
          </a:ln>
        </p:spPr>
      </p:sp>
      <p:sp>
        <p:nvSpPr>
          <p:cNvPr id="73" name="Text 70"/>
          <p:cNvSpPr txBox="1"/>
          <p:nvPr/>
        </p:nvSpPr>
        <p:spPr>
          <a:xfrm>
            <a:off x="3886200" y="1508760"/>
            <a:ext cx="1371600" cy="4572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latin typeface="Consolas" pitchFamily="34" charset="0"/>
                <a:ea typeface="Consolas" pitchFamily="34" charset="-122"/>
                <a:cs typeface="Consolas" pitchFamily="34" charset="-120"/>
              </a:rPr>
              <a:t>根</a:t>
            </a:r>
            <a:endParaRPr lang="en-US" sz="1400" dirty="0"/>
          </a:p>
        </p:txBody>
      </p:sp>
      <p:sp>
        <p:nvSpPr>
          <p:cNvPr id="74" name="Text 71"/>
          <p:cNvSpPr txBox="1"/>
          <p:nvPr/>
        </p:nvSpPr>
        <p:spPr>
          <a:xfrm>
            <a:off x="5349240" y="1581912"/>
            <a:ext cx="1463040" cy="320040"/>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写入区块头</a:t>
            </a:r>
            <a:endParaRPr lang="en-US" sz="1300" dirty="0"/>
          </a:p>
        </p:txBody>
      </p:sp>
      <p:sp>
        <p:nvSpPr>
          <p:cNvPr id="75" name="Shape 72"/>
          <p:cNvSpPr/>
          <p:nvPr/>
        </p:nvSpPr>
        <p:spPr>
          <a:xfrm>
            <a:off x="457200" y="1463040"/>
            <a:ext cx="2468880" cy="329184"/>
          </a:xfrm>
          <a:prstGeom prst="roundRect">
            <a:avLst>
              <a:gd name="adj" fmla="val 50000"/>
            </a:avLst>
          </a:prstGeom>
          <a:solidFill>
            <a:schemeClr val="accent1"/>
          </a:solidFill>
          <a:ln w="12700">
            <a:solidFill>
              <a:schemeClr val="accent1">
                <a:alpha val="0"/>
              </a:schemeClr>
            </a:solidFill>
            <a:prstDash val="solid"/>
          </a:ln>
        </p:spPr>
      </p:sp>
      <p:sp>
        <p:nvSpPr>
          <p:cNvPr id="76" name="Text 73"/>
          <p:cNvSpPr txBox="1"/>
          <p:nvPr/>
        </p:nvSpPr>
        <p:spPr>
          <a:xfrm>
            <a:off x="457200" y="1463040"/>
            <a:ext cx="2468880" cy="329184"/>
          </a:xfrm>
          <a:prstGeom prst="rect">
            <a:avLst/>
          </a:prstGeom>
          <a:noFill/>
          <a:ln/>
        </p:spPr>
        <p:txBody>
          <a:bodyPr wrap="square" lIns="0" tIns="0" rIns="0" bIns="0" rtlCol="0" anchor="ctr"/>
          <a:lstStyle/>
          <a:p>
            <a:pPr algn="ctr" indent="0" marL="0">
              <a:buNone/>
            </a:pPr>
            <a:r>
              <a:rPr lang="en-US" sz="1200" b="1" dirty="0">
                <a:solidFill>
                  <a:schemeClr val="tx1"/>
                </a:solidFill>
              </a:rPr>
              <a:t>要验证的 Tx3 及其路径</a:t>
            </a:r>
            <a:endParaRPr lang="en-US" sz="1200" dirty="0"/>
          </a:p>
        </p:txBody>
      </p:sp>
      <p:sp>
        <p:nvSpPr>
          <p:cNvPr id="77" name="Shape 74"/>
          <p:cNvSpPr/>
          <p:nvPr/>
        </p:nvSpPr>
        <p:spPr>
          <a:xfrm>
            <a:off x="457200" y="1883664"/>
            <a:ext cx="2468880" cy="329184"/>
          </a:xfrm>
          <a:prstGeom prst="roundRect">
            <a:avLst>
              <a:gd name="adj" fmla="val 50000"/>
            </a:avLst>
          </a:prstGeom>
          <a:solidFill>
            <a:schemeClr val="accent3"/>
          </a:solidFill>
          <a:ln w="12700">
            <a:solidFill>
              <a:schemeClr val="accent3">
                <a:alpha val="0"/>
              </a:schemeClr>
            </a:solidFill>
            <a:prstDash val="solid"/>
          </a:ln>
        </p:spPr>
      </p:sp>
      <p:sp>
        <p:nvSpPr>
          <p:cNvPr id="78" name="Text 75"/>
          <p:cNvSpPr txBox="1"/>
          <p:nvPr/>
        </p:nvSpPr>
        <p:spPr>
          <a:xfrm>
            <a:off x="457200" y="1883664"/>
            <a:ext cx="2468880" cy="329184"/>
          </a:xfrm>
          <a:prstGeom prst="rect">
            <a:avLst/>
          </a:prstGeom>
          <a:noFill/>
          <a:ln/>
        </p:spPr>
        <p:txBody>
          <a:bodyPr wrap="square" lIns="0" tIns="0" rIns="0" bIns="0" rtlCol="0" anchor="ctr"/>
          <a:lstStyle/>
          <a:p>
            <a:pPr algn="ctr" indent="0" marL="0">
              <a:buNone/>
            </a:pPr>
            <a:r>
              <a:rPr lang="en-US" sz="1200" b="1" dirty="0">
                <a:solidFill>
                  <a:schemeClr val="bg1"/>
                </a:solidFill>
              </a:rPr>
              <a:t>证明里提供的 3 个哈希</a:t>
            </a:r>
            <a:endParaRPr lang="en-US" sz="1200" dirty="0"/>
          </a:p>
        </p:txBody>
      </p:sp>
      <p:sp>
        <p:nvSpPr>
          <p:cNvPr id="79" name="Shape 76"/>
          <p:cNvSpPr/>
          <p:nvPr/>
        </p:nvSpPr>
        <p:spPr>
          <a:xfrm>
            <a:off x="457200" y="5532120"/>
            <a:ext cx="8229600" cy="594360"/>
          </a:xfrm>
          <a:prstGeom prst="roundRect">
            <a:avLst>
              <a:gd name="adj" fmla="val 12308"/>
            </a:avLst>
          </a:prstGeom>
          <a:solidFill>
            <a:schemeClr val="accent1">
              <a:alpha val="12000"/>
            </a:schemeClr>
          </a:solidFill>
          <a:ln w="12700">
            <a:solidFill>
              <a:schemeClr val="accent1">
                <a:alpha val="0"/>
              </a:schemeClr>
            </a:solidFill>
            <a:prstDash val="solid"/>
          </a:ln>
        </p:spPr>
      </p:sp>
      <p:pic>
        <p:nvPicPr>
          <p:cNvPr id="80" name="Image 0" descr="key">    </p:cNvPr>
          <p:cNvPicPr>
            <a:picLocks noChangeAspect="1"/>
          </p:cNvPicPr>
          <p:nvPr/>
        </p:nvPicPr>
        <p:blipFill>
          <a:blip r:embed="rId1"/>
          <a:stretch>
            <a:fillRect/>
          </a:stretch>
        </p:blipFill>
        <p:spPr>
          <a:xfrm>
            <a:off x="640080" y="5637276"/>
            <a:ext cx="384048" cy="384048"/>
          </a:xfrm>
          <a:prstGeom prst="rect">
            <a:avLst/>
          </a:prstGeom>
        </p:spPr>
      </p:pic>
      <p:sp>
        <p:nvSpPr>
          <p:cNvPr id="81" name="Text 77"/>
          <p:cNvSpPr txBox="1"/>
          <p:nvPr/>
        </p:nvSpPr>
        <p:spPr>
          <a:xfrm>
            <a:off x="1188720" y="5605272"/>
            <a:ext cx="7315200" cy="44805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区块里有 </a:t>
            </a:r>
            <a:pPr algn="l" indent="0" marL="0">
              <a:lnSpc>
                <a:spcPct val="105000"/>
              </a:lnSpc>
              <a:buNone/>
            </a:pPr>
            <a:r>
              <a:rPr lang="en-US" sz="1400" b="1" dirty="0">
                <a:solidFill>
                  <a:schemeClr val="tx1"/>
                </a:solidFill>
              </a:rPr>
              <a:t>4000 笔</a:t>
            </a:r>
            <a:pPr algn="l" indent="0" marL="0">
              <a:lnSpc>
                <a:spcPct val="105000"/>
              </a:lnSpc>
              <a:buNone/>
            </a:pPr>
            <a:r>
              <a:rPr lang="en-US" sz="1400" dirty="0">
                <a:solidFill>
                  <a:schemeClr val="tx1"/>
                </a:solidFill>
              </a:rPr>
              <a:t>交易，证明也只需 </a:t>
            </a:r>
            <a:pPr algn="l" indent="0" marL="0">
              <a:lnSpc>
                <a:spcPct val="105000"/>
              </a:lnSpc>
              <a:buNone/>
            </a:pPr>
            <a:r>
              <a:rPr lang="en-US" sz="1400" b="1" dirty="0">
                <a:solidFill>
                  <a:schemeClr val="tx1"/>
                </a:solidFill>
              </a:rPr>
              <a:t>12 个</a:t>
            </a:r>
            <a:pPr algn="l" indent="0" marL="0">
              <a:lnSpc>
                <a:spcPct val="105000"/>
              </a:lnSpc>
              <a:buNone/>
            </a:pPr>
            <a:r>
              <a:rPr lang="en-US" sz="1400" dirty="0">
                <a:solidFill>
                  <a:schemeClr val="tx1"/>
                </a:solidFill>
              </a:rPr>
              <a:t>哈希（约 384 字节）。</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默克尔树的两个现实用途：手机钱包与“储备证明”</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积木二 · 默克尔树</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来源：白皮书 §7、§8；各交易所 2022 年后公布的储备证明（Proof of Reserves）方案</a:t>
            </a:r>
            <a:endParaRPr lang="en-US" sz="1000" dirty="0"/>
          </a:p>
        </p:txBody>
      </p:sp>
      <p:sp>
        <p:nvSpPr>
          <p:cNvPr id="6" name="Shape 3"/>
          <p:cNvSpPr/>
          <p:nvPr/>
        </p:nvSpPr>
        <p:spPr>
          <a:xfrm>
            <a:off x="457200" y="1417320"/>
            <a:ext cx="4023360" cy="3566160"/>
          </a:xfrm>
          <a:prstGeom prst="roundRect">
            <a:avLst>
              <a:gd name="adj" fmla="val 2051"/>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8" name="Image 0" descr="FaMobileAlt">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手机钱包（SPV）</a:t>
            </a:r>
            <a:endParaRPr lang="en-US" sz="1800" dirty="0"/>
          </a:p>
        </p:txBody>
      </p:sp>
      <p:sp>
        <p:nvSpPr>
          <p:cNvPr id="10" name="Text 6"/>
          <p:cNvSpPr txBox="1"/>
          <p:nvPr/>
        </p:nvSpPr>
        <p:spPr>
          <a:xfrm>
            <a:off x="640080" y="2578608"/>
            <a:ext cx="3657600" cy="2295144"/>
          </a:xfrm>
          <a:prstGeom prst="rect">
            <a:avLst/>
          </a:prstGeom>
          <a:noFill/>
          <a:ln/>
        </p:spPr>
        <p:txBody>
          <a:bodyPr wrap="square" lIns="0" tIns="0" rIns="0" bIns="0" rtlCol="0" anchor="t"/>
          <a:lstStyle/>
          <a:p>
            <a:pPr algn="l" indent="0" marL="0">
              <a:lnSpc>
                <a:spcPct val="105000"/>
              </a:lnSpc>
              <a:spcAft>
                <a:spcPts val="400"/>
              </a:spcAft>
              <a:buNone/>
            </a:pPr>
            <a:r>
              <a:rPr lang="en-US" sz="1500" dirty="0">
                <a:solidFill>
                  <a:schemeClr val="accent4"/>
                </a:solidFill>
              </a:rPr>
              <a:t>只下载区块头：80 字节/块，一年约 4.2 MB</a:t>
            </a:r>
            <a:endParaRPr lang="en-US" sz="1500" dirty="0"/>
          </a:p>
          <a:p>
            <a:pPr algn="l" indent="0" marL="0">
              <a:lnSpc>
                <a:spcPct val="105000"/>
              </a:lnSpc>
              <a:spcAft>
                <a:spcPts val="400"/>
              </a:spcAft>
              <a:buNone/>
            </a:pPr>
            <a:r>
              <a:rPr lang="en-US" sz="1500" dirty="0">
                <a:solidFill>
                  <a:schemeClr val="accent4"/>
                </a:solidFill>
              </a:rPr>
              <a:t>用默克尔证明确认某笔付款在某区块里</a:t>
            </a:r>
            <a:endParaRPr lang="en-US" sz="1500" dirty="0"/>
          </a:p>
          <a:p>
            <a:pPr algn="l" indent="0" marL="0">
              <a:lnSpc>
                <a:spcPct val="105000"/>
              </a:lnSpc>
              <a:buNone/>
            </a:pPr>
            <a:r>
              <a:rPr lang="en-US" sz="1500" dirty="0">
                <a:solidFill>
                  <a:schemeClr val="accent4"/>
                </a:solidFill>
              </a:rPr>
              <a:t>不必下载约 770 GB 的整条链</a:t>
            </a:r>
            <a:endParaRPr lang="en-US" sz="1500" dirty="0"/>
          </a:p>
        </p:txBody>
      </p:sp>
      <p:sp>
        <p:nvSpPr>
          <p:cNvPr id="11" name="Shape 7"/>
          <p:cNvSpPr/>
          <p:nvPr/>
        </p:nvSpPr>
        <p:spPr>
          <a:xfrm>
            <a:off x="4663440" y="1417320"/>
            <a:ext cx="4023360" cy="3566160"/>
          </a:xfrm>
          <a:prstGeom prst="roundRect">
            <a:avLst>
              <a:gd name="adj" fmla="val 2051"/>
            </a:avLst>
          </a:prstGeom>
          <a:solidFill>
            <a:schemeClr val="bg2"/>
          </a:solidFill>
          <a:ln w="12700">
            <a:solidFill>
              <a:schemeClr val="bg2">
                <a:alpha val="0"/>
              </a:schemeClr>
            </a:solidFill>
            <a:prstDash val="solid"/>
          </a:ln>
        </p:spPr>
      </p:sp>
      <p:sp>
        <p:nvSpPr>
          <p:cNvPr id="12" name="Shape 8"/>
          <p:cNvSpPr/>
          <p:nvPr/>
        </p:nvSpPr>
        <p:spPr>
          <a:xfrm>
            <a:off x="4846320" y="1581912"/>
            <a:ext cx="502920" cy="502920"/>
          </a:xfrm>
          <a:prstGeom prst="ellipse">
            <a:avLst/>
          </a:prstGeom>
          <a:solidFill>
            <a:schemeClr val="accent1"/>
          </a:solidFill>
          <a:ln w="12700">
            <a:solidFill>
              <a:schemeClr val="accent1">
                <a:alpha val="0"/>
              </a:schemeClr>
            </a:solidFill>
            <a:prstDash val="solid"/>
          </a:ln>
        </p:spPr>
      </p:sp>
      <p:pic>
        <p:nvPicPr>
          <p:cNvPr id="13" name="Image 1" descr="FaStamp">    </p:cNvPr>
          <p:cNvPicPr>
            <a:picLocks noChangeAspect="1"/>
          </p:cNvPicPr>
          <p:nvPr/>
        </p:nvPicPr>
        <p:blipFill>
          <a:blip r:embed="rId2"/>
          <a:stretch>
            <a:fillRect/>
          </a:stretch>
        </p:blipFill>
        <p:spPr>
          <a:xfrm>
            <a:off x="4956962" y="1692554"/>
            <a:ext cx="281635" cy="281635"/>
          </a:xfrm>
          <a:prstGeom prst="rect">
            <a:avLst/>
          </a:prstGeom>
        </p:spPr>
      </p:pic>
      <p:sp>
        <p:nvSpPr>
          <p:cNvPr id="14" name="Text 9"/>
          <p:cNvSpPr txBox="1"/>
          <p:nvPr/>
        </p:nvSpPr>
        <p:spPr>
          <a:xfrm>
            <a:off x="484632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交易所“储备证明”</a:t>
            </a:r>
            <a:endParaRPr lang="en-US" sz="1800" dirty="0"/>
          </a:p>
        </p:txBody>
      </p:sp>
      <p:sp>
        <p:nvSpPr>
          <p:cNvPr id="15" name="Text 10"/>
          <p:cNvSpPr txBox="1"/>
          <p:nvPr/>
        </p:nvSpPr>
        <p:spPr>
          <a:xfrm>
            <a:off x="4846320" y="2578608"/>
            <a:ext cx="3657600" cy="2295144"/>
          </a:xfrm>
          <a:prstGeom prst="rect">
            <a:avLst/>
          </a:prstGeom>
          <a:noFill/>
          <a:ln/>
        </p:spPr>
        <p:txBody>
          <a:bodyPr wrap="square" lIns="0" tIns="0" rIns="0" bIns="0" rtlCol="0" anchor="t"/>
          <a:lstStyle/>
          <a:p>
            <a:pPr algn="l" indent="0" marL="0">
              <a:lnSpc>
                <a:spcPct val="105000"/>
              </a:lnSpc>
              <a:spcAft>
                <a:spcPts val="400"/>
              </a:spcAft>
              <a:buNone/>
            </a:pPr>
            <a:r>
              <a:rPr lang="en-US" sz="1500" dirty="0">
                <a:solidFill>
                  <a:schemeClr val="accent4"/>
                </a:solidFill>
              </a:rPr>
              <a:t>把每个用户的余额放进默克尔树，公布根</a:t>
            </a:r>
            <a:endParaRPr lang="en-US" sz="1500" dirty="0"/>
          </a:p>
          <a:p>
            <a:pPr algn="l" indent="0" marL="0">
              <a:lnSpc>
                <a:spcPct val="105000"/>
              </a:lnSpc>
              <a:spcAft>
                <a:spcPts val="400"/>
              </a:spcAft>
              <a:buNone/>
            </a:pPr>
            <a:r>
              <a:rPr lang="en-US" sz="1500" dirty="0">
                <a:solidFill>
                  <a:schemeClr val="accent4"/>
                </a:solidFill>
              </a:rPr>
              <a:t>用户可验证“我的余额被计入了”</a:t>
            </a:r>
            <a:endParaRPr lang="en-US" sz="1500" dirty="0"/>
          </a:p>
          <a:p>
            <a:pPr algn="l" indent="0" marL="0">
              <a:lnSpc>
                <a:spcPct val="105000"/>
              </a:lnSpc>
              <a:buNone/>
            </a:pPr>
            <a:r>
              <a:rPr lang="en-US" sz="1500" dirty="0">
                <a:solidFill>
                  <a:schemeClr val="accent4"/>
                </a:solidFill>
              </a:rPr>
              <a:t>FTX 倒闭（2022-11）之后成为行业惯例</a:t>
            </a:r>
            <a:endParaRPr lang="en-US" sz="1500" dirty="0"/>
          </a:p>
        </p:txBody>
      </p:sp>
      <p:sp>
        <p:nvSpPr>
          <p:cNvPr id="16" name="Shape 11"/>
          <p:cNvSpPr/>
          <p:nvPr/>
        </p:nvSpPr>
        <p:spPr>
          <a:xfrm>
            <a:off x="457200" y="5166360"/>
            <a:ext cx="8229600" cy="868680"/>
          </a:xfrm>
          <a:prstGeom prst="roundRect">
            <a:avLst>
              <a:gd name="adj" fmla="val 8421"/>
            </a:avLst>
          </a:prstGeom>
          <a:solidFill>
            <a:schemeClr val="accent2">
              <a:alpha val="12000"/>
            </a:schemeClr>
          </a:solidFill>
          <a:ln w="12700">
            <a:solidFill>
              <a:schemeClr val="accent2">
                <a:alpha val="0"/>
              </a:schemeClr>
            </a:solidFill>
            <a:prstDash val="solid"/>
          </a:ln>
        </p:spPr>
      </p:sp>
      <p:pic>
        <p:nvPicPr>
          <p:cNvPr id="17" name="Image 2" descr="warn">    </p:cNvPr>
          <p:cNvPicPr>
            <a:picLocks noChangeAspect="1"/>
          </p:cNvPicPr>
          <p:nvPr/>
        </p:nvPicPr>
        <p:blipFill>
          <a:blip r:embed="rId3"/>
          <a:stretch>
            <a:fillRect/>
          </a:stretch>
        </p:blipFill>
        <p:spPr>
          <a:xfrm>
            <a:off x="640080" y="5408676"/>
            <a:ext cx="384048" cy="384048"/>
          </a:xfrm>
          <a:prstGeom prst="rect">
            <a:avLst/>
          </a:prstGeom>
        </p:spPr>
      </p:pic>
      <p:sp>
        <p:nvSpPr>
          <p:cNvPr id="18" name="Text 12"/>
          <p:cNvSpPr txBox="1"/>
          <p:nvPr/>
        </p:nvSpPr>
        <p:spPr>
          <a:xfrm>
            <a:off x="1188720" y="5239512"/>
            <a:ext cx="7315200" cy="7223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储备证明只能证明“负债里有你”，</a:t>
            </a:r>
            <a:pPr algn="l" indent="0" marL="0">
              <a:lnSpc>
                <a:spcPct val="105000"/>
              </a:lnSpc>
              <a:buNone/>
            </a:pPr>
            <a:r>
              <a:rPr lang="en-US" sz="1500" b="1" dirty="0">
                <a:solidFill>
                  <a:schemeClr val="tx1"/>
                </a:solidFill>
              </a:rPr>
              <a:t>不能单独证明没有隐藏负债、资产真实</a:t>
            </a:r>
            <a:pPr algn="l" indent="0" marL="0">
              <a:lnSpc>
                <a:spcPct val="105000"/>
              </a:lnSpc>
              <a:buNone/>
            </a:pPr>
            <a:r>
              <a:rPr lang="en-US" sz="1500" dirty="0">
                <a:solidFill>
                  <a:schemeClr val="tx1"/>
                </a:solidFill>
              </a:rPr>
              <a:t>——仍需独立审计。</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随堂小测：哈希与默克尔树</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随堂小测 · 积木二</a:t>
            </a:r>
            <a:endParaRPr lang="en-US" sz="1200" dirty="0"/>
          </a:p>
        </p:txBody>
      </p:sp>
      <p:sp>
        <p:nvSpPr>
          <p:cNvPr id="5" name="Shape 2"/>
          <p:cNvSpPr/>
          <p:nvPr/>
        </p:nvSpPr>
        <p:spPr>
          <a:xfrm>
            <a:off x="457200" y="1371600"/>
            <a:ext cx="8229600" cy="1417320"/>
          </a:xfrm>
          <a:prstGeom prst="roundRect">
            <a:avLst>
              <a:gd name="adj" fmla="val 5161"/>
            </a:avLst>
          </a:prstGeom>
          <a:solidFill>
            <a:schemeClr val="bg2"/>
          </a:solidFill>
          <a:ln w="12700">
            <a:solidFill>
              <a:schemeClr val="bg2">
                <a:alpha val="0"/>
              </a:schemeClr>
            </a:solidFill>
            <a:prstDash val="solid"/>
          </a:ln>
        </p:spPr>
      </p:sp>
      <p:sp>
        <p:nvSpPr>
          <p:cNvPr id="6" name="Shape 3"/>
          <p:cNvSpPr/>
          <p:nvPr/>
        </p:nvSpPr>
        <p:spPr>
          <a:xfrm>
            <a:off x="640080" y="1796796"/>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79679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哈希为什么不是“加密”？</a:t>
            </a:r>
            <a:endParaRPr lang="en-US" sz="1500" dirty="0"/>
          </a:p>
        </p:txBody>
      </p:sp>
      <p:sp>
        <p:nvSpPr>
          <p:cNvPr id="9" name="Shape 6"/>
          <p:cNvSpPr/>
          <p:nvPr/>
        </p:nvSpPr>
        <p:spPr>
          <a:xfrm>
            <a:off x="7772400" y="1897380"/>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897380"/>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1" name="Shape 8"/>
          <p:cNvSpPr/>
          <p:nvPr/>
        </p:nvSpPr>
        <p:spPr>
          <a:xfrm>
            <a:off x="457200" y="2898648"/>
            <a:ext cx="8229600" cy="1417320"/>
          </a:xfrm>
          <a:prstGeom prst="roundRect">
            <a:avLst>
              <a:gd name="adj" fmla="val 5161"/>
            </a:avLst>
          </a:prstGeom>
          <a:solidFill>
            <a:schemeClr val="bg2"/>
          </a:solidFill>
          <a:ln w="12700">
            <a:solidFill>
              <a:schemeClr val="bg2">
                <a:alpha val="0"/>
              </a:schemeClr>
            </a:solidFill>
            <a:prstDash val="solid"/>
          </a:ln>
        </p:spPr>
      </p:sp>
      <p:sp>
        <p:nvSpPr>
          <p:cNvPr id="12" name="Shape 9"/>
          <p:cNvSpPr/>
          <p:nvPr/>
        </p:nvSpPr>
        <p:spPr>
          <a:xfrm>
            <a:off x="640080" y="3323844"/>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332384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971800"/>
            <a:ext cx="6126480" cy="1271016"/>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默克尔树里有 1024 笔交易，证明其中一笔需要提供多少个哈希？</a:t>
            </a:r>
            <a:endParaRPr lang="en-US" sz="1500" dirty="0"/>
          </a:p>
          <a:p>
            <a:pPr algn="l" indent="0" marL="0">
              <a:lnSpc>
                <a:spcPct val="105000"/>
              </a:lnSpc>
              <a:buNone/>
            </a:pPr>
            <a:r>
              <a:rPr lang="en-US" sz="1400" dirty="0">
                <a:solidFill>
                  <a:schemeClr val="accent4"/>
                </a:solidFill>
              </a:rPr>
              <a:t>A 10　B 32　C 512　D 1024</a:t>
            </a:r>
            <a:endParaRPr lang="en-US" sz="1500" dirty="0"/>
          </a:p>
        </p:txBody>
      </p:sp>
      <p:sp>
        <p:nvSpPr>
          <p:cNvPr id="15" name="Shape 12"/>
          <p:cNvSpPr/>
          <p:nvPr/>
        </p:nvSpPr>
        <p:spPr>
          <a:xfrm>
            <a:off x="7772400" y="3424428"/>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342442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17" name="Shape 14"/>
          <p:cNvSpPr/>
          <p:nvPr/>
        </p:nvSpPr>
        <p:spPr>
          <a:xfrm>
            <a:off x="457200" y="4425696"/>
            <a:ext cx="8229600" cy="1417320"/>
          </a:xfrm>
          <a:prstGeom prst="roundRect">
            <a:avLst>
              <a:gd name="adj" fmla="val 5161"/>
            </a:avLst>
          </a:prstGeom>
          <a:solidFill>
            <a:schemeClr val="bg2"/>
          </a:solidFill>
          <a:ln w="12700">
            <a:solidFill>
              <a:schemeClr val="bg2">
                <a:alpha val="0"/>
              </a:schemeClr>
            </a:solidFill>
            <a:prstDash val="solid"/>
          </a:ln>
        </p:spPr>
      </p:sp>
      <p:sp>
        <p:nvSpPr>
          <p:cNvPr id="18" name="Shape 15"/>
          <p:cNvSpPr/>
          <p:nvPr/>
        </p:nvSpPr>
        <p:spPr>
          <a:xfrm>
            <a:off x="640080" y="485089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85089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4498848"/>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改动区块里的一笔交易，哪些哈希会随之改变？</a:t>
            </a:r>
            <a:endParaRPr lang="en-US" sz="1500" dirty="0"/>
          </a:p>
        </p:txBody>
      </p:sp>
      <p:sp>
        <p:nvSpPr>
          <p:cNvPr id="21" name="Shape 18"/>
          <p:cNvSpPr/>
          <p:nvPr/>
        </p:nvSpPr>
        <p:spPr>
          <a:xfrm>
            <a:off x="7772400" y="495147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95147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04</a:t>
            </a:r>
            <a:endParaRPr lang="en-US" sz="9600" dirty="0"/>
          </a:p>
        </p:txBody>
      </p:sp>
      <p:pic>
        <p:nvPicPr>
          <p:cNvPr id="3" name="Image 0" descr="FaDatabase">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积木三：分布式账本与区块链</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没有记账员，怎样让所有人“看到同一本账”？</a:t>
            </a:r>
            <a:endParaRPr lang="en-US" sz="2000" dirty="0"/>
          </a:p>
        </p:txBody>
      </p:sp>
      <p:sp>
        <p:nvSpPr>
          <p:cNvPr id="6"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300" dirty="0">
                <a:solidFill>
                  <a:schemeClr val="accent5"/>
                </a:solidFill>
              </a:rPr>
              <a:t>这一部分回答支付系统的哪个要求？</a:t>
            </a:r>
            <a:endParaRPr lang="en-US" sz="1300" dirty="0"/>
          </a:p>
        </p:txBody>
      </p:sp>
      <p:sp>
        <p:nvSpPr>
          <p:cNvPr id="7" name="Shape 4"/>
          <p:cNvSpPr/>
          <p:nvPr/>
        </p:nvSpPr>
        <p:spPr>
          <a:xfrm>
            <a:off x="457200" y="5120640"/>
            <a:ext cx="4023360" cy="384048"/>
          </a:xfrm>
          <a:prstGeom prst="roundRect">
            <a:avLst>
              <a:gd name="adj" fmla="val 50000"/>
            </a:avLst>
          </a:prstGeom>
          <a:solidFill>
            <a:schemeClr val="tx2"/>
          </a:solidFill>
          <a:ln w="12700">
            <a:solidFill>
              <a:schemeClr val="tx2">
                <a:alpha val="0"/>
              </a:schemeClr>
            </a:solidFill>
            <a:prstDash val="solid"/>
          </a:ln>
        </p:spPr>
      </p:sp>
      <p:sp>
        <p:nvSpPr>
          <p:cNvPr id="8" name="Text 5"/>
          <p:cNvSpPr txBox="1"/>
          <p:nvPr/>
        </p:nvSpPr>
        <p:spPr>
          <a:xfrm>
            <a:off x="457200" y="512064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① 识别交易双方</a:t>
            </a:r>
            <a:endParaRPr lang="en-US" sz="1300" dirty="0"/>
          </a:p>
        </p:txBody>
      </p:sp>
      <p:sp>
        <p:nvSpPr>
          <p:cNvPr id="9" name="Shape 6"/>
          <p:cNvSpPr/>
          <p:nvPr/>
        </p:nvSpPr>
        <p:spPr>
          <a:xfrm>
            <a:off x="4617720" y="512064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0" name="Text 7"/>
          <p:cNvSpPr txBox="1"/>
          <p:nvPr/>
        </p:nvSpPr>
        <p:spPr>
          <a:xfrm>
            <a:off x="4617720" y="512064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② 便捷促成并验证交易</a:t>
            </a:r>
            <a:endParaRPr lang="en-US" sz="1300" dirty="0"/>
          </a:p>
        </p:txBody>
      </p:sp>
      <p:sp>
        <p:nvSpPr>
          <p:cNvPr id="11" name="Shape 8"/>
          <p:cNvSpPr/>
          <p:nvPr/>
        </p:nvSpPr>
        <p:spPr>
          <a:xfrm>
            <a:off x="45720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2" name="Text 9"/>
          <p:cNvSpPr txBox="1"/>
          <p:nvPr/>
        </p:nvSpPr>
        <p:spPr>
          <a:xfrm>
            <a:off x="45720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③ 记录可验证、不可更改</a:t>
            </a:r>
            <a:endParaRPr lang="en-US" sz="1300" dirty="0"/>
          </a:p>
        </p:txBody>
      </p:sp>
      <p:sp>
        <p:nvSpPr>
          <p:cNvPr id="13" name="Shape 10"/>
          <p:cNvSpPr/>
          <p:nvPr/>
        </p:nvSpPr>
        <p:spPr>
          <a:xfrm>
            <a:off x="461772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4" name="Text 11"/>
          <p:cNvSpPr txBox="1"/>
          <p:nvPr/>
        </p:nvSpPr>
        <p:spPr>
          <a:xfrm>
            <a:off x="461772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④ 防止同一单位货币重复使用</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雅浦岛的石币：账本比实物更重要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账本</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来源：Milton Friedman (1991), The Island of Stone Money；Prasad (2021)</a:t>
            </a:r>
            <a:endParaRPr lang="en-US" sz="1000" dirty="0"/>
          </a:p>
        </p:txBody>
      </p:sp>
      <p:sp>
        <p:nvSpPr>
          <p:cNvPr id="6" name="Shape 3"/>
          <p:cNvSpPr/>
          <p:nvPr/>
        </p:nvSpPr>
        <p:spPr>
          <a:xfrm>
            <a:off x="1371600" y="1508760"/>
            <a:ext cx="1371600" cy="1371600"/>
          </a:xfrm>
          <a:prstGeom prst="ellipse">
            <a:avLst/>
          </a:prstGeom>
          <a:solidFill>
            <a:schemeClr val="accent1"/>
          </a:solidFill>
          <a:ln w="12700">
            <a:solidFill>
              <a:schemeClr val="accent1">
                <a:alpha val="0"/>
              </a:schemeClr>
            </a:solidFill>
            <a:prstDash val="solid"/>
          </a:ln>
        </p:spPr>
      </p:sp>
      <p:pic>
        <p:nvPicPr>
          <p:cNvPr id="7" name="Image 0" descr="coins">    </p:cNvPr>
          <p:cNvPicPr>
            <a:picLocks noChangeAspect="1"/>
          </p:cNvPicPr>
          <p:nvPr/>
        </p:nvPicPr>
        <p:blipFill>
          <a:blip r:embed="rId1"/>
          <a:stretch>
            <a:fillRect/>
          </a:stretch>
        </p:blipFill>
        <p:spPr>
          <a:xfrm>
            <a:off x="1737360" y="1874520"/>
            <a:ext cx="640080" cy="640080"/>
          </a:xfrm>
          <a:prstGeom prst="rect">
            <a:avLst/>
          </a:prstGeom>
        </p:spPr>
      </p:pic>
      <p:sp>
        <p:nvSpPr>
          <p:cNvPr id="8" name="Text 4"/>
          <p:cNvSpPr txBox="1"/>
          <p:nvPr/>
        </p:nvSpPr>
        <p:spPr>
          <a:xfrm>
            <a:off x="457200" y="3108960"/>
            <a:ext cx="4023360" cy="2926080"/>
          </a:xfrm>
          <a:prstGeom prst="rect">
            <a:avLst/>
          </a:prstGeom>
          <a:noFill/>
          <a:ln/>
        </p:spPr>
        <p:txBody>
          <a:bodyPr wrap="square" lIns="0" tIns="0" rIns="0" bIns="0" rtlCol="0" anchor="t"/>
          <a:lstStyle/>
          <a:p>
            <a:pPr algn="l" marL="254000" indent="-254000">
              <a:lnSpc>
                <a:spcPct val="105000"/>
              </a:lnSpc>
              <a:spcAft>
                <a:spcPts val="1000"/>
              </a:spcAft>
              <a:buSzPct val="100000"/>
              <a:buChar char="•"/>
            </a:pPr>
            <a:r>
              <a:rPr lang="en-US" sz="1600" dirty="0">
                <a:solidFill>
                  <a:schemeClr val="tx1"/>
                </a:solidFill>
              </a:rPr>
              <a:t>石币大得搬不动：交易后</a:t>
            </a:r>
            <a:pPr algn="l" marL="254000" indent="-254000">
              <a:lnSpc>
                <a:spcPct val="105000"/>
              </a:lnSpc>
              <a:spcAft>
                <a:spcPts val="1000"/>
              </a:spcAft>
              <a:buSzPct val="100000"/>
              <a:buChar char="•"/>
            </a:pPr>
            <a:r>
              <a:rPr lang="en-US" sz="1600" b="1" dirty="0">
                <a:solidFill>
                  <a:schemeClr val="tx1"/>
                </a:solidFill>
              </a:rPr>
              <a:t>原地不动，只更换“主人”</a:t>
            </a:r>
            <a:endParaRPr lang="en-US" sz="1600" dirty="0"/>
          </a:p>
          <a:p>
            <a:pPr algn="l" marL="254000" indent="-254000">
              <a:lnSpc>
                <a:spcPct val="105000"/>
              </a:lnSpc>
              <a:spcAft>
                <a:spcPts val="1000"/>
              </a:spcAft>
              <a:buSzPct val="100000"/>
              <a:buChar char="•"/>
            </a:pPr>
            <a:r>
              <a:rPr lang="en-US" sz="1600" dirty="0">
                <a:solidFill>
                  <a:schemeClr val="tx1"/>
                </a:solidFill>
              </a:rPr>
              <a:t>所有权靠</a:t>
            </a:r>
            <a:pPr algn="l" marL="254000" indent="-254000">
              <a:lnSpc>
                <a:spcPct val="105000"/>
              </a:lnSpc>
              <a:spcAft>
                <a:spcPts val="1000"/>
              </a:spcAft>
              <a:buSzPct val="100000"/>
              <a:buChar char="•"/>
            </a:pPr>
            <a:r>
              <a:rPr lang="en-US" sz="1600" b="1" dirty="0">
                <a:solidFill>
                  <a:schemeClr val="tx1"/>
                </a:solidFill>
              </a:rPr>
              <a:t>全社区共同记忆</a:t>
            </a:r>
            <a:pPr algn="l" marL="254000" indent="-254000">
              <a:lnSpc>
                <a:spcPct val="105000"/>
              </a:lnSpc>
              <a:spcAft>
                <a:spcPts val="1000"/>
              </a:spcAft>
              <a:buSzPct val="100000"/>
              <a:buChar char="•"/>
            </a:pPr>
            <a:r>
              <a:rPr lang="en-US" sz="1600" dirty="0">
                <a:solidFill>
                  <a:schemeClr val="tx1"/>
                </a:solidFill>
              </a:rPr>
              <a:t>：交易当众宣布，大家各自记下</a:t>
            </a:r>
            <a:endParaRPr lang="en-US" sz="1600" dirty="0"/>
          </a:p>
          <a:p>
            <a:pPr algn="l" marL="254000" indent="-254000">
              <a:lnSpc>
                <a:spcPct val="105000"/>
              </a:lnSpc>
              <a:buSzPct val="100000"/>
              <a:buChar char="•"/>
            </a:pPr>
            <a:r>
              <a:rPr lang="en-US" sz="1600" dirty="0">
                <a:solidFill>
                  <a:schemeClr val="tx1"/>
                </a:solidFill>
              </a:rPr>
              <a:t>传说一块石币沉入海底，仍被认为属于原主人</a:t>
            </a:r>
            <a:endParaRPr lang="en-US" sz="1600" dirty="0"/>
          </a:p>
        </p:txBody>
      </p:sp>
      <p:sp>
        <p:nvSpPr>
          <p:cNvPr id="9" name="Shape 5"/>
          <p:cNvSpPr/>
          <p:nvPr/>
        </p:nvSpPr>
        <p:spPr>
          <a:xfrm>
            <a:off x="4709160" y="1417320"/>
            <a:ext cx="3977640" cy="841248"/>
          </a:xfrm>
          <a:prstGeom prst="roundRect">
            <a:avLst>
              <a:gd name="adj" fmla="val 8696"/>
            </a:avLst>
          </a:prstGeom>
          <a:solidFill>
            <a:schemeClr val="bg2"/>
          </a:solidFill>
          <a:ln w="12700">
            <a:solidFill>
              <a:schemeClr val="bg2">
                <a:alpha val="0"/>
              </a:schemeClr>
            </a:solidFill>
            <a:prstDash val="solid"/>
          </a:ln>
        </p:spPr>
      </p:sp>
      <p:sp>
        <p:nvSpPr>
          <p:cNvPr id="10" name="Text 6"/>
          <p:cNvSpPr txBox="1"/>
          <p:nvPr/>
        </p:nvSpPr>
        <p:spPr>
          <a:xfrm>
            <a:off x="4846320" y="1463040"/>
            <a:ext cx="3703320" cy="749808"/>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accent6"/>
                </a:solidFill>
              </a:rPr>
              <a:t>可用性</a:t>
            </a:r>
            <a:endParaRPr lang="en-US" sz="1400" dirty="0"/>
          </a:p>
          <a:p>
            <a:pPr algn="l" indent="0" marL="0">
              <a:lnSpc>
                <a:spcPct val="105000"/>
              </a:lnSpc>
              <a:buNone/>
            </a:pPr>
            <a:r>
              <a:rPr lang="en-US" sz="1400" dirty="0">
                <a:solidFill>
                  <a:schemeClr val="accent4"/>
                </a:solidFill>
              </a:rPr>
              <a:t>任意一群成员都能确认交易，不靠单一记录人</a:t>
            </a:r>
            <a:endParaRPr lang="en-US" sz="1400" dirty="0"/>
          </a:p>
        </p:txBody>
      </p:sp>
      <p:sp>
        <p:nvSpPr>
          <p:cNvPr id="11" name="Shape 7"/>
          <p:cNvSpPr/>
          <p:nvPr/>
        </p:nvSpPr>
        <p:spPr>
          <a:xfrm>
            <a:off x="4709160" y="2359152"/>
            <a:ext cx="3977640" cy="841248"/>
          </a:xfrm>
          <a:prstGeom prst="roundRect">
            <a:avLst>
              <a:gd name="adj" fmla="val 8696"/>
            </a:avLst>
          </a:prstGeom>
          <a:solidFill>
            <a:schemeClr val="bg2"/>
          </a:solidFill>
          <a:ln w="12700">
            <a:solidFill>
              <a:schemeClr val="bg2">
                <a:alpha val="0"/>
              </a:schemeClr>
            </a:solidFill>
            <a:prstDash val="solid"/>
          </a:ln>
        </p:spPr>
      </p:sp>
      <p:sp>
        <p:nvSpPr>
          <p:cNvPr id="12" name="Text 8"/>
          <p:cNvSpPr txBox="1"/>
          <p:nvPr/>
        </p:nvSpPr>
        <p:spPr>
          <a:xfrm>
            <a:off x="4846320" y="2404872"/>
            <a:ext cx="3703320" cy="749808"/>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accent6"/>
                </a:solidFill>
              </a:rPr>
              <a:t>冗余性</a:t>
            </a:r>
            <a:endParaRPr lang="en-US" sz="1400" dirty="0"/>
          </a:p>
          <a:p>
            <a:pPr algn="l" indent="0" marL="0">
              <a:lnSpc>
                <a:spcPct val="105000"/>
              </a:lnSpc>
              <a:buNone/>
            </a:pPr>
            <a:r>
              <a:rPr lang="en-US" sz="1400" dirty="0">
                <a:solidFill>
                  <a:schemeClr val="accent4"/>
                </a:solidFill>
              </a:rPr>
              <a:t>有人去世或消失，其他人仍知道谁拥有什么</a:t>
            </a:r>
            <a:endParaRPr lang="en-US" sz="1400" dirty="0"/>
          </a:p>
        </p:txBody>
      </p:sp>
      <p:sp>
        <p:nvSpPr>
          <p:cNvPr id="13" name="Shape 9"/>
          <p:cNvSpPr/>
          <p:nvPr/>
        </p:nvSpPr>
        <p:spPr>
          <a:xfrm>
            <a:off x="4709160" y="3300984"/>
            <a:ext cx="3977640" cy="841248"/>
          </a:xfrm>
          <a:prstGeom prst="roundRect">
            <a:avLst>
              <a:gd name="adj" fmla="val 8696"/>
            </a:avLst>
          </a:prstGeom>
          <a:solidFill>
            <a:schemeClr val="bg2"/>
          </a:solidFill>
          <a:ln w="12700">
            <a:solidFill>
              <a:schemeClr val="bg2">
                <a:alpha val="0"/>
              </a:schemeClr>
            </a:solidFill>
            <a:prstDash val="solid"/>
          </a:ln>
        </p:spPr>
      </p:sp>
      <p:sp>
        <p:nvSpPr>
          <p:cNvPr id="14" name="Text 10"/>
          <p:cNvSpPr txBox="1"/>
          <p:nvPr/>
        </p:nvSpPr>
        <p:spPr>
          <a:xfrm>
            <a:off x="4846320" y="3346704"/>
            <a:ext cx="3703320" cy="749808"/>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accent6"/>
                </a:solidFill>
              </a:rPr>
              <a:t>容错性</a:t>
            </a:r>
            <a:endParaRPr lang="en-US" sz="1400" dirty="0"/>
          </a:p>
          <a:p>
            <a:pPr algn="l" indent="0" marL="0">
              <a:lnSpc>
                <a:spcPct val="105000"/>
              </a:lnSpc>
              <a:buNone/>
            </a:pPr>
            <a:r>
              <a:rPr lang="en-US" sz="1400" dirty="0">
                <a:solidFill>
                  <a:schemeClr val="accent4"/>
                </a:solidFill>
              </a:rPr>
              <a:t>有人记错了，别人可以纠正</a:t>
            </a:r>
            <a:endParaRPr lang="en-US" sz="1400" dirty="0"/>
          </a:p>
        </p:txBody>
      </p:sp>
      <p:sp>
        <p:nvSpPr>
          <p:cNvPr id="15" name="Shape 11"/>
          <p:cNvSpPr/>
          <p:nvPr/>
        </p:nvSpPr>
        <p:spPr>
          <a:xfrm>
            <a:off x="4709160" y="4242816"/>
            <a:ext cx="3977640" cy="841248"/>
          </a:xfrm>
          <a:prstGeom prst="roundRect">
            <a:avLst>
              <a:gd name="adj" fmla="val 8696"/>
            </a:avLst>
          </a:prstGeom>
          <a:solidFill>
            <a:schemeClr val="bg2"/>
          </a:solidFill>
          <a:ln w="12700">
            <a:solidFill>
              <a:schemeClr val="bg2">
                <a:alpha val="0"/>
              </a:schemeClr>
            </a:solidFill>
            <a:prstDash val="solid"/>
          </a:ln>
        </p:spPr>
      </p:sp>
      <p:sp>
        <p:nvSpPr>
          <p:cNvPr id="16" name="Text 12"/>
          <p:cNvSpPr txBox="1"/>
          <p:nvPr/>
        </p:nvSpPr>
        <p:spPr>
          <a:xfrm>
            <a:off x="4846320" y="4288536"/>
            <a:ext cx="3703320" cy="749808"/>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accent6"/>
                </a:solidFill>
              </a:rPr>
              <a:t>安全性</a:t>
            </a:r>
            <a:endParaRPr lang="en-US" sz="1400" dirty="0"/>
          </a:p>
          <a:p>
            <a:pPr algn="l" indent="0" marL="0">
              <a:lnSpc>
                <a:spcPct val="105000"/>
              </a:lnSpc>
              <a:buNone/>
            </a:pPr>
            <a:r>
              <a:rPr lang="en-US" sz="1400" dirty="0">
                <a:solidFill>
                  <a:schemeClr val="accent4"/>
                </a:solidFill>
              </a:rPr>
              <a:t>得收买过半成员，远比收买一个记账员难</a:t>
            </a:r>
            <a:endParaRPr lang="en-US" sz="1400" dirty="0"/>
          </a:p>
        </p:txBody>
      </p:sp>
      <p:sp>
        <p:nvSpPr>
          <p:cNvPr id="17" name="Shape 13"/>
          <p:cNvSpPr/>
          <p:nvPr/>
        </p:nvSpPr>
        <p:spPr>
          <a:xfrm>
            <a:off x="4709160" y="5184648"/>
            <a:ext cx="3977640" cy="841248"/>
          </a:xfrm>
          <a:prstGeom prst="roundRect">
            <a:avLst>
              <a:gd name="adj" fmla="val 8696"/>
            </a:avLst>
          </a:prstGeom>
          <a:solidFill>
            <a:schemeClr val="bg2"/>
          </a:solidFill>
          <a:ln w="12700">
            <a:solidFill>
              <a:schemeClr val="bg2">
                <a:alpha val="0"/>
              </a:schemeClr>
            </a:solidFill>
            <a:prstDash val="solid"/>
          </a:ln>
        </p:spPr>
      </p:sp>
      <p:sp>
        <p:nvSpPr>
          <p:cNvPr id="18" name="Text 14"/>
          <p:cNvSpPr txBox="1"/>
          <p:nvPr/>
        </p:nvSpPr>
        <p:spPr>
          <a:xfrm>
            <a:off x="4846320" y="5230368"/>
            <a:ext cx="3703320" cy="749808"/>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accent6"/>
                </a:solidFill>
              </a:rPr>
              <a:t>透明性</a:t>
            </a:r>
            <a:endParaRPr lang="en-US" sz="1400" dirty="0"/>
          </a:p>
          <a:p>
            <a:pPr algn="l" indent="0" marL="0">
              <a:lnSpc>
                <a:spcPct val="105000"/>
              </a:lnSpc>
              <a:buNone/>
            </a:pPr>
            <a:r>
              <a:rPr lang="en-US" sz="1400" dirty="0">
                <a:solidFill>
                  <a:schemeClr val="accent4"/>
                </a:solidFill>
              </a:rPr>
              <a:t>每个人都知道谁拥有什么</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分布式账本：多份相同的账，没有中心记账员</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账本</a:t>
            </a:r>
            <a:endParaRPr lang="en-US" sz="1200" dirty="0"/>
          </a:p>
        </p:txBody>
      </p:sp>
      <p:sp>
        <p:nvSpPr>
          <p:cNvPr id="5" name="Shape 2"/>
          <p:cNvSpPr/>
          <p:nvPr/>
        </p:nvSpPr>
        <p:spPr>
          <a:xfrm>
            <a:off x="2377440" y="1920240"/>
            <a:ext cx="1108651" cy="640080"/>
          </a:xfrm>
          <a:prstGeom prst="line">
            <a:avLst/>
          </a:prstGeom>
          <a:noFill/>
          <a:ln w="12700">
            <a:solidFill>
              <a:schemeClr val="accent5"/>
            </a:solidFill>
            <a:prstDash val="solid"/>
          </a:ln>
        </p:spPr>
      </p:sp>
      <p:sp>
        <p:nvSpPr>
          <p:cNvPr id="6" name="Shape 3"/>
          <p:cNvSpPr/>
          <p:nvPr/>
        </p:nvSpPr>
        <p:spPr>
          <a:xfrm>
            <a:off x="2377440" y="1920240"/>
            <a:ext cx="1108651" cy="1920240"/>
          </a:xfrm>
          <a:prstGeom prst="line">
            <a:avLst/>
          </a:prstGeom>
          <a:noFill/>
          <a:ln w="12700">
            <a:solidFill>
              <a:schemeClr val="accent5"/>
            </a:solidFill>
            <a:prstDash val="solid"/>
          </a:ln>
        </p:spPr>
      </p:sp>
      <p:sp>
        <p:nvSpPr>
          <p:cNvPr id="7" name="Shape 4"/>
          <p:cNvSpPr/>
          <p:nvPr/>
        </p:nvSpPr>
        <p:spPr>
          <a:xfrm>
            <a:off x="2377440" y="1920240"/>
            <a:ext cx="0" cy="2560320"/>
          </a:xfrm>
          <a:prstGeom prst="line">
            <a:avLst/>
          </a:prstGeom>
          <a:noFill/>
          <a:ln w="12700">
            <a:solidFill>
              <a:schemeClr val="accent5"/>
            </a:solidFill>
            <a:prstDash val="solid"/>
          </a:ln>
        </p:spPr>
      </p:sp>
      <p:sp>
        <p:nvSpPr>
          <p:cNvPr id="8" name="Shape 5"/>
          <p:cNvSpPr/>
          <p:nvPr/>
        </p:nvSpPr>
        <p:spPr>
          <a:xfrm flipH="1">
            <a:off x="1268789" y="1920240"/>
            <a:ext cx="1108651" cy="1920240"/>
          </a:xfrm>
          <a:prstGeom prst="line">
            <a:avLst/>
          </a:prstGeom>
          <a:noFill/>
          <a:ln w="12700">
            <a:solidFill>
              <a:schemeClr val="accent5"/>
            </a:solidFill>
            <a:prstDash val="solid"/>
          </a:ln>
        </p:spPr>
      </p:sp>
      <p:sp>
        <p:nvSpPr>
          <p:cNvPr id="9" name="Shape 6"/>
          <p:cNvSpPr/>
          <p:nvPr/>
        </p:nvSpPr>
        <p:spPr>
          <a:xfrm flipH="1">
            <a:off x="1268789" y="1920240"/>
            <a:ext cx="1108651" cy="640080"/>
          </a:xfrm>
          <a:prstGeom prst="line">
            <a:avLst/>
          </a:prstGeom>
          <a:noFill/>
          <a:ln w="12700">
            <a:solidFill>
              <a:schemeClr val="accent5"/>
            </a:solidFill>
            <a:prstDash val="solid"/>
          </a:ln>
        </p:spPr>
      </p:sp>
      <p:sp>
        <p:nvSpPr>
          <p:cNvPr id="10" name="Shape 7"/>
          <p:cNvSpPr/>
          <p:nvPr/>
        </p:nvSpPr>
        <p:spPr>
          <a:xfrm>
            <a:off x="3486091" y="2560320"/>
            <a:ext cx="0" cy="1280160"/>
          </a:xfrm>
          <a:prstGeom prst="line">
            <a:avLst/>
          </a:prstGeom>
          <a:noFill/>
          <a:ln w="12700">
            <a:solidFill>
              <a:schemeClr val="accent5"/>
            </a:solidFill>
            <a:prstDash val="solid"/>
          </a:ln>
        </p:spPr>
      </p:sp>
      <p:sp>
        <p:nvSpPr>
          <p:cNvPr id="11" name="Shape 8"/>
          <p:cNvSpPr/>
          <p:nvPr/>
        </p:nvSpPr>
        <p:spPr>
          <a:xfrm flipH="1">
            <a:off x="2377440" y="2560320"/>
            <a:ext cx="1108651" cy="1920240"/>
          </a:xfrm>
          <a:prstGeom prst="line">
            <a:avLst/>
          </a:prstGeom>
          <a:noFill/>
          <a:ln w="12700">
            <a:solidFill>
              <a:schemeClr val="accent5"/>
            </a:solidFill>
            <a:prstDash val="solid"/>
          </a:ln>
        </p:spPr>
      </p:sp>
      <p:sp>
        <p:nvSpPr>
          <p:cNvPr id="12" name="Shape 9"/>
          <p:cNvSpPr/>
          <p:nvPr/>
        </p:nvSpPr>
        <p:spPr>
          <a:xfrm flipH="1">
            <a:off x="1268789" y="2560320"/>
            <a:ext cx="2217302" cy="1280160"/>
          </a:xfrm>
          <a:prstGeom prst="line">
            <a:avLst/>
          </a:prstGeom>
          <a:noFill/>
          <a:ln w="12700">
            <a:solidFill>
              <a:schemeClr val="accent5"/>
            </a:solidFill>
            <a:prstDash val="solid"/>
          </a:ln>
        </p:spPr>
      </p:sp>
      <p:sp>
        <p:nvSpPr>
          <p:cNvPr id="13" name="Shape 10"/>
          <p:cNvSpPr/>
          <p:nvPr/>
        </p:nvSpPr>
        <p:spPr>
          <a:xfrm flipH="1">
            <a:off x="1268789" y="2560320"/>
            <a:ext cx="2217302" cy="0"/>
          </a:xfrm>
          <a:prstGeom prst="line">
            <a:avLst/>
          </a:prstGeom>
          <a:noFill/>
          <a:ln w="12700">
            <a:solidFill>
              <a:schemeClr val="accent5"/>
            </a:solidFill>
            <a:prstDash val="solid"/>
          </a:ln>
        </p:spPr>
      </p:sp>
      <p:sp>
        <p:nvSpPr>
          <p:cNvPr id="14" name="Shape 11"/>
          <p:cNvSpPr/>
          <p:nvPr/>
        </p:nvSpPr>
        <p:spPr>
          <a:xfrm flipH="1">
            <a:off x="2377440" y="3840480"/>
            <a:ext cx="1108651" cy="640080"/>
          </a:xfrm>
          <a:prstGeom prst="line">
            <a:avLst/>
          </a:prstGeom>
          <a:noFill/>
          <a:ln w="12700">
            <a:solidFill>
              <a:schemeClr val="accent5"/>
            </a:solidFill>
            <a:prstDash val="solid"/>
          </a:ln>
        </p:spPr>
      </p:sp>
      <p:sp>
        <p:nvSpPr>
          <p:cNvPr id="15" name="Shape 12"/>
          <p:cNvSpPr/>
          <p:nvPr/>
        </p:nvSpPr>
        <p:spPr>
          <a:xfrm flipH="1">
            <a:off x="1268789" y="3840480"/>
            <a:ext cx="2217302" cy="0"/>
          </a:xfrm>
          <a:prstGeom prst="line">
            <a:avLst/>
          </a:prstGeom>
          <a:noFill/>
          <a:ln w="12700">
            <a:solidFill>
              <a:schemeClr val="accent5"/>
            </a:solidFill>
            <a:prstDash val="solid"/>
          </a:ln>
        </p:spPr>
      </p:sp>
      <p:sp>
        <p:nvSpPr>
          <p:cNvPr id="16" name="Shape 13"/>
          <p:cNvSpPr/>
          <p:nvPr/>
        </p:nvSpPr>
        <p:spPr>
          <a:xfrm flipH="1" flipV="1">
            <a:off x="1268789" y="2560320"/>
            <a:ext cx="2217302" cy="1280160"/>
          </a:xfrm>
          <a:prstGeom prst="line">
            <a:avLst/>
          </a:prstGeom>
          <a:noFill/>
          <a:ln w="12700">
            <a:solidFill>
              <a:schemeClr val="accent5"/>
            </a:solidFill>
            <a:prstDash val="solid"/>
          </a:ln>
        </p:spPr>
      </p:sp>
      <p:sp>
        <p:nvSpPr>
          <p:cNvPr id="17" name="Shape 14"/>
          <p:cNvSpPr/>
          <p:nvPr/>
        </p:nvSpPr>
        <p:spPr>
          <a:xfrm flipH="1" flipV="1">
            <a:off x="1268789" y="3840480"/>
            <a:ext cx="1108651" cy="640080"/>
          </a:xfrm>
          <a:prstGeom prst="line">
            <a:avLst/>
          </a:prstGeom>
          <a:noFill/>
          <a:ln w="12700">
            <a:solidFill>
              <a:schemeClr val="accent5"/>
            </a:solidFill>
            <a:prstDash val="solid"/>
          </a:ln>
        </p:spPr>
      </p:sp>
      <p:sp>
        <p:nvSpPr>
          <p:cNvPr id="18" name="Shape 15"/>
          <p:cNvSpPr/>
          <p:nvPr/>
        </p:nvSpPr>
        <p:spPr>
          <a:xfrm flipH="1" flipV="1">
            <a:off x="1268789" y="2560320"/>
            <a:ext cx="1108651" cy="1920240"/>
          </a:xfrm>
          <a:prstGeom prst="line">
            <a:avLst/>
          </a:prstGeom>
          <a:noFill/>
          <a:ln w="12700">
            <a:solidFill>
              <a:schemeClr val="accent5"/>
            </a:solidFill>
            <a:prstDash val="solid"/>
          </a:ln>
        </p:spPr>
      </p:sp>
      <p:sp>
        <p:nvSpPr>
          <p:cNvPr id="19" name="Shape 16"/>
          <p:cNvSpPr/>
          <p:nvPr/>
        </p:nvSpPr>
        <p:spPr>
          <a:xfrm flipH="1" flipV="1">
            <a:off x="1268789" y="2560320"/>
            <a:ext cx="0" cy="1280160"/>
          </a:xfrm>
          <a:prstGeom prst="line">
            <a:avLst/>
          </a:prstGeom>
          <a:noFill/>
          <a:ln w="12700">
            <a:solidFill>
              <a:schemeClr val="accent5"/>
            </a:solidFill>
            <a:prstDash val="solid"/>
          </a:ln>
        </p:spPr>
      </p:sp>
      <p:sp>
        <p:nvSpPr>
          <p:cNvPr id="20" name="Shape 17"/>
          <p:cNvSpPr/>
          <p:nvPr/>
        </p:nvSpPr>
        <p:spPr>
          <a:xfrm>
            <a:off x="2020824" y="1563624"/>
            <a:ext cx="713232" cy="713232"/>
          </a:xfrm>
          <a:prstGeom prst="ellipse">
            <a:avLst/>
          </a:prstGeom>
          <a:solidFill>
            <a:schemeClr val="accent1"/>
          </a:solidFill>
          <a:ln w="12700">
            <a:solidFill>
              <a:schemeClr val="accent1">
                <a:alpha val="0"/>
              </a:schemeClr>
            </a:solidFill>
            <a:prstDash val="solid"/>
          </a:ln>
        </p:spPr>
      </p:sp>
      <p:pic>
        <p:nvPicPr>
          <p:cNvPr id="21" name="Image 0" descr="node">    </p:cNvPr>
          <p:cNvPicPr>
            <a:picLocks noChangeAspect="1"/>
          </p:cNvPicPr>
          <p:nvPr/>
        </p:nvPicPr>
        <p:blipFill>
          <a:blip r:embed="rId1"/>
          <a:stretch>
            <a:fillRect/>
          </a:stretch>
        </p:blipFill>
        <p:spPr>
          <a:xfrm>
            <a:off x="2177735" y="1720535"/>
            <a:ext cx="399410" cy="399410"/>
          </a:xfrm>
          <a:prstGeom prst="rect">
            <a:avLst/>
          </a:prstGeom>
        </p:spPr>
      </p:pic>
      <p:sp>
        <p:nvSpPr>
          <p:cNvPr id="22" name="Shape 18"/>
          <p:cNvSpPr/>
          <p:nvPr/>
        </p:nvSpPr>
        <p:spPr>
          <a:xfrm>
            <a:off x="3129475" y="2203704"/>
            <a:ext cx="713232" cy="713232"/>
          </a:xfrm>
          <a:prstGeom prst="ellipse">
            <a:avLst/>
          </a:prstGeom>
          <a:solidFill>
            <a:schemeClr val="accent1"/>
          </a:solidFill>
          <a:ln w="12700">
            <a:solidFill>
              <a:schemeClr val="accent1">
                <a:alpha val="0"/>
              </a:schemeClr>
            </a:solidFill>
            <a:prstDash val="solid"/>
          </a:ln>
        </p:spPr>
      </p:sp>
      <p:pic>
        <p:nvPicPr>
          <p:cNvPr id="23" name="Image 1" descr="node">    </p:cNvPr>
          <p:cNvPicPr>
            <a:picLocks noChangeAspect="1"/>
          </p:cNvPicPr>
          <p:nvPr/>
        </p:nvPicPr>
        <p:blipFill>
          <a:blip r:embed="rId2"/>
          <a:stretch>
            <a:fillRect/>
          </a:stretch>
        </p:blipFill>
        <p:spPr>
          <a:xfrm>
            <a:off x="3286386" y="2360615"/>
            <a:ext cx="399410" cy="399410"/>
          </a:xfrm>
          <a:prstGeom prst="rect">
            <a:avLst/>
          </a:prstGeom>
        </p:spPr>
      </p:pic>
      <p:sp>
        <p:nvSpPr>
          <p:cNvPr id="24" name="Shape 19"/>
          <p:cNvSpPr/>
          <p:nvPr/>
        </p:nvSpPr>
        <p:spPr>
          <a:xfrm>
            <a:off x="3129475" y="3483864"/>
            <a:ext cx="713232" cy="713232"/>
          </a:xfrm>
          <a:prstGeom prst="ellipse">
            <a:avLst/>
          </a:prstGeom>
          <a:solidFill>
            <a:schemeClr val="accent1"/>
          </a:solidFill>
          <a:ln w="12700">
            <a:solidFill>
              <a:schemeClr val="accent1">
                <a:alpha val="0"/>
              </a:schemeClr>
            </a:solidFill>
            <a:prstDash val="solid"/>
          </a:ln>
        </p:spPr>
      </p:sp>
      <p:pic>
        <p:nvPicPr>
          <p:cNvPr id="25" name="Image 2" descr="node">    </p:cNvPr>
          <p:cNvPicPr>
            <a:picLocks noChangeAspect="1"/>
          </p:cNvPicPr>
          <p:nvPr/>
        </p:nvPicPr>
        <p:blipFill>
          <a:blip r:embed="rId3"/>
          <a:stretch>
            <a:fillRect/>
          </a:stretch>
        </p:blipFill>
        <p:spPr>
          <a:xfrm>
            <a:off x="3286386" y="3640775"/>
            <a:ext cx="399410" cy="399410"/>
          </a:xfrm>
          <a:prstGeom prst="rect">
            <a:avLst/>
          </a:prstGeom>
        </p:spPr>
      </p:pic>
      <p:sp>
        <p:nvSpPr>
          <p:cNvPr id="26" name="Shape 20"/>
          <p:cNvSpPr/>
          <p:nvPr/>
        </p:nvSpPr>
        <p:spPr>
          <a:xfrm>
            <a:off x="2020824" y="4123944"/>
            <a:ext cx="713232" cy="713232"/>
          </a:xfrm>
          <a:prstGeom prst="ellipse">
            <a:avLst/>
          </a:prstGeom>
          <a:solidFill>
            <a:schemeClr val="accent1"/>
          </a:solidFill>
          <a:ln w="12700">
            <a:solidFill>
              <a:schemeClr val="accent1">
                <a:alpha val="0"/>
              </a:schemeClr>
            </a:solidFill>
            <a:prstDash val="solid"/>
          </a:ln>
        </p:spPr>
      </p:sp>
      <p:pic>
        <p:nvPicPr>
          <p:cNvPr id="27" name="Image 3" descr="node">    </p:cNvPr>
          <p:cNvPicPr>
            <a:picLocks noChangeAspect="1"/>
          </p:cNvPicPr>
          <p:nvPr/>
        </p:nvPicPr>
        <p:blipFill>
          <a:blip r:embed="rId4"/>
          <a:stretch>
            <a:fillRect/>
          </a:stretch>
        </p:blipFill>
        <p:spPr>
          <a:xfrm>
            <a:off x="2177735" y="4280855"/>
            <a:ext cx="399410" cy="399410"/>
          </a:xfrm>
          <a:prstGeom prst="rect">
            <a:avLst/>
          </a:prstGeom>
        </p:spPr>
      </p:pic>
      <p:sp>
        <p:nvSpPr>
          <p:cNvPr id="28" name="Shape 21"/>
          <p:cNvSpPr/>
          <p:nvPr/>
        </p:nvSpPr>
        <p:spPr>
          <a:xfrm>
            <a:off x="912173" y="3483864"/>
            <a:ext cx="713232" cy="713232"/>
          </a:xfrm>
          <a:prstGeom prst="ellipse">
            <a:avLst/>
          </a:prstGeom>
          <a:solidFill>
            <a:schemeClr val="accent1"/>
          </a:solidFill>
          <a:ln w="12700">
            <a:solidFill>
              <a:schemeClr val="accent1">
                <a:alpha val="0"/>
              </a:schemeClr>
            </a:solidFill>
            <a:prstDash val="solid"/>
          </a:ln>
        </p:spPr>
      </p:sp>
      <p:pic>
        <p:nvPicPr>
          <p:cNvPr id="29" name="Image 4" descr="node">    </p:cNvPr>
          <p:cNvPicPr>
            <a:picLocks noChangeAspect="1"/>
          </p:cNvPicPr>
          <p:nvPr/>
        </p:nvPicPr>
        <p:blipFill>
          <a:blip r:embed="rId5"/>
          <a:stretch>
            <a:fillRect/>
          </a:stretch>
        </p:blipFill>
        <p:spPr>
          <a:xfrm>
            <a:off x="1069084" y="3640775"/>
            <a:ext cx="399410" cy="399410"/>
          </a:xfrm>
          <a:prstGeom prst="rect">
            <a:avLst/>
          </a:prstGeom>
        </p:spPr>
      </p:pic>
      <p:sp>
        <p:nvSpPr>
          <p:cNvPr id="30" name="Shape 22"/>
          <p:cNvSpPr/>
          <p:nvPr/>
        </p:nvSpPr>
        <p:spPr>
          <a:xfrm>
            <a:off x="912173" y="2203704"/>
            <a:ext cx="713232" cy="713232"/>
          </a:xfrm>
          <a:prstGeom prst="ellipse">
            <a:avLst/>
          </a:prstGeom>
          <a:solidFill>
            <a:schemeClr val="accent1"/>
          </a:solidFill>
          <a:ln w="12700">
            <a:solidFill>
              <a:schemeClr val="accent1">
                <a:alpha val="0"/>
              </a:schemeClr>
            </a:solidFill>
            <a:prstDash val="solid"/>
          </a:ln>
        </p:spPr>
      </p:sp>
      <p:pic>
        <p:nvPicPr>
          <p:cNvPr id="31" name="Image 5" descr="node">    </p:cNvPr>
          <p:cNvPicPr>
            <a:picLocks noChangeAspect="1"/>
          </p:cNvPicPr>
          <p:nvPr/>
        </p:nvPicPr>
        <p:blipFill>
          <a:blip r:embed="rId6"/>
          <a:stretch>
            <a:fillRect/>
          </a:stretch>
        </p:blipFill>
        <p:spPr>
          <a:xfrm>
            <a:off x="1069084" y="2360615"/>
            <a:ext cx="399410" cy="399410"/>
          </a:xfrm>
          <a:prstGeom prst="rect">
            <a:avLst/>
          </a:prstGeom>
        </p:spPr>
      </p:pic>
      <p:sp>
        <p:nvSpPr>
          <p:cNvPr id="32" name="Text 23"/>
          <p:cNvSpPr txBox="1"/>
          <p:nvPr/>
        </p:nvSpPr>
        <p:spPr>
          <a:xfrm>
            <a:off x="1005840" y="4892040"/>
            <a:ext cx="2743200" cy="320040"/>
          </a:xfrm>
          <a:prstGeom prst="rect">
            <a:avLst/>
          </a:prstGeom>
          <a:noFill/>
          <a:ln/>
        </p:spPr>
        <p:txBody>
          <a:bodyPr wrap="square" lIns="0" tIns="0" rIns="0" bIns="0" rtlCol="0" anchor="ctr"/>
          <a:lstStyle/>
          <a:p>
            <a:pPr algn="ctr" indent="0" marL="0">
              <a:lnSpc>
                <a:spcPct val="105000"/>
              </a:lnSpc>
              <a:buNone/>
            </a:pPr>
            <a:r>
              <a:rPr lang="en-US" sz="1500" b="1" dirty="0">
                <a:solidFill>
                  <a:schemeClr val="accent6"/>
                </a:solidFill>
              </a:rPr>
              <a:t>没有中心节点</a:t>
            </a:r>
            <a:endParaRPr lang="en-US" sz="1500" dirty="0"/>
          </a:p>
        </p:txBody>
      </p:sp>
      <p:sp>
        <p:nvSpPr>
          <p:cNvPr id="33" name="Text 24"/>
          <p:cNvSpPr txBox="1"/>
          <p:nvPr/>
        </p:nvSpPr>
        <p:spPr>
          <a:xfrm>
            <a:off x="4572000" y="1463040"/>
            <a:ext cx="4114800" cy="3566160"/>
          </a:xfrm>
          <a:prstGeom prst="rect">
            <a:avLst/>
          </a:prstGeom>
          <a:noFill/>
          <a:ln/>
        </p:spPr>
        <p:txBody>
          <a:bodyPr wrap="square" lIns="0" tIns="0" rIns="0" bIns="0" rtlCol="0" anchor="t"/>
          <a:lstStyle/>
          <a:p>
            <a:pPr algn="l" marL="254000" indent="-254000">
              <a:lnSpc>
                <a:spcPct val="105000"/>
              </a:lnSpc>
              <a:spcAft>
                <a:spcPts val="1000"/>
              </a:spcAft>
              <a:buSzPct val="100000"/>
              <a:buChar char="•"/>
            </a:pPr>
            <a:r>
              <a:rPr lang="en-US" sz="1600" dirty="0">
                <a:solidFill>
                  <a:schemeClr val="tx1"/>
                </a:solidFill>
              </a:rPr>
              <a:t>由许多节点组成，</a:t>
            </a:r>
            <a:pPr algn="l" marL="254000" indent="-254000">
              <a:lnSpc>
                <a:spcPct val="105000"/>
              </a:lnSpc>
              <a:spcAft>
                <a:spcPts val="1000"/>
              </a:spcAft>
              <a:buSzPct val="100000"/>
              <a:buChar char="•"/>
            </a:pPr>
            <a:r>
              <a:rPr lang="en-US" sz="1600" b="1" dirty="0">
                <a:solidFill>
                  <a:schemeClr val="tx1"/>
                </a:solidFill>
              </a:rPr>
              <a:t>没有中心化的权威</a:t>
            </a:r>
            <a:endParaRPr lang="en-US" sz="1600" dirty="0"/>
          </a:p>
          <a:p>
            <a:pPr algn="l" marL="254000" indent="-254000">
              <a:lnSpc>
                <a:spcPct val="105000"/>
              </a:lnSpc>
              <a:spcAft>
                <a:spcPts val="1000"/>
              </a:spcAft>
              <a:buSzPct val="100000"/>
              <a:buChar char="•"/>
            </a:pPr>
            <a:r>
              <a:rPr lang="en-US" sz="1600" dirty="0">
                <a:solidFill>
                  <a:schemeClr val="tx1"/>
                </a:solidFill>
              </a:rPr>
              <a:t>每笔交易发给</a:t>
            </a:r>
            <a:pPr algn="l" marL="254000" indent="-254000">
              <a:lnSpc>
                <a:spcPct val="105000"/>
              </a:lnSpc>
              <a:spcAft>
                <a:spcPts val="1000"/>
              </a:spcAft>
              <a:buSzPct val="100000"/>
              <a:buChar char="•"/>
            </a:pPr>
            <a:r>
              <a:rPr lang="en-US" sz="1600" b="1" dirty="0">
                <a:solidFill>
                  <a:schemeClr val="tx1"/>
                </a:solidFill>
              </a:rPr>
              <a:t>所有节点</a:t>
            </a:r>
            <a:pPr algn="l" marL="254000" indent="-254000">
              <a:lnSpc>
                <a:spcPct val="105000"/>
              </a:lnSpc>
              <a:spcAft>
                <a:spcPts val="1000"/>
              </a:spcAft>
              <a:buSzPct val="100000"/>
              <a:buChar char="•"/>
            </a:pPr>
            <a:r>
              <a:rPr lang="en-US" sz="1600" dirty="0">
                <a:solidFill>
                  <a:schemeClr val="tx1"/>
                </a:solidFill>
              </a:rPr>
              <a:t>验证，并按时间戳分组为区块</a:t>
            </a:r>
            <a:endParaRPr lang="en-US" sz="1600" dirty="0"/>
          </a:p>
          <a:p>
            <a:pPr algn="l" marL="254000" indent="-254000">
              <a:lnSpc>
                <a:spcPct val="105000"/>
              </a:lnSpc>
              <a:spcAft>
                <a:spcPts val="1000"/>
              </a:spcAft>
              <a:buSzPct val="100000"/>
              <a:buChar char="•"/>
            </a:pPr>
            <a:r>
              <a:rPr lang="en-US" sz="1600" dirty="0">
                <a:solidFill>
                  <a:schemeClr val="tx1"/>
                </a:solidFill>
              </a:rPr>
              <a:t>每个节点保存</a:t>
            </a:r>
            <a:pPr algn="l" marL="254000" indent="-254000">
              <a:lnSpc>
                <a:spcPct val="105000"/>
              </a:lnSpc>
              <a:spcAft>
                <a:spcPts val="1000"/>
              </a:spcAft>
              <a:buSzPct val="100000"/>
              <a:buChar char="•"/>
            </a:pPr>
            <a:r>
              <a:rPr lang="en-US" sz="1600" b="1" dirty="0">
                <a:solidFill>
                  <a:schemeClr val="tx1"/>
                </a:solidFill>
              </a:rPr>
              <a:t>完整的账本副本</a:t>
            </a:r>
            <a:endParaRPr lang="en-US" sz="1600" dirty="0"/>
          </a:p>
          <a:p>
            <a:pPr algn="l" marL="254000" indent="-254000">
              <a:lnSpc>
                <a:spcPct val="105000"/>
              </a:lnSpc>
              <a:buSzPct val="100000"/>
              <a:buChar char="•"/>
            </a:pPr>
            <a:r>
              <a:rPr lang="en-US" sz="1600" dirty="0">
                <a:solidFill>
                  <a:schemeClr val="tx1"/>
                </a:solidFill>
              </a:rPr>
              <a:t>无单点故障；想改自己那份，</a:t>
            </a:r>
            <a:pPr algn="l" marL="254000" indent="-254000">
              <a:lnSpc>
                <a:spcPct val="105000"/>
              </a:lnSpc>
              <a:buSzPct val="100000"/>
              <a:buChar char="•"/>
            </a:pPr>
            <a:r>
              <a:rPr lang="en-US" sz="1600" b="1" dirty="0">
                <a:solidFill>
                  <a:schemeClr val="tx1"/>
                </a:solidFill>
              </a:rPr>
              <a:t>会与其他副本不一致而暴露</a:t>
            </a:r>
            <a:endParaRPr lang="en-US" sz="1600" dirty="0"/>
          </a:p>
        </p:txBody>
      </p:sp>
      <p:sp>
        <p:nvSpPr>
          <p:cNvPr id="34" name="Shape 25"/>
          <p:cNvSpPr/>
          <p:nvPr/>
        </p:nvSpPr>
        <p:spPr>
          <a:xfrm>
            <a:off x="457200" y="5349240"/>
            <a:ext cx="8229600" cy="777240"/>
          </a:xfrm>
          <a:prstGeom prst="roundRect">
            <a:avLst>
              <a:gd name="adj" fmla="val 9412"/>
            </a:avLst>
          </a:prstGeom>
          <a:solidFill>
            <a:schemeClr val="accent1">
              <a:alpha val="12000"/>
            </a:schemeClr>
          </a:solidFill>
          <a:ln w="12700">
            <a:solidFill>
              <a:schemeClr val="accent1">
                <a:alpha val="0"/>
              </a:schemeClr>
            </a:solidFill>
            <a:prstDash val="solid"/>
          </a:ln>
        </p:spPr>
      </p:sp>
      <p:pic>
        <p:nvPicPr>
          <p:cNvPr id="35" name="Image 6" descr="key">    </p:cNvPr>
          <p:cNvPicPr>
            <a:picLocks noChangeAspect="1"/>
          </p:cNvPicPr>
          <p:nvPr/>
        </p:nvPicPr>
        <p:blipFill>
          <a:blip r:embed="rId7"/>
          <a:stretch>
            <a:fillRect/>
          </a:stretch>
        </p:blipFill>
        <p:spPr>
          <a:xfrm>
            <a:off x="640080" y="5545836"/>
            <a:ext cx="384048" cy="384048"/>
          </a:xfrm>
          <a:prstGeom prst="rect">
            <a:avLst/>
          </a:prstGeom>
        </p:spPr>
      </p:pic>
      <p:sp>
        <p:nvSpPr>
          <p:cNvPr id="36" name="Text 26"/>
          <p:cNvSpPr txBox="1"/>
          <p:nvPr/>
        </p:nvSpPr>
        <p:spPr>
          <a:xfrm>
            <a:off x="1188720" y="5422392"/>
            <a:ext cx="7315200" cy="630936"/>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区块链是 DLT 的一种</a:t>
            </a:r>
            <a:pPr algn="l" indent="0" marL="0">
              <a:lnSpc>
                <a:spcPct val="105000"/>
              </a:lnSpc>
              <a:buNone/>
            </a:pPr>
            <a:r>
              <a:rPr lang="en-US" sz="1400" dirty="0">
                <a:solidFill>
                  <a:schemeClr val="tx1"/>
                </a:solidFill>
              </a:rPr>
              <a:t>：公有链任何人可写（比特币）；许可链只有被授权者可写（如 Hyperledger Fabric）。</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双重支付：数字货币最大的技术难题</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账本</a:t>
            </a:r>
            <a:endParaRPr lang="en-US" sz="1200" dirty="0"/>
          </a:p>
        </p:txBody>
      </p:sp>
      <p:sp>
        <p:nvSpPr>
          <p:cNvPr id="5" name="Shape 2"/>
          <p:cNvSpPr/>
          <p:nvPr/>
        </p:nvSpPr>
        <p:spPr>
          <a:xfrm>
            <a:off x="457200" y="1965960"/>
            <a:ext cx="1737360" cy="914400"/>
          </a:xfrm>
          <a:prstGeom prst="roundRect">
            <a:avLst>
              <a:gd name="adj" fmla="val 8000"/>
            </a:avLst>
          </a:prstGeom>
          <a:solidFill>
            <a:schemeClr val="tx1"/>
          </a:solidFill>
          <a:ln w="12700">
            <a:solidFill>
              <a:schemeClr val="tx1">
                <a:alpha val="0"/>
              </a:schemeClr>
            </a:solidFill>
            <a:prstDash val="solid"/>
          </a:ln>
        </p:spPr>
      </p:sp>
      <p:sp>
        <p:nvSpPr>
          <p:cNvPr id="6" name="Text 3"/>
          <p:cNvSpPr txBox="1"/>
          <p:nvPr/>
        </p:nvSpPr>
        <p:spPr>
          <a:xfrm>
            <a:off x="457200" y="1965960"/>
            <a:ext cx="1737360" cy="914400"/>
          </a:xfrm>
          <a:prstGeom prst="rect">
            <a:avLst/>
          </a:prstGeom>
          <a:noFill/>
          <a:ln/>
        </p:spPr>
        <p:txBody>
          <a:bodyPr wrap="square" lIns="0" tIns="0" rIns="0" bIns="0" rtlCol="0" anchor="ctr"/>
          <a:lstStyle/>
          <a:p>
            <a:pPr algn="ctr" indent="0" marL="0">
              <a:lnSpc>
                <a:spcPct val="105000"/>
              </a:lnSpc>
              <a:buNone/>
            </a:pPr>
            <a:r>
              <a:rPr lang="en-US" sz="2000" b="1" dirty="0">
                <a:solidFill>
                  <a:schemeClr val="bg1"/>
                </a:solidFill>
              </a:rPr>
              <a:t>Jack</a:t>
            </a:r>
            <a:endParaRPr lang="en-US" sz="2000" dirty="0"/>
          </a:p>
        </p:txBody>
      </p:sp>
      <p:sp>
        <p:nvSpPr>
          <p:cNvPr id="7" name="Shape 4"/>
          <p:cNvSpPr/>
          <p:nvPr/>
        </p:nvSpPr>
        <p:spPr>
          <a:xfrm>
            <a:off x="6949440" y="1463040"/>
            <a:ext cx="1737360" cy="777240"/>
          </a:xfrm>
          <a:prstGeom prst="roundRect">
            <a:avLst>
              <a:gd name="adj" fmla="val 9412"/>
            </a:avLst>
          </a:prstGeom>
          <a:solidFill>
            <a:schemeClr val="bg2"/>
          </a:solidFill>
          <a:ln w="12700">
            <a:solidFill>
              <a:schemeClr val="bg2">
                <a:alpha val="0"/>
              </a:schemeClr>
            </a:solidFill>
            <a:prstDash val="solid"/>
          </a:ln>
        </p:spPr>
      </p:sp>
      <p:sp>
        <p:nvSpPr>
          <p:cNvPr id="8" name="Text 5"/>
          <p:cNvSpPr txBox="1"/>
          <p:nvPr/>
        </p:nvSpPr>
        <p:spPr>
          <a:xfrm>
            <a:off x="6949440" y="1463040"/>
            <a:ext cx="1737360" cy="77724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Jill</a:t>
            </a:r>
            <a:endParaRPr lang="en-US" sz="1800" dirty="0"/>
          </a:p>
        </p:txBody>
      </p:sp>
      <p:sp>
        <p:nvSpPr>
          <p:cNvPr id="9" name="Shape 6"/>
          <p:cNvSpPr/>
          <p:nvPr/>
        </p:nvSpPr>
        <p:spPr>
          <a:xfrm>
            <a:off x="6949440" y="2697480"/>
            <a:ext cx="1737360" cy="777240"/>
          </a:xfrm>
          <a:prstGeom prst="roundRect">
            <a:avLst>
              <a:gd name="adj" fmla="val 9412"/>
            </a:avLst>
          </a:prstGeom>
          <a:solidFill>
            <a:schemeClr val="bg2"/>
          </a:solidFill>
          <a:ln w="12700">
            <a:solidFill>
              <a:schemeClr val="bg2">
                <a:alpha val="0"/>
              </a:schemeClr>
            </a:solidFill>
            <a:prstDash val="solid"/>
          </a:ln>
        </p:spPr>
      </p:sp>
      <p:sp>
        <p:nvSpPr>
          <p:cNvPr id="10" name="Text 7"/>
          <p:cNvSpPr txBox="1"/>
          <p:nvPr/>
        </p:nvSpPr>
        <p:spPr>
          <a:xfrm>
            <a:off x="6949440" y="2697480"/>
            <a:ext cx="1737360" cy="77724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Tom</a:t>
            </a:r>
            <a:endParaRPr lang="en-US" sz="1800" dirty="0"/>
          </a:p>
        </p:txBody>
      </p:sp>
      <p:sp>
        <p:nvSpPr>
          <p:cNvPr id="11" name="Shape 8"/>
          <p:cNvSpPr/>
          <p:nvPr/>
        </p:nvSpPr>
        <p:spPr>
          <a:xfrm flipV="1">
            <a:off x="2286000" y="1828800"/>
            <a:ext cx="4572000" cy="411480"/>
          </a:xfrm>
          <a:prstGeom prst="line">
            <a:avLst/>
          </a:prstGeom>
          <a:noFill/>
          <a:ln w="38100">
            <a:solidFill>
              <a:schemeClr val="accent1"/>
            </a:solidFill>
            <a:prstDash val="solid"/>
            <a:tailEnd type="triangle"/>
          </a:ln>
        </p:spPr>
      </p:sp>
      <p:sp>
        <p:nvSpPr>
          <p:cNvPr id="12" name="Shape 9"/>
          <p:cNvSpPr/>
          <p:nvPr/>
        </p:nvSpPr>
        <p:spPr>
          <a:xfrm>
            <a:off x="2286000" y="2606040"/>
            <a:ext cx="4572000" cy="457200"/>
          </a:xfrm>
          <a:prstGeom prst="line">
            <a:avLst/>
          </a:prstGeom>
          <a:noFill/>
          <a:ln w="38100">
            <a:solidFill>
              <a:schemeClr val="accent2"/>
            </a:solidFill>
            <a:prstDash val="solid"/>
            <a:tailEnd type="triangle"/>
          </a:ln>
        </p:spPr>
      </p:sp>
      <p:sp>
        <p:nvSpPr>
          <p:cNvPr id="13" name="Text 10"/>
          <p:cNvSpPr txBox="1"/>
          <p:nvPr/>
        </p:nvSpPr>
        <p:spPr>
          <a:xfrm>
            <a:off x="3017520" y="1508760"/>
            <a:ext cx="3291840" cy="32004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签名：这枚币 → Jill</a:t>
            </a:r>
            <a:endParaRPr lang="en-US" sz="1400" dirty="0"/>
          </a:p>
        </p:txBody>
      </p:sp>
      <p:sp>
        <p:nvSpPr>
          <p:cNvPr id="14" name="Text 11"/>
          <p:cNvSpPr txBox="1"/>
          <p:nvPr/>
        </p:nvSpPr>
        <p:spPr>
          <a:xfrm>
            <a:off x="3017520" y="3017520"/>
            <a:ext cx="3474720" cy="32004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又签一次：同一枚币 → Tom</a:t>
            </a:r>
            <a:endParaRPr lang="en-US" sz="1400" dirty="0"/>
          </a:p>
        </p:txBody>
      </p:sp>
      <p:sp>
        <p:nvSpPr>
          <p:cNvPr id="15" name="Shape 12"/>
          <p:cNvSpPr/>
          <p:nvPr/>
        </p:nvSpPr>
        <p:spPr>
          <a:xfrm>
            <a:off x="457200" y="3657600"/>
            <a:ext cx="4023360" cy="1783080"/>
          </a:xfrm>
          <a:prstGeom prst="roundRect">
            <a:avLst>
              <a:gd name="adj" fmla="val 4103"/>
            </a:avLst>
          </a:prstGeom>
          <a:solidFill>
            <a:schemeClr val="bg2"/>
          </a:solidFill>
          <a:ln w="12700">
            <a:solidFill>
              <a:schemeClr val="bg2">
                <a:alpha val="0"/>
              </a:schemeClr>
            </a:solidFill>
            <a:prstDash val="solid"/>
          </a:ln>
        </p:spPr>
      </p:sp>
      <p:sp>
        <p:nvSpPr>
          <p:cNvPr id="16" name="Shape 13"/>
          <p:cNvSpPr/>
          <p:nvPr/>
        </p:nvSpPr>
        <p:spPr>
          <a:xfrm>
            <a:off x="640080" y="3822192"/>
            <a:ext cx="502920" cy="502920"/>
          </a:xfrm>
          <a:prstGeom prst="ellipse">
            <a:avLst/>
          </a:prstGeom>
          <a:solidFill>
            <a:schemeClr val="accent1"/>
          </a:solidFill>
          <a:ln w="12700">
            <a:solidFill>
              <a:schemeClr val="accent1">
                <a:alpha val="0"/>
              </a:schemeClr>
            </a:solidFill>
            <a:prstDash val="solid"/>
          </a:ln>
        </p:spPr>
      </p:sp>
      <p:pic>
        <p:nvPicPr>
          <p:cNvPr id="17" name="Image 0" descr="FaUniversity">    </p:cNvPr>
          <p:cNvPicPr>
            <a:picLocks noChangeAspect="1"/>
          </p:cNvPicPr>
          <p:nvPr/>
        </p:nvPicPr>
        <p:blipFill>
          <a:blip r:embed="rId1"/>
          <a:stretch>
            <a:fillRect/>
          </a:stretch>
        </p:blipFill>
        <p:spPr>
          <a:xfrm>
            <a:off x="750722" y="3932834"/>
            <a:ext cx="281635" cy="281635"/>
          </a:xfrm>
          <a:prstGeom prst="rect">
            <a:avLst/>
          </a:prstGeom>
        </p:spPr>
      </p:pic>
      <p:sp>
        <p:nvSpPr>
          <p:cNvPr id="18" name="Text 14"/>
          <p:cNvSpPr txBox="1"/>
          <p:nvPr/>
        </p:nvSpPr>
        <p:spPr>
          <a:xfrm>
            <a:off x="640080" y="4443984"/>
            <a:ext cx="365760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解法一：可信第三方</a:t>
            </a:r>
            <a:endParaRPr lang="en-US" sz="1600" dirty="0"/>
          </a:p>
        </p:txBody>
      </p:sp>
      <p:sp>
        <p:nvSpPr>
          <p:cNvPr id="19" name="Text 15"/>
          <p:cNvSpPr txBox="1"/>
          <p:nvPr/>
        </p:nvSpPr>
        <p:spPr>
          <a:xfrm>
            <a:off x="640080" y="4785360"/>
            <a:ext cx="3657600" cy="54559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银行 / 支付平台维护中央账本、检查余额。有效，但又退回“信任机构”。</a:t>
            </a:r>
            <a:endParaRPr lang="en-US" sz="1400" dirty="0"/>
          </a:p>
        </p:txBody>
      </p:sp>
      <p:sp>
        <p:nvSpPr>
          <p:cNvPr id="20" name="Shape 16"/>
          <p:cNvSpPr/>
          <p:nvPr/>
        </p:nvSpPr>
        <p:spPr>
          <a:xfrm>
            <a:off x="4663440" y="3657600"/>
            <a:ext cx="4023360" cy="1783080"/>
          </a:xfrm>
          <a:prstGeom prst="roundRect">
            <a:avLst>
              <a:gd name="adj" fmla="val 4103"/>
            </a:avLst>
          </a:prstGeom>
          <a:solidFill>
            <a:schemeClr val="bg2"/>
          </a:solidFill>
          <a:ln w="12700">
            <a:solidFill>
              <a:schemeClr val="bg2">
                <a:alpha val="0"/>
              </a:schemeClr>
            </a:solidFill>
            <a:prstDash val="solid"/>
          </a:ln>
        </p:spPr>
      </p:sp>
      <p:sp>
        <p:nvSpPr>
          <p:cNvPr id="21" name="Shape 17"/>
          <p:cNvSpPr/>
          <p:nvPr/>
        </p:nvSpPr>
        <p:spPr>
          <a:xfrm>
            <a:off x="4846320" y="3822192"/>
            <a:ext cx="502920" cy="502920"/>
          </a:xfrm>
          <a:prstGeom prst="ellipse">
            <a:avLst/>
          </a:prstGeom>
          <a:solidFill>
            <a:schemeClr val="accent1"/>
          </a:solidFill>
          <a:ln w="12700">
            <a:solidFill>
              <a:schemeClr val="accent1">
                <a:alpha val="0"/>
              </a:schemeClr>
            </a:solidFill>
            <a:prstDash val="solid"/>
          </a:ln>
        </p:spPr>
      </p:sp>
      <p:pic>
        <p:nvPicPr>
          <p:cNvPr id="22" name="Image 1" descr="FaStamp">    </p:cNvPr>
          <p:cNvPicPr>
            <a:picLocks noChangeAspect="1"/>
          </p:cNvPicPr>
          <p:nvPr/>
        </p:nvPicPr>
        <p:blipFill>
          <a:blip r:embed="rId2"/>
          <a:stretch>
            <a:fillRect/>
          </a:stretch>
        </p:blipFill>
        <p:spPr>
          <a:xfrm>
            <a:off x="4956962" y="3932834"/>
            <a:ext cx="281635" cy="281635"/>
          </a:xfrm>
          <a:prstGeom prst="rect">
            <a:avLst/>
          </a:prstGeom>
        </p:spPr>
      </p:pic>
      <p:sp>
        <p:nvSpPr>
          <p:cNvPr id="23" name="Text 18"/>
          <p:cNvSpPr txBox="1"/>
          <p:nvPr/>
        </p:nvSpPr>
        <p:spPr>
          <a:xfrm>
            <a:off x="4846320" y="4443984"/>
            <a:ext cx="365760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解法二：时间戳</a:t>
            </a:r>
            <a:endParaRPr lang="en-US" sz="1600" dirty="0"/>
          </a:p>
        </p:txBody>
      </p:sp>
      <p:sp>
        <p:nvSpPr>
          <p:cNvPr id="24" name="Text 19"/>
          <p:cNvSpPr txBox="1"/>
          <p:nvPr/>
        </p:nvSpPr>
        <p:spPr>
          <a:xfrm>
            <a:off x="4846320" y="4785360"/>
            <a:ext cx="3657600" cy="54559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以最早的为准。但交易未被验证前，谁的时间戳最早，没人能仲裁。</a:t>
            </a:r>
            <a:endParaRPr lang="en-US" sz="1400" dirty="0"/>
          </a:p>
        </p:txBody>
      </p:sp>
      <p:sp>
        <p:nvSpPr>
          <p:cNvPr id="25" name="Shape 20"/>
          <p:cNvSpPr/>
          <p:nvPr/>
        </p:nvSpPr>
        <p:spPr>
          <a:xfrm>
            <a:off x="457200" y="5577840"/>
            <a:ext cx="8229600" cy="548640"/>
          </a:xfrm>
          <a:prstGeom prst="roundRect">
            <a:avLst>
              <a:gd name="adj" fmla="val 13333"/>
            </a:avLst>
          </a:prstGeom>
          <a:solidFill>
            <a:schemeClr val="accent1">
              <a:alpha val="12000"/>
            </a:schemeClr>
          </a:solidFill>
          <a:ln w="12700">
            <a:solidFill>
              <a:schemeClr val="accent1">
                <a:alpha val="0"/>
              </a:schemeClr>
            </a:solidFill>
            <a:prstDash val="solid"/>
          </a:ln>
        </p:spPr>
      </p:sp>
      <p:pic>
        <p:nvPicPr>
          <p:cNvPr id="26" name="Image 2" descr="ask">    </p:cNvPr>
          <p:cNvPicPr>
            <a:picLocks noChangeAspect="1"/>
          </p:cNvPicPr>
          <p:nvPr/>
        </p:nvPicPr>
        <p:blipFill>
          <a:blip r:embed="rId3"/>
          <a:stretch>
            <a:fillRect/>
          </a:stretch>
        </p:blipFill>
        <p:spPr>
          <a:xfrm>
            <a:off x="640080" y="5660136"/>
            <a:ext cx="384048" cy="384048"/>
          </a:xfrm>
          <a:prstGeom prst="rect">
            <a:avLst/>
          </a:prstGeom>
        </p:spPr>
      </p:pic>
      <p:sp>
        <p:nvSpPr>
          <p:cNvPr id="27" name="Text 21"/>
          <p:cNvSpPr txBox="1"/>
          <p:nvPr/>
        </p:nvSpPr>
        <p:spPr>
          <a:xfrm>
            <a:off x="1188720" y="5650992"/>
            <a:ext cx="7315200" cy="40233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数字签名保证“币是你的”，却防不住“你把同一枚币签两次”。</a:t>
            </a:r>
            <a:pPr algn="l" indent="0" marL="0">
              <a:lnSpc>
                <a:spcPct val="105000"/>
              </a:lnSpc>
              <a:buNone/>
            </a:pPr>
            <a:r>
              <a:rPr lang="en-US" sz="1400" b="1" dirty="0">
                <a:solidFill>
                  <a:schemeClr val="tx1"/>
                </a:solidFill>
              </a:rPr>
              <a:t>不靠中心机构，怎么办？</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拜占庭将军问题：没有可信中心，怎样让大家一致？</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账本</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来源：Lamport, Shostak &amp; Pease (1982), The Byzantine Generals Problem；白皮书 §4</a:t>
            </a:r>
            <a:endParaRPr lang="en-US" sz="1000" dirty="0"/>
          </a:p>
        </p:txBody>
      </p:sp>
      <p:sp>
        <p:nvSpPr>
          <p:cNvPr id="6" name="Shape 3"/>
          <p:cNvSpPr/>
          <p:nvPr/>
        </p:nvSpPr>
        <p:spPr>
          <a:xfrm>
            <a:off x="2377440" y="2057400"/>
            <a:ext cx="1347951" cy="979344"/>
          </a:xfrm>
          <a:prstGeom prst="line">
            <a:avLst/>
          </a:prstGeom>
          <a:noFill/>
          <a:ln w="12700">
            <a:solidFill>
              <a:schemeClr val="accent5"/>
            </a:solidFill>
            <a:prstDash val="solid"/>
          </a:ln>
        </p:spPr>
      </p:sp>
      <p:sp>
        <p:nvSpPr>
          <p:cNvPr id="7" name="Shape 4"/>
          <p:cNvSpPr/>
          <p:nvPr/>
        </p:nvSpPr>
        <p:spPr>
          <a:xfrm>
            <a:off x="2377440" y="2057400"/>
            <a:ext cx="833080" cy="2563956"/>
          </a:xfrm>
          <a:prstGeom prst="line">
            <a:avLst/>
          </a:prstGeom>
          <a:noFill/>
          <a:ln w="12700">
            <a:solidFill>
              <a:schemeClr val="accent5"/>
            </a:solidFill>
            <a:prstDash val="solid"/>
          </a:ln>
        </p:spPr>
      </p:sp>
      <p:sp>
        <p:nvSpPr>
          <p:cNvPr id="8" name="Shape 5"/>
          <p:cNvSpPr/>
          <p:nvPr/>
        </p:nvSpPr>
        <p:spPr>
          <a:xfrm flipH="1">
            <a:off x="1544360" y="2057400"/>
            <a:ext cx="833080" cy="2563956"/>
          </a:xfrm>
          <a:prstGeom prst="line">
            <a:avLst/>
          </a:prstGeom>
          <a:noFill/>
          <a:ln w="12700">
            <a:solidFill>
              <a:schemeClr val="accent5"/>
            </a:solidFill>
            <a:prstDash val="solid"/>
          </a:ln>
        </p:spPr>
      </p:sp>
      <p:sp>
        <p:nvSpPr>
          <p:cNvPr id="9" name="Shape 6"/>
          <p:cNvSpPr/>
          <p:nvPr/>
        </p:nvSpPr>
        <p:spPr>
          <a:xfrm flipH="1">
            <a:off x="1029489" y="2057400"/>
            <a:ext cx="1347951" cy="979344"/>
          </a:xfrm>
          <a:prstGeom prst="line">
            <a:avLst/>
          </a:prstGeom>
          <a:noFill/>
          <a:ln w="12700">
            <a:solidFill>
              <a:schemeClr val="accent5"/>
            </a:solidFill>
            <a:prstDash val="solid"/>
          </a:ln>
        </p:spPr>
      </p:sp>
      <p:sp>
        <p:nvSpPr>
          <p:cNvPr id="10" name="Shape 7"/>
          <p:cNvSpPr/>
          <p:nvPr/>
        </p:nvSpPr>
        <p:spPr>
          <a:xfrm flipH="1">
            <a:off x="3210520" y="3036744"/>
            <a:ext cx="514872" cy="1584612"/>
          </a:xfrm>
          <a:prstGeom prst="line">
            <a:avLst/>
          </a:prstGeom>
          <a:noFill/>
          <a:ln w="12700">
            <a:solidFill>
              <a:schemeClr val="accent5"/>
            </a:solidFill>
            <a:prstDash val="solid"/>
          </a:ln>
        </p:spPr>
      </p:sp>
      <p:sp>
        <p:nvSpPr>
          <p:cNvPr id="11" name="Shape 8"/>
          <p:cNvSpPr/>
          <p:nvPr/>
        </p:nvSpPr>
        <p:spPr>
          <a:xfrm flipH="1">
            <a:off x="1544360" y="3036744"/>
            <a:ext cx="2181031" cy="1584612"/>
          </a:xfrm>
          <a:prstGeom prst="line">
            <a:avLst/>
          </a:prstGeom>
          <a:noFill/>
          <a:ln w="12700">
            <a:solidFill>
              <a:schemeClr val="accent5"/>
            </a:solidFill>
            <a:prstDash val="solid"/>
          </a:ln>
        </p:spPr>
      </p:sp>
      <p:sp>
        <p:nvSpPr>
          <p:cNvPr id="12" name="Shape 9"/>
          <p:cNvSpPr/>
          <p:nvPr/>
        </p:nvSpPr>
        <p:spPr>
          <a:xfrm flipH="1">
            <a:off x="1029489" y="3036744"/>
            <a:ext cx="2695903" cy="0"/>
          </a:xfrm>
          <a:prstGeom prst="line">
            <a:avLst/>
          </a:prstGeom>
          <a:noFill/>
          <a:ln w="12700">
            <a:solidFill>
              <a:schemeClr val="accent5"/>
            </a:solidFill>
            <a:prstDash val="solid"/>
          </a:ln>
        </p:spPr>
      </p:sp>
      <p:sp>
        <p:nvSpPr>
          <p:cNvPr id="13" name="Shape 10"/>
          <p:cNvSpPr/>
          <p:nvPr/>
        </p:nvSpPr>
        <p:spPr>
          <a:xfrm flipH="1">
            <a:off x="1544360" y="4621356"/>
            <a:ext cx="1666160" cy="0"/>
          </a:xfrm>
          <a:prstGeom prst="line">
            <a:avLst/>
          </a:prstGeom>
          <a:noFill/>
          <a:ln w="12700">
            <a:solidFill>
              <a:schemeClr val="accent5"/>
            </a:solidFill>
            <a:prstDash val="solid"/>
          </a:ln>
        </p:spPr>
      </p:sp>
      <p:sp>
        <p:nvSpPr>
          <p:cNvPr id="14" name="Shape 11"/>
          <p:cNvSpPr/>
          <p:nvPr/>
        </p:nvSpPr>
        <p:spPr>
          <a:xfrm flipH="1" flipV="1">
            <a:off x="1029489" y="3036744"/>
            <a:ext cx="2181031" cy="1584612"/>
          </a:xfrm>
          <a:prstGeom prst="line">
            <a:avLst/>
          </a:prstGeom>
          <a:noFill/>
          <a:ln w="12700">
            <a:solidFill>
              <a:schemeClr val="accent5"/>
            </a:solidFill>
            <a:prstDash val="solid"/>
          </a:ln>
        </p:spPr>
      </p:sp>
      <p:sp>
        <p:nvSpPr>
          <p:cNvPr id="15" name="Shape 12"/>
          <p:cNvSpPr/>
          <p:nvPr/>
        </p:nvSpPr>
        <p:spPr>
          <a:xfrm flipH="1" flipV="1">
            <a:off x="1029489" y="3036744"/>
            <a:ext cx="514872" cy="1584612"/>
          </a:xfrm>
          <a:prstGeom prst="line">
            <a:avLst/>
          </a:prstGeom>
          <a:noFill/>
          <a:ln w="12700">
            <a:solidFill>
              <a:schemeClr val="accent5"/>
            </a:solidFill>
            <a:prstDash val="solid"/>
          </a:ln>
        </p:spPr>
      </p:sp>
      <p:sp>
        <p:nvSpPr>
          <p:cNvPr id="16" name="Shape 13"/>
          <p:cNvSpPr/>
          <p:nvPr/>
        </p:nvSpPr>
        <p:spPr>
          <a:xfrm>
            <a:off x="2020824" y="1700784"/>
            <a:ext cx="713232" cy="713232"/>
          </a:xfrm>
          <a:prstGeom prst="ellipse">
            <a:avLst/>
          </a:prstGeom>
          <a:solidFill>
            <a:schemeClr val="accent1"/>
          </a:solidFill>
          <a:ln w="12700">
            <a:solidFill>
              <a:schemeClr val="accent1">
                <a:alpha val="0"/>
              </a:schemeClr>
            </a:solidFill>
            <a:prstDash val="solid"/>
          </a:ln>
        </p:spPr>
      </p:sp>
      <p:pic>
        <p:nvPicPr>
          <p:cNvPr id="17" name="Image 0" descr="node">    </p:cNvPr>
          <p:cNvPicPr>
            <a:picLocks noChangeAspect="1"/>
          </p:cNvPicPr>
          <p:nvPr/>
        </p:nvPicPr>
        <p:blipFill>
          <a:blip r:embed="rId1"/>
          <a:stretch>
            <a:fillRect/>
          </a:stretch>
        </p:blipFill>
        <p:spPr>
          <a:xfrm>
            <a:off x="2177735" y="1857695"/>
            <a:ext cx="399410" cy="399410"/>
          </a:xfrm>
          <a:prstGeom prst="rect">
            <a:avLst/>
          </a:prstGeom>
        </p:spPr>
      </p:pic>
      <p:sp>
        <p:nvSpPr>
          <p:cNvPr id="18" name="Shape 14"/>
          <p:cNvSpPr/>
          <p:nvPr/>
        </p:nvSpPr>
        <p:spPr>
          <a:xfrm>
            <a:off x="3368775" y="2680128"/>
            <a:ext cx="713232" cy="713232"/>
          </a:xfrm>
          <a:prstGeom prst="ellipse">
            <a:avLst/>
          </a:prstGeom>
          <a:solidFill>
            <a:schemeClr val="accent1"/>
          </a:solidFill>
          <a:ln w="12700">
            <a:solidFill>
              <a:schemeClr val="accent1">
                <a:alpha val="0"/>
              </a:schemeClr>
            </a:solidFill>
            <a:prstDash val="solid"/>
          </a:ln>
        </p:spPr>
      </p:sp>
      <p:pic>
        <p:nvPicPr>
          <p:cNvPr id="19" name="Image 1" descr="node">    </p:cNvPr>
          <p:cNvPicPr>
            <a:picLocks noChangeAspect="1"/>
          </p:cNvPicPr>
          <p:nvPr/>
        </p:nvPicPr>
        <p:blipFill>
          <a:blip r:embed="rId2"/>
          <a:stretch>
            <a:fillRect/>
          </a:stretch>
        </p:blipFill>
        <p:spPr>
          <a:xfrm>
            <a:off x="3525686" y="2837039"/>
            <a:ext cx="399410" cy="399410"/>
          </a:xfrm>
          <a:prstGeom prst="rect">
            <a:avLst/>
          </a:prstGeom>
        </p:spPr>
      </p:pic>
      <p:sp>
        <p:nvSpPr>
          <p:cNvPr id="20" name="Shape 15"/>
          <p:cNvSpPr/>
          <p:nvPr/>
        </p:nvSpPr>
        <p:spPr>
          <a:xfrm>
            <a:off x="2853904" y="4264740"/>
            <a:ext cx="713232" cy="713232"/>
          </a:xfrm>
          <a:prstGeom prst="ellipse">
            <a:avLst/>
          </a:prstGeom>
          <a:solidFill>
            <a:schemeClr val="accent2"/>
          </a:solidFill>
          <a:ln w="12700">
            <a:solidFill>
              <a:schemeClr val="accent2">
                <a:alpha val="0"/>
              </a:schemeClr>
            </a:solidFill>
            <a:prstDash val="solid"/>
          </a:ln>
        </p:spPr>
      </p:sp>
      <p:pic>
        <p:nvPicPr>
          <p:cNvPr id="21" name="Image 2" descr="node">    </p:cNvPr>
          <p:cNvPicPr>
            <a:picLocks noChangeAspect="1"/>
          </p:cNvPicPr>
          <p:nvPr/>
        </p:nvPicPr>
        <p:blipFill>
          <a:blip r:embed="rId3"/>
          <a:stretch>
            <a:fillRect/>
          </a:stretch>
        </p:blipFill>
        <p:spPr>
          <a:xfrm>
            <a:off x="3010815" y="4421651"/>
            <a:ext cx="399410" cy="399410"/>
          </a:xfrm>
          <a:prstGeom prst="rect">
            <a:avLst/>
          </a:prstGeom>
        </p:spPr>
      </p:pic>
      <p:sp>
        <p:nvSpPr>
          <p:cNvPr id="22" name="Shape 16"/>
          <p:cNvSpPr/>
          <p:nvPr/>
        </p:nvSpPr>
        <p:spPr>
          <a:xfrm>
            <a:off x="1187744" y="4264740"/>
            <a:ext cx="713232" cy="713232"/>
          </a:xfrm>
          <a:prstGeom prst="ellipse">
            <a:avLst/>
          </a:prstGeom>
          <a:solidFill>
            <a:schemeClr val="accent1"/>
          </a:solidFill>
          <a:ln w="12700">
            <a:solidFill>
              <a:schemeClr val="accent1">
                <a:alpha val="0"/>
              </a:schemeClr>
            </a:solidFill>
            <a:prstDash val="solid"/>
          </a:ln>
        </p:spPr>
      </p:sp>
      <p:pic>
        <p:nvPicPr>
          <p:cNvPr id="23" name="Image 3" descr="node">    </p:cNvPr>
          <p:cNvPicPr>
            <a:picLocks noChangeAspect="1"/>
          </p:cNvPicPr>
          <p:nvPr/>
        </p:nvPicPr>
        <p:blipFill>
          <a:blip r:embed="rId4"/>
          <a:stretch>
            <a:fillRect/>
          </a:stretch>
        </p:blipFill>
        <p:spPr>
          <a:xfrm>
            <a:off x="1344655" y="4421651"/>
            <a:ext cx="399410" cy="399410"/>
          </a:xfrm>
          <a:prstGeom prst="rect">
            <a:avLst/>
          </a:prstGeom>
        </p:spPr>
      </p:pic>
      <p:sp>
        <p:nvSpPr>
          <p:cNvPr id="24" name="Shape 17"/>
          <p:cNvSpPr/>
          <p:nvPr/>
        </p:nvSpPr>
        <p:spPr>
          <a:xfrm>
            <a:off x="672873" y="2680128"/>
            <a:ext cx="713232" cy="713232"/>
          </a:xfrm>
          <a:prstGeom prst="ellipse">
            <a:avLst/>
          </a:prstGeom>
          <a:solidFill>
            <a:schemeClr val="accent1"/>
          </a:solidFill>
          <a:ln w="12700">
            <a:solidFill>
              <a:schemeClr val="accent1">
                <a:alpha val="0"/>
              </a:schemeClr>
            </a:solidFill>
            <a:prstDash val="solid"/>
          </a:ln>
        </p:spPr>
      </p:sp>
      <p:pic>
        <p:nvPicPr>
          <p:cNvPr id="25" name="Image 4" descr="node">    </p:cNvPr>
          <p:cNvPicPr>
            <a:picLocks noChangeAspect="1"/>
          </p:cNvPicPr>
          <p:nvPr/>
        </p:nvPicPr>
        <p:blipFill>
          <a:blip r:embed="rId5"/>
          <a:stretch>
            <a:fillRect/>
          </a:stretch>
        </p:blipFill>
        <p:spPr>
          <a:xfrm>
            <a:off x="829784" y="2837039"/>
            <a:ext cx="399410" cy="399410"/>
          </a:xfrm>
          <a:prstGeom prst="rect">
            <a:avLst/>
          </a:prstGeom>
        </p:spPr>
      </p:pic>
      <p:sp>
        <p:nvSpPr>
          <p:cNvPr id="26" name="Text 18"/>
          <p:cNvSpPr txBox="1"/>
          <p:nvPr/>
        </p:nvSpPr>
        <p:spPr>
          <a:xfrm>
            <a:off x="822960" y="5257800"/>
            <a:ext cx="3108960" cy="32004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叛徒（红色）与忠诚的将军</a:t>
            </a:r>
            <a:endParaRPr lang="en-US" sz="1400" dirty="0"/>
          </a:p>
        </p:txBody>
      </p:sp>
      <p:sp>
        <p:nvSpPr>
          <p:cNvPr id="27" name="Shape 19"/>
          <p:cNvSpPr/>
          <p:nvPr/>
        </p:nvSpPr>
        <p:spPr>
          <a:xfrm>
            <a:off x="4572000" y="1417320"/>
            <a:ext cx="4114800" cy="1417320"/>
          </a:xfrm>
          <a:prstGeom prst="roundRect">
            <a:avLst>
              <a:gd name="adj" fmla="val 5161"/>
            </a:avLst>
          </a:prstGeom>
          <a:solidFill>
            <a:schemeClr val="bg2"/>
          </a:solidFill>
          <a:ln w="12700">
            <a:solidFill>
              <a:schemeClr val="bg2">
                <a:alpha val="0"/>
              </a:schemeClr>
            </a:solidFill>
            <a:prstDash val="solid"/>
          </a:ln>
        </p:spPr>
      </p:sp>
      <p:sp>
        <p:nvSpPr>
          <p:cNvPr id="28" name="Text 20"/>
          <p:cNvSpPr txBox="1"/>
          <p:nvPr/>
        </p:nvSpPr>
        <p:spPr>
          <a:xfrm>
            <a:off x="4709160" y="1490472"/>
            <a:ext cx="3840480" cy="1280160"/>
          </a:xfrm>
          <a:prstGeom prst="rect">
            <a:avLst/>
          </a:prstGeom>
          <a:noFill/>
          <a:ln/>
        </p:spPr>
        <p:txBody>
          <a:bodyPr wrap="square" lIns="0" tIns="0" rIns="0" bIns="0" rtlCol="0" anchor="ctr"/>
          <a:lstStyle/>
          <a:p>
            <a:pPr algn="l" indent="0" marL="0">
              <a:lnSpc>
                <a:spcPct val="105000"/>
              </a:lnSpc>
              <a:spcAft>
                <a:spcPts val="300"/>
              </a:spcAft>
              <a:buNone/>
            </a:pPr>
            <a:r>
              <a:rPr lang="en-US" sz="1600" b="1" dirty="0">
                <a:solidFill>
                  <a:schemeClr val="tx1"/>
                </a:solidFill>
              </a:rPr>
              <a:t>问题（Lamport 等，1982）</a:t>
            </a:r>
            <a:endParaRPr lang="en-US" sz="1400" dirty="0"/>
          </a:p>
          <a:p>
            <a:pPr algn="l" indent="0" marL="0">
              <a:lnSpc>
                <a:spcPct val="105000"/>
              </a:lnSpc>
              <a:buNone/>
            </a:pPr>
            <a:r>
              <a:rPr lang="en-US" sz="1400" dirty="0">
                <a:solidFill>
                  <a:schemeClr val="accent4"/>
                </a:solidFill>
              </a:rPr>
              <a:t>忠诚的将军要就“进攻 / 撤退”达成一致，但有叛徒、信使也不可靠。口头消息下，叛徒须少于 1/3。</a:t>
            </a:r>
            <a:endParaRPr lang="en-US" sz="1400" dirty="0"/>
          </a:p>
        </p:txBody>
      </p:sp>
      <p:sp>
        <p:nvSpPr>
          <p:cNvPr id="29" name="Shape 21"/>
          <p:cNvSpPr/>
          <p:nvPr/>
        </p:nvSpPr>
        <p:spPr>
          <a:xfrm>
            <a:off x="4572000" y="2971800"/>
            <a:ext cx="4114800" cy="1417320"/>
          </a:xfrm>
          <a:prstGeom prst="roundRect">
            <a:avLst>
              <a:gd name="adj" fmla="val 5161"/>
            </a:avLst>
          </a:prstGeom>
          <a:solidFill>
            <a:schemeClr val="bg2"/>
          </a:solidFill>
          <a:ln w="12700">
            <a:solidFill>
              <a:schemeClr val="bg2">
                <a:alpha val="0"/>
              </a:schemeClr>
            </a:solidFill>
            <a:prstDash val="solid"/>
          </a:ln>
        </p:spPr>
      </p:sp>
      <p:sp>
        <p:nvSpPr>
          <p:cNvPr id="30" name="Text 22"/>
          <p:cNvSpPr txBox="1"/>
          <p:nvPr/>
        </p:nvSpPr>
        <p:spPr>
          <a:xfrm>
            <a:off x="4709160" y="3044952"/>
            <a:ext cx="3840480" cy="1280160"/>
          </a:xfrm>
          <a:prstGeom prst="rect">
            <a:avLst/>
          </a:prstGeom>
          <a:noFill/>
          <a:ln/>
        </p:spPr>
        <p:txBody>
          <a:bodyPr wrap="square" lIns="0" tIns="0" rIns="0" bIns="0" rtlCol="0" anchor="ctr"/>
          <a:lstStyle/>
          <a:p>
            <a:pPr algn="l" indent="0" marL="0">
              <a:lnSpc>
                <a:spcPct val="105000"/>
              </a:lnSpc>
              <a:spcAft>
                <a:spcPts val="300"/>
              </a:spcAft>
              <a:buNone/>
            </a:pPr>
            <a:r>
              <a:rPr lang="en-US" sz="1600" b="1" dirty="0">
                <a:solidFill>
                  <a:schemeClr val="tx1"/>
                </a:solidFill>
              </a:rPr>
              <a:t>新难题：女巫攻击</a:t>
            </a:r>
            <a:endParaRPr lang="en-US" sz="1400" dirty="0"/>
          </a:p>
          <a:p>
            <a:pPr algn="l" indent="0" marL="0">
              <a:lnSpc>
                <a:spcPct val="105000"/>
              </a:lnSpc>
              <a:buNone/>
            </a:pPr>
            <a:r>
              <a:rPr lang="en-US" sz="1400" dirty="0">
                <a:solidFill>
                  <a:schemeClr val="accent4"/>
                </a:solidFill>
              </a:rPr>
              <a:t>按“人头”投票，攻击者开一万个假身份，就多一万票。</a:t>
            </a:r>
            <a:endParaRPr lang="en-US" sz="1400" dirty="0"/>
          </a:p>
        </p:txBody>
      </p:sp>
      <p:sp>
        <p:nvSpPr>
          <p:cNvPr id="31" name="Shape 23"/>
          <p:cNvSpPr/>
          <p:nvPr/>
        </p:nvSpPr>
        <p:spPr>
          <a:xfrm>
            <a:off x="4572000" y="4526280"/>
            <a:ext cx="4114800" cy="1417320"/>
          </a:xfrm>
          <a:prstGeom prst="roundRect">
            <a:avLst>
              <a:gd name="adj" fmla="val 5161"/>
            </a:avLst>
          </a:prstGeom>
          <a:solidFill>
            <a:schemeClr val="accent1"/>
          </a:solidFill>
          <a:ln w="12700">
            <a:solidFill>
              <a:schemeClr val="accent1">
                <a:alpha val="0"/>
              </a:schemeClr>
            </a:solidFill>
            <a:prstDash val="solid"/>
          </a:ln>
        </p:spPr>
      </p:sp>
      <p:sp>
        <p:nvSpPr>
          <p:cNvPr id="32" name="Text 24"/>
          <p:cNvSpPr txBox="1"/>
          <p:nvPr/>
        </p:nvSpPr>
        <p:spPr>
          <a:xfrm>
            <a:off x="4709160" y="4599432"/>
            <a:ext cx="3840480" cy="1280160"/>
          </a:xfrm>
          <a:prstGeom prst="rect">
            <a:avLst/>
          </a:prstGeom>
          <a:noFill/>
          <a:ln/>
        </p:spPr>
        <p:txBody>
          <a:bodyPr wrap="square" lIns="0" tIns="0" rIns="0" bIns="0" rtlCol="0" anchor="ctr"/>
          <a:lstStyle/>
          <a:p>
            <a:pPr algn="l" indent="0" marL="0">
              <a:lnSpc>
                <a:spcPct val="105000"/>
              </a:lnSpc>
              <a:spcAft>
                <a:spcPts val="300"/>
              </a:spcAft>
              <a:buNone/>
            </a:pPr>
            <a:r>
              <a:rPr lang="en-US" sz="1600" b="1" dirty="0">
                <a:solidFill>
                  <a:schemeClr val="tx1"/>
                </a:solidFill>
              </a:rPr>
              <a:t>中本聪的变通</a:t>
            </a:r>
            <a:endParaRPr lang="en-US" sz="1400" dirty="0"/>
          </a:p>
          <a:p>
            <a:pPr algn="l" indent="0" marL="0">
              <a:lnSpc>
                <a:spcPct val="105000"/>
              </a:lnSpc>
              <a:buNone/>
            </a:pPr>
            <a:r>
              <a:rPr lang="en-US" sz="1400" dirty="0">
                <a:solidFill>
                  <a:schemeClr val="tx1"/>
                </a:solidFill>
              </a:rPr>
              <a:t>不按身份，</a:t>
            </a:r>
            <a:pPr algn="l" indent="0" marL="0">
              <a:lnSpc>
                <a:spcPct val="105000"/>
              </a:lnSpc>
              <a:buNone/>
            </a:pPr>
            <a:r>
              <a:rPr lang="en-US" sz="1400" b="1" dirty="0">
                <a:solidFill>
                  <a:schemeClr val="tx1"/>
                </a:solidFill>
              </a:rPr>
              <a:t>按算力投票</a:t>
            </a:r>
            <a:pPr algn="l" indent="0" marL="0">
              <a:lnSpc>
                <a:spcPct val="105000"/>
              </a:lnSpc>
              <a:buNone/>
            </a:pPr>
            <a:r>
              <a:rPr lang="en-US" sz="1400" dirty="0">
                <a:solidFill>
                  <a:schemeClr val="tx1"/>
                </a:solidFill>
              </a:rPr>
              <a:t>（“一 CPU 一票”）：伪造算力要花真金白银。</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钱包、节点、矿工：三个常被混淆的角色</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账本</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来源：Bitnodes（2025-12，约 2.4 万个可达节点）；YCharts（2026-09，链大小约 768 GB）</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097280"/>
                <a:gridCol w="2743200"/>
                <a:gridCol w="2468880"/>
                <a:gridCol w="1920240"/>
              </a:tblGrid>
              <a:tr h="457200">
                <a:tc>
                  <a:txBody>
                    <a:bodyPr/>
                    <a:lstStyle/>
                    <a:p>
                      <a:pPr algn="l" indent="0" marL="0">
                        <a:buNone/>
                      </a:pPr>
                      <a:r>
                        <a:rPr lang="en-US" sz="1500" b="1" dirty="0">
                          <a:solidFill>
                            <a:schemeClr val="bg1"/>
                          </a:solidFill>
                        </a:rPr>
                        <a:t>角色</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做什么</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需要什么</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谁都能当吗</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960120">
                <a:tc>
                  <a:txBody>
                    <a:bodyPr/>
                    <a:lstStyle/>
                    <a:p>
                      <a:pPr algn="l" indent="0" marL="0">
                        <a:buNone/>
                      </a:pPr>
                      <a:r>
                        <a:rPr lang="en-US" sz="1500" b="1" dirty="0">
                          <a:solidFill>
                            <a:schemeClr val="tx1"/>
                          </a:solidFill>
                        </a:rPr>
                        <a:t>钱包</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管理私钥、签名、发起交易</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手机 / 软件 / 硬件设备</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人人都可以</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960120">
                <a:tc>
                  <a:txBody>
                    <a:bodyPr/>
                    <a:lstStyle/>
                    <a:p>
                      <a:pPr algn="l" indent="0" marL="0">
                        <a:buNone/>
                      </a:pPr>
                      <a:r>
                        <a:rPr lang="en-US" sz="1500" b="1" dirty="0">
                          <a:solidFill>
                            <a:schemeClr val="tx1"/>
                          </a:solidFill>
                        </a:rPr>
                        <a:t>全节点</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独立验证全部区块与交易，并转发</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约 770 GB 存储 + 带宽（可裁剪）</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人人都可以（约 2.4 万个可达节点）</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960120">
                <a:tc>
                  <a:txBody>
                    <a:bodyPr/>
                    <a:lstStyle/>
                    <a:p>
                      <a:pPr algn="l" indent="0" marL="0">
                        <a:buNone/>
                      </a:pPr>
                      <a:r>
                        <a:rPr lang="en-US" sz="1500" b="1" dirty="0">
                          <a:solidFill>
                            <a:schemeClr val="tx1"/>
                          </a:solidFill>
                        </a:rPr>
                        <a:t>矿工</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收集交易、打包区块、竞争出块</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ASIC 矿机 + 廉价电力（常加入矿池）</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门槛极高</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bl>
          </a:graphicData>
        </a:graphic>
      </p:graphicFrame>
      <p:sp>
        <p:nvSpPr>
          <p:cNvPr id="7" name="Shape 3"/>
          <p:cNvSpPr/>
          <p:nvPr/>
        </p:nvSpPr>
        <p:spPr>
          <a:xfrm>
            <a:off x="457200" y="4937760"/>
            <a:ext cx="8229600" cy="1005840"/>
          </a:xfrm>
          <a:prstGeom prst="roundRect">
            <a:avLst>
              <a:gd name="adj" fmla="val 7273"/>
            </a:avLst>
          </a:prstGeom>
          <a:solidFill>
            <a:schemeClr val="accent1">
              <a:alpha val="12000"/>
            </a:schemeClr>
          </a:solidFill>
          <a:ln w="12700">
            <a:solidFill>
              <a:schemeClr val="accent1">
                <a:alpha val="0"/>
              </a:schemeClr>
            </a:solidFill>
            <a:prstDash val="solid"/>
          </a:ln>
        </p:spPr>
      </p:sp>
      <p:pic>
        <p:nvPicPr>
          <p:cNvPr id="8" name="Image 0" descr="key">    </p:cNvPr>
          <p:cNvPicPr>
            <a:picLocks noChangeAspect="1"/>
          </p:cNvPicPr>
          <p:nvPr/>
        </p:nvPicPr>
        <p:blipFill>
          <a:blip r:embed="rId1"/>
          <a:stretch>
            <a:fillRect/>
          </a:stretch>
        </p:blipFill>
        <p:spPr>
          <a:xfrm>
            <a:off x="640080" y="5248656"/>
            <a:ext cx="384048" cy="384048"/>
          </a:xfrm>
          <a:prstGeom prst="rect">
            <a:avLst/>
          </a:prstGeom>
        </p:spPr>
      </p:pic>
      <p:sp>
        <p:nvSpPr>
          <p:cNvPr id="9" name="Text 4"/>
          <p:cNvSpPr txBox="1"/>
          <p:nvPr/>
        </p:nvSpPr>
        <p:spPr>
          <a:xfrm>
            <a:off x="1188720" y="5010912"/>
            <a:ext cx="7315200" cy="85953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节点说了算</a:t>
            </a:r>
            <a:pPr algn="l" indent="0" marL="0">
              <a:lnSpc>
                <a:spcPct val="105000"/>
              </a:lnSpc>
              <a:buNone/>
            </a:pPr>
            <a:r>
              <a:rPr lang="en-US" sz="1700" dirty="0">
                <a:solidFill>
                  <a:schemeClr val="tx1"/>
                </a:solidFill>
              </a:rPr>
              <a:t>：矿工造出违规区块，全节点会直接拒收，这个区块等于白挖。</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UTXO：比特币里没有“账户余额”</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账本</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来源：白皮书 §9（合并与拆分价值）</a:t>
            </a:r>
            <a:endParaRPr lang="en-US" sz="1000" dirty="0"/>
          </a:p>
        </p:txBody>
      </p:sp>
      <p:sp>
        <p:nvSpPr>
          <p:cNvPr id="6" name="Shape 3"/>
          <p:cNvSpPr/>
          <p:nvPr/>
        </p:nvSpPr>
        <p:spPr>
          <a:xfrm>
            <a:off x="457200" y="1554480"/>
            <a:ext cx="1828800" cy="868680"/>
          </a:xfrm>
          <a:prstGeom prst="roundRect">
            <a:avLst>
              <a:gd name="adj" fmla="val 8421"/>
            </a:avLst>
          </a:prstGeom>
          <a:solidFill>
            <a:schemeClr val="bg2"/>
          </a:solidFill>
          <a:ln w="12700">
            <a:solidFill>
              <a:schemeClr val="bg2">
                <a:alpha val="0"/>
              </a:schemeClr>
            </a:solidFill>
            <a:prstDash val="solid"/>
          </a:ln>
        </p:spPr>
      </p:sp>
      <p:sp>
        <p:nvSpPr>
          <p:cNvPr id="7" name="Text 4"/>
          <p:cNvSpPr txBox="1"/>
          <p:nvPr/>
        </p:nvSpPr>
        <p:spPr>
          <a:xfrm>
            <a:off x="457200" y="1554480"/>
            <a:ext cx="1828800" cy="868680"/>
          </a:xfrm>
          <a:prstGeom prst="rect">
            <a:avLst/>
          </a:prstGeom>
          <a:noFill/>
          <a:ln/>
        </p:spPr>
        <p:txBody>
          <a:bodyPr wrap="square" lIns="0" tIns="0" rIns="0" bIns="0" rtlCol="0" anchor="ctr"/>
          <a:lstStyle/>
          <a:p>
            <a:pPr algn="ctr" indent="0" marL="0">
              <a:lnSpc>
                <a:spcPct val="105000"/>
              </a:lnSpc>
              <a:spcAft>
                <a:spcPts val="100"/>
              </a:spcAft>
              <a:buNone/>
            </a:pPr>
            <a:r>
              <a:rPr lang="en-US" sz="1500" b="1" dirty="0">
                <a:solidFill>
                  <a:schemeClr val="tx1"/>
                </a:solidFill>
              </a:rPr>
              <a:t>UTXO A</a:t>
            </a:r>
            <a:endParaRPr lang="en-US" sz="1500" dirty="0"/>
          </a:p>
          <a:p>
            <a:pPr algn="ctr" indent="0" marL="0">
              <a:lnSpc>
                <a:spcPct val="105000"/>
              </a:lnSpc>
              <a:buNone/>
            </a:pPr>
            <a:r>
              <a:rPr lang="en-US" sz="1800" b="1" dirty="0">
                <a:solidFill>
                  <a:schemeClr val="accent6"/>
                </a:solidFill>
              </a:rPr>
              <a:t>2 BTC</a:t>
            </a:r>
            <a:endParaRPr lang="en-US" sz="1500" dirty="0"/>
          </a:p>
        </p:txBody>
      </p:sp>
      <p:sp>
        <p:nvSpPr>
          <p:cNvPr id="8" name="Shape 5"/>
          <p:cNvSpPr/>
          <p:nvPr/>
        </p:nvSpPr>
        <p:spPr>
          <a:xfrm>
            <a:off x="2331720" y="1984248"/>
            <a:ext cx="1097280" cy="347472"/>
          </a:xfrm>
          <a:prstGeom prst="line">
            <a:avLst/>
          </a:prstGeom>
          <a:noFill/>
          <a:ln w="31750">
            <a:solidFill>
              <a:schemeClr val="accent1"/>
            </a:solidFill>
            <a:prstDash val="solid"/>
            <a:tailEnd type="triangle"/>
          </a:ln>
        </p:spPr>
      </p:sp>
      <p:sp>
        <p:nvSpPr>
          <p:cNvPr id="9" name="Shape 6"/>
          <p:cNvSpPr/>
          <p:nvPr/>
        </p:nvSpPr>
        <p:spPr>
          <a:xfrm>
            <a:off x="457200" y="2651760"/>
            <a:ext cx="1828800" cy="868680"/>
          </a:xfrm>
          <a:prstGeom prst="roundRect">
            <a:avLst>
              <a:gd name="adj" fmla="val 8421"/>
            </a:avLst>
          </a:prstGeom>
          <a:solidFill>
            <a:schemeClr val="bg2"/>
          </a:solidFill>
          <a:ln w="12700">
            <a:solidFill>
              <a:schemeClr val="bg2">
                <a:alpha val="0"/>
              </a:schemeClr>
            </a:solidFill>
            <a:prstDash val="solid"/>
          </a:ln>
        </p:spPr>
      </p:sp>
      <p:sp>
        <p:nvSpPr>
          <p:cNvPr id="10" name="Text 7"/>
          <p:cNvSpPr txBox="1"/>
          <p:nvPr/>
        </p:nvSpPr>
        <p:spPr>
          <a:xfrm>
            <a:off x="457200" y="2651760"/>
            <a:ext cx="1828800" cy="868680"/>
          </a:xfrm>
          <a:prstGeom prst="rect">
            <a:avLst/>
          </a:prstGeom>
          <a:noFill/>
          <a:ln/>
        </p:spPr>
        <p:txBody>
          <a:bodyPr wrap="square" lIns="0" tIns="0" rIns="0" bIns="0" rtlCol="0" anchor="ctr"/>
          <a:lstStyle/>
          <a:p>
            <a:pPr algn="ctr" indent="0" marL="0">
              <a:lnSpc>
                <a:spcPct val="105000"/>
              </a:lnSpc>
              <a:spcAft>
                <a:spcPts val="100"/>
              </a:spcAft>
              <a:buNone/>
            </a:pPr>
            <a:r>
              <a:rPr lang="en-US" sz="1500" b="1" dirty="0">
                <a:solidFill>
                  <a:schemeClr val="tx1"/>
                </a:solidFill>
              </a:rPr>
              <a:t>UTXO B</a:t>
            </a:r>
            <a:endParaRPr lang="en-US" sz="1500" dirty="0"/>
          </a:p>
          <a:p>
            <a:pPr algn="ctr" indent="0" marL="0">
              <a:lnSpc>
                <a:spcPct val="105000"/>
              </a:lnSpc>
              <a:buNone/>
            </a:pPr>
            <a:r>
              <a:rPr lang="en-US" sz="1800" b="1" dirty="0">
                <a:solidFill>
                  <a:schemeClr val="accent6"/>
                </a:solidFill>
              </a:rPr>
              <a:t>2 BTC</a:t>
            </a:r>
            <a:endParaRPr lang="en-US" sz="1500" dirty="0"/>
          </a:p>
        </p:txBody>
      </p:sp>
      <p:sp>
        <p:nvSpPr>
          <p:cNvPr id="11" name="Shape 8"/>
          <p:cNvSpPr/>
          <p:nvPr/>
        </p:nvSpPr>
        <p:spPr>
          <a:xfrm flipV="1">
            <a:off x="2331720" y="2331720"/>
            <a:ext cx="1097280" cy="749808"/>
          </a:xfrm>
          <a:prstGeom prst="line">
            <a:avLst/>
          </a:prstGeom>
          <a:noFill/>
          <a:ln w="31750">
            <a:solidFill>
              <a:schemeClr val="accent1"/>
            </a:solidFill>
            <a:prstDash val="solid"/>
            <a:tailEnd type="triangle"/>
          </a:ln>
        </p:spPr>
      </p:sp>
      <p:sp>
        <p:nvSpPr>
          <p:cNvPr id="12" name="Shape 9"/>
          <p:cNvSpPr/>
          <p:nvPr/>
        </p:nvSpPr>
        <p:spPr>
          <a:xfrm>
            <a:off x="3474720" y="1554480"/>
            <a:ext cx="2286000" cy="1965960"/>
          </a:xfrm>
          <a:prstGeom prst="roundRect">
            <a:avLst>
              <a:gd name="adj" fmla="val 3721"/>
            </a:avLst>
          </a:prstGeom>
          <a:solidFill>
            <a:schemeClr val="tx1"/>
          </a:solidFill>
          <a:ln w="12700">
            <a:solidFill>
              <a:schemeClr val="tx1">
                <a:alpha val="0"/>
              </a:schemeClr>
            </a:solidFill>
            <a:prstDash val="solid"/>
          </a:ln>
        </p:spPr>
      </p:sp>
      <p:sp>
        <p:nvSpPr>
          <p:cNvPr id="13" name="Text 10"/>
          <p:cNvSpPr txBox="1"/>
          <p:nvPr/>
        </p:nvSpPr>
        <p:spPr>
          <a:xfrm>
            <a:off x="3474720" y="1554480"/>
            <a:ext cx="2286000" cy="1965960"/>
          </a:xfrm>
          <a:prstGeom prst="rect">
            <a:avLst/>
          </a:prstGeom>
          <a:noFill/>
          <a:ln/>
        </p:spPr>
        <p:txBody>
          <a:bodyPr wrap="square" lIns="0" tIns="0" rIns="0" bIns="0" rtlCol="0" anchor="ctr"/>
          <a:lstStyle/>
          <a:p>
            <a:pPr algn="ctr" indent="0" marL="0">
              <a:lnSpc>
                <a:spcPct val="105000"/>
              </a:lnSpc>
              <a:spcAft>
                <a:spcPts val="400"/>
              </a:spcAft>
              <a:buNone/>
            </a:pPr>
            <a:r>
              <a:rPr lang="en-US" sz="1700" b="1" dirty="0">
                <a:solidFill>
                  <a:schemeClr val="bg1"/>
                </a:solidFill>
              </a:rPr>
              <a:t>一笔交易</a:t>
            </a:r>
            <a:endParaRPr lang="en-US" sz="1400" dirty="0"/>
          </a:p>
          <a:p>
            <a:pPr algn="ctr" indent="0" marL="0">
              <a:lnSpc>
                <a:spcPct val="105000"/>
              </a:lnSpc>
              <a:buNone/>
            </a:pPr>
            <a:r>
              <a:rPr lang="en-US" sz="1400" dirty="0">
                <a:solidFill>
                  <a:schemeClr val="accent5"/>
                </a:solidFill>
              </a:rPr>
              <a:t>Jack 用私钥签名</a:t>
            </a:r>
            <a:endParaRPr lang="en-US" sz="1400" dirty="0"/>
          </a:p>
          <a:p>
            <a:pPr algn="ctr" indent="0" marL="0">
              <a:lnSpc>
                <a:spcPct val="105000"/>
              </a:lnSpc>
              <a:buNone/>
            </a:pPr>
            <a:r>
              <a:rPr lang="en-US" sz="1400" dirty="0">
                <a:solidFill>
                  <a:schemeClr val="accent5"/>
                </a:solidFill>
              </a:rPr>
              <a:t>输入 4 = 输出 4</a:t>
            </a:r>
            <a:endParaRPr lang="en-US" sz="1400" dirty="0"/>
          </a:p>
        </p:txBody>
      </p:sp>
      <p:sp>
        <p:nvSpPr>
          <p:cNvPr id="14" name="Shape 11"/>
          <p:cNvSpPr/>
          <p:nvPr/>
        </p:nvSpPr>
        <p:spPr>
          <a:xfrm flipV="1">
            <a:off x="5806440" y="1755648"/>
            <a:ext cx="594360" cy="786384"/>
          </a:xfrm>
          <a:prstGeom prst="line">
            <a:avLst/>
          </a:prstGeom>
          <a:noFill/>
          <a:ln w="31750">
            <a:solidFill>
              <a:schemeClr val="accent1"/>
            </a:solidFill>
            <a:prstDash val="solid"/>
            <a:tailEnd type="triangle"/>
          </a:ln>
        </p:spPr>
      </p:sp>
      <p:sp>
        <p:nvSpPr>
          <p:cNvPr id="15" name="Shape 12"/>
          <p:cNvSpPr/>
          <p:nvPr/>
        </p:nvSpPr>
        <p:spPr>
          <a:xfrm>
            <a:off x="6446520" y="1417320"/>
            <a:ext cx="2240280" cy="685800"/>
          </a:xfrm>
          <a:prstGeom prst="roundRect">
            <a:avLst>
              <a:gd name="adj" fmla="val 10667"/>
            </a:avLst>
          </a:prstGeom>
          <a:solidFill>
            <a:schemeClr val="bg2"/>
          </a:solidFill>
          <a:ln w="12700">
            <a:solidFill>
              <a:schemeClr val="bg2">
                <a:alpha val="0"/>
              </a:schemeClr>
            </a:solidFill>
            <a:prstDash val="solid"/>
          </a:ln>
        </p:spPr>
      </p:sp>
      <p:sp>
        <p:nvSpPr>
          <p:cNvPr id="16" name="Text 13"/>
          <p:cNvSpPr txBox="1"/>
          <p:nvPr/>
        </p:nvSpPr>
        <p:spPr>
          <a:xfrm>
            <a:off x="6446520" y="1417320"/>
            <a:ext cx="2240280" cy="6858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 Jill</a:t>
            </a:r>
            <a:endParaRPr lang="en-US" sz="1400" dirty="0"/>
          </a:p>
          <a:p>
            <a:pPr algn="ctr" indent="0" marL="0">
              <a:lnSpc>
                <a:spcPct val="105000"/>
              </a:lnSpc>
              <a:buNone/>
            </a:pPr>
            <a:r>
              <a:rPr lang="en-US" sz="1500" b="1" dirty="0">
                <a:solidFill>
                  <a:schemeClr val="accent6"/>
                </a:solidFill>
              </a:rPr>
              <a:t>3 BTC</a:t>
            </a:r>
            <a:endParaRPr lang="en-US" sz="1400" dirty="0"/>
          </a:p>
        </p:txBody>
      </p:sp>
      <p:sp>
        <p:nvSpPr>
          <p:cNvPr id="17" name="Shape 14"/>
          <p:cNvSpPr/>
          <p:nvPr/>
        </p:nvSpPr>
        <p:spPr>
          <a:xfrm>
            <a:off x="5806440" y="2542032"/>
            <a:ext cx="594360" cy="36576"/>
          </a:xfrm>
          <a:prstGeom prst="line">
            <a:avLst/>
          </a:prstGeom>
          <a:noFill/>
          <a:ln w="31750">
            <a:solidFill>
              <a:schemeClr val="accent1"/>
            </a:solidFill>
            <a:prstDash val="solid"/>
            <a:tailEnd type="triangle"/>
          </a:ln>
        </p:spPr>
      </p:sp>
      <p:sp>
        <p:nvSpPr>
          <p:cNvPr id="18" name="Shape 15"/>
          <p:cNvSpPr/>
          <p:nvPr/>
        </p:nvSpPr>
        <p:spPr>
          <a:xfrm>
            <a:off x="6446520" y="2240280"/>
            <a:ext cx="2240280" cy="685800"/>
          </a:xfrm>
          <a:prstGeom prst="roundRect">
            <a:avLst>
              <a:gd name="adj" fmla="val 10667"/>
            </a:avLst>
          </a:prstGeom>
          <a:solidFill>
            <a:schemeClr val="bg2"/>
          </a:solidFill>
          <a:ln w="12700">
            <a:solidFill>
              <a:schemeClr val="bg2">
                <a:alpha val="0"/>
              </a:schemeClr>
            </a:solidFill>
            <a:prstDash val="solid"/>
          </a:ln>
        </p:spPr>
      </p:sp>
      <p:sp>
        <p:nvSpPr>
          <p:cNvPr id="19" name="Text 16"/>
          <p:cNvSpPr txBox="1"/>
          <p:nvPr/>
        </p:nvSpPr>
        <p:spPr>
          <a:xfrm>
            <a:off x="6446520" y="2240280"/>
            <a:ext cx="2240280" cy="6858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 Jack（找零）</a:t>
            </a:r>
            <a:endParaRPr lang="en-US" sz="1400" dirty="0"/>
          </a:p>
          <a:p>
            <a:pPr algn="ctr" indent="0" marL="0">
              <a:lnSpc>
                <a:spcPct val="105000"/>
              </a:lnSpc>
              <a:buNone/>
            </a:pPr>
            <a:r>
              <a:rPr lang="en-US" sz="1500" b="1" dirty="0">
                <a:solidFill>
                  <a:schemeClr val="accent6"/>
                </a:solidFill>
              </a:rPr>
              <a:t>0.999 BTC</a:t>
            </a:r>
            <a:endParaRPr lang="en-US" sz="1400" dirty="0"/>
          </a:p>
        </p:txBody>
      </p:sp>
      <p:sp>
        <p:nvSpPr>
          <p:cNvPr id="20" name="Shape 17"/>
          <p:cNvSpPr/>
          <p:nvPr/>
        </p:nvSpPr>
        <p:spPr>
          <a:xfrm>
            <a:off x="5806440" y="2542032"/>
            <a:ext cx="594360" cy="859536"/>
          </a:xfrm>
          <a:prstGeom prst="line">
            <a:avLst/>
          </a:prstGeom>
          <a:noFill/>
          <a:ln w="31750">
            <a:solidFill>
              <a:schemeClr val="accent1"/>
            </a:solidFill>
            <a:prstDash val="solid"/>
            <a:tailEnd type="triangle"/>
          </a:ln>
        </p:spPr>
      </p:sp>
      <p:sp>
        <p:nvSpPr>
          <p:cNvPr id="21" name="Shape 18"/>
          <p:cNvSpPr/>
          <p:nvPr/>
        </p:nvSpPr>
        <p:spPr>
          <a:xfrm>
            <a:off x="6446520" y="3063240"/>
            <a:ext cx="2240280" cy="685800"/>
          </a:xfrm>
          <a:prstGeom prst="roundRect">
            <a:avLst>
              <a:gd name="adj" fmla="val 10667"/>
            </a:avLst>
          </a:prstGeom>
          <a:solidFill>
            <a:schemeClr val="bg2"/>
          </a:solidFill>
          <a:ln w="12700">
            <a:solidFill>
              <a:schemeClr val="bg2">
                <a:alpha val="0"/>
              </a:schemeClr>
            </a:solidFill>
            <a:prstDash val="solid"/>
          </a:ln>
        </p:spPr>
      </p:sp>
      <p:sp>
        <p:nvSpPr>
          <p:cNvPr id="22" name="Text 19"/>
          <p:cNvSpPr txBox="1"/>
          <p:nvPr/>
        </p:nvSpPr>
        <p:spPr>
          <a:xfrm>
            <a:off x="6446520" y="3063240"/>
            <a:ext cx="2240280" cy="68580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 矿工（手续费）</a:t>
            </a:r>
            <a:endParaRPr lang="en-US" sz="1400" dirty="0"/>
          </a:p>
          <a:p>
            <a:pPr algn="ctr" indent="0" marL="0">
              <a:lnSpc>
                <a:spcPct val="105000"/>
              </a:lnSpc>
              <a:buNone/>
            </a:pPr>
            <a:r>
              <a:rPr lang="en-US" sz="1500" b="1" dirty="0">
                <a:solidFill>
                  <a:schemeClr val="accent6"/>
                </a:solidFill>
              </a:rPr>
              <a:t>0.001 BTC</a:t>
            </a:r>
            <a:endParaRPr lang="en-US" sz="1400" dirty="0"/>
          </a:p>
        </p:txBody>
      </p:sp>
      <p:sp>
        <p:nvSpPr>
          <p:cNvPr id="23" name="Text 20"/>
          <p:cNvSpPr txBox="1"/>
          <p:nvPr/>
        </p:nvSpPr>
        <p:spPr>
          <a:xfrm>
            <a:off x="457200" y="3794760"/>
            <a:ext cx="8229600" cy="146304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600" b="1" dirty="0">
                <a:solidFill>
                  <a:schemeClr val="tx1"/>
                </a:solidFill>
              </a:rPr>
              <a:t>余额</a:t>
            </a:r>
            <a:pPr algn="l" marL="254000" indent="-254000">
              <a:lnSpc>
                <a:spcPct val="105000"/>
              </a:lnSpc>
              <a:spcAft>
                <a:spcPts val="800"/>
              </a:spcAft>
              <a:buSzPct val="100000"/>
              <a:buChar char="•"/>
            </a:pPr>
            <a:r>
              <a:rPr lang="en-US" sz="1600" dirty="0">
                <a:solidFill>
                  <a:schemeClr val="tx1"/>
                </a:solidFill>
              </a:rPr>
              <a:t> = 钱包里属于你的所有 UTXO 之和</a:t>
            </a:r>
            <a:endParaRPr lang="en-US" sz="1600" dirty="0"/>
          </a:p>
          <a:p>
            <a:pPr algn="l" marL="254000" indent="-254000">
              <a:lnSpc>
                <a:spcPct val="105000"/>
              </a:lnSpc>
              <a:spcAft>
                <a:spcPts val="800"/>
              </a:spcAft>
              <a:buSzPct val="100000"/>
              <a:buChar char="•"/>
            </a:pPr>
            <a:r>
              <a:rPr lang="en-US" sz="1600" dirty="0">
                <a:solidFill>
                  <a:schemeClr val="tx1"/>
                </a:solidFill>
              </a:rPr>
              <a:t>UTXO 一旦被花，就</a:t>
            </a:r>
            <a:pPr algn="l" marL="254000" indent="-254000">
              <a:lnSpc>
                <a:spcPct val="105000"/>
              </a:lnSpc>
              <a:spcAft>
                <a:spcPts val="800"/>
              </a:spcAft>
              <a:buSzPct val="100000"/>
              <a:buChar char="•"/>
            </a:pPr>
            <a:r>
              <a:rPr lang="en-US" sz="1600" b="1" dirty="0">
                <a:solidFill>
                  <a:schemeClr val="tx1"/>
                </a:solidFill>
              </a:rPr>
              <a:t>整个消耗</a:t>
            </a:r>
            <a:pPr algn="l" marL="254000" indent="-254000">
              <a:lnSpc>
                <a:spcPct val="105000"/>
              </a:lnSpc>
              <a:spcAft>
                <a:spcPts val="800"/>
              </a:spcAft>
              <a:buSzPct val="100000"/>
              <a:buChar char="•"/>
            </a:pPr>
            <a:r>
              <a:rPr lang="en-US" sz="1600" dirty="0">
                <a:solidFill>
                  <a:schemeClr val="tx1"/>
                </a:solidFill>
              </a:rPr>
              <a:t>；找零必须写回自己的新地址</a:t>
            </a:r>
            <a:endParaRPr lang="en-US" sz="1600" dirty="0"/>
          </a:p>
          <a:p>
            <a:pPr algn="l" marL="254000" indent="-254000">
              <a:lnSpc>
                <a:spcPct val="105000"/>
              </a:lnSpc>
              <a:buSzPct val="100000"/>
              <a:buChar char="•"/>
            </a:pPr>
            <a:r>
              <a:rPr lang="en-US" sz="1600" dirty="0">
                <a:solidFill>
                  <a:schemeClr val="tx1"/>
                </a:solidFill>
              </a:rPr>
              <a:t>全节点维护 </a:t>
            </a:r>
            <a:pPr algn="l" marL="254000" indent="-254000">
              <a:lnSpc>
                <a:spcPct val="105000"/>
              </a:lnSpc>
              <a:buSzPct val="100000"/>
              <a:buChar char="•"/>
            </a:pPr>
            <a:r>
              <a:rPr lang="en-US" sz="1600" b="1" dirty="0">
                <a:solidFill>
                  <a:schemeClr val="tx1"/>
                </a:solidFill>
              </a:rPr>
              <a:t>UTXO 集合</a:t>
            </a:r>
            <a:pPr algn="l" marL="254000" indent="-254000">
              <a:lnSpc>
                <a:spcPct val="105000"/>
              </a:lnSpc>
              <a:buSzPct val="100000"/>
              <a:buChar char="•"/>
            </a:pPr>
            <a:r>
              <a:rPr lang="en-US" sz="1600" dirty="0">
                <a:solidFill>
                  <a:schemeClr val="tx1"/>
                </a:solidFill>
              </a:rPr>
              <a:t>：一个 UTXO 只能被花一次——这就是防双花的账本基础</a:t>
            </a:r>
            <a:endParaRPr lang="en-US" sz="1600" dirty="0"/>
          </a:p>
        </p:txBody>
      </p:sp>
      <p:sp>
        <p:nvSpPr>
          <p:cNvPr id="24" name="Shape 21"/>
          <p:cNvSpPr/>
          <p:nvPr/>
        </p:nvSpPr>
        <p:spPr>
          <a:xfrm>
            <a:off x="457200" y="5440680"/>
            <a:ext cx="8229600" cy="685800"/>
          </a:xfrm>
          <a:prstGeom prst="roundRect">
            <a:avLst>
              <a:gd name="adj" fmla="val 10667"/>
            </a:avLst>
          </a:prstGeom>
          <a:solidFill>
            <a:schemeClr val="accent1">
              <a:alpha val="12000"/>
            </a:schemeClr>
          </a:solidFill>
          <a:ln w="12700">
            <a:solidFill>
              <a:schemeClr val="accent1">
                <a:alpha val="0"/>
              </a:schemeClr>
            </a:solidFill>
            <a:prstDash val="solid"/>
          </a:ln>
        </p:spPr>
      </p:sp>
      <p:pic>
        <p:nvPicPr>
          <p:cNvPr id="25" name="Image 0" descr="key">    </p:cNvPr>
          <p:cNvPicPr>
            <a:picLocks noChangeAspect="1"/>
          </p:cNvPicPr>
          <p:nvPr/>
        </p:nvPicPr>
        <p:blipFill>
          <a:blip r:embed="rId1"/>
          <a:stretch>
            <a:fillRect/>
          </a:stretch>
        </p:blipFill>
        <p:spPr>
          <a:xfrm>
            <a:off x="640080" y="5591556"/>
            <a:ext cx="384048" cy="384048"/>
          </a:xfrm>
          <a:prstGeom prst="rect">
            <a:avLst/>
          </a:prstGeom>
        </p:spPr>
      </p:pic>
      <p:sp>
        <p:nvSpPr>
          <p:cNvPr id="26" name="Text 22"/>
          <p:cNvSpPr txBox="1"/>
          <p:nvPr/>
        </p:nvSpPr>
        <p:spPr>
          <a:xfrm>
            <a:off x="1188720" y="5513832"/>
            <a:ext cx="7315200" cy="53949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与以太坊的“账户模型”不同：那里账本里真的存着“账户余额”。</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区块长什么样：80 字节的区块头 + 交易列表</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区块</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来源：比特币区块头格式；图：原课件（廖雪峰区块链教程）</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600200"/>
                <a:gridCol w="777240"/>
                <a:gridCol w="2651760"/>
              </a:tblGrid>
              <a:tr h="411480">
                <a:tc>
                  <a:txBody>
                    <a:bodyPr/>
                    <a:lstStyle/>
                    <a:p>
                      <a:pPr algn="l" indent="0" marL="0">
                        <a:buNone/>
                      </a:pPr>
                      <a:r>
                        <a:rPr lang="en-US" sz="1400" b="1" dirty="0">
                          <a:solidFill>
                            <a:schemeClr val="bg1"/>
                          </a:solidFill>
                        </a:rPr>
                        <a:t>字段</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大小</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作用</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475488">
                <a:tc>
                  <a:txBody>
                    <a:bodyPr/>
                    <a:lstStyle/>
                    <a:p>
                      <a:pPr algn="l" indent="0" marL="0">
                        <a:buNone/>
                      </a:pPr>
                      <a:r>
                        <a:rPr lang="en-US" sz="1400" b="1" dirty="0">
                          <a:solidFill>
                            <a:schemeClr val="tx1"/>
                          </a:solidFill>
                        </a:rPr>
                        <a:t>版本</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4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协议版本 / 升级信号</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前一区块哈希</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32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指向上一个区块</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默克尔根</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32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本块全部交易的指纹</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时间戳</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4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大致出块时间</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难度目标</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4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本块 PoW 的门槛</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75488">
                <a:tc>
                  <a:txBody>
                    <a:bodyPr/>
                    <a:lstStyle/>
                    <a:p>
                      <a:pPr algn="l" indent="0" marL="0">
                        <a:buNone/>
                      </a:pPr>
                      <a:r>
                        <a:rPr lang="en-US" sz="1400" b="1" dirty="0">
                          <a:solidFill>
                            <a:schemeClr val="tx1"/>
                          </a:solidFill>
                        </a:rPr>
                        <a:t>随机数 nonce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4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矿工反复尝试的数字</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75488">
                <a:tc>
                  <a:txBody>
                    <a:bodyPr/>
                    <a:lstStyle/>
                    <a:p>
                      <a:pPr algn="l" indent="0" marL="0">
                        <a:buNone/>
                      </a:pPr>
                      <a:r>
                        <a:rPr lang="en-US" sz="1400" b="1" dirty="0">
                          <a:solidFill>
                            <a:schemeClr val="tx1"/>
                          </a:solidFill>
                        </a:rPr>
                        <a:t>合计</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80 B</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 对它做两次 SHA-256 = 区块哈希</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bl>
          </a:graphicData>
        </a:graphic>
      </p:graphicFrame>
      <p:sp>
        <p:nvSpPr>
          <p:cNvPr id="7" name="Shape 3"/>
          <p:cNvSpPr/>
          <p:nvPr/>
        </p:nvSpPr>
        <p:spPr>
          <a:xfrm>
            <a:off x="5742432" y="1399032"/>
            <a:ext cx="2962656" cy="2621280"/>
          </a:xfrm>
          <a:prstGeom prst="rect">
            <a:avLst/>
          </a:prstGeom>
          <a:solidFill>
            <a:schemeClr val="bg1"/>
          </a:solidFill>
          <a:ln w="9525">
            <a:solidFill>
              <a:schemeClr val="accent5"/>
            </a:solidFill>
            <a:prstDash val="solid"/>
          </a:ln>
        </p:spPr>
      </p:sp>
      <p:pic>
        <p:nvPicPr>
          <p:cNvPr id="8" name="Image 0" descr="区块头与交易列表示意">    </p:cNvPr>
          <p:cNvPicPr>
            <a:picLocks noChangeAspect="1"/>
          </p:cNvPicPr>
          <p:nvPr/>
        </p:nvPicPr>
        <p:blipFill>
          <a:blip r:embed="rId1"/>
          <a:stretch>
            <a:fillRect/>
          </a:stretch>
        </p:blipFill>
        <p:spPr>
          <a:xfrm>
            <a:off x="5760720" y="1417320"/>
            <a:ext cx="2926080" cy="2584704"/>
          </a:xfrm>
          <a:prstGeom prst="rect">
            <a:avLst/>
          </a:prstGeom>
        </p:spPr>
      </p:pic>
      <p:sp>
        <p:nvSpPr>
          <p:cNvPr id="9" name="Text 4"/>
          <p:cNvSpPr txBox="1"/>
          <p:nvPr/>
        </p:nvSpPr>
        <p:spPr>
          <a:xfrm>
            <a:off x="5760720" y="4056888"/>
            <a:ext cx="2926080" cy="27432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区块头与交易列表示意</a:t>
            </a:r>
            <a:endParaRPr lang="en-US" sz="1100" dirty="0"/>
          </a:p>
        </p:txBody>
      </p:sp>
      <p:sp>
        <p:nvSpPr>
          <p:cNvPr id="10" name="Shape 5"/>
          <p:cNvSpPr/>
          <p:nvPr/>
        </p:nvSpPr>
        <p:spPr>
          <a:xfrm>
            <a:off x="457200" y="5303520"/>
            <a:ext cx="8229600" cy="777240"/>
          </a:xfrm>
          <a:prstGeom prst="roundRect">
            <a:avLst>
              <a:gd name="adj" fmla="val 9412"/>
            </a:avLst>
          </a:prstGeom>
          <a:solidFill>
            <a:schemeClr val="accent1">
              <a:alpha val="12000"/>
            </a:schemeClr>
          </a:solidFill>
          <a:ln w="12700">
            <a:solidFill>
              <a:schemeClr val="accent1">
                <a:alpha val="0"/>
              </a:schemeClr>
            </a:solidFill>
            <a:prstDash val="solid"/>
          </a:ln>
        </p:spPr>
      </p:sp>
      <p:pic>
        <p:nvPicPr>
          <p:cNvPr id="11" name="Image 1" descr="key">    </p:cNvPr>
          <p:cNvPicPr>
            <a:picLocks noChangeAspect="1"/>
          </p:cNvPicPr>
          <p:nvPr/>
        </p:nvPicPr>
        <p:blipFill>
          <a:blip r:embed="rId2"/>
          <a:stretch>
            <a:fillRect/>
          </a:stretch>
        </p:blipFill>
        <p:spPr>
          <a:xfrm>
            <a:off x="640080" y="5500116"/>
            <a:ext cx="384048" cy="384048"/>
          </a:xfrm>
          <a:prstGeom prst="rect">
            <a:avLst/>
          </a:prstGeom>
        </p:spPr>
      </p:pic>
      <p:sp>
        <p:nvSpPr>
          <p:cNvPr id="12" name="Text 6"/>
          <p:cNvSpPr txBox="1"/>
          <p:nvPr/>
        </p:nvSpPr>
        <p:spPr>
          <a:xfrm>
            <a:off x="1188720" y="5376672"/>
            <a:ext cx="7315200" cy="63093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区块哈希</a:t>
            </a:r>
            <a:pPr algn="l" indent="0" marL="0">
              <a:lnSpc>
                <a:spcPct val="105000"/>
              </a:lnSpc>
              <a:buNone/>
            </a:pPr>
            <a:r>
              <a:rPr lang="en-US" sz="1600" b="1" dirty="0">
                <a:solidFill>
                  <a:schemeClr val="tx1"/>
                </a:solidFill>
              </a:rPr>
              <a:t>不写在区块里</a:t>
            </a:r>
            <a:pPr algn="l" indent="0" marL="0">
              <a:lnSpc>
                <a:spcPct val="105000"/>
              </a:lnSpc>
              <a:buNone/>
            </a:pPr>
            <a:r>
              <a:rPr lang="en-US" sz="1600" dirty="0">
                <a:solidFill>
                  <a:schemeClr val="tx1"/>
                </a:solidFill>
              </a:rPr>
              <a:t>：对这 80 字节做两次 SHA-256，才得到它。</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区块如何“链”起来：每一块都包含上一块的哈希</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区块</a:t>
            </a:r>
            <a:endParaRPr lang="en-US" sz="1200" dirty="0"/>
          </a:p>
        </p:txBody>
      </p:sp>
      <p:sp>
        <p:nvSpPr>
          <p:cNvPr id="5" name="Shape 2"/>
          <p:cNvSpPr/>
          <p:nvPr/>
        </p:nvSpPr>
        <p:spPr>
          <a:xfrm>
            <a:off x="457200" y="1554480"/>
            <a:ext cx="2194560" cy="2743200"/>
          </a:xfrm>
          <a:prstGeom prst="roundRect">
            <a:avLst>
              <a:gd name="adj" fmla="val 3333"/>
            </a:avLst>
          </a:prstGeom>
          <a:solidFill>
            <a:schemeClr val="bg2"/>
          </a:solidFill>
          <a:ln w="12700">
            <a:solidFill>
              <a:schemeClr val="bg2">
                <a:alpha val="0"/>
              </a:schemeClr>
            </a:solidFill>
            <a:prstDash val="solid"/>
          </a:ln>
        </p:spPr>
      </p:sp>
      <p:sp>
        <p:nvSpPr>
          <p:cNvPr id="6" name="Shape 3"/>
          <p:cNvSpPr/>
          <p:nvPr/>
        </p:nvSpPr>
        <p:spPr>
          <a:xfrm>
            <a:off x="457200" y="1554480"/>
            <a:ext cx="2194560" cy="548640"/>
          </a:xfrm>
          <a:prstGeom prst="roundRect">
            <a:avLst>
              <a:gd name="adj" fmla="val 13333"/>
            </a:avLst>
          </a:prstGeom>
          <a:solidFill>
            <a:schemeClr val="tx1"/>
          </a:solidFill>
          <a:ln w="12700">
            <a:solidFill>
              <a:schemeClr val="tx1">
                <a:alpha val="0"/>
              </a:schemeClr>
            </a:solidFill>
            <a:prstDash val="solid"/>
          </a:ln>
        </p:spPr>
      </p:sp>
      <p:sp>
        <p:nvSpPr>
          <p:cNvPr id="7" name="Text 4"/>
          <p:cNvSpPr txBox="1"/>
          <p:nvPr/>
        </p:nvSpPr>
        <p:spPr>
          <a:xfrm>
            <a:off x="457200" y="1554480"/>
            <a:ext cx="2194560"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bg1"/>
                </a:solidFill>
              </a:rPr>
              <a:t>区块 N−1</a:t>
            </a:r>
            <a:endParaRPr lang="en-US" sz="1700" dirty="0"/>
          </a:p>
        </p:txBody>
      </p:sp>
      <p:sp>
        <p:nvSpPr>
          <p:cNvPr id="8" name="Shape 5"/>
          <p:cNvSpPr/>
          <p:nvPr/>
        </p:nvSpPr>
        <p:spPr>
          <a:xfrm>
            <a:off x="594360" y="2240280"/>
            <a:ext cx="1920240" cy="411480"/>
          </a:xfrm>
          <a:prstGeom prst="roundRect">
            <a:avLst>
              <a:gd name="adj" fmla="val 17778"/>
            </a:avLst>
          </a:prstGeom>
          <a:solidFill>
            <a:schemeClr val="accent1"/>
          </a:solidFill>
          <a:ln w="12700">
            <a:solidFill>
              <a:schemeClr val="accent1">
                <a:alpha val="0"/>
              </a:schemeClr>
            </a:solidFill>
            <a:prstDash val="solid"/>
          </a:ln>
        </p:spPr>
      </p:sp>
      <p:sp>
        <p:nvSpPr>
          <p:cNvPr id="9" name="Text 6"/>
          <p:cNvSpPr txBox="1"/>
          <p:nvPr/>
        </p:nvSpPr>
        <p:spPr>
          <a:xfrm>
            <a:off x="594360" y="224028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Prev Hash</a:t>
            </a:r>
            <a:endParaRPr lang="en-US" sz="1400" dirty="0"/>
          </a:p>
        </p:txBody>
      </p:sp>
      <p:sp>
        <p:nvSpPr>
          <p:cNvPr id="10" name="Shape 7"/>
          <p:cNvSpPr/>
          <p:nvPr/>
        </p:nvSpPr>
        <p:spPr>
          <a:xfrm>
            <a:off x="594360" y="2743200"/>
            <a:ext cx="1920240" cy="411480"/>
          </a:xfrm>
          <a:prstGeom prst="roundRect">
            <a:avLst>
              <a:gd name="adj" fmla="val 17778"/>
            </a:avLst>
          </a:prstGeom>
          <a:solidFill>
            <a:schemeClr val="bg1"/>
          </a:solidFill>
          <a:ln w="9525">
            <a:solidFill>
              <a:schemeClr val="accent5"/>
            </a:solidFill>
            <a:prstDash val="solid"/>
          </a:ln>
        </p:spPr>
      </p:sp>
      <p:sp>
        <p:nvSpPr>
          <p:cNvPr id="11" name="Text 8"/>
          <p:cNvSpPr txBox="1"/>
          <p:nvPr/>
        </p:nvSpPr>
        <p:spPr>
          <a:xfrm>
            <a:off x="594360" y="274320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Merkle 根</a:t>
            </a:r>
            <a:endParaRPr lang="en-US" sz="1400" dirty="0"/>
          </a:p>
        </p:txBody>
      </p:sp>
      <p:sp>
        <p:nvSpPr>
          <p:cNvPr id="12" name="Shape 9"/>
          <p:cNvSpPr/>
          <p:nvPr/>
        </p:nvSpPr>
        <p:spPr>
          <a:xfrm>
            <a:off x="594360" y="3246120"/>
            <a:ext cx="1920240" cy="411480"/>
          </a:xfrm>
          <a:prstGeom prst="roundRect">
            <a:avLst>
              <a:gd name="adj" fmla="val 17778"/>
            </a:avLst>
          </a:prstGeom>
          <a:solidFill>
            <a:schemeClr val="bg1"/>
          </a:solidFill>
          <a:ln w="9525">
            <a:solidFill>
              <a:schemeClr val="accent5"/>
            </a:solidFill>
            <a:prstDash val="solid"/>
          </a:ln>
        </p:spPr>
      </p:sp>
      <p:sp>
        <p:nvSpPr>
          <p:cNvPr id="13" name="Text 10"/>
          <p:cNvSpPr txBox="1"/>
          <p:nvPr/>
        </p:nvSpPr>
        <p:spPr>
          <a:xfrm>
            <a:off x="594360" y="324612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rPr>
              <a:t>时间 · 难度 · Nonce</a:t>
            </a:r>
            <a:endParaRPr lang="en-US" sz="1400" dirty="0"/>
          </a:p>
        </p:txBody>
      </p:sp>
      <p:sp>
        <p:nvSpPr>
          <p:cNvPr id="14" name="Text 11"/>
          <p:cNvSpPr txBox="1"/>
          <p:nvPr/>
        </p:nvSpPr>
        <p:spPr>
          <a:xfrm>
            <a:off x="502920" y="3794760"/>
            <a:ext cx="2103120" cy="457200"/>
          </a:xfrm>
          <a:prstGeom prst="rect">
            <a:avLst/>
          </a:prstGeom>
          <a:noFill/>
          <a:ln/>
        </p:spPr>
        <p:txBody>
          <a:bodyPr wrap="square" lIns="0" tIns="0" rIns="0" bIns="0" rtlCol="0" anchor="ctr"/>
          <a:lstStyle/>
          <a:p>
            <a:pPr algn="ctr" indent="0" marL="0">
              <a:lnSpc>
                <a:spcPct val="105000"/>
              </a:lnSpc>
              <a:buNone/>
            </a:pPr>
            <a:r>
              <a:rPr lang="en-US" sz="1200" b="1" dirty="0">
                <a:solidFill>
                  <a:schemeClr val="accent6"/>
                </a:solidFill>
              </a:rPr>
              <a:t>区块哈希 = SHA256d(头)</a:t>
            </a:r>
            <a:endParaRPr lang="en-US" sz="1200" dirty="0"/>
          </a:p>
        </p:txBody>
      </p:sp>
      <p:sp>
        <p:nvSpPr>
          <p:cNvPr id="15" name="Shape 12"/>
          <p:cNvSpPr/>
          <p:nvPr/>
        </p:nvSpPr>
        <p:spPr>
          <a:xfrm>
            <a:off x="3474720" y="1554480"/>
            <a:ext cx="2194560" cy="2743200"/>
          </a:xfrm>
          <a:prstGeom prst="roundRect">
            <a:avLst>
              <a:gd name="adj" fmla="val 3333"/>
            </a:avLst>
          </a:prstGeom>
          <a:solidFill>
            <a:schemeClr val="bg2"/>
          </a:solidFill>
          <a:ln w="12700">
            <a:solidFill>
              <a:schemeClr val="bg2">
                <a:alpha val="0"/>
              </a:schemeClr>
            </a:solidFill>
            <a:prstDash val="solid"/>
          </a:ln>
        </p:spPr>
      </p:sp>
      <p:sp>
        <p:nvSpPr>
          <p:cNvPr id="16" name="Shape 13"/>
          <p:cNvSpPr/>
          <p:nvPr/>
        </p:nvSpPr>
        <p:spPr>
          <a:xfrm>
            <a:off x="3474720" y="1554480"/>
            <a:ext cx="2194560" cy="548640"/>
          </a:xfrm>
          <a:prstGeom prst="roundRect">
            <a:avLst>
              <a:gd name="adj" fmla="val 13333"/>
            </a:avLst>
          </a:prstGeom>
          <a:solidFill>
            <a:schemeClr val="tx1"/>
          </a:solidFill>
          <a:ln w="12700">
            <a:solidFill>
              <a:schemeClr val="tx1">
                <a:alpha val="0"/>
              </a:schemeClr>
            </a:solidFill>
            <a:prstDash val="solid"/>
          </a:ln>
        </p:spPr>
      </p:sp>
      <p:sp>
        <p:nvSpPr>
          <p:cNvPr id="17" name="Text 14"/>
          <p:cNvSpPr txBox="1"/>
          <p:nvPr/>
        </p:nvSpPr>
        <p:spPr>
          <a:xfrm>
            <a:off x="3474720" y="1554480"/>
            <a:ext cx="2194560"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bg1"/>
                </a:solidFill>
              </a:rPr>
              <a:t>区块 N</a:t>
            </a:r>
            <a:endParaRPr lang="en-US" sz="1700" dirty="0"/>
          </a:p>
        </p:txBody>
      </p:sp>
      <p:sp>
        <p:nvSpPr>
          <p:cNvPr id="18" name="Shape 15"/>
          <p:cNvSpPr/>
          <p:nvPr/>
        </p:nvSpPr>
        <p:spPr>
          <a:xfrm>
            <a:off x="3611880" y="2240280"/>
            <a:ext cx="1920240" cy="411480"/>
          </a:xfrm>
          <a:prstGeom prst="roundRect">
            <a:avLst>
              <a:gd name="adj" fmla="val 17778"/>
            </a:avLst>
          </a:prstGeom>
          <a:solidFill>
            <a:schemeClr val="accent1"/>
          </a:solidFill>
          <a:ln w="12700">
            <a:solidFill>
              <a:schemeClr val="accent1">
                <a:alpha val="0"/>
              </a:schemeClr>
            </a:solidFill>
            <a:prstDash val="solid"/>
          </a:ln>
        </p:spPr>
      </p:sp>
      <p:sp>
        <p:nvSpPr>
          <p:cNvPr id="19" name="Text 16"/>
          <p:cNvSpPr txBox="1"/>
          <p:nvPr/>
        </p:nvSpPr>
        <p:spPr>
          <a:xfrm>
            <a:off x="3611880" y="224028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Prev Hash</a:t>
            </a:r>
            <a:endParaRPr lang="en-US" sz="1400" dirty="0"/>
          </a:p>
        </p:txBody>
      </p:sp>
      <p:sp>
        <p:nvSpPr>
          <p:cNvPr id="20" name="Shape 17"/>
          <p:cNvSpPr/>
          <p:nvPr/>
        </p:nvSpPr>
        <p:spPr>
          <a:xfrm>
            <a:off x="3611880" y="2743200"/>
            <a:ext cx="1920240" cy="411480"/>
          </a:xfrm>
          <a:prstGeom prst="roundRect">
            <a:avLst>
              <a:gd name="adj" fmla="val 17778"/>
            </a:avLst>
          </a:prstGeom>
          <a:solidFill>
            <a:schemeClr val="bg1"/>
          </a:solidFill>
          <a:ln w="9525">
            <a:solidFill>
              <a:schemeClr val="accent5"/>
            </a:solidFill>
            <a:prstDash val="solid"/>
          </a:ln>
        </p:spPr>
      </p:sp>
      <p:sp>
        <p:nvSpPr>
          <p:cNvPr id="21" name="Text 18"/>
          <p:cNvSpPr txBox="1"/>
          <p:nvPr/>
        </p:nvSpPr>
        <p:spPr>
          <a:xfrm>
            <a:off x="3611880" y="274320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Merkle 根</a:t>
            </a:r>
            <a:endParaRPr lang="en-US" sz="1400" dirty="0"/>
          </a:p>
        </p:txBody>
      </p:sp>
      <p:sp>
        <p:nvSpPr>
          <p:cNvPr id="22" name="Shape 19"/>
          <p:cNvSpPr/>
          <p:nvPr/>
        </p:nvSpPr>
        <p:spPr>
          <a:xfrm>
            <a:off x="3611880" y="3246120"/>
            <a:ext cx="1920240" cy="411480"/>
          </a:xfrm>
          <a:prstGeom prst="roundRect">
            <a:avLst>
              <a:gd name="adj" fmla="val 17778"/>
            </a:avLst>
          </a:prstGeom>
          <a:solidFill>
            <a:schemeClr val="bg1"/>
          </a:solidFill>
          <a:ln w="9525">
            <a:solidFill>
              <a:schemeClr val="accent5"/>
            </a:solidFill>
            <a:prstDash val="solid"/>
          </a:ln>
        </p:spPr>
      </p:sp>
      <p:sp>
        <p:nvSpPr>
          <p:cNvPr id="23" name="Text 20"/>
          <p:cNvSpPr txBox="1"/>
          <p:nvPr/>
        </p:nvSpPr>
        <p:spPr>
          <a:xfrm>
            <a:off x="3611880" y="324612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rPr>
              <a:t>时间 · 难度 · Nonce</a:t>
            </a:r>
            <a:endParaRPr lang="en-US" sz="1400" dirty="0"/>
          </a:p>
        </p:txBody>
      </p:sp>
      <p:sp>
        <p:nvSpPr>
          <p:cNvPr id="24" name="Text 21"/>
          <p:cNvSpPr txBox="1"/>
          <p:nvPr/>
        </p:nvSpPr>
        <p:spPr>
          <a:xfrm>
            <a:off x="3520440" y="3794760"/>
            <a:ext cx="2103120" cy="457200"/>
          </a:xfrm>
          <a:prstGeom prst="rect">
            <a:avLst/>
          </a:prstGeom>
          <a:noFill/>
          <a:ln/>
        </p:spPr>
        <p:txBody>
          <a:bodyPr wrap="square" lIns="0" tIns="0" rIns="0" bIns="0" rtlCol="0" anchor="ctr"/>
          <a:lstStyle/>
          <a:p>
            <a:pPr algn="ctr" indent="0" marL="0">
              <a:lnSpc>
                <a:spcPct val="105000"/>
              </a:lnSpc>
              <a:buNone/>
            </a:pPr>
            <a:r>
              <a:rPr lang="en-US" sz="1200" b="1" dirty="0">
                <a:solidFill>
                  <a:schemeClr val="accent6"/>
                </a:solidFill>
              </a:rPr>
              <a:t>区块哈希 = SHA256d(头)</a:t>
            </a:r>
            <a:endParaRPr lang="en-US" sz="1200" dirty="0"/>
          </a:p>
        </p:txBody>
      </p:sp>
      <p:sp>
        <p:nvSpPr>
          <p:cNvPr id="25" name="Shape 22"/>
          <p:cNvSpPr/>
          <p:nvPr/>
        </p:nvSpPr>
        <p:spPr>
          <a:xfrm flipH="1">
            <a:off x="2633472" y="2446020"/>
            <a:ext cx="950976" cy="0"/>
          </a:xfrm>
          <a:prstGeom prst="line">
            <a:avLst/>
          </a:prstGeom>
          <a:noFill/>
          <a:ln w="38100">
            <a:solidFill>
              <a:schemeClr val="accent1"/>
            </a:solidFill>
            <a:prstDash val="solid"/>
            <a:tailEnd type="triangle"/>
          </a:ln>
        </p:spPr>
      </p:sp>
      <p:sp>
        <p:nvSpPr>
          <p:cNvPr id="26" name="Shape 23"/>
          <p:cNvSpPr/>
          <p:nvPr/>
        </p:nvSpPr>
        <p:spPr>
          <a:xfrm>
            <a:off x="6492240" y="1554480"/>
            <a:ext cx="2194560" cy="2743200"/>
          </a:xfrm>
          <a:prstGeom prst="roundRect">
            <a:avLst>
              <a:gd name="adj" fmla="val 3333"/>
            </a:avLst>
          </a:prstGeom>
          <a:solidFill>
            <a:schemeClr val="bg2"/>
          </a:solidFill>
          <a:ln w="12700">
            <a:solidFill>
              <a:schemeClr val="bg2">
                <a:alpha val="0"/>
              </a:schemeClr>
            </a:solidFill>
            <a:prstDash val="solid"/>
          </a:ln>
        </p:spPr>
      </p:sp>
      <p:sp>
        <p:nvSpPr>
          <p:cNvPr id="27" name="Shape 24"/>
          <p:cNvSpPr/>
          <p:nvPr/>
        </p:nvSpPr>
        <p:spPr>
          <a:xfrm>
            <a:off x="6492240" y="1554480"/>
            <a:ext cx="2194560" cy="548640"/>
          </a:xfrm>
          <a:prstGeom prst="roundRect">
            <a:avLst>
              <a:gd name="adj" fmla="val 13333"/>
            </a:avLst>
          </a:prstGeom>
          <a:solidFill>
            <a:schemeClr val="tx1"/>
          </a:solidFill>
          <a:ln w="12700">
            <a:solidFill>
              <a:schemeClr val="tx1">
                <a:alpha val="0"/>
              </a:schemeClr>
            </a:solidFill>
            <a:prstDash val="solid"/>
          </a:ln>
        </p:spPr>
      </p:sp>
      <p:sp>
        <p:nvSpPr>
          <p:cNvPr id="28" name="Text 25"/>
          <p:cNvSpPr txBox="1"/>
          <p:nvPr/>
        </p:nvSpPr>
        <p:spPr>
          <a:xfrm>
            <a:off x="6492240" y="1554480"/>
            <a:ext cx="2194560" cy="548640"/>
          </a:xfrm>
          <a:prstGeom prst="rect">
            <a:avLst/>
          </a:prstGeom>
          <a:noFill/>
          <a:ln/>
        </p:spPr>
        <p:txBody>
          <a:bodyPr wrap="square" lIns="0" tIns="0" rIns="0" bIns="0" rtlCol="0" anchor="ctr"/>
          <a:lstStyle/>
          <a:p>
            <a:pPr algn="ctr" indent="0" marL="0">
              <a:lnSpc>
                <a:spcPct val="105000"/>
              </a:lnSpc>
              <a:buNone/>
            </a:pPr>
            <a:r>
              <a:rPr lang="en-US" sz="1700" b="1" dirty="0">
                <a:solidFill>
                  <a:schemeClr val="bg1"/>
                </a:solidFill>
              </a:rPr>
              <a:t>区块 N+1</a:t>
            </a:r>
            <a:endParaRPr lang="en-US" sz="1700" dirty="0"/>
          </a:p>
        </p:txBody>
      </p:sp>
      <p:sp>
        <p:nvSpPr>
          <p:cNvPr id="29" name="Shape 26"/>
          <p:cNvSpPr/>
          <p:nvPr/>
        </p:nvSpPr>
        <p:spPr>
          <a:xfrm>
            <a:off x="6629400" y="2240280"/>
            <a:ext cx="1920240" cy="411480"/>
          </a:xfrm>
          <a:prstGeom prst="roundRect">
            <a:avLst>
              <a:gd name="adj" fmla="val 17778"/>
            </a:avLst>
          </a:prstGeom>
          <a:solidFill>
            <a:schemeClr val="accent1"/>
          </a:solidFill>
          <a:ln w="12700">
            <a:solidFill>
              <a:schemeClr val="accent1">
                <a:alpha val="0"/>
              </a:schemeClr>
            </a:solidFill>
            <a:prstDash val="solid"/>
          </a:ln>
        </p:spPr>
      </p:sp>
      <p:sp>
        <p:nvSpPr>
          <p:cNvPr id="30" name="Text 27"/>
          <p:cNvSpPr txBox="1"/>
          <p:nvPr/>
        </p:nvSpPr>
        <p:spPr>
          <a:xfrm>
            <a:off x="6629400" y="224028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Prev Hash</a:t>
            </a:r>
            <a:endParaRPr lang="en-US" sz="1400" dirty="0"/>
          </a:p>
        </p:txBody>
      </p:sp>
      <p:sp>
        <p:nvSpPr>
          <p:cNvPr id="31" name="Shape 28"/>
          <p:cNvSpPr/>
          <p:nvPr/>
        </p:nvSpPr>
        <p:spPr>
          <a:xfrm>
            <a:off x="6629400" y="2743200"/>
            <a:ext cx="1920240" cy="411480"/>
          </a:xfrm>
          <a:prstGeom prst="roundRect">
            <a:avLst>
              <a:gd name="adj" fmla="val 17778"/>
            </a:avLst>
          </a:prstGeom>
          <a:solidFill>
            <a:schemeClr val="bg1"/>
          </a:solidFill>
          <a:ln w="9525">
            <a:solidFill>
              <a:schemeClr val="accent5"/>
            </a:solidFill>
            <a:prstDash val="solid"/>
          </a:ln>
        </p:spPr>
      </p:sp>
      <p:sp>
        <p:nvSpPr>
          <p:cNvPr id="32" name="Text 29"/>
          <p:cNvSpPr txBox="1"/>
          <p:nvPr/>
        </p:nvSpPr>
        <p:spPr>
          <a:xfrm>
            <a:off x="6629400" y="274320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tx1"/>
                </a:solidFill>
              </a:rPr>
              <a:t>Merkle 根</a:t>
            </a:r>
            <a:endParaRPr lang="en-US" sz="1400" dirty="0"/>
          </a:p>
        </p:txBody>
      </p:sp>
      <p:sp>
        <p:nvSpPr>
          <p:cNvPr id="33" name="Shape 30"/>
          <p:cNvSpPr/>
          <p:nvPr/>
        </p:nvSpPr>
        <p:spPr>
          <a:xfrm>
            <a:off x="6629400" y="3246120"/>
            <a:ext cx="1920240" cy="411480"/>
          </a:xfrm>
          <a:prstGeom prst="roundRect">
            <a:avLst>
              <a:gd name="adj" fmla="val 17778"/>
            </a:avLst>
          </a:prstGeom>
          <a:solidFill>
            <a:schemeClr val="bg1"/>
          </a:solidFill>
          <a:ln w="9525">
            <a:solidFill>
              <a:schemeClr val="accent5"/>
            </a:solidFill>
            <a:prstDash val="solid"/>
          </a:ln>
        </p:spPr>
      </p:sp>
      <p:sp>
        <p:nvSpPr>
          <p:cNvPr id="34" name="Text 31"/>
          <p:cNvSpPr txBox="1"/>
          <p:nvPr/>
        </p:nvSpPr>
        <p:spPr>
          <a:xfrm>
            <a:off x="6629400" y="3246120"/>
            <a:ext cx="1920240" cy="411480"/>
          </a:xfrm>
          <a:prstGeom prst="rect">
            <a:avLst/>
          </a:prstGeom>
          <a:noFill/>
          <a:ln/>
        </p:spPr>
        <p:txBody>
          <a:bodyPr wrap="square" lIns="0" tIns="0" rIns="0" bIns="0" rtlCol="0" anchor="ctr"/>
          <a:lstStyle/>
          <a:p>
            <a:pPr algn="ctr" indent="0" marL="0">
              <a:lnSpc>
                <a:spcPct val="105000"/>
              </a:lnSpc>
              <a:buNone/>
            </a:pPr>
            <a:r>
              <a:rPr lang="en-US" sz="1400" dirty="0">
                <a:solidFill>
                  <a:schemeClr val="accent4"/>
                </a:solidFill>
              </a:rPr>
              <a:t>时间 · 难度 · Nonce</a:t>
            </a:r>
            <a:endParaRPr lang="en-US" sz="1400" dirty="0"/>
          </a:p>
        </p:txBody>
      </p:sp>
      <p:sp>
        <p:nvSpPr>
          <p:cNvPr id="35" name="Text 32"/>
          <p:cNvSpPr txBox="1"/>
          <p:nvPr/>
        </p:nvSpPr>
        <p:spPr>
          <a:xfrm>
            <a:off x="6537960" y="3794760"/>
            <a:ext cx="2103120" cy="457200"/>
          </a:xfrm>
          <a:prstGeom prst="rect">
            <a:avLst/>
          </a:prstGeom>
          <a:noFill/>
          <a:ln/>
        </p:spPr>
        <p:txBody>
          <a:bodyPr wrap="square" lIns="0" tIns="0" rIns="0" bIns="0" rtlCol="0" anchor="ctr"/>
          <a:lstStyle/>
          <a:p>
            <a:pPr algn="ctr" indent="0" marL="0">
              <a:lnSpc>
                <a:spcPct val="105000"/>
              </a:lnSpc>
              <a:buNone/>
            </a:pPr>
            <a:r>
              <a:rPr lang="en-US" sz="1200" b="1" dirty="0">
                <a:solidFill>
                  <a:schemeClr val="accent6"/>
                </a:solidFill>
              </a:rPr>
              <a:t>区块哈希 = SHA256d(头)</a:t>
            </a:r>
            <a:endParaRPr lang="en-US" sz="1200" dirty="0"/>
          </a:p>
        </p:txBody>
      </p:sp>
      <p:sp>
        <p:nvSpPr>
          <p:cNvPr id="36" name="Shape 33"/>
          <p:cNvSpPr/>
          <p:nvPr/>
        </p:nvSpPr>
        <p:spPr>
          <a:xfrm flipH="1">
            <a:off x="5650992" y="2446020"/>
            <a:ext cx="950976" cy="0"/>
          </a:xfrm>
          <a:prstGeom prst="line">
            <a:avLst/>
          </a:prstGeom>
          <a:noFill/>
          <a:ln w="38100">
            <a:solidFill>
              <a:schemeClr val="accent1"/>
            </a:solidFill>
            <a:prstDash val="solid"/>
            <a:tailEnd type="triangle"/>
          </a:ln>
        </p:spPr>
      </p:sp>
      <p:sp>
        <p:nvSpPr>
          <p:cNvPr id="37" name="Text 34"/>
          <p:cNvSpPr txBox="1"/>
          <p:nvPr/>
        </p:nvSpPr>
        <p:spPr>
          <a:xfrm>
            <a:off x="2743200" y="2011680"/>
            <a:ext cx="731520" cy="274320"/>
          </a:xfrm>
          <a:prstGeom prst="rect">
            <a:avLst/>
          </a:prstGeom>
          <a:noFill/>
          <a:ln/>
        </p:spPr>
        <p:txBody>
          <a:bodyPr wrap="square" lIns="0" tIns="0" rIns="0" bIns="0" rtlCol="0" anchor="ctr"/>
          <a:lstStyle/>
          <a:p>
            <a:pPr algn="ctr" indent="0" marL="0">
              <a:lnSpc>
                <a:spcPct val="105000"/>
              </a:lnSpc>
              <a:buNone/>
            </a:pPr>
            <a:r>
              <a:rPr lang="en-US" sz="1200" b="1" dirty="0">
                <a:solidFill>
                  <a:schemeClr val="accent6"/>
                </a:solidFill>
              </a:rPr>
              <a:t>指向</a:t>
            </a:r>
            <a:endParaRPr lang="en-US" sz="1200" dirty="0"/>
          </a:p>
        </p:txBody>
      </p:sp>
      <p:sp>
        <p:nvSpPr>
          <p:cNvPr id="38" name="Text 35"/>
          <p:cNvSpPr txBox="1"/>
          <p:nvPr/>
        </p:nvSpPr>
        <p:spPr>
          <a:xfrm>
            <a:off x="5760720" y="2011680"/>
            <a:ext cx="731520" cy="274320"/>
          </a:xfrm>
          <a:prstGeom prst="rect">
            <a:avLst/>
          </a:prstGeom>
          <a:noFill/>
          <a:ln/>
        </p:spPr>
        <p:txBody>
          <a:bodyPr wrap="square" lIns="0" tIns="0" rIns="0" bIns="0" rtlCol="0" anchor="ctr"/>
          <a:lstStyle/>
          <a:p>
            <a:pPr algn="ctr" indent="0" marL="0">
              <a:lnSpc>
                <a:spcPct val="105000"/>
              </a:lnSpc>
              <a:buNone/>
            </a:pPr>
            <a:r>
              <a:rPr lang="en-US" sz="1200" b="1" dirty="0">
                <a:solidFill>
                  <a:schemeClr val="accent6"/>
                </a:solidFill>
              </a:rPr>
              <a:t>指向</a:t>
            </a:r>
            <a:endParaRPr lang="en-US" sz="1200" dirty="0"/>
          </a:p>
        </p:txBody>
      </p:sp>
      <p:sp>
        <p:nvSpPr>
          <p:cNvPr id="39" name="Shape 36"/>
          <p:cNvSpPr/>
          <p:nvPr/>
        </p:nvSpPr>
        <p:spPr>
          <a:xfrm>
            <a:off x="457200" y="4617720"/>
            <a:ext cx="8229600" cy="822960"/>
          </a:xfrm>
          <a:prstGeom prst="roundRect">
            <a:avLst>
              <a:gd name="adj" fmla="val 8889"/>
            </a:avLst>
          </a:prstGeom>
          <a:solidFill>
            <a:schemeClr val="accent1">
              <a:alpha val="12000"/>
            </a:schemeClr>
          </a:solidFill>
          <a:ln w="12700">
            <a:solidFill>
              <a:schemeClr val="accent1">
                <a:alpha val="0"/>
              </a:schemeClr>
            </a:solidFill>
            <a:prstDash val="solid"/>
          </a:ln>
        </p:spPr>
      </p:sp>
      <p:pic>
        <p:nvPicPr>
          <p:cNvPr id="40" name="Image 0" descr="key">    </p:cNvPr>
          <p:cNvPicPr>
            <a:picLocks noChangeAspect="1"/>
          </p:cNvPicPr>
          <p:nvPr/>
        </p:nvPicPr>
        <p:blipFill>
          <a:blip r:embed="rId1"/>
          <a:stretch>
            <a:fillRect/>
          </a:stretch>
        </p:blipFill>
        <p:spPr>
          <a:xfrm>
            <a:off x="640080" y="4837176"/>
            <a:ext cx="384048" cy="384048"/>
          </a:xfrm>
          <a:prstGeom prst="rect">
            <a:avLst/>
          </a:prstGeom>
        </p:spPr>
      </p:pic>
      <p:sp>
        <p:nvSpPr>
          <p:cNvPr id="41" name="Text 37"/>
          <p:cNvSpPr txBox="1"/>
          <p:nvPr/>
        </p:nvSpPr>
        <p:spPr>
          <a:xfrm>
            <a:off x="1188720" y="4690872"/>
            <a:ext cx="7315200" cy="67665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每个区块都包含前一块的哈希，于是</a:t>
            </a:r>
            <a:pPr algn="l" indent="0" marL="0">
              <a:lnSpc>
                <a:spcPct val="105000"/>
              </a:lnSpc>
              <a:buNone/>
            </a:pPr>
            <a:r>
              <a:rPr lang="en-US" sz="1700" b="1" dirty="0">
                <a:solidFill>
                  <a:schemeClr val="tx1"/>
                </a:solidFill>
              </a:rPr>
              <a:t>每一块都递归地连接着此前的所有区块</a:t>
            </a:r>
            <a:pPr algn="l" indent="0" marL="0">
              <a:lnSpc>
                <a:spcPct val="105000"/>
              </a:lnSpc>
              <a:buNone/>
            </a:pPr>
            <a:r>
              <a:rPr lang="en-US" sz="1700" dirty="0">
                <a:solidFill>
                  <a:schemeClr val="tx1"/>
                </a:solidFill>
              </a:rPr>
              <a:t>。</a:t>
            </a:r>
            <a:endParaRPr lang="en-US" sz="1700" dirty="0"/>
          </a:p>
        </p:txBody>
      </p:sp>
      <p:sp>
        <p:nvSpPr>
          <p:cNvPr id="42" name="Text 38"/>
          <p:cNvSpPr txBox="1"/>
          <p:nvPr/>
        </p:nvSpPr>
        <p:spPr>
          <a:xfrm>
            <a:off x="457200" y="5623560"/>
            <a:ext cx="8229600" cy="41148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Prev Hash 指向上一块 → 上一块的内容被“锁”进了后面每一块的哈希里。</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如果改动第 N 块里的一笔交易，会发生什么？</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积木三 · 区块</a:t>
            </a:r>
            <a:endParaRPr lang="en-US" sz="1200" dirty="0"/>
          </a:p>
        </p:txBody>
      </p:sp>
      <p:sp>
        <p:nvSpPr>
          <p:cNvPr id="5" name="Shape 2"/>
          <p:cNvSpPr/>
          <p:nvPr/>
        </p:nvSpPr>
        <p:spPr>
          <a:xfrm>
            <a:off x="457200" y="1417320"/>
            <a:ext cx="5029200" cy="731520"/>
          </a:xfrm>
          <a:prstGeom prst="roundRect">
            <a:avLst>
              <a:gd name="adj" fmla="val 10000"/>
            </a:avLst>
          </a:prstGeom>
          <a:solidFill>
            <a:schemeClr val="accent2"/>
          </a:solidFill>
          <a:ln w="12700">
            <a:solidFill>
              <a:schemeClr val="accent2">
                <a:alpha val="0"/>
              </a:schemeClr>
            </a:solidFill>
            <a:prstDash val="solid"/>
          </a:ln>
        </p:spPr>
      </p:sp>
      <p:sp>
        <p:nvSpPr>
          <p:cNvPr id="6" name="Shape 3"/>
          <p:cNvSpPr/>
          <p:nvPr/>
        </p:nvSpPr>
        <p:spPr>
          <a:xfrm>
            <a:off x="594360" y="1545336"/>
            <a:ext cx="475488" cy="475488"/>
          </a:xfrm>
          <a:prstGeom prst="ellipse">
            <a:avLst/>
          </a:prstGeom>
          <a:solidFill>
            <a:schemeClr val="bg1"/>
          </a:solidFill>
          <a:ln w="12700">
            <a:solidFill>
              <a:schemeClr val="bg1">
                <a:alpha val="0"/>
              </a:schemeClr>
            </a:solidFill>
            <a:prstDash val="solid"/>
          </a:ln>
        </p:spPr>
      </p:sp>
      <p:sp>
        <p:nvSpPr>
          <p:cNvPr id="7" name="Text 4"/>
          <p:cNvSpPr txBox="1"/>
          <p:nvPr/>
        </p:nvSpPr>
        <p:spPr>
          <a:xfrm>
            <a:off x="594360" y="1545336"/>
            <a:ext cx="475488" cy="475488"/>
          </a:xfrm>
          <a:prstGeom prst="rect">
            <a:avLst/>
          </a:prstGeom>
          <a:noFill/>
          <a:ln/>
        </p:spPr>
        <p:txBody>
          <a:bodyPr wrap="square" lIns="0" tIns="0" rIns="0" bIns="0" rtlCol="0" anchor="ctr"/>
          <a:lstStyle/>
          <a:p>
            <a:pPr algn="ctr" indent="0" marL="0">
              <a:buNone/>
            </a:pPr>
            <a:r>
              <a:rPr lang="en-US" sz="1600" b="1" dirty="0">
                <a:solidFill>
                  <a:schemeClr val="accent2"/>
                </a:solidFill>
              </a:rPr>
              <a:t>1</a:t>
            </a:r>
            <a:endParaRPr lang="en-US" sz="1600" dirty="0"/>
          </a:p>
        </p:txBody>
      </p:sp>
      <p:sp>
        <p:nvSpPr>
          <p:cNvPr id="8" name="Text 5"/>
          <p:cNvSpPr txBox="1"/>
          <p:nvPr/>
        </p:nvSpPr>
        <p:spPr>
          <a:xfrm>
            <a:off x="1234440" y="1417320"/>
            <a:ext cx="4114800" cy="731520"/>
          </a:xfrm>
          <a:prstGeom prst="rect">
            <a:avLst/>
          </a:prstGeom>
          <a:noFill/>
          <a:ln/>
        </p:spPr>
        <p:txBody>
          <a:bodyPr wrap="square" lIns="0" tIns="0" rIns="0" bIns="0" rtlCol="0" anchor="ctr"/>
          <a:lstStyle/>
          <a:p>
            <a:pPr algn="l" indent="0" marL="0">
              <a:lnSpc>
                <a:spcPct val="105000"/>
              </a:lnSpc>
              <a:buNone/>
            </a:pPr>
            <a:r>
              <a:rPr lang="en-US" sz="1500" b="1" dirty="0">
                <a:solidFill>
                  <a:schemeClr val="bg1"/>
                </a:solidFill>
              </a:rPr>
              <a:t>改动第 N 块里的一笔交易</a:t>
            </a:r>
            <a:endParaRPr lang="en-US" sz="1500" dirty="0"/>
          </a:p>
        </p:txBody>
      </p:sp>
      <p:sp>
        <p:nvSpPr>
          <p:cNvPr id="9" name="Shape 6"/>
          <p:cNvSpPr/>
          <p:nvPr/>
        </p:nvSpPr>
        <p:spPr>
          <a:xfrm>
            <a:off x="2971800" y="2167128"/>
            <a:ext cx="0" cy="137160"/>
          </a:xfrm>
          <a:prstGeom prst="line">
            <a:avLst/>
          </a:prstGeom>
          <a:noFill/>
          <a:ln w="31750">
            <a:solidFill>
              <a:schemeClr val="accent1"/>
            </a:solidFill>
            <a:prstDash val="solid"/>
            <a:tailEnd type="triangle"/>
          </a:ln>
        </p:spPr>
      </p:sp>
      <p:sp>
        <p:nvSpPr>
          <p:cNvPr id="10" name="Shape 7"/>
          <p:cNvSpPr/>
          <p:nvPr/>
        </p:nvSpPr>
        <p:spPr>
          <a:xfrm>
            <a:off x="457200" y="2313432"/>
            <a:ext cx="5029200" cy="731520"/>
          </a:xfrm>
          <a:prstGeom prst="roundRect">
            <a:avLst>
              <a:gd name="adj" fmla="val 10000"/>
            </a:avLst>
          </a:prstGeom>
          <a:solidFill>
            <a:schemeClr val="bg2"/>
          </a:solidFill>
          <a:ln w="12700">
            <a:solidFill>
              <a:schemeClr val="bg2">
                <a:alpha val="0"/>
              </a:schemeClr>
            </a:solidFill>
            <a:prstDash val="solid"/>
          </a:ln>
        </p:spPr>
      </p:sp>
      <p:sp>
        <p:nvSpPr>
          <p:cNvPr id="11" name="Shape 8"/>
          <p:cNvSpPr/>
          <p:nvPr/>
        </p:nvSpPr>
        <p:spPr>
          <a:xfrm>
            <a:off x="594360" y="2441448"/>
            <a:ext cx="475488" cy="475488"/>
          </a:xfrm>
          <a:prstGeom prst="ellipse">
            <a:avLst/>
          </a:prstGeom>
          <a:solidFill>
            <a:schemeClr val="tx1"/>
          </a:solidFill>
          <a:ln w="12700">
            <a:solidFill>
              <a:schemeClr val="tx1">
                <a:alpha val="0"/>
              </a:schemeClr>
            </a:solidFill>
            <a:prstDash val="solid"/>
          </a:ln>
        </p:spPr>
      </p:sp>
      <p:sp>
        <p:nvSpPr>
          <p:cNvPr id="12" name="Text 9"/>
          <p:cNvSpPr txBox="1"/>
          <p:nvPr/>
        </p:nvSpPr>
        <p:spPr>
          <a:xfrm>
            <a:off x="594360" y="2441448"/>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1234440" y="2313432"/>
            <a:ext cx="4114800" cy="731520"/>
          </a:xfrm>
          <a:prstGeom prst="rect">
            <a:avLst/>
          </a:prstGeom>
          <a:noFill/>
          <a:ln/>
        </p:spPr>
        <p:txBody>
          <a:bodyPr wrap="square" lIns="0" tIns="0" rIns="0" bIns="0" rtlCol="0" anchor="ctr"/>
          <a:lstStyle/>
          <a:p>
            <a:pPr algn="l" indent="0" marL="0">
              <a:lnSpc>
                <a:spcPct val="105000"/>
              </a:lnSpc>
              <a:buNone/>
            </a:pPr>
            <a:r>
              <a:rPr lang="en-US" sz="1500" b="1" dirty="0">
                <a:solidFill>
                  <a:schemeClr val="tx1"/>
                </a:solidFill>
              </a:rPr>
              <a:t>该交易的哈希变 → Merkle 根变</a:t>
            </a:r>
            <a:endParaRPr lang="en-US" sz="1500" dirty="0"/>
          </a:p>
        </p:txBody>
      </p:sp>
      <p:sp>
        <p:nvSpPr>
          <p:cNvPr id="14" name="Shape 11"/>
          <p:cNvSpPr/>
          <p:nvPr/>
        </p:nvSpPr>
        <p:spPr>
          <a:xfrm>
            <a:off x="2971800" y="3063240"/>
            <a:ext cx="0" cy="137160"/>
          </a:xfrm>
          <a:prstGeom prst="line">
            <a:avLst/>
          </a:prstGeom>
          <a:noFill/>
          <a:ln w="31750">
            <a:solidFill>
              <a:schemeClr val="accent1"/>
            </a:solidFill>
            <a:prstDash val="solid"/>
            <a:tailEnd type="triangle"/>
          </a:ln>
        </p:spPr>
      </p:sp>
      <p:sp>
        <p:nvSpPr>
          <p:cNvPr id="15" name="Shape 12"/>
          <p:cNvSpPr/>
          <p:nvPr/>
        </p:nvSpPr>
        <p:spPr>
          <a:xfrm>
            <a:off x="457200" y="3209544"/>
            <a:ext cx="5029200" cy="731520"/>
          </a:xfrm>
          <a:prstGeom prst="roundRect">
            <a:avLst>
              <a:gd name="adj" fmla="val 10000"/>
            </a:avLst>
          </a:prstGeom>
          <a:solidFill>
            <a:schemeClr val="bg2"/>
          </a:solidFill>
          <a:ln w="12700">
            <a:solidFill>
              <a:schemeClr val="bg2">
                <a:alpha val="0"/>
              </a:schemeClr>
            </a:solidFill>
            <a:prstDash val="solid"/>
          </a:ln>
        </p:spPr>
      </p:sp>
      <p:sp>
        <p:nvSpPr>
          <p:cNvPr id="16" name="Shape 13"/>
          <p:cNvSpPr/>
          <p:nvPr/>
        </p:nvSpPr>
        <p:spPr>
          <a:xfrm>
            <a:off x="594360" y="3337560"/>
            <a:ext cx="475488" cy="475488"/>
          </a:xfrm>
          <a:prstGeom prst="ellipse">
            <a:avLst/>
          </a:prstGeom>
          <a:solidFill>
            <a:schemeClr val="tx1"/>
          </a:solidFill>
          <a:ln w="12700">
            <a:solidFill>
              <a:schemeClr val="tx1">
                <a:alpha val="0"/>
              </a:schemeClr>
            </a:solidFill>
            <a:prstDash val="solid"/>
          </a:ln>
        </p:spPr>
      </p:sp>
      <p:sp>
        <p:nvSpPr>
          <p:cNvPr id="17" name="Text 14"/>
          <p:cNvSpPr txBox="1"/>
          <p:nvPr/>
        </p:nvSpPr>
        <p:spPr>
          <a:xfrm>
            <a:off x="594360" y="3337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234440" y="3209544"/>
            <a:ext cx="4114800" cy="731520"/>
          </a:xfrm>
          <a:prstGeom prst="rect">
            <a:avLst/>
          </a:prstGeom>
          <a:noFill/>
          <a:ln/>
        </p:spPr>
        <p:txBody>
          <a:bodyPr wrap="square" lIns="0" tIns="0" rIns="0" bIns="0" rtlCol="0" anchor="ctr"/>
          <a:lstStyle/>
          <a:p>
            <a:pPr algn="l" indent="0" marL="0">
              <a:lnSpc>
                <a:spcPct val="105000"/>
              </a:lnSpc>
              <a:buNone/>
            </a:pPr>
            <a:r>
              <a:rPr lang="en-US" sz="1500" b="1" dirty="0">
                <a:solidFill>
                  <a:schemeClr val="tx1"/>
                </a:solidFill>
              </a:rPr>
              <a:t>第 N 块的区块哈希变</a:t>
            </a:r>
            <a:endParaRPr lang="en-US" sz="1500" dirty="0"/>
          </a:p>
        </p:txBody>
      </p:sp>
      <p:sp>
        <p:nvSpPr>
          <p:cNvPr id="19" name="Shape 16"/>
          <p:cNvSpPr/>
          <p:nvPr/>
        </p:nvSpPr>
        <p:spPr>
          <a:xfrm>
            <a:off x="2971800" y="3959352"/>
            <a:ext cx="0" cy="137160"/>
          </a:xfrm>
          <a:prstGeom prst="line">
            <a:avLst/>
          </a:prstGeom>
          <a:noFill/>
          <a:ln w="31750">
            <a:solidFill>
              <a:schemeClr val="accent1"/>
            </a:solidFill>
            <a:prstDash val="solid"/>
            <a:tailEnd type="triangle"/>
          </a:ln>
        </p:spPr>
      </p:sp>
      <p:sp>
        <p:nvSpPr>
          <p:cNvPr id="20" name="Shape 17"/>
          <p:cNvSpPr/>
          <p:nvPr/>
        </p:nvSpPr>
        <p:spPr>
          <a:xfrm>
            <a:off x="457200" y="4105656"/>
            <a:ext cx="5029200" cy="731520"/>
          </a:xfrm>
          <a:prstGeom prst="roundRect">
            <a:avLst>
              <a:gd name="adj" fmla="val 10000"/>
            </a:avLst>
          </a:prstGeom>
          <a:solidFill>
            <a:schemeClr val="bg2"/>
          </a:solidFill>
          <a:ln w="12700">
            <a:solidFill>
              <a:schemeClr val="bg2">
                <a:alpha val="0"/>
              </a:schemeClr>
            </a:solidFill>
            <a:prstDash val="solid"/>
          </a:ln>
        </p:spPr>
      </p:sp>
      <p:sp>
        <p:nvSpPr>
          <p:cNvPr id="21" name="Shape 18"/>
          <p:cNvSpPr/>
          <p:nvPr/>
        </p:nvSpPr>
        <p:spPr>
          <a:xfrm>
            <a:off x="594360" y="4233672"/>
            <a:ext cx="475488" cy="475488"/>
          </a:xfrm>
          <a:prstGeom prst="ellipse">
            <a:avLst/>
          </a:prstGeom>
          <a:solidFill>
            <a:schemeClr val="tx1"/>
          </a:solidFill>
          <a:ln w="12700">
            <a:solidFill>
              <a:schemeClr val="tx1">
                <a:alpha val="0"/>
              </a:schemeClr>
            </a:solidFill>
            <a:prstDash val="solid"/>
          </a:ln>
        </p:spPr>
      </p:sp>
      <p:sp>
        <p:nvSpPr>
          <p:cNvPr id="22" name="Text 19"/>
          <p:cNvSpPr txBox="1"/>
          <p:nvPr/>
        </p:nvSpPr>
        <p:spPr>
          <a:xfrm>
            <a:off x="594360" y="4233672"/>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1234440" y="4105656"/>
            <a:ext cx="4114800" cy="731520"/>
          </a:xfrm>
          <a:prstGeom prst="rect">
            <a:avLst/>
          </a:prstGeom>
          <a:noFill/>
          <a:ln/>
        </p:spPr>
        <p:txBody>
          <a:bodyPr wrap="square" lIns="0" tIns="0" rIns="0" bIns="0" rtlCol="0" anchor="ctr"/>
          <a:lstStyle/>
          <a:p>
            <a:pPr algn="l" indent="0" marL="0">
              <a:lnSpc>
                <a:spcPct val="105000"/>
              </a:lnSpc>
              <a:buNone/>
            </a:pPr>
            <a:r>
              <a:rPr lang="en-US" sz="1500" b="1" dirty="0">
                <a:solidFill>
                  <a:schemeClr val="tx1"/>
                </a:solidFill>
              </a:rPr>
              <a:t>第 N+1 块的 Prev Hash 对不上，必须同步修改</a:t>
            </a:r>
            <a:endParaRPr lang="en-US" sz="1500" dirty="0"/>
          </a:p>
        </p:txBody>
      </p:sp>
      <p:sp>
        <p:nvSpPr>
          <p:cNvPr id="24" name="Shape 21"/>
          <p:cNvSpPr/>
          <p:nvPr/>
        </p:nvSpPr>
        <p:spPr>
          <a:xfrm>
            <a:off x="2971800" y="4855464"/>
            <a:ext cx="0" cy="137160"/>
          </a:xfrm>
          <a:prstGeom prst="line">
            <a:avLst/>
          </a:prstGeom>
          <a:noFill/>
          <a:ln w="31750">
            <a:solidFill>
              <a:schemeClr val="accent1"/>
            </a:solidFill>
            <a:prstDash val="solid"/>
            <a:tailEnd type="triangle"/>
          </a:ln>
        </p:spPr>
      </p:sp>
      <p:sp>
        <p:nvSpPr>
          <p:cNvPr id="25" name="Shape 22"/>
          <p:cNvSpPr/>
          <p:nvPr/>
        </p:nvSpPr>
        <p:spPr>
          <a:xfrm>
            <a:off x="457200" y="5001768"/>
            <a:ext cx="5029200" cy="731520"/>
          </a:xfrm>
          <a:prstGeom prst="roundRect">
            <a:avLst>
              <a:gd name="adj" fmla="val 10000"/>
            </a:avLst>
          </a:prstGeom>
          <a:solidFill>
            <a:schemeClr val="accent1"/>
          </a:solidFill>
          <a:ln w="12700">
            <a:solidFill>
              <a:schemeClr val="accent1">
                <a:alpha val="0"/>
              </a:schemeClr>
            </a:solidFill>
            <a:prstDash val="solid"/>
          </a:ln>
        </p:spPr>
      </p:sp>
      <p:sp>
        <p:nvSpPr>
          <p:cNvPr id="26" name="Shape 23"/>
          <p:cNvSpPr/>
          <p:nvPr/>
        </p:nvSpPr>
        <p:spPr>
          <a:xfrm>
            <a:off x="594360" y="5129784"/>
            <a:ext cx="475488" cy="475488"/>
          </a:xfrm>
          <a:prstGeom prst="ellipse">
            <a:avLst/>
          </a:prstGeom>
          <a:solidFill>
            <a:schemeClr val="tx1"/>
          </a:solidFill>
          <a:ln w="12700">
            <a:solidFill>
              <a:schemeClr val="tx1">
                <a:alpha val="0"/>
              </a:schemeClr>
            </a:solidFill>
            <a:prstDash val="solid"/>
          </a:ln>
        </p:spPr>
      </p:sp>
      <p:sp>
        <p:nvSpPr>
          <p:cNvPr id="27" name="Text 24"/>
          <p:cNvSpPr txBox="1"/>
          <p:nvPr/>
        </p:nvSpPr>
        <p:spPr>
          <a:xfrm>
            <a:off x="594360" y="512978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5"/>
          <p:cNvSpPr txBox="1"/>
          <p:nvPr/>
        </p:nvSpPr>
        <p:spPr>
          <a:xfrm>
            <a:off x="1234440" y="5001768"/>
            <a:ext cx="4114800" cy="731520"/>
          </a:xfrm>
          <a:prstGeom prst="rect">
            <a:avLst/>
          </a:prstGeom>
          <a:noFill/>
          <a:ln/>
        </p:spPr>
        <p:txBody>
          <a:bodyPr wrap="square" lIns="0" tIns="0" rIns="0" bIns="0" rtlCol="0" anchor="ctr"/>
          <a:lstStyle/>
          <a:p>
            <a:pPr algn="l" indent="0" marL="0">
              <a:lnSpc>
                <a:spcPct val="105000"/>
              </a:lnSpc>
              <a:buNone/>
            </a:pPr>
            <a:r>
              <a:rPr lang="en-US" sz="1500" b="1" dirty="0">
                <a:solidFill>
                  <a:schemeClr val="tx1"/>
                </a:solidFill>
              </a:rPr>
              <a:t>之后的每一块都要重做</a:t>
            </a:r>
            <a:endParaRPr lang="en-US" sz="1500" dirty="0"/>
          </a:p>
        </p:txBody>
      </p:sp>
      <p:sp>
        <p:nvSpPr>
          <p:cNvPr id="29" name="Shape 26"/>
          <p:cNvSpPr/>
          <p:nvPr/>
        </p:nvSpPr>
        <p:spPr>
          <a:xfrm>
            <a:off x="5760720" y="1417320"/>
            <a:ext cx="2926080" cy="1737360"/>
          </a:xfrm>
          <a:prstGeom prst="roundRect">
            <a:avLst>
              <a:gd name="adj" fmla="val 4211"/>
            </a:avLst>
          </a:prstGeom>
          <a:solidFill>
            <a:schemeClr val="bg2"/>
          </a:solidFill>
          <a:ln w="12700">
            <a:solidFill>
              <a:schemeClr val="bg2">
                <a:alpha val="0"/>
              </a:schemeClr>
            </a:solidFill>
            <a:prstDash val="solid"/>
          </a:ln>
        </p:spPr>
      </p:sp>
      <p:sp>
        <p:nvSpPr>
          <p:cNvPr id="30" name="Text 27"/>
          <p:cNvSpPr txBox="1"/>
          <p:nvPr/>
        </p:nvSpPr>
        <p:spPr>
          <a:xfrm>
            <a:off x="5897880" y="1527048"/>
            <a:ext cx="2651760" cy="868680"/>
          </a:xfrm>
          <a:prstGeom prst="rect">
            <a:avLst/>
          </a:prstGeom>
          <a:noFill/>
          <a:ln/>
        </p:spPr>
        <p:txBody>
          <a:bodyPr wrap="square" lIns="0" tIns="0" rIns="0" bIns="0" rtlCol="0" anchor="ctr"/>
          <a:lstStyle/>
          <a:p>
            <a:pPr algn="ctr" indent="0" marL="0">
              <a:lnSpc>
                <a:spcPct val="105000"/>
              </a:lnSpc>
              <a:buNone/>
            </a:pPr>
            <a:r>
              <a:rPr lang="en-US" sz="2200" b="1" dirty="0">
                <a:solidFill>
                  <a:schemeClr val="accent6"/>
                </a:solidFill>
              </a:rPr>
              <a:t>重做 N ～ 链尖</a:t>
            </a:r>
            <a:endParaRPr lang="en-US" sz="2200" dirty="0"/>
          </a:p>
        </p:txBody>
      </p:sp>
      <p:sp>
        <p:nvSpPr>
          <p:cNvPr id="31" name="Text 28"/>
          <p:cNvSpPr txBox="1"/>
          <p:nvPr/>
        </p:nvSpPr>
        <p:spPr>
          <a:xfrm>
            <a:off x="5897880" y="2424989"/>
            <a:ext cx="2651760" cy="660197"/>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全部区块的工作量证明</a:t>
            </a:r>
            <a:endParaRPr lang="en-US" sz="1400" dirty="0"/>
          </a:p>
        </p:txBody>
      </p:sp>
      <p:sp>
        <p:nvSpPr>
          <p:cNvPr id="32" name="Shape 29"/>
          <p:cNvSpPr/>
          <p:nvPr/>
        </p:nvSpPr>
        <p:spPr>
          <a:xfrm>
            <a:off x="5760720" y="3383280"/>
            <a:ext cx="2926080" cy="1828800"/>
          </a:xfrm>
          <a:prstGeom prst="roundRect">
            <a:avLst>
              <a:gd name="adj" fmla="val 4000"/>
            </a:avLst>
          </a:prstGeom>
          <a:solidFill>
            <a:schemeClr val="accent2">
              <a:alpha val="12000"/>
            </a:schemeClr>
          </a:solidFill>
          <a:ln w="12700">
            <a:solidFill>
              <a:schemeClr val="accent2">
                <a:alpha val="0"/>
              </a:schemeClr>
            </a:solidFill>
            <a:prstDash val="solid"/>
          </a:ln>
        </p:spPr>
      </p:sp>
      <p:pic>
        <p:nvPicPr>
          <p:cNvPr id="33" name="Image 0" descr="warn">    </p:cNvPr>
          <p:cNvPicPr>
            <a:picLocks noChangeAspect="1"/>
          </p:cNvPicPr>
          <p:nvPr/>
        </p:nvPicPr>
        <p:blipFill>
          <a:blip r:embed="rId1"/>
          <a:stretch>
            <a:fillRect/>
          </a:stretch>
        </p:blipFill>
        <p:spPr>
          <a:xfrm>
            <a:off x="5943600" y="4105656"/>
            <a:ext cx="384048" cy="384048"/>
          </a:xfrm>
          <a:prstGeom prst="rect">
            <a:avLst/>
          </a:prstGeom>
        </p:spPr>
      </p:pic>
      <p:sp>
        <p:nvSpPr>
          <p:cNvPr id="34" name="Text 30"/>
          <p:cNvSpPr txBox="1"/>
          <p:nvPr/>
        </p:nvSpPr>
        <p:spPr>
          <a:xfrm>
            <a:off x="6492240" y="3456432"/>
            <a:ext cx="2011680" cy="168249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改账 = 重做这一块</a:t>
            </a:r>
            <a:pPr algn="l" indent="0" marL="0">
              <a:lnSpc>
                <a:spcPct val="105000"/>
              </a:lnSpc>
              <a:buNone/>
            </a:pPr>
            <a:r>
              <a:rPr lang="en-US" sz="1500" b="1" dirty="0">
                <a:solidFill>
                  <a:schemeClr val="tx1"/>
                </a:solidFill>
              </a:rPr>
              <a:t>以及它之后所有块</a:t>
            </a:r>
            <a:pPr algn="l" indent="0" marL="0">
              <a:lnSpc>
                <a:spcPct val="105000"/>
              </a:lnSpc>
              <a:buNone/>
            </a:pPr>
            <a:r>
              <a:rPr lang="en-US" sz="1500" dirty="0">
                <a:solidFill>
                  <a:schemeClr val="tx1"/>
                </a:solidFill>
              </a:rPr>
              <a:t>的工作量证明。</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随堂小测：账本、角色与区块</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随堂小测 · 积木三</a:t>
            </a:r>
            <a:endParaRPr lang="en-US" sz="1200" dirty="0"/>
          </a:p>
        </p:txBody>
      </p:sp>
      <p:sp>
        <p:nvSpPr>
          <p:cNvPr id="5" name="Shape 2"/>
          <p:cNvSpPr/>
          <p:nvPr/>
        </p:nvSpPr>
        <p:spPr>
          <a:xfrm>
            <a:off x="457200" y="1371600"/>
            <a:ext cx="8229600" cy="1417320"/>
          </a:xfrm>
          <a:prstGeom prst="roundRect">
            <a:avLst>
              <a:gd name="adj" fmla="val 5161"/>
            </a:avLst>
          </a:prstGeom>
          <a:solidFill>
            <a:schemeClr val="bg2"/>
          </a:solidFill>
          <a:ln w="12700">
            <a:solidFill>
              <a:schemeClr val="bg2">
                <a:alpha val="0"/>
              </a:schemeClr>
            </a:solidFill>
            <a:prstDash val="solid"/>
          </a:ln>
        </p:spPr>
      </p:sp>
      <p:sp>
        <p:nvSpPr>
          <p:cNvPr id="6" name="Shape 3"/>
          <p:cNvSpPr/>
          <p:nvPr/>
        </p:nvSpPr>
        <p:spPr>
          <a:xfrm>
            <a:off x="640080" y="1796796"/>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79679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为什么数字货币比现金更容易出现“双重支付”问题？</a:t>
            </a:r>
            <a:endParaRPr lang="en-US" sz="1500" dirty="0"/>
          </a:p>
        </p:txBody>
      </p:sp>
      <p:sp>
        <p:nvSpPr>
          <p:cNvPr id="9" name="Shape 6"/>
          <p:cNvSpPr/>
          <p:nvPr/>
        </p:nvSpPr>
        <p:spPr>
          <a:xfrm>
            <a:off x="7772400" y="1897380"/>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897380"/>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1" name="Shape 8"/>
          <p:cNvSpPr/>
          <p:nvPr/>
        </p:nvSpPr>
        <p:spPr>
          <a:xfrm>
            <a:off x="457200" y="2898648"/>
            <a:ext cx="8229600" cy="1417320"/>
          </a:xfrm>
          <a:prstGeom prst="roundRect">
            <a:avLst>
              <a:gd name="adj" fmla="val 5161"/>
            </a:avLst>
          </a:prstGeom>
          <a:solidFill>
            <a:schemeClr val="bg2"/>
          </a:solidFill>
          <a:ln w="12700">
            <a:solidFill>
              <a:schemeClr val="bg2">
                <a:alpha val="0"/>
              </a:schemeClr>
            </a:solidFill>
            <a:prstDash val="solid"/>
          </a:ln>
        </p:spPr>
      </p:sp>
      <p:sp>
        <p:nvSpPr>
          <p:cNvPr id="12" name="Shape 9"/>
          <p:cNvSpPr/>
          <p:nvPr/>
        </p:nvSpPr>
        <p:spPr>
          <a:xfrm>
            <a:off x="640080" y="3323844"/>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332384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971800"/>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全节点和矿工有什么区别？谁对“区块是否有效”有最终发言权？</a:t>
            </a:r>
            <a:endParaRPr lang="en-US" sz="1500" dirty="0"/>
          </a:p>
        </p:txBody>
      </p:sp>
      <p:sp>
        <p:nvSpPr>
          <p:cNvPr id="15" name="Shape 12"/>
          <p:cNvSpPr/>
          <p:nvPr/>
        </p:nvSpPr>
        <p:spPr>
          <a:xfrm>
            <a:off x="7772400" y="3424428"/>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342442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7" name="Shape 14"/>
          <p:cNvSpPr/>
          <p:nvPr/>
        </p:nvSpPr>
        <p:spPr>
          <a:xfrm>
            <a:off x="457200" y="4425696"/>
            <a:ext cx="8229600" cy="1417320"/>
          </a:xfrm>
          <a:prstGeom prst="roundRect">
            <a:avLst>
              <a:gd name="adj" fmla="val 5161"/>
            </a:avLst>
          </a:prstGeom>
          <a:solidFill>
            <a:schemeClr val="bg2"/>
          </a:solidFill>
          <a:ln w="12700">
            <a:solidFill>
              <a:schemeClr val="bg2">
                <a:alpha val="0"/>
              </a:schemeClr>
            </a:solidFill>
            <a:prstDash val="solid"/>
          </a:ln>
        </p:spPr>
      </p:sp>
      <p:sp>
        <p:nvSpPr>
          <p:cNvPr id="18" name="Shape 15"/>
          <p:cNvSpPr/>
          <p:nvPr/>
        </p:nvSpPr>
        <p:spPr>
          <a:xfrm>
            <a:off x="640080" y="485089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85089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4498848"/>
            <a:ext cx="6126480" cy="1271016"/>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Jack 用两个 2 BTC 的 UTXO 付给 Jill 3 BTC，手续费 0.001，找零是多少？</a:t>
            </a:r>
            <a:endParaRPr lang="en-US" sz="1500" dirty="0"/>
          </a:p>
          <a:p>
            <a:pPr algn="l" indent="0" marL="0">
              <a:lnSpc>
                <a:spcPct val="105000"/>
              </a:lnSpc>
              <a:buNone/>
            </a:pPr>
            <a:r>
              <a:rPr lang="en-US" sz="1400" dirty="0">
                <a:solidFill>
                  <a:schemeClr val="accent4"/>
                </a:solidFill>
              </a:rPr>
              <a:t>A 0.999　B 1　C 0.001　D 0.5</a:t>
            </a:r>
            <a:endParaRPr lang="en-US" sz="1500" dirty="0"/>
          </a:p>
        </p:txBody>
      </p:sp>
      <p:sp>
        <p:nvSpPr>
          <p:cNvPr id="21" name="Shape 18"/>
          <p:cNvSpPr/>
          <p:nvPr/>
        </p:nvSpPr>
        <p:spPr>
          <a:xfrm>
            <a:off x="7772400" y="495147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95147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05</a:t>
            </a:r>
            <a:endParaRPr lang="en-US" sz="9600" dirty="0"/>
          </a:p>
        </p:txBody>
      </p:sp>
      <p:pic>
        <p:nvPicPr>
          <p:cNvPr id="3" name="Image 0" descr="FaCube">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工作量证明：谁来写下一页账？</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没有记账员，就让大家“比赛”：谁先做出一道难算易验的题，谁就有权出块。</a:t>
            </a:r>
            <a:endParaRPr lang="en-US" sz="2000" dirty="0"/>
          </a:p>
        </p:txBody>
      </p:sp>
      <p:sp>
        <p:nvSpPr>
          <p:cNvPr id="6"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300" dirty="0">
                <a:solidFill>
                  <a:schemeClr val="accent5"/>
                </a:solidFill>
              </a:rPr>
              <a:t>这一部分回答支付系统的哪个要求？</a:t>
            </a:r>
            <a:endParaRPr lang="en-US" sz="1300" dirty="0"/>
          </a:p>
        </p:txBody>
      </p:sp>
      <p:sp>
        <p:nvSpPr>
          <p:cNvPr id="7" name="Shape 4"/>
          <p:cNvSpPr/>
          <p:nvPr/>
        </p:nvSpPr>
        <p:spPr>
          <a:xfrm>
            <a:off x="457200" y="5120640"/>
            <a:ext cx="4023360" cy="384048"/>
          </a:xfrm>
          <a:prstGeom prst="roundRect">
            <a:avLst>
              <a:gd name="adj" fmla="val 50000"/>
            </a:avLst>
          </a:prstGeom>
          <a:solidFill>
            <a:schemeClr val="tx2"/>
          </a:solidFill>
          <a:ln w="12700">
            <a:solidFill>
              <a:schemeClr val="tx2">
                <a:alpha val="0"/>
              </a:schemeClr>
            </a:solidFill>
            <a:prstDash val="solid"/>
          </a:ln>
        </p:spPr>
      </p:sp>
      <p:sp>
        <p:nvSpPr>
          <p:cNvPr id="8" name="Text 5"/>
          <p:cNvSpPr txBox="1"/>
          <p:nvPr/>
        </p:nvSpPr>
        <p:spPr>
          <a:xfrm>
            <a:off x="457200" y="512064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① 识别交易双方</a:t>
            </a:r>
            <a:endParaRPr lang="en-US" sz="1300" dirty="0"/>
          </a:p>
        </p:txBody>
      </p:sp>
      <p:sp>
        <p:nvSpPr>
          <p:cNvPr id="9" name="Shape 6"/>
          <p:cNvSpPr/>
          <p:nvPr/>
        </p:nvSpPr>
        <p:spPr>
          <a:xfrm>
            <a:off x="4617720" y="5120640"/>
            <a:ext cx="4023360" cy="384048"/>
          </a:xfrm>
          <a:prstGeom prst="roundRect">
            <a:avLst>
              <a:gd name="adj" fmla="val 50000"/>
            </a:avLst>
          </a:prstGeom>
          <a:solidFill>
            <a:schemeClr val="tx2"/>
          </a:solidFill>
          <a:ln w="12700">
            <a:solidFill>
              <a:schemeClr val="tx2">
                <a:alpha val="0"/>
              </a:schemeClr>
            </a:solidFill>
            <a:prstDash val="solid"/>
          </a:ln>
        </p:spPr>
      </p:sp>
      <p:sp>
        <p:nvSpPr>
          <p:cNvPr id="10" name="Text 7"/>
          <p:cNvSpPr txBox="1"/>
          <p:nvPr/>
        </p:nvSpPr>
        <p:spPr>
          <a:xfrm>
            <a:off x="4617720" y="5120640"/>
            <a:ext cx="4023360" cy="384048"/>
          </a:xfrm>
          <a:prstGeom prst="rect">
            <a:avLst/>
          </a:prstGeom>
          <a:noFill/>
          <a:ln/>
        </p:spPr>
        <p:txBody>
          <a:bodyPr wrap="square" lIns="0" tIns="0" rIns="0" bIns="0" rtlCol="0" anchor="ctr"/>
          <a:lstStyle/>
          <a:p>
            <a:pPr algn="ctr" indent="0" marL="0">
              <a:buNone/>
            </a:pPr>
            <a:r>
              <a:rPr lang="en-US" sz="1300" b="1" dirty="0">
                <a:solidFill>
                  <a:schemeClr val="accent5"/>
                </a:solidFill>
              </a:rPr>
              <a:t>② 便捷促成并验证交易</a:t>
            </a:r>
            <a:endParaRPr lang="en-US" sz="1300" dirty="0"/>
          </a:p>
        </p:txBody>
      </p:sp>
      <p:sp>
        <p:nvSpPr>
          <p:cNvPr id="11" name="Shape 8"/>
          <p:cNvSpPr/>
          <p:nvPr/>
        </p:nvSpPr>
        <p:spPr>
          <a:xfrm>
            <a:off x="45720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2" name="Text 9"/>
          <p:cNvSpPr txBox="1"/>
          <p:nvPr/>
        </p:nvSpPr>
        <p:spPr>
          <a:xfrm>
            <a:off x="45720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③ 记录可验证、不可更改</a:t>
            </a:r>
            <a:endParaRPr lang="en-US" sz="1300" dirty="0"/>
          </a:p>
        </p:txBody>
      </p:sp>
      <p:sp>
        <p:nvSpPr>
          <p:cNvPr id="13" name="Shape 10"/>
          <p:cNvSpPr/>
          <p:nvPr/>
        </p:nvSpPr>
        <p:spPr>
          <a:xfrm>
            <a:off x="461772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4" name="Text 11"/>
          <p:cNvSpPr txBox="1"/>
          <p:nvPr/>
        </p:nvSpPr>
        <p:spPr>
          <a:xfrm>
            <a:off x="461772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④ 防止同一单位货币重复使用</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工作量证明的直觉：难求解、易验证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pic>
        <p:nvPicPr>
          <p:cNvPr id="5" name="Image 0" descr="漫画：小红出的方程题">    </p:cNvPr>
          <p:cNvPicPr>
            <a:picLocks noChangeAspect="1"/>
          </p:cNvPicPr>
          <p:nvPr/>
        </p:nvPicPr>
        <p:blipFill>
          <a:blip r:embed="rId1"/>
          <a:stretch>
            <a:fillRect/>
          </a:stretch>
        </p:blipFill>
        <p:spPr>
          <a:xfrm>
            <a:off x="457200" y="1833855"/>
            <a:ext cx="4846320" cy="2001570"/>
          </a:xfrm>
          <a:prstGeom prst="rect">
            <a:avLst/>
          </a:prstGeom>
        </p:spPr>
      </p:pic>
      <p:sp>
        <p:nvSpPr>
          <p:cNvPr id="6" name="Text 2"/>
          <p:cNvSpPr txBox="1"/>
          <p:nvPr/>
        </p:nvSpPr>
        <p:spPr>
          <a:xfrm>
            <a:off x="5486400" y="1463040"/>
            <a:ext cx="3200400" cy="2926080"/>
          </a:xfrm>
          <a:prstGeom prst="rect">
            <a:avLst/>
          </a:prstGeom>
          <a:noFill/>
          <a:ln/>
        </p:spPr>
        <p:txBody>
          <a:bodyPr wrap="square" lIns="0" tIns="0" rIns="0" bIns="0" rtlCol="0" anchor="t"/>
          <a:lstStyle/>
          <a:p>
            <a:pPr algn="l" marL="254000" indent="-254000">
              <a:lnSpc>
                <a:spcPct val="105000"/>
              </a:lnSpc>
              <a:spcAft>
                <a:spcPts val="1000"/>
              </a:spcAft>
              <a:buSzPct val="100000"/>
              <a:buChar char="•"/>
            </a:pPr>
            <a:r>
              <a:rPr lang="en-US" sz="1600" dirty="0">
                <a:solidFill>
                  <a:schemeClr val="tx1"/>
                </a:solidFill>
              </a:rPr>
              <a:t>出一道题：解 2x⁵−3x⁴−5x³+2x²−7x+5=0</a:t>
            </a:r>
            <a:endParaRPr lang="en-US" sz="1600" dirty="0"/>
          </a:p>
          <a:p>
            <a:pPr algn="l" marL="254000" indent="-254000">
              <a:lnSpc>
                <a:spcPct val="105000"/>
              </a:lnSpc>
              <a:spcAft>
                <a:spcPts val="1000"/>
              </a:spcAft>
              <a:buSzPct val="100000"/>
              <a:buChar char="•"/>
            </a:pPr>
            <a:r>
              <a:rPr lang="en-US" sz="1600" b="1" dirty="0">
                <a:solidFill>
                  <a:schemeClr val="tx1"/>
                </a:solidFill>
              </a:rPr>
              <a:t>求解</a:t>
            </a:r>
            <a:pPr algn="l" marL="254000" indent="-254000">
              <a:lnSpc>
                <a:spcPct val="105000"/>
              </a:lnSpc>
              <a:spcAft>
                <a:spcPts val="1000"/>
              </a:spcAft>
              <a:buSzPct val="100000"/>
              <a:buChar char="•"/>
            </a:pPr>
            <a:r>
              <a:rPr lang="en-US" sz="1600" dirty="0">
                <a:solidFill>
                  <a:schemeClr val="tx1"/>
                </a:solidFill>
              </a:rPr>
              <a:t>很费劲；</a:t>
            </a:r>
            <a:pPr algn="l" marL="254000" indent="-254000">
              <a:lnSpc>
                <a:spcPct val="105000"/>
              </a:lnSpc>
              <a:spcAft>
                <a:spcPts val="1000"/>
              </a:spcAft>
              <a:buSzPct val="100000"/>
              <a:buChar char="•"/>
            </a:pPr>
            <a:r>
              <a:rPr lang="en-US" sz="1600" b="1" dirty="0">
                <a:solidFill>
                  <a:schemeClr val="tx1"/>
                </a:solidFill>
              </a:rPr>
              <a:t>验证</a:t>
            </a:r>
            <a:pPr algn="l" marL="254000" indent="-254000">
              <a:lnSpc>
                <a:spcPct val="105000"/>
              </a:lnSpc>
              <a:spcAft>
                <a:spcPts val="1000"/>
              </a:spcAft>
              <a:buSzPct val="100000"/>
              <a:buChar char="•"/>
            </a:pPr>
            <a:r>
              <a:rPr lang="en-US" sz="1600" dirty="0">
                <a:solidFill>
                  <a:schemeClr val="tx1"/>
                </a:solidFill>
              </a:rPr>
              <a:t>只需把答案代入</a:t>
            </a:r>
            <a:endParaRPr lang="en-US" sz="1600" dirty="0"/>
          </a:p>
          <a:p>
            <a:pPr algn="l" marL="254000" indent="-254000">
              <a:lnSpc>
                <a:spcPct val="105000"/>
              </a:lnSpc>
              <a:buSzPct val="100000"/>
              <a:buChar char="•"/>
            </a:pPr>
            <a:r>
              <a:rPr lang="en-US" sz="1600" dirty="0">
                <a:solidFill>
                  <a:schemeClr val="tx1"/>
                </a:solidFill>
              </a:rPr>
              <a:t>有效的工作量证明：</a:t>
            </a:r>
            <a:pPr algn="l" marL="254000" indent="-254000">
              <a:lnSpc>
                <a:spcPct val="105000"/>
              </a:lnSpc>
              <a:buSzPct val="100000"/>
              <a:buChar char="•"/>
            </a:pPr>
            <a:r>
              <a:rPr lang="en-US" sz="1600" b="1" dirty="0">
                <a:solidFill>
                  <a:schemeClr val="tx1"/>
                </a:solidFill>
              </a:rPr>
              <a:t>计算复杂、耗时；验证简单、瞬间完成</a:t>
            </a:r>
            <a:endParaRPr lang="en-US" sz="1600" dirty="0"/>
          </a:p>
        </p:txBody>
      </p:sp>
      <p:sp>
        <p:nvSpPr>
          <p:cNvPr id="7" name="Shape 3"/>
          <p:cNvSpPr/>
          <p:nvPr/>
        </p:nvSpPr>
        <p:spPr>
          <a:xfrm>
            <a:off x="457200" y="4526280"/>
            <a:ext cx="8229600" cy="1005840"/>
          </a:xfrm>
          <a:prstGeom prst="roundRect">
            <a:avLst>
              <a:gd name="adj" fmla="val 7273"/>
            </a:avLst>
          </a:prstGeom>
          <a:solidFill>
            <a:schemeClr val="accent2">
              <a:alpha val="12000"/>
            </a:schemeClr>
          </a:solidFill>
          <a:ln w="12700">
            <a:solidFill>
              <a:schemeClr val="accent2">
                <a:alpha val="0"/>
              </a:schemeClr>
            </a:solidFill>
            <a:prstDash val="solid"/>
          </a:ln>
        </p:spPr>
      </p:sp>
      <p:pic>
        <p:nvPicPr>
          <p:cNvPr id="8" name="Image 1" descr="warn">    </p:cNvPr>
          <p:cNvPicPr>
            <a:picLocks noChangeAspect="1"/>
          </p:cNvPicPr>
          <p:nvPr/>
        </p:nvPicPr>
        <p:blipFill>
          <a:blip r:embed="rId2"/>
          <a:stretch>
            <a:fillRect/>
          </a:stretch>
        </p:blipFill>
        <p:spPr>
          <a:xfrm>
            <a:off x="640080" y="4837176"/>
            <a:ext cx="384048" cy="384048"/>
          </a:xfrm>
          <a:prstGeom prst="rect">
            <a:avLst/>
          </a:prstGeom>
        </p:spPr>
      </p:pic>
      <p:sp>
        <p:nvSpPr>
          <p:cNvPr id="9" name="Text 4"/>
          <p:cNvSpPr txBox="1"/>
          <p:nvPr/>
        </p:nvSpPr>
        <p:spPr>
          <a:xfrm>
            <a:off x="1188720" y="4599432"/>
            <a:ext cx="7315200" cy="85953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类比的局限：方程有数学解法；而比特币的题</a:t>
            </a:r>
            <a:pPr algn="l" indent="0" marL="0">
              <a:lnSpc>
                <a:spcPct val="105000"/>
              </a:lnSpc>
              <a:buNone/>
            </a:pPr>
            <a:r>
              <a:rPr lang="en-US" sz="1600" b="1" dirty="0">
                <a:solidFill>
                  <a:schemeClr val="tx1"/>
                </a:solidFill>
              </a:rPr>
              <a:t>没有任何捷径</a:t>
            </a:r>
            <a:pPr algn="l" indent="0" marL="0">
              <a:lnSpc>
                <a:spcPct val="105000"/>
              </a:lnSpc>
              <a:buNone/>
            </a:pPr>
            <a:r>
              <a:rPr lang="en-US" sz="1600" dirty="0">
                <a:solidFill>
                  <a:schemeClr val="tx1"/>
                </a:solidFill>
              </a:rPr>
              <a:t>，只能一个一个猜——见下一页。</a:t>
            </a:r>
            <a:endParaRPr lang="en-US" sz="1600" dirty="0"/>
          </a:p>
        </p:txBody>
      </p:sp>
      <p:sp>
        <p:nvSpPr>
          <p:cNvPr id="10" name="Text 5"/>
          <p:cNvSpPr txBox="1"/>
          <p:nvPr/>
        </p:nvSpPr>
        <p:spPr>
          <a:xfrm>
            <a:off x="457200" y="5669280"/>
            <a:ext cx="8229600" cy="36576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防作弊的思路：每个人解的题都不同（原课件：第一项系数 = 编号）。</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比特币的题目：找一个 nonce，让区块哈希足够小</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来源：图：原课件（廖雪峰区块链教程）示例，nonce = 124,709,132 时得到前 8 个 0</a:t>
            </a:r>
            <a:endParaRPr lang="en-US" sz="1000" dirty="0"/>
          </a:p>
        </p:txBody>
      </p:sp>
      <p:sp>
        <p:nvSpPr>
          <p:cNvPr id="6" name="Shape 3"/>
          <p:cNvSpPr/>
          <p:nvPr/>
        </p:nvSpPr>
        <p:spPr>
          <a:xfrm>
            <a:off x="457200" y="1417320"/>
            <a:ext cx="8229600" cy="868680"/>
          </a:xfrm>
          <a:prstGeom prst="roundRect">
            <a:avLst>
              <a:gd name="adj" fmla="val 8421"/>
            </a:avLst>
          </a:prstGeom>
          <a:solidFill>
            <a:schemeClr val="tx1"/>
          </a:solidFill>
          <a:ln w="12700">
            <a:solidFill>
              <a:schemeClr val="tx1">
                <a:alpha val="0"/>
              </a:schemeClr>
            </a:solidFill>
            <a:prstDash val="solid"/>
          </a:ln>
        </p:spPr>
      </p:sp>
      <p:sp>
        <p:nvSpPr>
          <p:cNvPr id="7" name="Text 4"/>
          <p:cNvSpPr txBox="1"/>
          <p:nvPr/>
        </p:nvSpPr>
        <p:spPr>
          <a:xfrm>
            <a:off x="457200" y="1417320"/>
            <a:ext cx="8229600" cy="868680"/>
          </a:xfrm>
          <a:prstGeom prst="rect">
            <a:avLst/>
          </a:prstGeom>
          <a:noFill/>
          <a:ln/>
        </p:spPr>
        <p:txBody>
          <a:bodyPr wrap="square" lIns="0" tIns="0" rIns="0" bIns="0" rtlCol="0" anchor="ctr"/>
          <a:lstStyle/>
          <a:p>
            <a:pPr algn="ctr" indent="0" marL="0">
              <a:lnSpc>
                <a:spcPct val="105000"/>
              </a:lnSpc>
              <a:buNone/>
            </a:pPr>
            <a:r>
              <a:rPr lang="en-US" sz="2400" b="1" dirty="0">
                <a:solidFill>
                  <a:schemeClr val="accent1"/>
                </a:solidFill>
              </a:rPr>
              <a:t>SHA-256( SHA-256( 区块头 ) )  &lt;  目标值</a:t>
            </a:r>
            <a:endParaRPr lang="en-US" sz="2400" dirty="0"/>
          </a:p>
        </p:txBody>
      </p:sp>
      <p:sp>
        <p:nvSpPr>
          <p:cNvPr id="8" name="Text 5"/>
          <p:cNvSpPr txBox="1"/>
          <p:nvPr/>
        </p:nvSpPr>
        <p:spPr>
          <a:xfrm>
            <a:off x="457200" y="2468880"/>
            <a:ext cx="8229600" cy="1645920"/>
          </a:xfrm>
          <a:prstGeom prst="rect">
            <a:avLst/>
          </a:prstGeom>
          <a:noFill/>
          <a:ln/>
        </p:spPr>
        <p:txBody>
          <a:bodyPr wrap="square" lIns="0" tIns="0" rIns="0" bIns="0" rtlCol="0" anchor="t"/>
          <a:lstStyle/>
          <a:p>
            <a:pPr algn="l" marL="254000" indent="-254000">
              <a:lnSpc>
                <a:spcPct val="105000"/>
              </a:lnSpc>
              <a:spcAft>
                <a:spcPts val="600"/>
              </a:spcAft>
              <a:buSzPct val="100000"/>
              <a:buChar char="•"/>
            </a:pPr>
            <a:r>
              <a:rPr lang="en-US" sz="1600" dirty="0">
                <a:solidFill>
                  <a:schemeClr val="tx1"/>
                </a:solidFill>
              </a:rPr>
              <a:t>区块头其他字段固定，</a:t>
            </a:r>
            <a:pPr algn="l" marL="254000" indent="-254000">
              <a:lnSpc>
                <a:spcPct val="105000"/>
              </a:lnSpc>
              <a:spcAft>
                <a:spcPts val="600"/>
              </a:spcAft>
              <a:buSzPct val="100000"/>
              <a:buChar char="•"/>
            </a:pPr>
            <a:r>
              <a:rPr lang="en-US" sz="1600" b="1" dirty="0">
                <a:solidFill>
                  <a:schemeClr val="tx1"/>
                </a:solidFill>
              </a:rPr>
              <a:t>只改 nonce</a:t>
            </a:r>
            <a:pPr algn="l" marL="254000" indent="-254000">
              <a:lnSpc>
                <a:spcPct val="105000"/>
              </a:lnSpc>
              <a:spcAft>
                <a:spcPts val="600"/>
              </a:spcAft>
              <a:buSzPct val="100000"/>
              <a:buChar char="•"/>
            </a:pPr>
            <a:r>
              <a:rPr lang="en-US" sz="1600" dirty="0">
                <a:solidFill>
                  <a:schemeClr val="tx1"/>
                </a:solidFill>
              </a:rPr>
              <a:t>：每试一次，结果都是一次完全随机的“抽奖”</a:t>
            </a:r>
            <a:endParaRPr lang="en-US" sz="1600" dirty="0"/>
          </a:p>
          <a:p>
            <a:pPr algn="l" marL="254000" indent="-254000">
              <a:lnSpc>
                <a:spcPct val="105000"/>
              </a:lnSpc>
              <a:spcAft>
                <a:spcPts val="600"/>
              </a:spcAft>
              <a:buSzPct val="100000"/>
              <a:buChar char="•"/>
            </a:pPr>
            <a:r>
              <a:rPr lang="en-US" sz="1600" dirty="0">
                <a:solidFill>
                  <a:schemeClr val="tx1"/>
                </a:solidFill>
              </a:rPr>
              <a:t>每多一个十六进制的 0，难度大约 </a:t>
            </a:r>
            <a:pPr algn="l" marL="254000" indent="-254000">
              <a:lnSpc>
                <a:spcPct val="105000"/>
              </a:lnSpc>
              <a:spcAft>
                <a:spcPts val="600"/>
              </a:spcAft>
              <a:buSzPct val="100000"/>
              <a:buChar char="•"/>
            </a:pPr>
            <a:r>
              <a:rPr lang="en-US" sz="1600" b="1" dirty="0">
                <a:solidFill>
                  <a:schemeClr val="tx1"/>
                </a:solidFill>
              </a:rPr>
              <a:t>×16</a:t>
            </a:r>
            <a:endParaRPr lang="en-US" sz="1600" dirty="0"/>
          </a:p>
          <a:p>
            <a:pPr algn="l" marL="254000" indent="-254000">
              <a:lnSpc>
                <a:spcPct val="105000"/>
              </a:lnSpc>
              <a:buSzPct val="100000"/>
              <a:buChar char="•"/>
            </a:pPr>
            <a:r>
              <a:rPr lang="en-US" sz="1600" dirty="0">
                <a:solidFill>
                  <a:schemeClr val="tx1"/>
                </a:solidFill>
              </a:rPr>
              <a:t>没有捷径：</a:t>
            </a:r>
            <a:pPr algn="l" marL="254000" indent="-254000">
              <a:lnSpc>
                <a:spcPct val="105000"/>
              </a:lnSpc>
              <a:buSzPct val="100000"/>
              <a:buChar char="•"/>
            </a:pPr>
            <a:r>
              <a:rPr lang="en-US" sz="1600" b="1" dirty="0">
                <a:solidFill>
                  <a:schemeClr val="tx1"/>
                </a:solidFill>
              </a:rPr>
              <a:t>只能一个一个试</a:t>
            </a:r>
            <a:endParaRPr lang="en-US" sz="1600" dirty="0"/>
          </a:p>
        </p:txBody>
      </p:sp>
      <p:sp>
        <p:nvSpPr>
          <p:cNvPr id="9" name="Shape 6"/>
          <p:cNvSpPr/>
          <p:nvPr/>
        </p:nvSpPr>
        <p:spPr>
          <a:xfrm>
            <a:off x="1483168" y="4142232"/>
            <a:ext cx="6177663" cy="1956816"/>
          </a:xfrm>
          <a:prstGeom prst="rect">
            <a:avLst/>
          </a:prstGeom>
          <a:solidFill>
            <a:schemeClr val="bg1"/>
          </a:solidFill>
          <a:ln w="9525">
            <a:solidFill>
              <a:schemeClr val="accent5"/>
            </a:solidFill>
            <a:prstDash val="solid"/>
          </a:ln>
        </p:spPr>
      </p:sp>
      <p:pic>
        <p:nvPicPr>
          <p:cNvPr id="10" name="Image 0" descr="不同 nonce 对应的哈希值列表">    </p:cNvPr>
          <p:cNvPicPr>
            <a:picLocks noChangeAspect="1"/>
          </p:cNvPicPr>
          <p:nvPr/>
        </p:nvPicPr>
        <p:blipFill>
          <a:blip r:embed="rId1"/>
          <a:stretch>
            <a:fillRect/>
          </a:stretch>
        </p:blipFill>
        <p:spPr>
          <a:xfrm>
            <a:off x="1501456" y="4160520"/>
            <a:ext cx="6141087" cy="1920240"/>
          </a:xfrm>
          <a:prstGeom prst="rect">
            <a:avLst/>
          </a:prstGeom>
        </p:spPr>
      </p:pic>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课堂活动：做一回“矿工”</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课堂活动</a:t>
            </a:r>
            <a:endParaRPr lang="en-US" sz="1200" dirty="0"/>
          </a:p>
        </p:txBody>
      </p:sp>
      <p:sp>
        <p:nvSpPr>
          <p:cNvPr id="5" name="Shape 2"/>
          <p:cNvSpPr/>
          <p:nvPr/>
        </p:nvSpPr>
        <p:spPr>
          <a:xfrm>
            <a:off x="457200" y="1417320"/>
            <a:ext cx="4846320" cy="3063240"/>
          </a:xfrm>
          <a:prstGeom prst="roundRect">
            <a:avLst>
              <a:gd name="adj" fmla="val 2388"/>
            </a:avLst>
          </a:prstGeom>
          <a:solidFill>
            <a:schemeClr val="tx1"/>
          </a:solidFill>
          <a:ln w="12700">
            <a:solidFill>
              <a:schemeClr val="tx1">
                <a:alpha val="0"/>
              </a:schemeClr>
            </a:solidFill>
            <a:prstDash val="solid"/>
          </a:ln>
        </p:spPr>
      </p:sp>
      <p:sp>
        <p:nvSpPr>
          <p:cNvPr id="6" name="Text 3"/>
          <p:cNvSpPr txBox="1"/>
          <p:nvPr/>
        </p:nvSpPr>
        <p:spPr>
          <a:xfrm>
            <a:off x="640080" y="1554480"/>
            <a:ext cx="4572000" cy="2834640"/>
          </a:xfrm>
          <a:prstGeom prst="rect">
            <a:avLst/>
          </a:prstGeom>
          <a:noFill/>
          <a:ln/>
        </p:spPr>
        <p:txBody>
          <a:bodyPr wrap="square" lIns="0" tIns="0" rIns="0" bIns="0" rtlCol="0" anchor="t"/>
          <a:lstStyle/>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import hashlib</a:t>
            </a:r>
            <a:endParaRPr lang="en-US" sz="1250" dirty="0"/>
          </a:p>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n = 0</a:t>
            </a:r>
            <a:endParaRPr lang="en-US" sz="1250" dirty="0"/>
          </a:p>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while True:</a:t>
            </a:r>
            <a:endParaRPr lang="en-US" sz="1250" dirty="0"/>
          </a:p>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    t = f"Bitcoin-4-JXUFE-{n}"</a:t>
            </a:r>
            <a:endParaRPr lang="en-US" sz="1250" dirty="0"/>
          </a:p>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    h = hashlib.sha256(t.encode()).hexdigest()</a:t>
            </a:r>
            <a:endParaRPr lang="en-US" sz="1250" dirty="0"/>
          </a:p>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    if h.startswith("000"): break</a:t>
            </a:r>
            <a:endParaRPr lang="en-US" sz="1250" dirty="0"/>
          </a:p>
          <a:p>
            <a:pPr algn="l" indent="0" marL="0">
              <a:lnSpc>
                <a:spcPct val="105000"/>
              </a:lnSpc>
              <a:spcAft>
                <a:spcPts val="300"/>
              </a:spcAft>
              <a:buNone/>
            </a:pPr>
            <a:r>
              <a:rPr lang="en-US" sz="1250" dirty="0">
                <a:solidFill>
                  <a:schemeClr val="bg1"/>
                </a:solidFill>
                <a:latin typeface="Consolas" pitchFamily="34" charset="0"/>
                <a:ea typeface="Consolas" pitchFamily="34" charset="-122"/>
                <a:cs typeface="Consolas" pitchFamily="34" charset="-120"/>
              </a:rPr>
              <a:t>    n += 1</a:t>
            </a:r>
            <a:endParaRPr lang="en-US" sz="1250" dirty="0"/>
          </a:p>
          <a:p>
            <a:pPr algn="l" indent="0" marL="0">
              <a:lnSpc>
                <a:spcPct val="105000"/>
              </a:lnSpc>
              <a:buNone/>
            </a:pPr>
            <a:r>
              <a:rPr lang="en-US" sz="1250" dirty="0">
                <a:solidFill>
                  <a:schemeClr val="bg1"/>
                </a:solidFill>
                <a:latin typeface="Consolas" pitchFamily="34" charset="0"/>
                <a:ea typeface="Consolas" pitchFamily="34" charset="-122"/>
                <a:cs typeface="Consolas" pitchFamily="34" charset="-120"/>
              </a:rPr>
              <a:t>print(n, h)</a:t>
            </a:r>
            <a:endParaRPr lang="en-US" sz="1250" dirty="0"/>
          </a:p>
        </p:txBody>
      </p:sp>
      <p:sp>
        <p:nvSpPr>
          <p:cNvPr id="7" name="Shape 4"/>
          <p:cNvSpPr/>
          <p:nvPr/>
        </p:nvSpPr>
        <p:spPr>
          <a:xfrm>
            <a:off x="5486400" y="1417320"/>
            <a:ext cx="3200400" cy="914400"/>
          </a:xfrm>
          <a:prstGeom prst="roundRect">
            <a:avLst>
              <a:gd name="adj" fmla="val 8000"/>
            </a:avLst>
          </a:prstGeom>
          <a:solidFill>
            <a:schemeClr val="bg2"/>
          </a:solidFill>
          <a:ln w="12700">
            <a:solidFill>
              <a:schemeClr val="bg2">
                <a:alpha val="0"/>
              </a:schemeClr>
            </a:solidFill>
            <a:prstDash val="solid"/>
          </a:ln>
        </p:spPr>
      </p:sp>
      <p:sp>
        <p:nvSpPr>
          <p:cNvPr id="8" name="Shape 5"/>
          <p:cNvSpPr/>
          <p:nvPr/>
        </p:nvSpPr>
        <p:spPr>
          <a:xfrm>
            <a:off x="5596128" y="1618488"/>
            <a:ext cx="512064" cy="512064"/>
          </a:xfrm>
          <a:prstGeom prst="ellipse">
            <a:avLst/>
          </a:prstGeom>
          <a:solidFill>
            <a:schemeClr val="accent1"/>
          </a:solidFill>
          <a:ln w="12700">
            <a:solidFill>
              <a:schemeClr val="accent1">
                <a:alpha val="0"/>
              </a:schemeClr>
            </a:solidFill>
            <a:prstDash val="solid"/>
          </a:ln>
        </p:spPr>
      </p:sp>
      <p:sp>
        <p:nvSpPr>
          <p:cNvPr id="9" name="Text 6"/>
          <p:cNvSpPr txBox="1"/>
          <p:nvPr/>
        </p:nvSpPr>
        <p:spPr>
          <a:xfrm>
            <a:off x="5596128" y="1618488"/>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0" name="Text 7"/>
          <p:cNvSpPr txBox="1"/>
          <p:nvPr/>
        </p:nvSpPr>
        <p:spPr>
          <a:xfrm>
            <a:off x="6217920" y="1463040"/>
            <a:ext cx="2377440" cy="822960"/>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运行代码，找到使哈希以 “000” 开头的 n</a:t>
            </a:r>
            <a:endParaRPr lang="en-US" sz="1400" dirty="0"/>
          </a:p>
        </p:txBody>
      </p:sp>
      <p:sp>
        <p:nvSpPr>
          <p:cNvPr id="11" name="Shape 8"/>
          <p:cNvSpPr/>
          <p:nvPr/>
        </p:nvSpPr>
        <p:spPr>
          <a:xfrm>
            <a:off x="5486400" y="2468880"/>
            <a:ext cx="3200400" cy="914400"/>
          </a:xfrm>
          <a:prstGeom prst="roundRect">
            <a:avLst>
              <a:gd name="adj" fmla="val 8000"/>
            </a:avLst>
          </a:prstGeom>
          <a:solidFill>
            <a:schemeClr val="bg2"/>
          </a:solidFill>
          <a:ln w="12700">
            <a:solidFill>
              <a:schemeClr val="bg2">
                <a:alpha val="0"/>
              </a:schemeClr>
            </a:solidFill>
            <a:prstDash val="solid"/>
          </a:ln>
        </p:spPr>
      </p:sp>
      <p:sp>
        <p:nvSpPr>
          <p:cNvPr id="12" name="Shape 9"/>
          <p:cNvSpPr/>
          <p:nvPr/>
        </p:nvSpPr>
        <p:spPr>
          <a:xfrm>
            <a:off x="5596128" y="2670048"/>
            <a:ext cx="512064" cy="512064"/>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5596128" y="2670048"/>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4" name="Text 11"/>
          <p:cNvSpPr txBox="1"/>
          <p:nvPr/>
        </p:nvSpPr>
        <p:spPr>
          <a:xfrm>
            <a:off x="6217920" y="2514600"/>
            <a:ext cx="2377440" cy="822960"/>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把 “000” 改成 “0000”，比较用时</a:t>
            </a:r>
            <a:endParaRPr lang="en-US" sz="1400" dirty="0"/>
          </a:p>
        </p:txBody>
      </p:sp>
      <p:sp>
        <p:nvSpPr>
          <p:cNvPr id="15" name="Shape 12"/>
          <p:cNvSpPr/>
          <p:nvPr/>
        </p:nvSpPr>
        <p:spPr>
          <a:xfrm>
            <a:off x="5486400" y="3520440"/>
            <a:ext cx="3200400" cy="914400"/>
          </a:xfrm>
          <a:prstGeom prst="roundRect">
            <a:avLst>
              <a:gd name="adj" fmla="val 8000"/>
            </a:avLst>
          </a:prstGeom>
          <a:solidFill>
            <a:schemeClr val="bg2"/>
          </a:solidFill>
          <a:ln w="12700">
            <a:solidFill>
              <a:schemeClr val="bg2">
                <a:alpha val="0"/>
              </a:schemeClr>
            </a:solidFill>
            <a:prstDash val="solid"/>
          </a:ln>
        </p:spPr>
      </p:sp>
      <p:sp>
        <p:nvSpPr>
          <p:cNvPr id="16" name="Shape 13"/>
          <p:cNvSpPr/>
          <p:nvPr/>
        </p:nvSpPr>
        <p:spPr>
          <a:xfrm>
            <a:off x="5596128" y="3721608"/>
            <a:ext cx="512064" cy="512064"/>
          </a:xfrm>
          <a:prstGeom prst="ellipse">
            <a:avLst/>
          </a:prstGeom>
          <a:solidFill>
            <a:schemeClr val="accent1"/>
          </a:solidFill>
          <a:ln w="12700">
            <a:solidFill>
              <a:schemeClr val="accent1">
                <a:alpha val="0"/>
              </a:schemeClr>
            </a:solidFill>
            <a:prstDash val="solid"/>
          </a:ln>
        </p:spPr>
      </p:sp>
      <p:sp>
        <p:nvSpPr>
          <p:cNvPr id="17" name="Text 14"/>
          <p:cNvSpPr txBox="1"/>
          <p:nvPr/>
        </p:nvSpPr>
        <p:spPr>
          <a:xfrm>
            <a:off x="5596128" y="3721608"/>
            <a:ext cx="512064" cy="512064"/>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8" name="Text 15"/>
          <p:cNvSpPr txBox="1"/>
          <p:nvPr/>
        </p:nvSpPr>
        <p:spPr>
          <a:xfrm>
            <a:off x="6217920" y="3566160"/>
            <a:ext cx="2377440" cy="822960"/>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换成自己姓名拼音的前缀，全班比赛：谁先找到？</a:t>
            </a:r>
            <a:endParaRPr lang="en-US" sz="1400" dirty="0"/>
          </a:p>
        </p:txBody>
      </p:sp>
      <p:sp>
        <p:nvSpPr>
          <p:cNvPr id="19" name="Shape 16"/>
          <p:cNvSpPr/>
          <p:nvPr/>
        </p:nvSpPr>
        <p:spPr>
          <a:xfrm>
            <a:off x="457200" y="4709160"/>
            <a:ext cx="2651760" cy="1371600"/>
          </a:xfrm>
          <a:prstGeom prst="roundRect">
            <a:avLst>
              <a:gd name="adj" fmla="val 5333"/>
            </a:avLst>
          </a:prstGeom>
          <a:solidFill>
            <a:schemeClr val="bg2"/>
          </a:solidFill>
          <a:ln w="12700">
            <a:solidFill>
              <a:schemeClr val="bg2">
                <a:alpha val="0"/>
              </a:schemeClr>
            </a:solidFill>
            <a:prstDash val="solid"/>
          </a:ln>
        </p:spPr>
      </p:sp>
      <p:sp>
        <p:nvSpPr>
          <p:cNvPr id="20" name="Text 17"/>
          <p:cNvSpPr txBox="1"/>
          <p:nvPr/>
        </p:nvSpPr>
        <p:spPr>
          <a:xfrm>
            <a:off x="594360" y="4818888"/>
            <a:ext cx="2377440" cy="685800"/>
          </a:xfrm>
          <a:prstGeom prst="rect">
            <a:avLst/>
          </a:prstGeom>
          <a:noFill/>
          <a:ln/>
        </p:spPr>
        <p:txBody>
          <a:bodyPr wrap="square" lIns="0" tIns="0" rIns="0" bIns="0" rtlCol="0" anchor="ctr"/>
          <a:lstStyle/>
          <a:p>
            <a:pPr algn="ctr" indent="0" marL="0">
              <a:lnSpc>
                <a:spcPct val="105000"/>
              </a:lnSpc>
              <a:buNone/>
            </a:pPr>
            <a:r>
              <a:rPr lang="en-US" sz="2200" b="1" dirty="0">
                <a:solidFill>
                  <a:schemeClr val="accent6"/>
                </a:solidFill>
              </a:rPr>
              <a:t>≈ 4,096 次</a:t>
            </a:r>
            <a:endParaRPr lang="en-US" sz="2200" dirty="0"/>
          </a:p>
        </p:txBody>
      </p:sp>
      <p:sp>
        <p:nvSpPr>
          <p:cNvPr id="21" name="Text 18"/>
          <p:cNvSpPr txBox="1"/>
          <p:nvPr/>
        </p:nvSpPr>
        <p:spPr>
          <a:xfrm>
            <a:off x="594360" y="5504688"/>
            <a:ext cx="2377440" cy="521208"/>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前 3 个十六进制 0</a:t>
            </a:r>
            <a:endParaRPr lang="en-US" sz="1400" dirty="0"/>
          </a:p>
        </p:txBody>
      </p:sp>
      <p:sp>
        <p:nvSpPr>
          <p:cNvPr id="22" name="Shape 19"/>
          <p:cNvSpPr/>
          <p:nvPr/>
        </p:nvSpPr>
        <p:spPr>
          <a:xfrm>
            <a:off x="3246120" y="4709160"/>
            <a:ext cx="2651760" cy="1371600"/>
          </a:xfrm>
          <a:prstGeom prst="roundRect">
            <a:avLst>
              <a:gd name="adj" fmla="val 5333"/>
            </a:avLst>
          </a:prstGeom>
          <a:solidFill>
            <a:schemeClr val="bg2"/>
          </a:solidFill>
          <a:ln w="12700">
            <a:solidFill>
              <a:schemeClr val="bg2">
                <a:alpha val="0"/>
              </a:schemeClr>
            </a:solidFill>
            <a:prstDash val="solid"/>
          </a:ln>
        </p:spPr>
      </p:sp>
      <p:sp>
        <p:nvSpPr>
          <p:cNvPr id="23" name="Text 20"/>
          <p:cNvSpPr txBox="1"/>
          <p:nvPr/>
        </p:nvSpPr>
        <p:spPr>
          <a:xfrm>
            <a:off x="3383280" y="4818888"/>
            <a:ext cx="2377440" cy="685800"/>
          </a:xfrm>
          <a:prstGeom prst="rect">
            <a:avLst/>
          </a:prstGeom>
          <a:noFill/>
          <a:ln/>
        </p:spPr>
        <p:txBody>
          <a:bodyPr wrap="square" lIns="0" tIns="0" rIns="0" bIns="0" rtlCol="0" anchor="ctr"/>
          <a:lstStyle/>
          <a:p>
            <a:pPr algn="ctr" indent="0" marL="0">
              <a:lnSpc>
                <a:spcPct val="105000"/>
              </a:lnSpc>
              <a:buNone/>
            </a:pPr>
            <a:r>
              <a:rPr lang="en-US" sz="2200" b="1" dirty="0">
                <a:solidFill>
                  <a:schemeClr val="accent6"/>
                </a:solidFill>
              </a:rPr>
              <a:t>≈ 65,536 次</a:t>
            </a:r>
            <a:endParaRPr lang="en-US" sz="2200" dirty="0"/>
          </a:p>
        </p:txBody>
      </p:sp>
      <p:sp>
        <p:nvSpPr>
          <p:cNvPr id="24" name="Text 21"/>
          <p:cNvSpPr txBox="1"/>
          <p:nvPr/>
        </p:nvSpPr>
        <p:spPr>
          <a:xfrm>
            <a:off x="3383280" y="5504688"/>
            <a:ext cx="2377440" cy="521208"/>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前 4 个十六进制 0</a:t>
            </a:r>
            <a:endParaRPr lang="en-US" sz="1400" dirty="0"/>
          </a:p>
        </p:txBody>
      </p:sp>
      <p:sp>
        <p:nvSpPr>
          <p:cNvPr id="25" name="Shape 22"/>
          <p:cNvSpPr/>
          <p:nvPr/>
        </p:nvSpPr>
        <p:spPr>
          <a:xfrm>
            <a:off x="6035040" y="4709160"/>
            <a:ext cx="2651760" cy="1371600"/>
          </a:xfrm>
          <a:prstGeom prst="roundRect">
            <a:avLst>
              <a:gd name="adj" fmla="val 5333"/>
            </a:avLst>
          </a:prstGeom>
          <a:solidFill>
            <a:schemeClr val="accent1"/>
          </a:solidFill>
          <a:ln w="12700">
            <a:solidFill>
              <a:schemeClr val="accent1">
                <a:alpha val="0"/>
              </a:schemeClr>
            </a:solidFill>
            <a:prstDash val="solid"/>
          </a:ln>
        </p:spPr>
      </p:sp>
      <p:sp>
        <p:nvSpPr>
          <p:cNvPr id="26" name="Text 23"/>
          <p:cNvSpPr txBox="1"/>
          <p:nvPr/>
        </p:nvSpPr>
        <p:spPr>
          <a:xfrm>
            <a:off x="6172200" y="4818888"/>
            <a:ext cx="2377440" cy="685800"/>
          </a:xfrm>
          <a:prstGeom prst="rect">
            <a:avLst/>
          </a:prstGeom>
          <a:noFill/>
          <a:ln/>
        </p:spPr>
        <p:txBody>
          <a:bodyPr wrap="square" lIns="0" tIns="0" rIns="0" bIns="0" rtlCol="0" anchor="ctr"/>
          <a:lstStyle/>
          <a:p>
            <a:pPr algn="ctr" indent="0" marL="0">
              <a:lnSpc>
                <a:spcPct val="105000"/>
              </a:lnSpc>
              <a:buNone/>
            </a:pPr>
            <a:r>
              <a:rPr lang="en-US" sz="2200" b="1" dirty="0">
                <a:solidFill>
                  <a:schemeClr val="tx1"/>
                </a:solidFill>
              </a:rPr>
              <a:t>≈ 6×10²³ 次</a:t>
            </a:r>
            <a:endParaRPr lang="en-US" sz="2200" dirty="0"/>
          </a:p>
        </p:txBody>
      </p:sp>
      <p:sp>
        <p:nvSpPr>
          <p:cNvPr id="27" name="Text 24"/>
          <p:cNvSpPr txBox="1"/>
          <p:nvPr/>
        </p:nvSpPr>
        <p:spPr>
          <a:xfrm>
            <a:off x="6172200" y="5504688"/>
            <a:ext cx="2377440" cy="521208"/>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比特币现在（约 79 位）</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难度调整：为什么约每 10 分钟出一个块？</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来源：比特币协议规则；Back (2002)；作者计算（难度约 1.39×10¹⁴ 时每块约需 6×10²³ 次哈希）</a:t>
            </a:r>
            <a:endParaRPr lang="en-US" sz="1000" dirty="0"/>
          </a:p>
        </p:txBody>
      </p:sp>
      <p:sp>
        <p:nvSpPr>
          <p:cNvPr id="6" name="Text 3"/>
          <p:cNvSpPr txBox="1"/>
          <p:nvPr/>
        </p:nvSpPr>
        <p:spPr>
          <a:xfrm>
            <a:off x="457200" y="1463040"/>
            <a:ext cx="4572000" cy="3931920"/>
          </a:xfrm>
          <a:prstGeom prst="rect">
            <a:avLst/>
          </a:prstGeom>
          <a:noFill/>
          <a:ln/>
        </p:spPr>
        <p:txBody>
          <a:bodyPr wrap="square" lIns="0" tIns="0" rIns="0" bIns="0" rtlCol="0" anchor="t"/>
          <a:lstStyle/>
          <a:p>
            <a:pPr algn="l" marL="254000" indent="-254000">
              <a:lnSpc>
                <a:spcPct val="105000"/>
              </a:lnSpc>
              <a:spcAft>
                <a:spcPts val="1000"/>
              </a:spcAft>
              <a:buSzPct val="100000"/>
              <a:buChar char="•"/>
            </a:pPr>
            <a:r>
              <a:rPr lang="en-US" sz="1600" dirty="0">
                <a:solidFill>
                  <a:schemeClr val="tx1"/>
                </a:solidFill>
              </a:rPr>
              <a:t>目标：平均 </a:t>
            </a:r>
            <a:pPr algn="l" marL="254000" indent="-254000">
              <a:lnSpc>
                <a:spcPct val="105000"/>
              </a:lnSpc>
              <a:spcAft>
                <a:spcPts val="1000"/>
              </a:spcAft>
              <a:buSzPct val="100000"/>
              <a:buChar char="•"/>
            </a:pPr>
            <a:r>
              <a:rPr lang="en-US" sz="1600" b="1" dirty="0">
                <a:solidFill>
                  <a:schemeClr val="tx1"/>
                </a:solidFill>
              </a:rPr>
              <a:t>10 分钟</a:t>
            </a:r>
            <a:pPr algn="l" marL="254000" indent="-254000">
              <a:lnSpc>
                <a:spcPct val="105000"/>
              </a:lnSpc>
              <a:spcAft>
                <a:spcPts val="1000"/>
              </a:spcAft>
              <a:buSzPct val="100000"/>
              <a:buChar char="•"/>
            </a:pPr>
            <a:r>
              <a:rPr lang="en-US" sz="1600" dirty="0">
                <a:solidFill>
                  <a:schemeClr val="tx1"/>
                </a:solidFill>
              </a:rPr>
              <a:t>一块（兼顾确认速度与“同时出块”的分叉）</a:t>
            </a:r>
            <a:endParaRPr lang="en-US" sz="1600" dirty="0"/>
          </a:p>
          <a:p>
            <a:pPr algn="l" marL="254000" indent="-254000">
              <a:lnSpc>
                <a:spcPct val="105000"/>
              </a:lnSpc>
              <a:spcAft>
                <a:spcPts val="1000"/>
              </a:spcAft>
              <a:buSzPct val="100000"/>
              <a:buChar char="•"/>
            </a:pPr>
            <a:r>
              <a:rPr lang="en-US" sz="1600" dirty="0">
                <a:solidFill>
                  <a:schemeClr val="tx1"/>
                </a:solidFill>
              </a:rPr>
              <a:t>每 </a:t>
            </a:r>
            <a:pPr algn="l" marL="254000" indent="-254000">
              <a:lnSpc>
                <a:spcPct val="105000"/>
              </a:lnSpc>
              <a:spcAft>
                <a:spcPts val="1000"/>
              </a:spcAft>
              <a:buSzPct val="100000"/>
              <a:buChar char="•"/>
            </a:pPr>
            <a:r>
              <a:rPr lang="en-US" sz="1600" b="1" dirty="0">
                <a:solidFill>
                  <a:schemeClr val="tx1"/>
                </a:solidFill>
              </a:rPr>
              <a:t>2016 个块</a:t>
            </a:r>
            <a:pPr algn="l" marL="254000" indent="-254000">
              <a:lnSpc>
                <a:spcPct val="105000"/>
              </a:lnSpc>
              <a:spcAft>
                <a:spcPts val="1000"/>
              </a:spcAft>
              <a:buSzPct val="100000"/>
              <a:buChar char="•"/>
            </a:pPr>
            <a:r>
              <a:rPr lang="en-US" sz="1600" dirty="0">
                <a:solidFill>
                  <a:schemeClr val="tx1"/>
                </a:solidFill>
              </a:rPr>
              <a:t>（约两周）调整一次：新目标 = 旧目标 × 实际用时 ÷ 20,160 分钟</a:t>
            </a:r>
            <a:endParaRPr lang="en-US" sz="1600" dirty="0"/>
          </a:p>
          <a:p>
            <a:pPr algn="l" marL="254000" indent="-254000">
              <a:lnSpc>
                <a:spcPct val="105000"/>
              </a:lnSpc>
              <a:spcAft>
                <a:spcPts val="1000"/>
              </a:spcAft>
              <a:buSzPct val="100000"/>
              <a:buChar char="•"/>
            </a:pPr>
            <a:r>
              <a:rPr lang="en-US" sz="1600" dirty="0">
                <a:solidFill>
                  <a:schemeClr val="tx1"/>
                </a:solidFill>
              </a:rPr>
              <a:t>单次调整幅度限制在 </a:t>
            </a:r>
            <a:pPr algn="l" marL="254000" indent="-254000">
              <a:lnSpc>
                <a:spcPct val="105000"/>
              </a:lnSpc>
              <a:spcAft>
                <a:spcPts val="1000"/>
              </a:spcAft>
              <a:buSzPct val="100000"/>
              <a:buChar char="•"/>
            </a:pPr>
            <a:r>
              <a:rPr lang="en-US" sz="1600" b="1" dirty="0">
                <a:solidFill>
                  <a:schemeClr val="tx1"/>
                </a:solidFill>
              </a:rPr>
              <a:t>×4～÷4</a:t>
            </a:r>
            <a:endParaRPr lang="en-US" sz="1600" dirty="0"/>
          </a:p>
          <a:p>
            <a:pPr algn="l" marL="254000" indent="-254000">
              <a:lnSpc>
                <a:spcPct val="105000"/>
              </a:lnSpc>
              <a:buSzPct val="100000"/>
              <a:buChar char="•"/>
            </a:pPr>
            <a:r>
              <a:rPr lang="en-US" sz="1600" dirty="0">
                <a:solidFill>
                  <a:schemeClr val="tx1"/>
                </a:solidFill>
              </a:rPr>
              <a:t>算力上升 → 难度上调；算力撤离 → 难度下调</a:t>
            </a:r>
            <a:endParaRPr lang="en-US" sz="1600" dirty="0"/>
          </a:p>
        </p:txBody>
      </p:sp>
      <p:sp>
        <p:nvSpPr>
          <p:cNvPr id="7" name="Shape 4"/>
          <p:cNvSpPr/>
          <p:nvPr/>
        </p:nvSpPr>
        <p:spPr>
          <a:xfrm>
            <a:off x="5303520" y="1417320"/>
            <a:ext cx="3383280" cy="1188720"/>
          </a:xfrm>
          <a:prstGeom prst="roundRect">
            <a:avLst>
              <a:gd name="adj" fmla="val 6154"/>
            </a:avLst>
          </a:prstGeom>
          <a:solidFill>
            <a:schemeClr val="bg2"/>
          </a:solidFill>
          <a:ln w="12700">
            <a:solidFill>
              <a:schemeClr val="bg2">
                <a:alpha val="0"/>
              </a:schemeClr>
            </a:solidFill>
            <a:prstDash val="solid"/>
          </a:ln>
        </p:spPr>
      </p:sp>
      <p:sp>
        <p:nvSpPr>
          <p:cNvPr id="8" name="Text 5"/>
          <p:cNvSpPr txBox="1"/>
          <p:nvPr/>
        </p:nvSpPr>
        <p:spPr>
          <a:xfrm>
            <a:off x="5440680" y="1527048"/>
            <a:ext cx="3108960" cy="59436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2²⁰</a:t>
            </a:r>
            <a:endParaRPr lang="en-US" sz="3000" dirty="0"/>
          </a:p>
        </p:txBody>
      </p:sp>
      <p:sp>
        <p:nvSpPr>
          <p:cNvPr id="9" name="Text 6"/>
          <p:cNvSpPr txBox="1"/>
          <p:nvPr/>
        </p:nvSpPr>
        <p:spPr>
          <a:xfrm>
            <a:off x="5440680" y="2106778"/>
            <a:ext cx="3108960" cy="451714"/>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Hashcash（1997）：约 100 万次</a:t>
            </a:r>
            <a:endParaRPr lang="en-US" sz="1400" dirty="0"/>
          </a:p>
        </p:txBody>
      </p:sp>
      <p:sp>
        <p:nvSpPr>
          <p:cNvPr id="10" name="Shape 7"/>
          <p:cNvSpPr/>
          <p:nvPr/>
        </p:nvSpPr>
        <p:spPr>
          <a:xfrm>
            <a:off x="5303520" y="2743200"/>
            <a:ext cx="3383280" cy="1188720"/>
          </a:xfrm>
          <a:prstGeom prst="roundRect">
            <a:avLst>
              <a:gd name="adj" fmla="val 6154"/>
            </a:avLst>
          </a:prstGeom>
          <a:solidFill>
            <a:schemeClr val="bg2"/>
          </a:solidFill>
          <a:ln w="12700">
            <a:solidFill>
              <a:schemeClr val="bg2">
                <a:alpha val="0"/>
              </a:schemeClr>
            </a:solidFill>
            <a:prstDash val="solid"/>
          </a:ln>
        </p:spPr>
      </p:sp>
      <p:sp>
        <p:nvSpPr>
          <p:cNvPr id="11" name="Text 8"/>
          <p:cNvSpPr txBox="1"/>
          <p:nvPr/>
        </p:nvSpPr>
        <p:spPr>
          <a:xfrm>
            <a:off x="5440680" y="2852928"/>
            <a:ext cx="3108960" cy="59436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2³²</a:t>
            </a:r>
            <a:endParaRPr lang="en-US" sz="3000" dirty="0"/>
          </a:p>
        </p:txBody>
      </p:sp>
      <p:sp>
        <p:nvSpPr>
          <p:cNvPr id="12" name="Text 9"/>
          <p:cNvSpPr txBox="1"/>
          <p:nvPr/>
        </p:nvSpPr>
        <p:spPr>
          <a:xfrm>
            <a:off x="5440680" y="3432658"/>
            <a:ext cx="3108960" cy="451714"/>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比特币 2009：约 43 亿次</a:t>
            </a:r>
            <a:endParaRPr lang="en-US" sz="1400" dirty="0"/>
          </a:p>
        </p:txBody>
      </p:sp>
      <p:sp>
        <p:nvSpPr>
          <p:cNvPr id="13" name="Shape 10"/>
          <p:cNvSpPr/>
          <p:nvPr/>
        </p:nvSpPr>
        <p:spPr>
          <a:xfrm>
            <a:off x="5303520" y="4069080"/>
            <a:ext cx="3383280" cy="1188720"/>
          </a:xfrm>
          <a:prstGeom prst="roundRect">
            <a:avLst>
              <a:gd name="adj" fmla="val 6154"/>
            </a:avLst>
          </a:prstGeom>
          <a:solidFill>
            <a:schemeClr val="accent1"/>
          </a:solidFill>
          <a:ln w="12700">
            <a:solidFill>
              <a:schemeClr val="accent1">
                <a:alpha val="0"/>
              </a:schemeClr>
            </a:solidFill>
            <a:prstDash val="solid"/>
          </a:ln>
        </p:spPr>
      </p:sp>
      <p:sp>
        <p:nvSpPr>
          <p:cNvPr id="14" name="Text 11"/>
          <p:cNvSpPr txBox="1"/>
          <p:nvPr/>
        </p:nvSpPr>
        <p:spPr>
          <a:xfrm>
            <a:off x="5440680" y="4178808"/>
            <a:ext cx="3108960" cy="594360"/>
          </a:xfrm>
          <a:prstGeom prst="rect">
            <a:avLst/>
          </a:prstGeom>
          <a:noFill/>
          <a:ln/>
        </p:spPr>
        <p:txBody>
          <a:bodyPr wrap="square" lIns="0" tIns="0" rIns="0" bIns="0" rtlCol="0" anchor="ctr"/>
          <a:lstStyle/>
          <a:p>
            <a:pPr algn="ctr" indent="0" marL="0">
              <a:lnSpc>
                <a:spcPct val="105000"/>
              </a:lnSpc>
              <a:buNone/>
            </a:pPr>
            <a:r>
              <a:rPr lang="en-US" sz="3000" b="1" dirty="0">
                <a:solidFill>
                  <a:schemeClr val="tx1"/>
                </a:solidFill>
              </a:rPr>
              <a:t>2⁷⁹</a:t>
            </a:r>
            <a:endParaRPr lang="en-US" sz="3000" dirty="0"/>
          </a:p>
        </p:txBody>
      </p:sp>
      <p:sp>
        <p:nvSpPr>
          <p:cNvPr id="15" name="Text 12"/>
          <p:cNvSpPr txBox="1"/>
          <p:nvPr/>
        </p:nvSpPr>
        <p:spPr>
          <a:xfrm>
            <a:off x="5440680" y="4758538"/>
            <a:ext cx="3108960" cy="451714"/>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比特币 2026：约 6×10²³ 次</a:t>
            </a:r>
            <a:endParaRPr lang="en-US" sz="1400" dirty="0"/>
          </a:p>
        </p:txBody>
      </p:sp>
      <p:sp>
        <p:nvSpPr>
          <p:cNvPr id="16" name="Shape 13"/>
          <p:cNvSpPr/>
          <p:nvPr/>
        </p:nvSpPr>
        <p:spPr>
          <a:xfrm>
            <a:off x="457200" y="5440680"/>
            <a:ext cx="8229600" cy="685800"/>
          </a:xfrm>
          <a:prstGeom prst="roundRect">
            <a:avLst>
              <a:gd name="adj" fmla="val 10667"/>
            </a:avLst>
          </a:prstGeom>
          <a:solidFill>
            <a:schemeClr val="accent1">
              <a:alpha val="12000"/>
            </a:schemeClr>
          </a:solidFill>
          <a:ln w="12700">
            <a:solidFill>
              <a:schemeClr val="accent1">
                <a:alpha val="0"/>
              </a:schemeClr>
            </a:solidFill>
            <a:prstDash val="solid"/>
          </a:ln>
        </p:spPr>
      </p:sp>
      <p:pic>
        <p:nvPicPr>
          <p:cNvPr id="17" name="Image 0" descr="key">    </p:cNvPr>
          <p:cNvPicPr>
            <a:picLocks noChangeAspect="1"/>
          </p:cNvPicPr>
          <p:nvPr/>
        </p:nvPicPr>
        <p:blipFill>
          <a:blip r:embed="rId1"/>
          <a:stretch>
            <a:fillRect/>
          </a:stretch>
        </p:blipFill>
        <p:spPr>
          <a:xfrm>
            <a:off x="640080" y="5591556"/>
            <a:ext cx="384048" cy="384048"/>
          </a:xfrm>
          <a:prstGeom prst="rect">
            <a:avLst/>
          </a:prstGeom>
        </p:spPr>
      </p:pic>
      <p:sp>
        <p:nvSpPr>
          <p:cNvPr id="18" name="Text 14"/>
          <p:cNvSpPr txBox="1"/>
          <p:nvPr/>
        </p:nvSpPr>
        <p:spPr>
          <a:xfrm>
            <a:off x="1188720" y="5513832"/>
            <a:ext cx="7315200" cy="53949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2021 年夏天中国清退矿机，难度曾单次下调约 28%——历史上最大的下调之一。</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10 分钟只是平均数：区块间隔差别很大</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来源：作者按平均 10 分钟的指数分布计算</a:t>
            </a:r>
            <a:endParaRPr lang="en-US" sz="1000" dirty="0"/>
          </a:p>
        </p:txBody>
      </p:sp>
      <p:graphicFrame>
        <p:nvGraphicFramePr>
          <p:cNvPr id="6" name="Chart 0" descr=""/>
          <p:cNvGraphicFramePr/>
          <p:nvPr/>
        </p:nvGraphicFramePr>
        <p:xfrm>
          <a:off x="457200" y="1417320"/>
          <a:ext cx="5120640" cy="41148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852160" y="1463040"/>
            <a:ext cx="2834640" cy="1325880"/>
          </a:xfrm>
          <a:prstGeom prst="roundRect">
            <a:avLst>
              <a:gd name="adj" fmla="val 5517"/>
            </a:avLst>
          </a:prstGeom>
          <a:solidFill>
            <a:schemeClr val="bg2"/>
          </a:solidFill>
          <a:ln w="12700">
            <a:solidFill>
              <a:schemeClr val="bg2">
                <a:alpha val="0"/>
              </a:schemeClr>
            </a:solidFill>
            <a:prstDash val="solid"/>
          </a:ln>
        </p:spPr>
      </p:sp>
      <p:sp>
        <p:nvSpPr>
          <p:cNvPr id="8" name="Text 4"/>
          <p:cNvSpPr txBox="1"/>
          <p:nvPr/>
        </p:nvSpPr>
        <p:spPr>
          <a:xfrm>
            <a:off x="5989320" y="1572768"/>
            <a:ext cx="2560320" cy="66294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36.8%</a:t>
            </a:r>
            <a:endParaRPr lang="en-US" sz="3000" dirty="0"/>
          </a:p>
        </p:txBody>
      </p:sp>
      <p:sp>
        <p:nvSpPr>
          <p:cNvPr id="9" name="Text 5"/>
          <p:cNvSpPr txBox="1"/>
          <p:nvPr/>
        </p:nvSpPr>
        <p:spPr>
          <a:xfrm>
            <a:off x="5989320" y="2232050"/>
            <a:ext cx="2560320" cy="503834"/>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的区块要等超过 10 分钟</a:t>
            </a:r>
            <a:endParaRPr lang="en-US" sz="1400" dirty="0"/>
          </a:p>
        </p:txBody>
      </p:sp>
      <p:sp>
        <p:nvSpPr>
          <p:cNvPr id="10" name="Shape 6"/>
          <p:cNvSpPr/>
          <p:nvPr/>
        </p:nvSpPr>
        <p:spPr>
          <a:xfrm>
            <a:off x="5852160" y="2926080"/>
            <a:ext cx="2834640" cy="1325880"/>
          </a:xfrm>
          <a:prstGeom prst="roundRect">
            <a:avLst>
              <a:gd name="adj" fmla="val 5517"/>
            </a:avLst>
          </a:prstGeom>
          <a:solidFill>
            <a:schemeClr val="bg2"/>
          </a:solidFill>
          <a:ln w="12700">
            <a:solidFill>
              <a:schemeClr val="bg2">
                <a:alpha val="0"/>
              </a:schemeClr>
            </a:solidFill>
            <a:prstDash val="solid"/>
          </a:ln>
        </p:spPr>
      </p:sp>
      <p:sp>
        <p:nvSpPr>
          <p:cNvPr id="11" name="Text 7"/>
          <p:cNvSpPr txBox="1"/>
          <p:nvPr/>
        </p:nvSpPr>
        <p:spPr>
          <a:xfrm>
            <a:off x="5989320" y="3035808"/>
            <a:ext cx="2560320" cy="66294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 1/400</a:t>
            </a:r>
            <a:endParaRPr lang="en-US" sz="3000" dirty="0"/>
          </a:p>
        </p:txBody>
      </p:sp>
      <p:sp>
        <p:nvSpPr>
          <p:cNvPr id="12" name="Text 8"/>
          <p:cNvSpPr txBox="1"/>
          <p:nvPr/>
        </p:nvSpPr>
        <p:spPr>
          <a:xfrm>
            <a:off x="5989320" y="3695090"/>
            <a:ext cx="2560320" cy="503834"/>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的区块要等超过 1 小时</a:t>
            </a:r>
            <a:endParaRPr lang="en-US" sz="1400" dirty="0"/>
          </a:p>
        </p:txBody>
      </p:sp>
      <p:sp>
        <p:nvSpPr>
          <p:cNvPr id="13" name="Text 9"/>
          <p:cNvSpPr txBox="1"/>
          <p:nvPr/>
        </p:nvSpPr>
        <p:spPr>
          <a:xfrm>
            <a:off x="5852160" y="4434840"/>
            <a:ext cx="2834640" cy="137160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无记忆性</a:t>
            </a:r>
            <a:pPr algn="l" indent="0" marL="0">
              <a:lnSpc>
                <a:spcPct val="105000"/>
              </a:lnSpc>
              <a:buNone/>
            </a:pPr>
            <a:r>
              <a:rPr lang="en-US" sz="1400" dirty="0">
                <a:solidFill>
                  <a:schemeClr val="tx1"/>
                </a:solidFill>
              </a:rPr>
              <a:t>：已经等了 9 分钟，下一分钟找到的概率和刚开始时一样。</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矿工的现实：专用矿机与矿池</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来源：Bitmain；Hashrate Index（2026）、ViaBTC 等矿池数据，口径不一</a:t>
            </a:r>
            <a:endParaRPr lang="en-US" sz="1000" dirty="0"/>
          </a:p>
        </p:txBody>
      </p:sp>
      <p:pic>
        <p:nvPicPr>
          <p:cNvPr id="6" name="Image 0" descr="比特币专用矿机（ASIC）">    </p:cNvPr>
          <p:cNvPicPr>
            <a:picLocks noChangeAspect="1"/>
          </p:cNvPicPr>
          <p:nvPr/>
        </p:nvPicPr>
        <p:blipFill>
          <a:blip r:embed="rId1"/>
          <a:stretch>
            <a:fillRect/>
          </a:stretch>
        </p:blipFill>
        <p:spPr>
          <a:xfrm>
            <a:off x="464841" y="1417320"/>
            <a:ext cx="3093679" cy="3291840"/>
          </a:xfrm>
          <a:prstGeom prst="rect">
            <a:avLst/>
          </a:prstGeom>
        </p:spPr>
      </p:pic>
      <p:sp>
        <p:nvSpPr>
          <p:cNvPr id="7" name="Text 3"/>
          <p:cNvSpPr txBox="1"/>
          <p:nvPr/>
        </p:nvSpPr>
        <p:spPr>
          <a:xfrm>
            <a:off x="3840480" y="1463040"/>
            <a:ext cx="4846320" cy="3383280"/>
          </a:xfrm>
          <a:prstGeom prst="rect">
            <a:avLst/>
          </a:prstGeom>
          <a:noFill/>
          <a:ln/>
        </p:spPr>
        <p:txBody>
          <a:bodyPr wrap="square" lIns="0" tIns="0" rIns="0" bIns="0" rtlCol="0" anchor="t"/>
          <a:lstStyle/>
          <a:p>
            <a:pPr algn="l" marL="254000" indent="-254000">
              <a:lnSpc>
                <a:spcPct val="105000"/>
              </a:lnSpc>
              <a:spcAft>
                <a:spcPts val="1000"/>
              </a:spcAft>
              <a:buSzPct val="100000"/>
              <a:buChar char="•"/>
            </a:pPr>
            <a:r>
              <a:rPr lang="en-US" sz="1600" b="1" dirty="0">
                <a:solidFill>
                  <a:schemeClr val="tx1"/>
                </a:solidFill>
              </a:rPr>
              <a:t>CPU → GPU → FPGA → ASIC</a:t>
            </a:r>
            <a:pPr algn="l" marL="254000" indent="-254000">
              <a:lnSpc>
                <a:spcPct val="105000"/>
              </a:lnSpc>
              <a:spcAft>
                <a:spcPts val="1000"/>
              </a:spcAft>
              <a:buSzPct val="100000"/>
              <a:buChar char="•"/>
            </a:pPr>
            <a:r>
              <a:rPr lang="en-US" sz="1600" dirty="0">
                <a:solidFill>
                  <a:schemeClr val="tx1"/>
                </a:solidFill>
              </a:rPr>
              <a:t>：通用性降低，性能提高</a:t>
            </a:r>
            <a:endParaRPr lang="en-US" sz="1600" dirty="0"/>
          </a:p>
          <a:p>
            <a:pPr algn="l" marL="254000" indent="-254000">
              <a:lnSpc>
                <a:spcPct val="105000"/>
              </a:lnSpc>
              <a:spcAft>
                <a:spcPts val="1000"/>
              </a:spcAft>
              <a:buSzPct val="100000"/>
              <a:buChar char="•"/>
            </a:pPr>
            <a:r>
              <a:rPr lang="en-US" sz="1600" dirty="0">
                <a:solidFill>
                  <a:schemeClr val="tx1"/>
                </a:solidFill>
              </a:rPr>
              <a:t>一台主流矿机约 </a:t>
            </a:r>
            <a:pPr algn="l" marL="254000" indent="-254000">
              <a:lnSpc>
                <a:spcPct val="105000"/>
              </a:lnSpc>
              <a:spcAft>
                <a:spcPts val="1000"/>
              </a:spcAft>
              <a:buSzPct val="100000"/>
              <a:buChar char="•"/>
            </a:pPr>
            <a:r>
              <a:rPr lang="en-US" sz="1600" b="1" dirty="0">
                <a:solidFill>
                  <a:schemeClr val="tx1"/>
                </a:solidFill>
              </a:rPr>
              <a:t>2×10¹⁴</a:t>
            </a:r>
            <a:pPr algn="l" marL="254000" indent="-254000">
              <a:lnSpc>
                <a:spcPct val="105000"/>
              </a:lnSpc>
              <a:spcAft>
                <a:spcPts val="1000"/>
              </a:spcAft>
              <a:buSzPct val="100000"/>
              <a:buChar char="•"/>
            </a:pPr>
            <a:r>
              <a:rPr lang="en-US" sz="1600" dirty="0">
                <a:solidFill>
                  <a:schemeClr val="tx1"/>
                </a:solidFill>
              </a:rPr>
              <a:t> 次/秒；全网约 </a:t>
            </a:r>
            <a:pPr algn="l" marL="254000" indent="-254000">
              <a:lnSpc>
                <a:spcPct val="105000"/>
              </a:lnSpc>
              <a:spcAft>
                <a:spcPts val="1000"/>
              </a:spcAft>
              <a:buSzPct val="100000"/>
              <a:buChar char="•"/>
            </a:pPr>
            <a:r>
              <a:rPr lang="en-US" sz="1600" b="1" dirty="0">
                <a:solidFill>
                  <a:schemeClr val="tx1"/>
                </a:solidFill>
              </a:rPr>
              <a:t>10²¹</a:t>
            </a:r>
            <a:pPr algn="l" marL="254000" indent="-254000">
              <a:lnSpc>
                <a:spcPct val="105000"/>
              </a:lnSpc>
              <a:spcAft>
                <a:spcPts val="1000"/>
              </a:spcAft>
              <a:buSzPct val="100000"/>
              <a:buChar char="•"/>
            </a:pPr>
            <a:r>
              <a:rPr lang="en-US" sz="1600" dirty="0">
                <a:solidFill>
                  <a:schemeClr val="tx1"/>
                </a:solidFill>
              </a:rPr>
              <a:t> 次/秒</a:t>
            </a:r>
            <a:endParaRPr lang="en-US" sz="1600" dirty="0"/>
          </a:p>
          <a:p>
            <a:pPr algn="l" marL="254000" indent="-254000">
              <a:lnSpc>
                <a:spcPct val="105000"/>
              </a:lnSpc>
              <a:spcAft>
                <a:spcPts val="1000"/>
              </a:spcAft>
              <a:buSzPct val="100000"/>
              <a:buChar char="•"/>
            </a:pPr>
            <a:r>
              <a:rPr lang="en-US" sz="1600" dirty="0">
                <a:solidFill>
                  <a:schemeClr val="tx1"/>
                </a:solidFill>
              </a:rPr>
              <a:t>单个矿工中奖概率极低 → </a:t>
            </a:r>
            <a:pPr algn="l" marL="254000" indent="-254000">
              <a:lnSpc>
                <a:spcPct val="105000"/>
              </a:lnSpc>
              <a:spcAft>
                <a:spcPts val="1000"/>
              </a:spcAft>
              <a:buSzPct val="100000"/>
              <a:buChar char="•"/>
            </a:pPr>
            <a:r>
              <a:rPr lang="en-US" sz="1600" b="1" dirty="0">
                <a:solidFill>
                  <a:schemeClr val="tx1"/>
                </a:solidFill>
              </a:rPr>
              <a:t>矿池</a:t>
            </a:r>
            <a:pPr algn="l" marL="254000" indent="-254000">
              <a:lnSpc>
                <a:spcPct val="105000"/>
              </a:lnSpc>
              <a:spcAft>
                <a:spcPts val="1000"/>
              </a:spcAft>
              <a:buSzPct val="100000"/>
              <a:buChar char="•"/>
            </a:pPr>
            <a:r>
              <a:rPr lang="en-US" sz="1600" dirty="0">
                <a:solidFill>
                  <a:schemeClr val="tx1"/>
                </a:solidFill>
              </a:rPr>
              <a:t>：合并算力、按贡献分成</a:t>
            </a:r>
            <a:endParaRPr lang="en-US" sz="1600" dirty="0"/>
          </a:p>
          <a:p>
            <a:pPr algn="l" marL="254000" indent="-254000">
              <a:lnSpc>
                <a:spcPct val="105000"/>
              </a:lnSpc>
              <a:buSzPct val="100000"/>
              <a:buChar char="•"/>
            </a:pPr>
            <a:r>
              <a:rPr lang="en-US" sz="1600" dirty="0">
                <a:solidFill>
                  <a:schemeClr val="tx1"/>
                </a:solidFill>
              </a:rPr>
              <a:t>集中度：最大矿池约占 </a:t>
            </a:r>
            <a:pPr algn="l" marL="254000" indent="-254000">
              <a:lnSpc>
                <a:spcPct val="105000"/>
              </a:lnSpc>
              <a:buSzPct val="100000"/>
              <a:buChar char="•"/>
            </a:pPr>
            <a:r>
              <a:rPr lang="en-US" sz="1600" b="1" dirty="0">
                <a:solidFill>
                  <a:schemeClr val="tx1"/>
                </a:solidFill>
              </a:rPr>
              <a:t>30%</a:t>
            </a:r>
            <a:pPr algn="l" marL="254000" indent="-254000">
              <a:lnSpc>
                <a:spcPct val="105000"/>
              </a:lnSpc>
              <a:buSzPct val="100000"/>
              <a:buChar char="•"/>
            </a:pPr>
            <a:r>
              <a:rPr lang="en-US" sz="1600" dirty="0">
                <a:solidFill>
                  <a:schemeClr val="tx1"/>
                </a:solidFill>
              </a:rPr>
              <a:t>，前两大合计约一半</a:t>
            </a:r>
            <a:endParaRPr lang="en-US" sz="1600" dirty="0"/>
          </a:p>
        </p:txBody>
      </p:sp>
      <p:sp>
        <p:nvSpPr>
          <p:cNvPr id="8" name="Shape 4"/>
          <p:cNvSpPr/>
          <p:nvPr/>
        </p:nvSpPr>
        <p:spPr>
          <a:xfrm>
            <a:off x="457200" y="5029200"/>
            <a:ext cx="8229600" cy="868680"/>
          </a:xfrm>
          <a:prstGeom prst="roundRect">
            <a:avLst>
              <a:gd name="adj" fmla="val 8421"/>
            </a:avLst>
          </a:prstGeom>
          <a:solidFill>
            <a:schemeClr val="accent1">
              <a:alpha val="12000"/>
            </a:schemeClr>
          </a:solidFill>
          <a:ln w="12700">
            <a:solidFill>
              <a:schemeClr val="accent1">
                <a:alpha val="0"/>
              </a:schemeClr>
            </a:solidFill>
            <a:prstDash val="solid"/>
          </a:ln>
        </p:spPr>
      </p:sp>
      <p:pic>
        <p:nvPicPr>
          <p:cNvPr id="9" name="Image 1" descr="key">    </p:cNvPr>
          <p:cNvPicPr>
            <a:picLocks noChangeAspect="1"/>
          </p:cNvPicPr>
          <p:nvPr/>
        </p:nvPicPr>
        <p:blipFill>
          <a:blip r:embed="rId2"/>
          <a:stretch>
            <a:fillRect/>
          </a:stretch>
        </p:blipFill>
        <p:spPr>
          <a:xfrm>
            <a:off x="640080" y="5271516"/>
            <a:ext cx="384048" cy="384048"/>
          </a:xfrm>
          <a:prstGeom prst="rect">
            <a:avLst/>
          </a:prstGeom>
        </p:spPr>
      </p:pic>
      <p:sp>
        <p:nvSpPr>
          <p:cNvPr id="10" name="Text 5"/>
          <p:cNvSpPr txBox="1"/>
          <p:nvPr/>
        </p:nvSpPr>
        <p:spPr>
          <a:xfrm>
            <a:off x="1188720" y="5102352"/>
            <a:ext cx="7315200" cy="72237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用笔记本挖比特币？几乎等于买一张彩票。</a:t>
            </a:r>
            <a:pPr algn="l" indent="0" marL="0">
              <a:lnSpc>
                <a:spcPct val="105000"/>
              </a:lnSpc>
              <a:buNone/>
            </a:pPr>
            <a:r>
              <a:rPr lang="en-US" sz="1700" b="1" dirty="0">
                <a:solidFill>
                  <a:schemeClr val="tx1"/>
                </a:solidFill>
              </a:rPr>
              <a:t>挖矿 = 实力 + 运气。</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一个区块的诞生：六步走（白皮书 §5）</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来源：白皮书 §5 Network</a:t>
            </a:r>
            <a:endParaRPr lang="en-US" sz="1000" dirty="0"/>
          </a:p>
        </p:txBody>
      </p:sp>
      <p:sp>
        <p:nvSpPr>
          <p:cNvPr id="6" name="Shape 3"/>
          <p:cNvSpPr/>
          <p:nvPr/>
        </p:nvSpPr>
        <p:spPr>
          <a:xfrm>
            <a:off x="457200" y="1417320"/>
            <a:ext cx="2651760" cy="2240280"/>
          </a:xfrm>
          <a:prstGeom prst="roundRect">
            <a:avLst>
              <a:gd name="adj" fmla="val 3265"/>
            </a:avLst>
          </a:prstGeom>
          <a:solidFill>
            <a:schemeClr val="bg2"/>
          </a:solidFill>
          <a:ln w="12700">
            <a:solidFill>
              <a:schemeClr val="bg2">
                <a:alpha val="0"/>
              </a:schemeClr>
            </a:solidFill>
            <a:prstDash val="solid"/>
          </a:ln>
        </p:spPr>
      </p:sp>
      <p:sp>
        <p:nvSpPr>
          <p:cNvPr id="7" name="Shape 4"/>
          <p:cNvSpPr/>
          <p:nvPr/>
        </p:nvSpPr>
        <p:spPr>
          <a:xfrm>
            <a:off x="640080" y="1581912"/>
            <a:ext cx="457200" cy="457200"/>
          </a:xfrm>
          <a:prstGeom prst="ellipse">
            <a:avLst/>
          </a:prstGeom>
          <a:solidFill>
            <a:schemeClr val="accent1"/>
          </a:solidFill>
          <a:ln w="12700">
            <a:solidFill>
              <a:schemeClr val="accent1">
                <a:alpha val="0"/>
              </a:schemeClr>
            </a:solidFill>
            <a:prstDash val="solid"/>
          </a:ln>
        </p:spPr>
      </p:sp>
      <p:sp>
        <p:nvSpPr>
          <p:cNvPr id="8" name="Text 5"/>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9" name="Text 6"/>
          <p:cNvSpPr txBox="1"/>
          <p:nvPr/>
        </p:nvSpPr>
        <p:spPr>
          <a:xfrm>
            <a:off x="640080" y="2148840"/>
            <a:ext cx="2286000" cy="33680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广播</a:t>
            </a:r>
            <a:endParaRPr lang="en-US" sz="1900" dirty="0"/>
          </a:p>
        </p:txBody>
      </p:sp>
      <p:sp>
        <p:nvSpPr>
          <p:cNvPr id="10" name="Text 7"/>
          <p:cNvSpPr txBox="1"/>
          <p:nvPr/>
        </p:nvSpPr>
        <p:spPr>
          <a:xfrm>
            <a:off x="640080" y="2540508"/>
            <a:ext cx="2286000" cy="100736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新交易广播给全网所有节点。</a:t>
            </a:r>
            <a:endParaRPr lang="en-US" sz="1500" dirty="0"/>
          </a:p>
        </p:txBody>
      </p:sp>
      <p:sp>
        <p:nvSpPr>
          <p:cNvPr id="11" name="Shape 8"/>
          <p:cNvSpPr/>
          <p:nvPr/>
        </p:nvSpPr>
        <p:spPr>
          <a:xfrm>
            <a:off x="3246120" y="1417320"/>
            <a:ext cx="2651760" cy="2240280"/>
          </a:xfrm>
          <a:prstGeom prst="roundRect">
            <a:avLst>
              <a:gd name="adj" fmla="val 3265"/>
            </a:avLst>
          </a:prstGeom>
          <a:solidFill>
            <a:schemeClr val="bg2"/>
          </a:solidFill>
          <a:ln w="12700">
            <a:solidFill>
              <a:schemeClr val="bg2">
                <a:alpha val="0"/>
              </a:schemeClr>
            </a:solidFill>
            <a:prstDash val="solid"/>
          </a:ln>
        </p:spPr>
      </p:sp>
      <p:sp>
        <p:nvSpPr>
          <p:cNvPr id="12" name="Shape 9"/>
          <p:cNvSpPr/>
          <p:nvPr/>
        </p:nvSpPr>
        <p:spPr>
          <a:xfrm>
            <a:off x="3429000" y="1581912"/>
            <a:ext cx="457200" cy="457200"/>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342900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4" name="Text 11"/>
          <p:cNvSpPr txBox="1"/>
          <p:nvPr/>
        </p:nvSpPr>
        <p:spPr>
          <a:xfrm>
            <a:off x="3429000" y="2148840"/>
            <a:ext cx="2286000" cy="33680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收集</a:t>
            </a:r>
            <a:endParaRPr lang="en-US" sz="1900" dirty="0"/>
          </a:p>
        </p:txBody>
      </p:sp>
      <p:sp>
        <p:nvSpPr>
          <p:cNvPr id="15" name="Text 12"/>
          <p:cNvSpPr txBox="1"/>
          <p:nvPr/>
        </p:nvSpPr>
        <p:spPr>
          <a:xfrm>
            <a:off x="3429000" y="2540508"/>
            <a:ext cx="2286000" cy="100736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各节点把新交易收进“内存池”（mempool）。</a:t>
            </a:r>
            <a:endParaRPr lang="en-US" sz="1500" dirty="0"/>
          </a:p>
        </p:txBody>
      </p:sp>
      <p:sp>
        <p:nvSpPr>
          <p:cNvPr id="16" name="Shape 13"/>
          <p:cNvSpPr/>
          <p:nvPr/>
        </p:nvSpPr>
        <p:spPr>
          <a:xfrm>
            <a:off x="6035040" y="1417320"/>
            <a:ext cx="2651760" cy="2240280"/>
          </a:xfrm>
          <a:prstGeom prst="roundRect">
            <a:avLst>
              <a:gd name="adj" fmla="val 3265"/>
            </a:avLst>
          </a:prstGeom>
          <a:solidFill>
            <a:schemeClr val="bg2"/>
          </a:solidFill>
          <a:ln w="12700">
            <a:solidFill>
              <a:schemeClr val="bg2">
                <a:alpha val="0"/>
              </a:schemeClr>
            </a:solidFill>
            <a:prstDash val="solid"/>
          </a:ln>
        </p:spPr>
      </p:sp>
      <p:sp>
        <p:nvSpPr>
          <p:cNvPr id="17" name="Shape 14"/>
          <p:cNvSpPr/>
          <p:nvPr/>
        </p:nvSpPr>
        <p:spPr>
          <a:xfrm>
            <a:off x="6217920" y="1581912"/>
            <a:ext cx="457200" cy="457200"/>
          </a:xfrm>
          <a:prstGeom prst="ellipse">
            <a:avLst/>
          </a:prstGeom>
          <a:solidFill>
            <a:schemeClr val="accent1"/>
          </a:solidFill>
          <a:ln w="12700">
            <a:solidFill>
              <a:schemeClr val="accent1">
                <a:alpha val="0"/>
              </a:schemeClr>
            </a:solidFill>
            <a:prstDash val="solid"/>
          </a:ln>
        </p:spPr>
      </p:sp>
      <p:sp>
        <p:nvSpPr>
          <p:cNvPr id="18" name="Text 15"/>
          <p:cNvSpPr txBox="1"/>
          <p:nvPr/>
        </p:nvSpPr>
        <p:spPr>
          <a:xfrm>
            <a:off x="621792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9" name="Text 16"/>
          <p:cNvSpPr txBox="1"/>
          <p:nvPr/>
        </p:nvSpPr>
        <p:spPr>
          <a:xfrm>
            <a:off x="6217920" y="2148840"/>
            <a:ext cx="2286000" cy="33680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竞赛</a:t>
            </a:r>
            <a:endParaRPr lang="en-US" sz="1900" dirty="0"/>
          </a:p>
        </p:txBody>
      </p:sp>
      <p:sp>
        <p:nvSpPr>
          <p:cNvPr id="20" name="Text 17"/>
          <p:cNvSpPr txBox="1"/>
          <p:nvPr/>
        </p:nvSpPr>
        <p:spPr>
          <a:xfrm>
            <a:off x="6217920" y="2540508"/>
            <a:ext cx="2286000" cy="100736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矿工打包区块，反复猜 nonce 寻找工作量证明。</a:t>
            </a:r>
            <a:endParaRPr lang="en-US" sz="1500" dirty="0"/>
          </a:p>
        </p:txBody>
      </p:sp>
      <p:sp>
        <p:nvSpPr>
          <p:cNvPr id="21" name="Shape 18"/>
          <p:cNvSpPr/>
          <p:nvPr/>
        </p:nvSpPr>
        <p:spPr>
          <a:xfrm>
            <a:off x="457200" y="3794760"/>
            <a:ext cx="2651760" cy="2240280"/>
          </a:xfrm>
          <a:prstGeom prst="roundRect">
            <a:avLst>
              <a:gd name="adj" fmla="val 3265"/>
            </a:avLst>
          </a:prstGeom>
          <a:solidFill>
            <a:schemeClr val="bg2"/>
          </a:solidFill>
          <a:ln w="12700">
            <a:solidFill>
              <a:schemeClr val="bg2">
                <a:alpha val="0"/>
              </a:schemeClr>
            </a:solidFill>
            <a:prstDash val="solid"/>
          </a:ln>
        </p:spPr>
      </p:sp>
      <p:sp>
        <p:nvSpPr>
          <p:cNvPr id="22" name="Shape 19"/>
          <p:cNvSpPr/>
          <p:nvPr/>
        </p:nvSpPr>
        <p:spPr>
          <a:xfrm>
            <a:off x="640080" y="3959352"/>
            <a:ext cx="457200" cy="457200"/>
          </a:xfrm>
          <a:prstGeom prst="ellipse">
            <a:avLst/>
          </a:prstGeom>
          <a:solidFill>
            <a:schemeClr val="accent1"/>
          </a:solidFill>
          <a:ln w="12700">
            <a:solidFill>
              <a:schemeClr val="accent1">
                <a:alpha val="0"/>
              </a:schemeClr>
            </a:solidFill>
            <a:prstDash val="solid"/>
          </a:ln>
        </p:spPr>
      </p:sp>
      <p:sp>
        <p:nvSpPr>
          <p:cNvPr id="23" name="Text 20"/>
          <p:cNvSpPr txBox="1"/>
          <p:nvPr/>
        </p:nvSpPr>
        <p:spPr>
          <a:xfrm>
            <a:off x="640080" y="39593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4" name="Text 21"/>
          <p:cNvSpPr txBox="1"/>
          <p:nvPr/>
        </p:nvSpPr>
        <p:spPr>
          <a:xfrm>
            <a:off x="640080" y="4526280"/>
            <a:ext cx="2286000" cy="33680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公布</a:t>
            </a:r>
            <a:endParaRPr lang="en-US" sz="1900" dirty="0"/>
          </a:p>
        </p:txBody>
      </p:sp>
      <p:sp>
        <p:nvSpPr>
          <p:cNvPr id="25" name="Text 22"/>
          <p:cNvSpPr txBox="1"/>
          <p:nvPr/>
        </p:nvSpPr>
        <p:spPr>
          <a:xfrm>
            <a:off x="640080" y="4917948"/>
            <a:ext cx="2286000" cy="100736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谁先找到，就把区块广播给所有节点。</a:t>
            </a:r>
            <a:endParaRPr lang="en-US" sz="1500" dirty="0"/>
          </a:p>
        </p:txBody>
      </p:sp>
      <p:sp>
        <p:nvSpPr>
          <p:cNvPr id="26" name="Shape 23"/>
          <p:cNvSpPr/>
          <p:nvPr/>
        </p:nvSpPr>
        <p:spPr>
          <a:xfrm>
            <a:off x="3246120" y="3794760"/>
            <a:ext cx="2651760" cy="2240280"/>
          </a:xfrm>
          <a:prstGeom prst="roundRect">
            <a:avLst>
              <a:gd name="adj" fmla="val 3265"/>
            </a:avLst>
          </a:prstGeom>
          <a:solidFill>
            <a:schemeClr val="bg2"/>
          </a:solidFill>
          <a:ln w="12700">
            <a:solidFill>
              <a:schemeClr val="bg2">
                <a:alpha val="0"/>
              </a:schemeClr>
            </a:solidFill>
            <a:prstDash val="solid"/>
          </a:ln>
        </p:spPr>
      </p:sp>
      <p:sp>
        <p:nvSpPr>
          <p:cNvPr id="27" name="Shape 24"/>
          <p:cNvSpPr/>
          <p:nvPr/>
        </p:nvSpPr>
        <p:spPr>
          <a:xfrm>
            <a:off x="3429000" y="3959352"/>
            <a:ext cx="457200" cy="457200"/>
          </a:xfrm>
          <a:prstGeom prst="ellipse">
            <a:avLst/>
          </a:prstGeom>
          <a:solidFill>
            <a:schemeClr val="accent1"/>
          </a:solidFill>
          <a:ln w="12700">
            <a:solidFill>
              <a:schemeClr val="accent1">
                <a:alpha val="0"/>
              </a:schemeClr>
            </a:solidFill>
            <a:prstDash val="solid"/>
          </a:ln>
        </p:spPr>
      </p:sp>
      <p:sp>
        <p:nvSpPr>
          <p:cNvPr id="28" name="Text 25"/>
          <p:cNvSpPr txBox="1"/>
          <p:nvPr/>
        </p:nvSpPr>
        <p:spPr>
          <a:xfrm>
            <a:off x="3429000" y="39593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9" name="Text 26"/>
          <p:cNvSpPr txBox="1"/>
          <p:nvPr/>
        </p:nvSpPr>
        <p:spPr>
          <a:xfrm>
            <a:off x="3429000" y="4526280"/>
            <a:ext cx="2286000" cy="33680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验收</a:t>
            </a:r>
            <a:endParaRPr lang="en-US" sz="1900" dirty="0"/>
          </a:p>
        </p:txBody>
      </p:sp>
      <p:sp>
        <p:nvSpPr>
          <p:cNvPr id="30" name="Text 27"/>
          <p:cNvSpPr txBox="1"/>
          <p:nvPr/>
        </p:nvSpPr>
        <p:spPr>
          <a:xfrm>
            <a:off x="3429000" y="4917948"/>
            <a:ext cx="2286000" cy="100736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节点检验：签名有效、币未花过、PoW 合格，才接受。</a:t>
            </a:r>
            <a:endParaRPr lang="en-US" sz="1500" dirty="0"/>
          </a:p>
        </p:txBody>
      </p:sp>
      <p:sp>
        <p:nvSpPr>
          <p:cNvPr id="31" name="Shape 28"/>
          <p:cNvSpPr/>
          <p:nvPr/>
        </p:nvSpPr>
        <p:spPr>
          <a:xfrm>
            <a:off x="6035040" y="3794760"/>
            <a:ext cx="2651760" cy="2240280"/>
          </a:xfrm>
          <a:prstGeom prst="roundRect">
            <a:avLst>
              <a:gd name="adj" fmla="val 3265"/>
            </a:avLst>
          </a:prstGeom>
          <a:solidFill>
            <a:schemeClr val="bg2"/>
          </a:solidFill>
          <a:ln w="12700">
            <a:solidFill>
              <a:schemeClr val="bg2">
                <a:alpha val="0"/>
              </a:schemeClr>
            </a:solidFill>
            <a:prstDash val="solid"/>
          </a:ln>
        </p:spPr>
      </p:sp>
      <p:sp>
        <p:nvSpPr>
          <p:cNvPr id="32" name="Shape 29"/>
          <p:cNvSpPr/>
          <p:nvPr/>
        </p:nvSpPr>
        <p:spPr>
          <a:xfrm>
            <a:off x="6217920" y="3959352"/>
            <a:ext cx="457200" cy="457200"/>
          </a:xfrm>
          <a:prstGeom prst="ellipse">
            <a:avLst/>
          </a:prstGeom>
          <a:solidFill>
            <a:schemeClr val="accent1"/>
          </a:solidFill>
          <a:ln w="12700">
            <a:solidFill>
              <a:schemeClr val="accent1">
                <a:alpha val="0"/>
              </a:schemeClr>
            </a:solidFill>
            <a:prstDash val="solid"/>
          </a:ln>
        </p:spPr>
      </p:sp>
      <p:sp>
        <p:nvSpPr>
          <p:cNvPr id="33" name="Text 30"/>
          <p:cNvSpPr txBox="1"/>
          <p:nvPr/>
        </p:nvSpPr>
        <p:spPr>
          <a:xfrm>
            <a:off x="6217920" y="39593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4" name="Text 31"/>
          <p:cNvSpPr txBox="1"/>
          <p:nvPr/>
        </p:nvSpPr>
        <p:spPr>
          <a:xfrm>
            <a:off x="6217920" y="4526280"/>
            <a:ext cx="2286000" cy="33680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接力</a:t>
            </a:r>
            <a:endParaRPr lang="en-US" sz="1900" dirty="0"/>
          </a:p>
        </p:txBody>
      </p:sp>
      <p:sp>
        <p:nvSpPr>
          <p:cNvPr id="35" name="Text 32"/>
          <p:cNvSpPr txBox="1"/>
          <p:nvPr/>
        </p:nvSpPr>
        <p:spPr>
          <a:xfrm>
            <a:off x="6217920" y="4917948"/>
            <a:ext cx="2286000" cy="100736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节点在新块之后继续做下一块，以此表示“接受”。</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最长链规则：累计工作量最大的链，就是历史</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5" name="Shape 2"/>
          <p:cNvSpPr/>
          <p:nvPr/>
        </p:nvSpPr>
        <p:spPr>
          <a:xfrm>
            <a:off x="457200" y="2331720"/>
            <a:ext cx="1188720" cy="731520"/>
          </a:xfrm>
          <a:prstGeom prst="roundRect">
            <a:avLst>
              <a:gd name="adj" fmla="val 10000"/>
            </a:avLst>
          </a:prstGeom>
          <a:solidFill>
            <a:schemeClr val="bg2"/>
          </a:solidFill>
          <a:ln w="12700">
            <a:solidFill>
              <a:schemeClr val="bg2">
                <a:alpha val="0"/>
              </a:schemeClr>
            </a:solidFill>
            <a:prstDash val="solid"/>
          </a:ln>
        </p:spPr>
      </p:sp>
      <p:sp>
        <p:nvSpPr>
          <p:cNvPr id="6" name="Text 3"/>
          <p:cNvSpPr txBox="1"/>
          <p:nvPr/>
        </p:nvSpPr>
        <p:spPr>
          <a:xfrm>
            <a:off x="457200" y="2331720"/>
            <a:ext cx="1188720" cy="73152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区块 N−2</a:t>
            </a:r>
            <a:endParaRPr lang="en-US" sz="1500" dirty="0"/>
          </a:p>
        </p:txBody>
      </p:sp>
      <p:sp>
        <p:nvSpPr>
          <p:cNvPr id="7" name="Shape 4"/>
          <p:cNvSpPr/>
          <p:nvPr/>
        </p:nvSpPr>
        <p:spPr>
          <a:xfrm>
            <a:off x="2011680" y="2331720"/>
            <a:ext cx="1188720" cy="731520"/>
          </a:xfrm>
          <a:prstGeom prst="roundRect">
            <a:avLst>
              <a:gd name="adj" fmla="val 10000"/>
            </a:avLst>
          </a:prstGeom>
          <a:solidFill>
            <a:schemeClr val="bg2"/>
          </a:solidFill>
          <a:ln w="12700">
            <a:solidFill>
              <a:schemeClr val="bg2">
                <a:alpha val="0"/>
              </a:schemeClr>
            </a:solidFill>
            <a:prstDash val="solid"/>
          </a:ln>
        </p:spPr>
      </p:sp>
      <p:sp>
        <p:nvSpPr>
          <p:cNvPr id="8" name="Text 5"/>
          <p:cNvSpPr txBox="1"/>
          <p:nvPr/>
        </p:nvSpPr>
        <p:spPr>
          <a:xfrm>
            <a:off x="2011680" y="2331720"/>
            <a:ext cx="1188720" cy="73152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区块 N−1</a:t>
            </a:r>
            <a:endParaRPr lang="en-US" sz="1500" dirty="0"/>
          </a:p>
        </p:txBody>
      </p:sp>
      <p:sp>
        <p:nvSpPr>
          <p:cNvPr id="9" name="Shape 6"/>
          <p:cNvSpPr/>
          <p:nvPr/>
        </p:nvSpPr>
        <p:spPr>
          <a:xfrm>
            <a:off x="3840480" y="1645920"/>
            <a:ext cx="1188720" cy="731520"/>
          </a:xfrm>
          <a:prstGeom prst="roundRect">
            <a:avLst>
              <a:gd name="adj" fmla="val 10000"/>
            </a:avLst>
          </a:prstGeom>
          <a:solidFill>
            <a:schemeClr val="accent1"/>
          </a:solidFill>
          <a:ln w="12700">
            <a:solidFill>
              <a:schemeClr val="accent1">
                <a:alpha val="0"/>
              </a:schemeClr>
            </a:solidFill>
            <a:prstDash val="solid"/>
          </a:ln>
        </p:spPr>
      </p:sp>
      <p:sp>
        <p:nvSpPr>
          <p:cNvPr id="10" name="Text 7"/>
          <p:cNvSpPr txBox="1"/>
          <p:nvPr/>
        </p:nvSpPr>
        <p:spPr>
          <a:xfrm>
            <a:off x="3840480" y="1645920"/>
            <a:ext cx="1188720" cy="73152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区块 N（A）</a:t>
            </a:r>
            <a:endParaRPr lang="en-US" sz="1500" dirty="0"/>
          </a:p>
        </p:txBody>
      </p:sp>
      <p:sp>
        <p:nvSpPr>
          <p:cNvPr id="11" name="Shape 8"/>
          <p:cNvSpPr/>
          <p:nvPr/>
        </p:nvSpPr>
        <p:spPr>
          <a:xfrm>
            <a:off x="3840480" y="3108960"/>
            <a:ext cx="1188720" cy="731520"/>
          </a:xfrm>
          <a:prstGeom prst="roundRect">
            <a:avLst>
              <a:gd name="adj" fmla="val 10000"/>
            </a:avLst>
          </a:prstGeom>
          <a:solidFill>
            <a:schemeClr val="bg1"/>
          </a:solidFill>
          <a:ln w="19050">
            <a:solidFill>
              <a:schemeClr val="accent5"/>
            </a:solidFill>
            <a:prstDash val="solid"/>
          </a:ln>
        </p:spPr>
      </p:sp>
      <p:sp>
        <p:nvSpPr>
          <p:cNvPr id="12" name="Text 9"/>
          <p:cNvSpPr txBox="1"/>
          <p:nvPr/>
        </p:nvSpPr>
        <p:spPr>
          <a:xfrm>
            <a:off x="3840480" y="3108960"/>
            <a:ext cx="1188720" cy="731520"/>
          </a:xfrm>
          <a:prstGeom prst="rect">
            <a:avLst/>
          </a:prstGeom>
          <a:noFill/>
          <a:ln/>
        </p:spPr>
        <p:txBody>
          <a:bodyPr wrap="square" lIns="0" tIns="0" rIns="0" bIns="0" rtlCol="0" anchor="ctr"/>
          <a:lstStyle/>
          <a:p>
            <a:pPr algn="ctr" indent="0" marL="0">
              <a:lnSpc>
                <a:spcPct val="105000"/>
              </a:lnSpc>
              <a:buNone/>
            </a:pPr>
            <a:r>
              <a:rPr lang="en-US" sz="1500" b="1" dirty="0">
                <a:solidFill>
                  <a:schemeClr val="accent4"/>
                </a:solidFill>
              </a:rPr>
              <a:t>区块 N（B）</a:t>
            </a:r>
            <a:endParaRPr lang="en-US" sz="1500" dirty="0"/>
          </a:p>
        </p:txBody>
      </p:sp>
      <p:sp>
        <p:nvSpPr>
          <p:cNvPr id="13" name="Shape 10"/>
          <p:cNvSpPr/>
          <p:nvPr/>
        </p:nvSpPr>
        <p:spPr>
          <a:xfrm>
            <a:off x="5669280" y="1645920"/>
            <a:ext cx="1188720" cy="731520"/>
          </a:xfrm>
          <a:prstGeom prst="roundRect">
            <a:avLst>
              <a:gd name="adj" fmla="val 10000"/>
            </a:avLst>
          </a:prstGeom>
          <a:solidFill>
            <a:schemeClr val="accent1"/>
          </a:solidFill>
          <a:ln w="12700">
            <a:solidFill>
              <a:schemeClr val="accent1">
                <a:alpha val="0"/>
              </a:schemeClr>
            </a:solidFill>
            <a:prstDash val="solid"/>
          </a:ln>
        </p:spPr>
      </p:sp>
      <p:sp>
        <p:nvSpPr>
          <p:cNvPr id="14" name="Text 11"/>
          <p:cNvSpPr txBox="1"/>
          <p:nvPr/>
        </p:nvSpPr>
        <p:spPr>
          <a:xfrm>
            <a:off x="5669280" y="1645920"/>
            <a:ext cx="1188720" cy="731520"/>
          </a:xfrm>
          <a:prstGeom prst="rect">
            <a:avLst/>
          </a:prstGeom>
          <a:noFill/>
          <a:ln/>
        </p:spPr>
        <p:txBody>
          <a:bodyPr wrap="square" lIns="0" tIns="0" rIns="0" bIns="0" rtlCol="0" anchor="ctr"/>
          <a:lstStyle/>
          <a:p>
            <a:pPr algn="ctr" indent="0" marL="0">
              <a:lnSpc>
                <a:spcPct val="105000"/>
              </a:lnSpc>
              <a:buNone/>
            </a:pPr>
            <a:r>
              <a:rPr lang="en-US" sz="1500" b="1" dirty="0">
                <a:solidFill>
                  <a:schemeClr val="tx1"/>
                </a:solidFill>
              </a:rPr>
              <a:t>区块 N+1</a:t>
            </a:r>
            <a:endParaRPr lang="en-US" sz="1500" dirty="0"/>
          </a:p>
        </p:txBody>
      </p:sp>
      <p:sp>
        <p:nvSpPr>
          <p:cNvPr id="15" name="Shape 12"/>
          <p:cNvSpPr/>
          <p:nvPr/>
        </p:nvSpPr>
        <p:spPr>
          <a:xfrm>
            <a:off x="1691640" y="2697480"/>
            <a:ext cx="274320" cy="0"/>
          </a:xfrm>
          <a:prstGeom prst="line">
            <a:avLst/>
          </a:prstGeom>
          <a:noFill/>
          <a:ln w="25400">
            <a:solidFill>
              <a:schemeClr val="accent4"/>
            </a:solidFill>
            <a:prstDash val="solid"/>
            <a:tailEnd type="triangle"/>
          </a:ln>
        </p:spPr>
      </p:sp>
      <p:sp>
        <p:nvSpPr>
          <p:cNvPr id="16" name="Shape 13"/>
          <p:cNvSpPr/>
          <p:nvPr/>
        </p:nvSpPr>
        <p:spPr>
          <a:xfrm flipV="1">
            <a:off x="3246120" y="2103120"/>
            <a:ext cx="548640" cy="457200"/>
          </a:xfrm>
          <a:prstGeom prst="line">
            <a:avLst/>
          </a:prstGeom>
          <a:noFill/>
          <a:ln w="25400">
            <a:solidFill>
              <a:schemeClr val="accent4"/>
            </a:solidFill>
            <a:prstDash val="solid"/>
            <a:tailEnd type="triangle"/>
          </a:ln>
        </p:spPr>
      </p:sp>
      <p:sp>
        <p:nvSpPr>
          <p:cNvPr id="17" name="Shape 14"/>
          <p:cNvSpPr/>
          <p:nvPr/>
        </p:nvSpPr>
        <p:spPr>
          <a:xfrm>
            <a:off x="3246120" y="2834640"/>
            <a:ext cx="548640" cy="640080"/>
          </a:xfrm>
          <a:prstGeom prst="line">
            <a:avLst/>
          </a:prstGeom>
          <a:noFill/>
          <a:ln w="25400">
            <a:solidFill>
              <a:schemeClr val="accent4"/>
            </a:solidFill>
            <a:prstDash val="dash"/>
            <a:tailEnd type="triangle"/>
          </a:ln>
        </p:spPr>
      </p:sp>
      <p:sp>
        <p:nvSpPr>
          <p:cNvPr id="18" name="Shape 15"/>
          <p:cNvSpPr/>
          <p:nvPr/>
        </p:nvSpPr>
        <p:spPr>
          <a:xfrm>
            <a:off x="5074920" y="2011680"/>
            <a:ext cx="548640" cy="0"/>
          </a:xfrm>
          <a:prstGeom prst="line">
            <a:avLst/>
          </a:prstGeom>
          <a:noFill/>
          <a:ln w="25400">
            <a:solidFill>
              <a:schemeClr val="accent4"/>
            </a:solidFill>
            <a:prstDash val="solid"/>
            <a:tailEnd type="triangle"/>
          </a:ln>
        </p:spPr>
      </p:sp>
      <p:sp>
        <p:nvSpPr>
          <p:cNvPr id="19" name="Shape 16"/>
          <p:cNvSpPr/>
          <p:nvPr/>
        </p:nvSpPr>
        <p:spPr>
          <a:xfrm>
            <a:off x="6903720" y="1600200"/>
            <a:ext cx="1783080" cy="822960"/>
          </a:xfrm>
          <a:prstGeom prst="roundRect">
            <a:avLst>
              <a:gd name="adj" fmla="val 50000"/>
            </a:avLst>
          </a:prstGeom>
          <a:solidFill>
            <a:schemeClr val="accent3"/>
          </a:solidFill>
          <a:ln w="12700">
            <a:solidFill>
              <a:schemeClr val="accent3">
                <a:alpha val="0"/>
              </a:schemeClr>
            </a:solidFill>
            <a:prstDash val="solid"/>
          </a:ln>
        </p:spPr>
      </p:sp>
      <p:sp>
        <p:nvSpPr>
          <p:cNvPr id="20" name="Text 17"/>
          <p:cNvSpPr txBox="1"/>
          <p:nvPr/>
        </p:nvSpPr>
        <p:spPr>
          <a:xfrm>
            <a:off x="6903720" y="1600200"/>
            <a:ext cx="1783080" cy="822960"/>
          </a:xfrm>
          <a:prstGeom prst="rect">
            <a:avLst/>
          </a:prstGeom>
          <a:noFill/>
          <a:ln/>
        </p:spPr>
        <p:txBody>
          <a:bodyPr wrap="square" lIns="0" tIns="0" rIns="0" bIns="0" rtlCol="0" anchor="ctr"/>
          <a:lstStyle/>
          <a:p>
            <a:pPr algn="ctr" indent="0" marL="0">
              <a:buNone/>
            </a:pPr>
            <a:r>
              <a:rPr lang="en-US" sz="1200" b="1" dirty="0">
                <a:solidFill>
                  <a:schemeClr val="bg1"/>
                </a:solidFill>
              </a:rPr>
              <a:t>✓ 累计工作量最大，被采纳</a:t>
            </a:r>
            <a:endParaRPr lang="en-US" sz="1200" dirty="0"/>
          </a:p>
        </p:txBody>
      </p:sp>
      <p:sp>
        <p:nvSpPr>
          <p:cNvPr id="21" name="Text 18"/>
          <p:cNvSpPr txBox="1"/>
          <p:nvPr/>
        </p:nvSpPr>
        <p:spPr>
          <a:xfrm>
            <a:off x="5166360" y="3246120"/>
            <a:ext cx="2377440" cy="45720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孤块：B 中的交易退回内存池</a:t>
            </a:r>
            <a:endParaRPr lang="en-US" sz="1400" dirty="0"/>
          </a:p>
        </p:txBody>
      </p:sp>
      <p:sp>
        <p:nvSpPr>
          <p:cNvPr id="22" name="Text 19"/>
          <p:cNvSpPr txBox="1"/>
          <p:nvPr/>
        </p:nvSpPr>
        <p:spPr>
          <a:xfrm>
            <a:off x="457200" y="4389120"/>
            <a:ext cx="8229600" cy="1645920"/>
          </a:xfrm>
          <a:prstGeom prst="rect">
            <a:avLst/>
          </a:prstGeom>
          <a:noFill/>
          <a:ln/>
        </p:spPr>
        <p:txBody>
          <a:bodyPr wrap="square" lIns="0" tIns="0" rIns="0" bIns="0" rtlCol="0" anchor="t"/>
          <a:lstStyle/>
          <a:p>
            <a:pPr algn="l" marL="254000" indent="-254000">
              <a:lnSpc>
                <a:spcPct val="105000"/>
              </a:lnSpc>
              <a:spcAft>
                <a:spcPts val="600"/>
              </a:spcAft>
              <a:buSzPct val="100000"/>
              <a:buChar char="•"/>
            </a:pPr>
            <a:r>
              <a:rPr lang="en-US" sz="1600" dirty="0">
                <a:solidFill>
                  <a:schemeClr val="tx1"/>
                </a:solidFill>
              </a:rPr>
              <a:t>分叉</a:t>
            </a:r>
            <a:pPr algn="l" marL="254000" indent="-254000">
              <a:lnSpc>
                <a:spcPct val="105000"/>
              </a:lnSpc>
              <a:spcAft>
                <a:spcPts val="600"/>
              </a:spcAft>
              <a:buSzPct val="100000"/>
              <a:buChar char="•"/>
            </a:pPr>
            <a:r>
              <a:rPr lang="en-US" sz="1600" b="1" dirty="0">
                <a:solidFill>
                  <a:schemeClr val="tx1"/>
                </a:solidFill>
              </a:rPr>
              <a:t>不可避免</a:t>
            </a:r>
            <a:pPr algn="l" marL="254000" indent="-254000">
              <a:lnSpc>
                <a:spcPct val="105000"/>
              </a:lnSpc>
              <a:spcAft>
                <a:spcPts val="600"/>
              </a:spcAft>
              <a:buSzPct val="100000"/>
              <a:buChar char="•"/>
            </a:pPr>
            <a:r>
              <a:rPr lang="en-US" sz="1600" dirty="0">
                <a:solidFill>
                  <a:schemeClr val="tx1"/>
                </a:solidFill>
              </a:rPr>
              <a:t>：两个矿工几乎同时找到区块</a:t>
            </a:r>
            <a:endParaRPr lang="en-US" sz="1600" dirty="0"/>
          </a:p>
          <a:p>
            <a:pPr algn="l" marL="254000" indent="-254000">
              <a:lnSpc>
                <a:spcPct val="105000"/>
              </a:lnSpc>
              <a:spcAft>
                <a:spcPts val="600"/>
              </a:spcAft>
              <a:buSzPct val="100000"/>
              <a:buChar char="•"/>
            </a:pPr>
            <a:r>
              <a:rPr lang="en-US" sz="1600" dirty="0">
                <a:solidFill>
                  <a:schemeClr val="tx1"/>
                </a:solidFill>
              </a:rPr>
              <a:t>节点各自接受先收到的；</a:t>
            </a:r>
            <a:pPr algn="l" marL="254000" indent="-254000">
              <a:lnSpc>
                <a:spcPct val="105000"/>
              </a:lnSpc>
              <a:spcAft>
                <a:spcPts val="600"/>
              </a:spcAft>
              <a:buSzPct val="100000"/>
              <a:buChar char="•"/>
            </a:pPr>
            <a:r>
              <a:rPr lang="en-US" sz="1600" b="1" dirty="0">
                <a:solidFill>
                  <a:schemeClr val="tx1"/>
                </a:solidFill>
              </a:rPr>
              <a:t>下一块接在哪条上，哪条就胜出</a:t>
            </a:r>
            <a:endParaRPr lang="en-US" sz="1600" dirty="0"/>
          </a:p>
          <a:p>
            <a:pPr algn="l" marL="254000" indent="-254000">
              <a:lnSpc>
                <a:spcPct val="105000"/>
              </a:lnSpc>
              <a:buSzPct val="100000"/>
              <a:buChar char="•"/>
            </a:pPr>
            <a:r>
              <a:rPr lang="en-US" sz="1600" dirty="0">
                <a:solidFill>
                  <a:schemeClr val="tx1"/>
                </a:solidFill>
              </a:rPr>
              <a:t>10 分钟 ≫ 全网传播的数秒，所以分叉很少见</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6 个确认为何安全？攻击成功概率指数下降</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来源：白皮书 §11 Calculations；作者用白皮书公式复算，结果与原表一致</a:t>
            </a:r>
            <a:endParaRPr lang="en-US" sz="1000" dirty="0"/>
          </a:p>
        </p:txBody>
      </p:sp>
      <p:graphicFrame>
        <p:nvGraphicFramePr>
          <p:cNvPr id="6" name="Chart 0" descr=""/>
          <p:cNvGraphicFramePr/>
          <p:nvPr/>
        </p:nvGraphicFramePr>
        <p:xfrm>
          <a:off x="457200" y="1417320"/>
          <a:ext cx="50292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60720" y="1463040"/>
          <a:ext cx="2926080" cy="914400"/>
        </p:xfrm>
        <a:graphic>
          <a:graphicData uri="http://schemas.openxmlformats.org/drawingml/2006/table">
            <a:tbl>
              <a:tblPr/>
              <a:tblGrid>
                <a:gridCol w="1188720"/>
                <a:gridCol w="1737360"/>
              </a:tblGrid>
              <a:tr h="457200">
                <a:tc>
                  <a:txBody>
                    <a:bodyPr/>
                    <a:lstStyle/>
                    <a:p>
                      <a:pPr algn="ctr" indent="0" marL="0">
                        <a:buNone/>
                      </a:pPr>
                      <a:r>
                        <a:rPr lang="en-US" sz="1400" b="1" dirty="0">
                          <a:solidFill>
                            <a:schemeClr val="bg1"/>
                          </a:solidFill>
                        </a:rPr>
                        <a:t>攻击者算力</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压到 &lt; 0.1% 所需确认数</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502920">
                <a:tc>
                  <a:txBody>
                    <a:bodyPr/>
                    <a:lstStyle/>
                    <a:p>
                      <a:pPr algn="ctr" indent="0" marL="0">
                        <a:buNone/>
                      </a:pPr>
                      <a:r>
                        <a:rPr lang="en-US" sz="1400" b="1" dirty="0">
                          <a:solidFill>
                            <a:schemeClr val="tx1"/>
                          </a:solidFill>
                        </a:rPr>
                        <a:t>10%</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5</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02920">
                <a:tc>
                  <a:txBody>
                    <a:bodyPr/>
                    <a:lstStyle/>
                    <a:p>
                      <a:pPr algn="ctr" indent="0" marL="0">
                        <a:buNone/>
                      </a:pPr>
                      <a:r>
                        <a:rPr lang="en-US" sz="1400" b="1" dirty="0">
                          <a:solidFill>
                            <a:schemeClr val="tx1"/>
                          </a:solidFill>
                        </a:rPr>
                        <a:t>20%</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11</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02920">
                <a:tc>
                  <a:txBody>
                    <a:bodyPr/>
                    <a:lstStyle/>
                    <a:p>
                      <a:pPr algn="ctr" indent="0" marL="0">
                        <a:buNone/>
                      </a:pPr>
                      <a:r>
                        <a:rPr lang="en-US" sz="1400" b="1" dirty="0">
                          <a:solidFill>
                            <a:schemeClr val="tx1"/>
                          </a:solidFill>
                        </a:rPr>
                        <a:t>30%</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24</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02920">
                <a:tc>
                  <a:txBody>
                    <a:bodyPr/>
                    <a:lstStyle/>
                    <a:p>
                      <a:pPr algn="ctr" indent="0" marL="0">
                        <a:buNone/>
                      </a:pPr>
                      <a:r>
                        <a:rPr lang="en-US" sz="1400" b="1" dirty="0">
                          <a:solidFill>
                            <a:schemeClr val="tx1"/>
                          </a:solidFill>
                        </a:rPr>
                        <a:t>40%</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89</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02920">
                <a:tc>
                  <a:txBody>
                    <a:bodyPr/>
                    <a:lstStyle/>
                    <a:p>
                      <a:pPr algn="ctr" indent="0" marL="0">
                        <a:buNone/>
                      </a:pPr>
                      <a:r>
                        <a:rPr lang="en-US" sz="1400" b="1" dirty="0">
                          <a:solidFill>
                            <a:schemeClr val="tx1"/>
                          </a:solidFill>
                        </a:rPr>
                        <a:t>45%</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340</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bl>
          </a:graphicData>
        </a:graphic>
      </p:graphicFrame>
      <p:sp>
        <p:nvSpPr>
          <p:cNvPr id="8" name="Shape 3"/>
          <p:cNvSpPr/>
          <p:nvPr/>
        </p:nvSpPr>
        <p:spPr>
          <a:xfrm>
            <a:off x="457200" y="548640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9" name="Image 0" descr="key">    </p:cNvPr>
          <p:cNvPicPr>
            <a:picLocks noChangeAspect="1"/>
          </p:cNvPicPr>
          <p:nvPr/>
        </p:nvPicPr>
        <p:blipFill>
          <a:blip r:embed="rId2"/>
          <a:stretch>
            <a:fillRect/>
          </a:stretch>
        </p:blipFill>
        <p:spPr>
          <a:xfrm>
            <a:off x="640080" y="5614416"/>
            <a:ext cx="384048" cy="384048"/>
          </a:xfrm>
          <a:prstGeom prst="rect">
            <a:avLst/>
          </a:prstGeom>
        </p:spPr>
      </p:pic>
      <p:sp>
        <p:nvSpPr>
          <p:cNvPr id="10" name="Text 4"/>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攻击者占 10% 算力时，6 个确认后成功概率仅约 </a:t>
            </a:r>
            <a:pPr algn="l" indent="0" marL="0">
              <a:lnSpc>
                <a:spcPct val="105000"/>
              </a:lnSpc>
              <a:buNone/>
            </a:pPr>
            <a:r>
              <a:rPr lang="en-US" sz="1500" b="1" dirty="0">
                <a:solidFill>
                  <a:schemeClr val="tx1"/>
                </a:solidFill>
              </a:rPr>
              <a:t>0.024%</a:t>
            </a:r>
            <a:pPr algn="l" indent="0" marL="0">
              <a:lnSpc>
                <a:spcPct val="105000"/>
              </a:lnSpc>
              <a:buNone/>
            </a:pPr>
            <a:r>
              <a:rPr lang="en-US" sz="1500" dirty="0">
                <a:solidFill>
                  <a:schemeClr val="tx1"/>
                </a:solidFill>
              </a:rPr>
              <a:t>。</a:t>
            </a:r>
            <a:endParaRPr lang="en-US" sz="1500" dirty="0"/>
          </a:p>
        </p:txBody>
      </p:sp>
      <p:sp>
        <p:nvSpPr>
          <p:cNvPr id="11" name="Text 5"/>
          <p:cNvSpPr txBox="1"/>
          <p:nvPr/>
        </p:nvSpPr>
        <p:spPr>
          <a:xfrm>
            <a:off x="5760720" y="4663440"/>
            <a:ext cx="2926080" cy="640080"/>
          </a:xfrm>
          <a:prstGeom prst="rect">
            <a:avLst/>
          </a:prstGeom>
          <a:noFill/>
          <a:ln/>
        </p:spPr>
        <p:txBody>
          <a:bodyPr wrap="square" lIns="0" tIns="0" rIns="0" bIns="0" rtlCol="0" anchor="t"/>
          <a:lstStyle/>
          <a:p>
            <a:pPr algn="l" indent="0" marL="0">
              <a:lnSpc>
                <a:spcPct val="105000"/>
              </a:lnSpc>
              <a:buNone/>
            </a:pPr>
            <a:r>
              <a:rPr lang="en-US" sz="1400" b="1" dirty="0">
                <a:solidFill>
                  <a:schemeClr val="accent2"/>
                </a:solidFill>
              </a:rPr>
              <a:t>算力占比 ≥ 50% 时，攻击者迟早追上。</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51% 攻击：能做什么，不能做什么</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来源：Bitcoin Gold 事件（2018-05、2020-01）；各类安全研究；白皮书 §11</a:t>
            </a:r>
            <a:endParaRPr lang="en-US" sz="1000" dirty="0"/>
          </a:p>
        </p:txBody>
      </p:sp>
      <p:sp>
        <p:nvSpPr>
          <p:cNvPr id="6" name="Shape 3"/>
          <p:cNvSpPr/>
          <p:nvPr/>
        </p:nvSpPr>
        <p:spPr>
          <a:xfrm>
            <a:off x="457200" y="1417320"/>
            <a:ext cx="4023360" cy="2651760"/>
          </a:xfrm>
          <a:prstGeom prst="roundRect">
            <a:avLst>
              <a:gd name="adj" fmla="val 2759"/>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2"/>
          </a:solidFill>
          <a:ln w="12700">
            <a:solidFill>
              <a:schemeClr val="accent2">
                <a:alpha val="0"/>
              </a:schemeClr>
            </a:solidFill>
            <a:prstDash val="solid"/>
          </a:ln>
        </p:spPr>
      </p:sp>
      <p:pic>
        <p:nvPicPr>
          <p:cNvPr id="8" name="Image 0" descr="FaTimesCircle">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能做</a:t>
            </a:r>
            <a:endParaRPr lang="en-US" sz="1800" dirty="0"/>
          </a:p>
        </p:txBody>
      </p:sp>
      <p:sp>
        <p:nvSpPr>
          <p:cNvPr id="10" name="Text 6"/>
          <p:cNvSpPr txBox="1"/>
          <p:nvPr/>
        </p:nvSpPr>
        <p:spPr>
          <a:xfrm>
            <a:off x="640080" y="2578608"/>
            <a:ext cx="3657600" cy="1380744"/>
          </a:xfrm>
          <a:prstGeom prst="rect">
            <a:avLst/>
          </a:prstGeom>
          <a:noFill/>
          <a:ln/>
        </p:spPr>
        <p:txBody>
          <a:bodyPr wrap="square" lIns="0" tIns="0" rIns="0" bIns="0" rtlCol="0" anchor="t"/>
          <a:lstStyle/>
          <a:p>
            <a:pPr algn="l" indent="0" marL="0">
              <a:lnSpc>
                <a:spcPct val="105000"/>
              </a:lnSpc>
              <a:spcAft>
                <a:spcPts val="400"/>
              </a:spcAft>
              <a:buNone/>
            </a:pPr>
            <a:r>
              <a:rPr lang="en-US" sz="1400" dirty="0">
                <a:solidFill>
                  <a:schemeClr val="accent4"/>
                </a:solidFill>
              </a:rPr>
              <a:t>回滚自己已确认的交易 → </a:t>
            </a:r>
            <a:pPr algn="l" indent="0" marL="0">
              <a:lnSpc>
                <a:spcPct val="105000"/>
              </a:lnSpc>
              <a:spcAft>
                <a:spcPts val="400"/>
              </a:spcAft>
              <a:buNone/>
            </a:pPr>
            <a:r>
              <a:rPr lang="en-US" sz="1400" b="1" dirty="0">
                <a:solidFill>
                  <a:schemeClr val="accent4"/>
                </a:solidFill>
              </a:rPr>
              <a:t>双重支付</a:t>
            </a:r>
            <a:endParaRPr lang="en-US" sz="1400" dirty="0"/>
          </a:p>
          <a:p>
            <a:pPr algn="l" indent="0" marL="0">
              <a:lnSpc>
                <a:spcPct val="105000"/>
              </a:lnSpc>
              <a:spcAft>
                <a:spcPts val="400"/>
              </a:spcAft>
              <a:buNone/>
            </a:pPr>
            <a:r>
              <a:rPr lang="en-US" sz="1400" b="1" dirty="0">
                <a:solidFill>
                  <a:schemeClr val="accent4"/>
                </a:solidFill>
              </a:rPr>
              <a:t>审查</a:t>
            </a:r>
            <a:pPr algn="l" indent="0" marL="0">
              <a:lnSpc>
                <a:spcPct val="105000"/>
              </a:lnSpc>
              <a:spcAft>
                <a:spcPts val="400"/>
              </a:spcAft>
              <a:buNone/>
            </a:pPr>
            <a:r>
              <a:rPr lang="en-US" sz="1400" dirty="0">
                <a:solidFill>
                  <a:schemeClr val="accent4"/>
                </a:solidFill>
              </a:rPr>
              <a:t>：拒绝打包某些交易</a:t>
            </a:r>
            <a:endParaRPr lang="en-US" sz="1400" dirty="0"/>
          </a:p>
          <a:p>
            <a:pPr algn="l" indent="0" marL="0">
              <a:lnSpc>
                <a:spcPct val="105000"/>
              </a:lnSpc>
              <a:buNone/>
            </a:pPr>
            <a:r>
              <a:rPr lang="en-US" sz="1400" dirty="0">
                <a:solidFill>
                  <a:schemeClr val="accent4"/>
                </a:solidFill>
              </a:rPr>
              <a:t>独占出块奖励</a:t>
            </a:r>
            <a:endParaRPr lang="en-US" sz="1400" dirty="0"/>
          </a:p>
        </p:txBody>
      </p:sp>
      <p:sp>
        <p:nvSpPr>
          <p:cNvPr id="11" name="Shape 7"/>
          <p:cNvSpPr/>
          <p:nvPr/>
        </p:nvSpPr>
        <p:spPr>
          <a:xfrm>
            <a:off x="4663440" y="1417320"/>
            <a:ext cx="4023360" cy="2651760"/>
          </a:xfrm>
          <a:prstGeom prst="roundRect">
            <a:avLst>
              <a:gd name="adj" fmla="val 2759"/>
            </a:avLst>
          </a:prstGeom>
          <a:solidFill>
            <a:schemeClr val="bg2"/>
          </a:solidFill>
          <a:ln w="12700">
            <a:solidFill>
              <a:schemeClr val="bg2">
                <a:alpha val="0"/>
              </a:schemeClr>
            </a:solidFill>
            <a:prstDash val="solid"/>
          </a:ln>
        </p:spPr>
      </p:sp>
      <p:sp>
        <p:nvSpPr>
          <p:cNvPr id="12" name="Shape 8"/>
          <p:cNvSpPr/>
          <p:nvPr/>
        </p:nvSpPr>
        <p:spPr>
          <a:xfrm>
            <a:off x="4846320" y="1581912"/>
            <a:ext cx="502920" cy="502920"/>
          </a:xfrm>
          <a:prstGeom prst="ellipse">
            <a:avLst/>
          </a:prstGeom>
          <a:solidFill>
            <a:schemeClr val="accent3"/>
          </a:solidFill>
          <a:ln w="12700">
            <a:solidFill>
              <a:schemeClr val="accent3">
                <a:alpha val="0"/>
              </a:schemeClr>
            </a:solidFill>
            <a:prstDash val="solid"/>
          </a:ln>
        </p:spPr>
      </p:sp>
      <p:pic>
        <p:nvPicPr>
          <p:cNvPr id="13" name="Image 1" descr="FaCheckCircle">    </p:cNvPr>
          <p:cNvPicPr>
            <a:picLocks noChangeAspect="1"/>
          </p:cNvPicPr>
          <p:nvPr/>
        </p:nvPicPr>
        <p:blipFill>
          <a:blip r:embed="rId2"/>
          <a:stretch>
            <a:fillRect/>
          </a:stretch>
        </p:blipFill>
        <p:spPr>
          <a:xfrm>
            <a:off x="4956962" y="1692554"/>
            <a:ext cx="281635" cy="281635"/>
          </a:xfrm>
          <a:prstGeom prst="rect">
            <a:avLst/>
          </a:prstGeom>
        </p:spPr>
      </p:pic>
      <p:sp>
        <p:nvSpPr>
          <p:cNvPr id="14" name="Text 9"/>
          <p:cNvSpPr txBox="1"/>
          <p:nvPr/>
        </p:nvSpPr>
        <p:spPr>
          <a:xfrm>
            <a:off x="4846320" y="2203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不能做</a:t>
            </a:r>
            <a:endParaRPr lang="en-US" sz="1800" dirty="0"/>
          </a:p>
        </p:txBody>
      </p:sp>
      <p:sp>
        <p:nvSpPr>
          <p:cNvPr id="15" name="Text 10"/>
          <p:cNvSpPr txBox="1"/>
          <p:nvPr/>
        </p:nvSpPr>
        <p:spPr>
          <a:xfrm>
            <a:off x="4846320" y="2578608"/>
            <a:ext cx="3657600" cy="1380744"/>
          </a:xfrm>
          <a:prstGeom prst="rect">
            <a:avLst/>
          </a:prstGeom>
          <a:noFill/>
          <a:ln/>
        </p:spPr>
        <p:txBody>
          <a:bodyPr wrap="square" lIns="0" tIns="0" rIns="0" bIns="0" rtlCol="0" anchor="t"/>
          <a:lstStyle/>
          <a:p>
            <a:pPr algn="l" indent="0" marL="0">
              <a:lnSpc>
                <a:spcPct val="105000"/>
              </a:lnSpc>
              <a:spcAft>
                <a:spcPts val="400"/>
              </a:spcAft>
              <a:buNone/>
            </a:pPr>
            <a:r>
              <a:rPr lang="en-US" sz="1400" b="1" dirty="0">
                <a:solidFill>
                  <a:schemeClr val="accent4"/>
                </a:solidFill>
              </a:rPr>
              <a:t>偷走别人的币</a:t>
            </a:r>
            <a:pPr algn="l" indent="0" marL="0">
              <a:lnSpc>
                <a:spcPct val="105000"/>
              </a:lnSpc>
              <a:spcAft>
                <a:spcPts val="400"/>
              </a:spcAft>
              <a:buNone/>
            </a:pPr>
            <a:r>
              <a:rPr lang="en-US" sz="1400" dirty="0">
                <a:solidFill>
                  <a:schemeClr val="accent4"/>
                </a:solidFill>
              </a:rPr>
              <a:t>：伪造不了签名</a:t>
            </a:r>
            <a:endParaRPr lang="en-US" sz="1400" dirty="0"/>
          </a:p>
          <a:p>
            <a:pPr algn="l" indent="0" marL="0">
              <a:lnSpc>
                <a:spcPct val="105000"/>
              </a:lnSpc>
              <a:spcAft>
                <a:spcPts val="400"/>
              </a:spcAft>
              <a:buNone/>
            </a:pPr>
            <a:r>
              <a:rPr lang="en-US" sz="1400" b="1" dirty="0">
                <a:solidFill>
                  <a:schemeClr val="accent4"/>
                </a:solidFill>
              </a:rPr>
              <a:t>凭空造币、改发行规则</a:t>
            </a:r>
            <a:pPr algn="l" indent="0" marL="0">
              <a:lnSpc>
                <a:spcPct val="105000"/>
              </a:lnSpc>
              <a:spcAft>
                <a:spcPts val="400"/>
              </a:spcAft>
              <a:buNone/>
            </a:pPr>
            <a:r>
              <a:rPr lang="en-US" sz="1400" dirty="0">
                <a:solidFill>
                  <a:schemeClr val="accent4"/>
                </a:solidFill>
              </a:rPr>
              <a:t>：全节点会拒收</a:t>
            </a:r>
            <a:endParaRPr lang="en-US" sz="1400" dirty="0"/>
          </a:p>
          <a:p>
            <a:pPr algn="l" indent="0" marL="0">
              <a:lnSpc>
                <a:spcPct val="105000"/>
              </a:lnSpc>
              <a:buNone/>
            </a:pPr>
            <a:r>
              <a:rPr lang="en-US" sz="1400" dirty="0">
                <a:solidFill>
                  <a:schemeClr val="accent4"/>
                </a:solidFill>
              </a:rPr>
              <a:t>无代价：攻击会让币价下跌，攻击者自己的币也贬值</a:t>
            </a:r>
            <a:endParaRPr lang="en-US" sz="1400" dirty="0"/>
          </a:p>
        </p:txBody>
      </p:sp>
      <p:sp>
        <p:nvSpPr>
          <p:cNvPr id="16" name="Text 11"/>
          <p:cNvSpPr txBox="1"/>
          <p:nvPr/>
        </p:nvSpPr>
        <p:spPr>
          <a:xfrm>
            <a:off x="457200" y="4206240"/>
            <a:ext cx="822960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accent6"/>
                </a:solidFill>
              </a:rPr>
              <a:t>现实案例：都发生在小币种上</a:t>
            </a:r>
            <a:endParaRPr lang="en-US" sz="1600" dirty="0"/>
          </a:p>
        </p:txBody>
      </p:sp>
      <p:sp>
        <p:nvSpPr>
          <p:cNvPr id="17" name="Shape 12"/>
          <p:cNvSpPr/>
          <p:nvPr/>
        </p:nvSpPr>
        <p:spPr>
          <a:xfrm>
            <a:off x="457200" y="4572000"/>
            <a:ext cx="2621280" cy="1508760"/>
          </a:xfrm>
          <a:prstGeom prst="roundRect">
            <a:avLst>
              <a:gd name="adj" fmla="val 4848"/>
            </a:avLst>
          </a:prstGeom>
          <a:solidFill>
            <a:schemeClr val="bg2"/>
          </a:solidFill>
          <a:ln w="12700">
            <a:solidFill>
              <a:schemeClr val="bg2">
                <a:alpha val="0"/>
              </a:schemeClr>
            </a:solidFill>
            <a:prstDash val="solid"/>
          </a:ln>
        </p:spPr>
      </p:sp>
      <p:sp>
        <p:nvSpPr>
          <p:cNvPr id="18" name="Text 13"/>
          <p:cNvSpPr txBox="1"/>
          <p:nvPr/>
        </p:nvSpPr>
        <p:spPr>
          <a:xfrm>
            <a:off x="640080" y="4736592"/>
            <a:ext cx="2255520" cy="269748"/>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rPr>
              <a:t>比特币黄金 · 2018-05</a:t>
            </a:r>
            <a:endParaRPr lang="en-US" sz="1500" dirty="0"/>
          </a:p>
        </p:txBody>
      </p:sp>
      <p:sp>
        <p:nvSpPr>
          <p:cNvPr id="19" name="Text 14"/>
          <p:cNvSpPr txBox="1"/>
          <p:nvPr/>
        </p:nvSpPr>
        <p:spPr>
          <a:xfrm>
            <a:off x="640080" y="5061204"/>
            <a:ext cx="2255520" cy="90982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约 1,800 万美元被双花</a:t>
            </a:r>
            <a:endParaRPr lang="en-US" sz="1400" dirty="0"/>
          </a:p>
        </p:txBody>
      </p:sp>
      <p:sp>
        <p:nvSpPr>
          <p:cNvPr id="20" name="Shape 15"/>
          <p:cNvSpPr/>
          <p:nvPr/>
        </p:nvSpPr>
        <p:spPr>
          <a:xfrm>
            <a:off x="3261360" y="4572000"/>
            <a:ext cx="2621280" cy="1508760"/>
          </a:xfrm>
          <a:prstGeom prst="roundRect">
            <a:avLst>
              <a:gd name="adj" fmla="val 4848"/>
            </a:avLst>
          </a:prstGeom>
          <a:solidFill>
            <a:schemeClr val="bg2"/>
          </a:solidFill>
          <a:ln w="12700">
            <a:solidFill>
              <a:schemeClr val="bg2">
                <a:alpha val="0"/>
              </a:schemeClr>
            </a:solidFill>
            <a:prstDash val="solid"/>
          </a:ln>
        </p:spPr>
      </p:sp>
      <p:sp>
        <p:nvSpPr>
          <p:cNvPr id="21" name="Text 16"/>
          <p:cNvSpPr txBox="1"/>
          <p:nvPr/>
        </p:nvSpPr>
        <p:spPr>
          <a:xfrm>
            <a:off x="3444240" y="4736592"/>
            <a:ext cx="2255520" cy="269748"/>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rPr>
              <a:t>比特币黄金 · 2020-01</a:t>
            </a:r>
            <a:endParaRPr lang="en-US" sz="1500" dirty="0"/>
          </a:p>
        </p:txBody>
      </p:sp>
      <p:sp>
        <p:nvSpPr>
          <p:cNvPr id="22" name="Text 17"/>
          <p:cNvSpPr txBox="1"/>
          <p:nvPr/>
        </p:nvSpPr>
        <p:spPr>
          <a:xfrm>
            <a:off x="3444240" y="5061204"/>
            <a:ext cx="2255520" cy="90982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再遭攻击，约 7.2 万美元</a:t>
            </a:r>
            <a:endParaRPr lang="en-US" sz="1400" dirty="0"/>
          </a:p>
        </p:txBody>
      </p:sp>
      <p:sp>
        <p:nvSpPr>
          <p:cNvPr id="23" name="Shape 18"/>
          <p:cNvSpPr/>
          <p:nvPr/>
        </p:nvSpPr>
        <p:spPr>
          <a:xfrm>
            <a:off x="6065520" y="4572000"/>
            <a:ext cx="2621280" cy="1508760"/>
          </a:xfrm>
          <a:prstGeom prst="roundRect">
            <a:avLst>
              <a:gd name="adj" fmla="val 4848"/>
            </a:avLst>
          </a:prstGeom>
          <a:solidFill>
            <a:schemeClr val="bg2"/>
          </a:solidFill>
          <a:ln w="12700">
            <a:solidFill>
              <a:schemeClr val="bg2">
                <a:alpha val="0"/>
              </a:schemeClr>
            </a:solidFill>
            <a:prstDash val="solid"/>
          </a:ln>
        </p:spPr>
      </p:sp>
      <p:sp>
        <p:nvSpPr>
          <p:cNvPr id="24" name="Text 19"/>
          <p:cNvSpPr txBox="1"/>
          <p:nvPr/>
        </p:nvSpPr>
        <p:spPr>
          <a:xfrm>
            <a:off x="6248400" y="4736592"/>
            <a:ext cx="2255520" cy="269748"/>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rPr>
              <a:t>算力可以“租”</a:t>
            </a:r>
            <a:endParaRPr lang="en-US" sz="1500" dirty="0"/>
          </a:p>
        </p:txBody>
      </p:sp>
      <p:sp>
        <p:nvSpPr>
          <p:cNvPr id="25" name="Text 20"/>
          <p:cNvSpPr txBox="1"/>
          <p:nvPr/>
        </p:nvSpPr>
        <p:spPr>
          <a:xfrm>
            <a:off x="6248400" y="5061204"/>
            <a:ext cx="2255520" cy="90982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NiceHash 等平台降低了攻击门槛</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治理：参数“可以改”，但要全网共识</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来源：Bitcoin 开发者社区记录；比特币区块链数据</a:t>
            </a:r>
            <a:endParaRPr lang="en-US" sz="1000" dirty="0"/>
          </a:p>
        </p:txBody>
      </p:sp>
      <p:sp>
        <p:nvSpPr>
          <p:cNvPr id="6" name="Shape 3"/>
          <p:cNvSpPr/>
          <p:nvPr/>
        </p:nvSpPr>
        <p:spPr>
          <a:xfrm>
            <a:off x="1984248" y="1817370"/>
            <a:ext cx="0" cy="2674620"/>
          </a:xfrm>
          <a:prstGeom prst="line">
            <a:avLst/>
          </a:prstGeom>
          <a:noFill/>
          <a:ln w="19050">
            <a:solidFill>
              <a:schemeClr val="accent5"/>
            </a:solidFill>
            <a:prstDash val="solid"/>
          </a:ln>
        </p:spPr>
      </p:sp>
      <p:sp>
        <p:nvSpPr>
          <p:cNvPr id="7" name="Shape 4"/>
          <p:cNvSpPr/>
          <p:nvPr/>
        </p:nvSpPr>
        <p:spPr>
          <a:xfrm>
            <a:off x="457200" y="1661922"/>
            <a:ext cx="1325880" cy="310896"/>
          </a:xfrm>
          <a:prstGeom prst="roundRect">
            <a:avLst>
              <a:gd name="adj" fmla="val 50000"/>
            </a:avLst>
          </a:prstGeom>
          <a:solidFill>
            <a:schemeClr val="accent1"/>
          </a:solidFill>
          <a:ln w="12700">
            <a:solidFill>
              <a:schemeClr val="accent1">
                <a:alpha val="0"/>
              </a:schemeClr>
            </a:solidFill>
            <a:prstDash val="solid"/>
          </a:ln>
        </p:spPr>
      </p:sp>
      <p:sp>
        <p:nvSpPr>
          <p:cNvPr id="8" name="Text 5"/>
          <p:cNvSpPr txBox="1"/>
          <p:nvPr/>
        </p:nvSpPr>
        <p:spPr>
          <a:xfrm>
            <a:off x="457200" y="1661922"/>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2010-08-15</a:t>
            </a:r>
            <a:endParaRPr lang="en-US" sz="1200" dirty="0"/>
          </a:p>
        </p:txBody>
      </p:sp>
      <p:sp>
        <p:nvSpPr>
          <p:cNvPr id="9" name="Shape 6"/>
          <p:cNvSpPr/>
          <p:nvPr/>
        </p:nvSpPr>
        <p:spPr>
          <a:xfrm>
            <a:off x="1911096" y="1744218"/>
            <a:ext cx="146304" cy="146304"/>
          </a:xfrm>
          <a:prstGeom prst="ellipse">
            <a:avLst/>
          </a:prstGeom>
          <a:solidFill>
            <a:schemeClr val="accent1"/>
          </a:solidFill>
          <a:ln w="12700">
            <a:solidFill>
              <a:schemeClr val="accent1">
                <a:alpha val="0"/>
              </a:schemeClr>
            </a:solidFill>
            <a:prstDash val="solid"/>
          </a:ln>
        </p:spPr>
      </p:sp>
      <p:sp>
        <p:nvSpPr>
          <p:cNvPr id="10" name="Text 7"/>
          <p:cNvSpPr txBox="1"/>
          <p:nvPr/>
        </p:nvSpPr>
        <p:spPr>
          <a:xfrm>
            <a:off x="2240280" y="1389888"/>
            <a:ext cx="6446520" cy="85496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溢出漏洞：凭空出现 1,840 亿枚</a:t>
            </a:r>
            <a:endParaRPr lang="en-US" sz="1300" dirty="0"/>
          </a:p>
          <a:p>
            <a:pPr algn="l" indent="0" marL="0">
              <a:lnSpc>
                <a:spcPct val="105000"/>
              </a:lnSpc>
              <a:buNone/>
            </a:pPr>
            <a:r>
              <a:rPr lang="en-US" sz="1300" dirty="0">
                <a:solidFill>
                  <a:schemeClr val="accent4"/>
                </a:solidFill>
              </a:rPr>
              <a:t>数小时内修补，网络“回滚”到漏洞之前的链</a:t>
            </a:r>
            <a:endParaRPr lang="en-US" sz="1300" dirty="0"/>
          </a:p>
        </p:txBody>
      </p:sp>
      <p:sp>
        <p:nvSpPr>
          <p:cNvPr id="11" name="Shape 8"/>
          <p:cNvSpPr/>
          <p:nvPr/>
        </p:nvSpPr>
        <p:spPr>
          <a:xfrm>
            <a:off x="457200" y="2553462"/>
            <a:ext cx="1325880" cy="310896"/>
          </a:xfrm>
          <a:prstGeom prst="roundRect">
            <a:avLst>
              <a:gd name="adj" fmla="val 50000"/>
            </a:avLst>
          </a:prstGeom>
          <a:solidFill>
            <a:schemeClr val="tx1"/>
          </a:solidFill>
          <a:ln w="12700">
            <a:solidFill>
              <a:schemeClr val="tx1">
                <a:alpha val="0"/>
              </a:schemeClr>
            </a:solidFill>
            <a:prstDash val="solid"/>
          </a:ln>
        </p:spPr>
      </p:sp>
      <p:sp>
        <p:nvSpPr>
          <p:cNvPr id="12" name="Text 9"/>
          <p:cNvSpPr txBox="1"/>
          <p:nvPr/>
        </p:nvSpPr>
        <p:spPr>
          <a:xfrm>
            <a:off x="457200" y="255346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2015–2017</a:t>
            </a:r>
            <a:endParaRPr lang="en-US" sz="1200" dirty="0"/>
          </a:p>
        </p:txBody>
      </p:sp>
      <p:sp>
        <p:nvSpPr>
          <p:cNvPr id="13" name="Shape 10"/>
          <p:cNvSpPr/>
          <p:nvPr/>
        </p:nvSpPr>
        <p:spPr>
          <a:xfrm>
            <a:off x="1911096" y="2635758"/>
            <a:ext cx="146304" cy="146304"/>
          </a:xfrm>
          <a:prstGeom prst="ellipse">
            <a:avLst/>
          </a:prstGeom>
          <a:solidFill>
            <a:schemeClr val="accent4"/>
          </a:solidFill>
          <a:ln w="12700">
            <a:solidFill>
              <a:schemeClr val="accent4">
                <a:alpha val="0"/>
              </a:schemeClr>
            </a:solidFill>
            <a:prstDash val="solid"/>
          </a:ln>
        </p:spPr>
      </p:sp>
      <p:sp>
        <p:nvSpPr>
          <p:cNvPr id="14" name="Text 11"/>
          <p:cNvSpPr txBox="1"/>
          <p:nvPr/>
        </p:nvSpPr>
        <p:spPr>
          <a:xfrm>
            <a:off x="2240280" y="2281428"/>
            <a:ext cx="6446520" cy="85496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区块大小之争</a:t>
            </a:r>
            <a:endParaRPr lang="en-US" sz="1300" dirty="0"/>
          </a:p>
          <a:p>
            <a:pPr algn="l" indent="0" marL="0">
              <a:lnSpc>
                <a:spcPct val="105000"/>
              </a:lnSpc>
              <a:buNone/>
            </a:pPr>
            <a:r>
              <a:rPr lang="en-US" sz="1300" dirty="0">
                <a:solidFill>
                  <a:schemeClr val="accent4"/>
                </a:solidFill>
              </a:rPr>
              <a:t>1 MB 上限要不要调高？社区分裂</a:t>
            </a:r>
            <a:endParaRPr lang="en-US" sz="1300" dirty="0"/>
          </a:p>
        </p:txBody>
      </p:sp>
      <p:sp>
        <p:nvSpPr>
          <p:cNvPr id="15" name="Shape 12"/>
          <p:cNvSpPr/>
          <p:nvPr/>
        </p:nvSpPr>
        <p:spPr>
          <a:xfrm>
            <a:off x="457200" y="3445002"/>
            <a:ext cx="1325880" cy="310896"/>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457200" y="344500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2017-08</a:t>
            </a:r>
            <a:endParaRPr lang="en-US" sz="1200" dirty="0"/>
          </a:p>
        </p:txBody>
      </p:sp>
      <p:sp>
        <p:nvSpPr>
          <p:cNvPr id="17" name="Shape 14"/>
          <p:cNvSpPr/>
          <p:nvPr/>
        </p:nvSpPr>
        <p:spPr>
          <a:xfrm>
            <a:off x="1911096" y="3527298"/>
            <a:ext cx="146304" cy="146304"/>
          </a:xfrm>
          <a:prstGeom prst="ellipse">
            <a:avLst/>
          </a:prstGeom>
          <a:solidFill>
            <a:schemeClr val="accent4"/>
          </a:solidFill>
          <a:ln w="12700">
            <a:solidFill>
              <a:schemeClr val="accent4">
                <a:alpha val="0"/>
              </a:schemeClr>
            </a:solidFill>
            <a:prstDash val="solid"/>
          </a:ln>
        </p:spPr>
      </p:sp>
      <p:sp>
        <p:nvSpPr>
          <p:cNvPr id="18" name="Text 15"/>
          <p:cNvSpPr txBox="1"/>
          <p:nvPr/>
        </p:nvSpPr>
        <p:spPr>
          <a:xfrm>
            <a:off x="2240280" y="3172968"/>
            <a:ext cx="6446520" cy="85496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比特币现金（BCH）硬分叉　SegWit 激活</a:t>
            </a:r>
            <a:endParaRPr lang="en-US" sz="1300" dirty="0"/>
          </a:p>
          <a:p>
            <a:pPr algn="l" indent="0" marL="0">
              <a:lnSpc>
                <a:spcPct val="105000"/>
              </a:lnSpc>
              <a:buNone/>
            </a:pPr>
            <a:r>
              <a:rPr lang="en-US" sz="1300" dirty="0">
                <a:solidFill>
                  <a:schemeClr val="accent4"/>
                </a:solidFill>
              </a:rPr>
              <a:t>8 月 1 日分叉；8 月 24 日 SegWit 生效</a:t>
            </a:r>
            <a:endParaRPr lang="en-US" sz="1300" dirty="0"/>
          </a:p>
        </p:txBody>
      </p:sp>
      <p:sp>
        <p:nvSpPr>
          <p:cNvPr id="19" name="Shape 16"/>
          <p:cNvSpPr/>
          <p:nvPr/>
        </p:nvSpPr>
        <p:spPr>
          <a:xfrm>
            <a:off x="457200" y="4336542"/>
            <a:ext cx="1325880" cy="310896"/>
          </a:xfrm>
          <a:prstGeom prst="roundRect">
            <a:avLst>
              <a:gd name="adj" fmla="val 50000"/>
            </a:avLst>
          </a:prstGeom>
          <a:solidFill>
            <a:schemeClr val="tx1"/>
          </a:solidFill>
          <a:ln w="12700">
            <a:solidFill>
              <a:schemeClr val="tx1">
                <a:alpha val="0"/>
              </a:schemeClr>
            </a:solidFill>
            <a:prstDash val="solid"/>
          </a:ln>
        </p:spPr>
      </p:sp>
      <p:sp>
        <p:nvSpPr>
          <p:cNvPr id="20" name="Text 17"/>
          <p:cNvSpPr txBox="1"/>
          <p:nvPr/>
        </p:nvSpPr>
        <p:spPr>
          <a:xfrm>
            <a:off x="457200" y="433654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2021-11-14</a:t>
            </a:r>
            <a:endParaRPr lang="en-US" sz="1200" dirty="0"/>
          </a:p>
        </p:txBody>
      </p:sp>
      <p:sp>
        <p:nvSpPr>
          <p:cNvPr id="21" name="Shape 18"/>
          <p:cNvSpPr/>
          <p:nvPr/>
        </p:nvSpPr>
        <p:spPr>
          <a:xfrm>
            <a:off x="1911096" y="4418838"/>
            <a:ext cx="146304" cy="146304"/>
          </a:xfrm>
          <a:prstGeom prst="ellipse">
            <a:avLst/>
          </a:prstGeom>
          <a:solidFill>
            <a:schemeClr val="accent4"/>
          </a:solidFill>
          <a:ln w="12700">
            <a:solidFill>
              <a:schemeClr val="accent4">
                <a:alpha val="0"/>
              </a:schemeClr>
            </a:solidFill>
            <a:prstDash val="solid"/>
          </a:ln>
        </p:spPr>
      </p:sp>
      <p:sp>
        <p:nvSpPr>
          <p:cNvPr id="22" name="Text 19"/>
          <p:cNvSpPr txBox="1"/>
          <p:nvPr/>
        </p:nvSpPr>
        <p:spPr>
          <a:xfrm>
            <a:off x="2240280" y="4064508"/>
            <a:ext cx="6446520" cy="85496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Taproot 激活</a:t>
            </a:r>
            <a:endParaRPr lang="en-US" sz="1300" dirty="0"/>
          </a:p>
          <a:p>
            <a:pPr algn="l" indent="0" marL="0">
              <a:lnSpc>
                <a:spcPct val="105000"/>
              </a:lnSpc>
              <a:buNone/>
            </a:pPr>
            <a:r>
              <a:rPr lang="en-US" sz="1300" dirty="0">
                <a:solidFill>
                  <a:schemeClr val="accent4"/>
                </a:solidFill>
              </a:rPr>
              <a:t>引入 Schnorr 签名，提升隐私与灵活性</a:t>
            </a:r>
            <a:endParaRPr lang="en-US" sz="1300" dirty="0"/>
          </a:p>
        </p:txBody>
      </p:sp>
      <p:sp>
        <p:nvSpPr>
          <p:cNvPr id="23" name="Shape 20"/>
          <p:cNvSpPr/>
          <p:nvPr/>
        </p:nvSpPr>
        <p:spPr>
          <a:xfrm>
            <a:off x="457200" y="5120640"/>
            <a:ext cx="8229600" cy="914400"/>
          </a:xfrm>
          <a:prstGeom prst="roundRect">
            <a:avLst>
              <a:gd name="adj" fmla="val 8000"/>
            </a:avLst>
          </a:prstGeom>
          <a:solidFill>
            <a:schemeClr val="accent1">
              <a:alpha val="12000"/>
            </a:schemeClr>
          </a:solidFill>
          <a:ln w="12700">
            <a:solidFill>
              <a:schemeClr val="accent1">
                <a:alpha val="0"/>
              </a:schemeClr>
            </a:solidFill>
            <a:prstDash val="solid"/>
          </a:ln>
        </p:spPr>
      </p:sp>
      <p:pic>
        <p:nvPicPr>
          <p:cNvPr id="24" name="Image 0" descr="key">    </p:cNvPr>
          <p:cNvPicPr>
            <a:picLocks noChangeAspect="1"/>
          </p:cNvPicPr>
          <p:nvPr/>
        </p:nvPicPr>
        <p:blipFill>
          <a:blip r:embed="rId1"/>
          <a:stretch>
            <a:fillRect/>
          </a:stretch>
        </p:blipFill>
        <p:spPr>
          <a:xfrm>
            <a:off x="640080" y="5385816"/>
            <a:ext cx="384048" cy="384048"/>
          </a:xfrm>
          <a:prstGeom prst="rect">
            <a:avLst/>
          </a:prstGeom>
        </p:spPr>
      </p:pic>
      <p:sp>
        <p:nvSpPr>
          <p:cNvPr id="25" name="Text 21"/>
          <p:cNvSpPr txBox="1"/>
          <p:nvPr/>
        </p:nvSpPr>
        <p:spPr>
          <a:xfrm>
            <a:off x="1188720" y="5193792"/>
            <a:ext cx="7315200" cy="768096"/>
          </a:xfrm>
          <a:prstGeom prst="rect">
            <a:avLst/>
          </a:prstGeom>
          <a:noFill/>
          <a:ln/>
        </p:spPr>
        <p:txBody>
          <a:bodyPr wrap="square" lIns="0" tIns="0" rIns="0" bIns="0" rtlCol="0" anchor="ctr"/>
          <a:lstStyle/>
          <a:p>
            <a:pPr algn="l" indent="0" marL="0">
              <a:lnSpc>
                <a:spcPct val="105000"/>
              </a:lnSpc>
              <a:buNone/>
            </a:pPr>
            <a:r>
              <a:rPr lang="en-US" sz="1500" b="1" dirty="0">
                <a:solidFill>
                  <a:schemeClr val="tx1"/>
                </a:solidFill>
              </a:rPr>
              <a:t>软分叉</a:t>
            </a:r>
            <a:pPr algn="l" indent="0" marL="0">
              <a:lnSpc>
                <a:spcPct val="105000"/>
              </a:lnSpc>
              <a:buNone/>
            </a:pPr>
            <a:r>
              <a:rPr lang="en-US" sz="1500" dirty="0">
                <a:solidFill>
                  <a:schemeClr val="tx1"/>
                </a:solidFill>
              </a:rPr>
              <a:t>向后兼容；</a:t>
            </a:r>
            <a:pPr algn="l" indent="0" marL="0">
              <a:lnSpc>
                <a:spcPct val="105000"/>
              </a:lnSpc>
              <a:buNone/>
            </a:pPr>
            <a:r>
              <a:rPr lang="en-US" sz="1500" b="1" dirty="0">
                <a:solidFill>
                  <a:schemeClr val="tx1"/>
                </a:solidFill>
              </a:rPr>
              <a:t>硬分叉</a:t>
            </a:r>
            <a:pPr algn="l" indent="0" marL="0">
              <a:lnSpc>
                <a:spcPct val="105000"/>
              </a:lnSpc>
              <a:buNone/>
            </a:pPr>
            <a:r>
              <a:rPr lang="en-US" sz="1500" dirty="0">
                <a:solidFill>
                  <a:schemeClr val="tx1"/>
                </a:solidFill>
              </a:rPr>
              <a:t>不兼容，可能分裂出新币。“没有 CEO”不等于“没有政治”。</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小结：一笔交易如何变得“不可更改”</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工作量证明</a:t>
            </a:r>
            <a:endParaRPr lang="en-US" sz="1200" dirty="0"/>
          </a:p>
        </p:txBody>
      </p:sp>
      <p:sp>
        <p:nvSpPr>
          <p:cNvPr id="5" name="Shape 2"/>
          <p:cNvSpPr/>
          <p:nvPr/>
        </p:nvSpPr>
        <p:spPr>
          <a:xfrm>
            <a:off x="457200" y="1417320"/>
            <a:ext cx="4023360" cy="1805940"/>
          </a:xfrm>
          <a:prstGeom prst="roundRect">
            <a:avLst>
              <a:gd name="adj" fmla="val 4051"/>
            </a:avLst>
          </a:prstGeom>
          <a:solidFill>
            <a:schemeClr val="bg2"/>
          </a:solidFill>
          <a:ln w="12700">
            <a:solidFill>
              <a:schemeClr val="bg2">
                <a:alpha val="0"/>
              </a:schemeClr>
            </a:solidFill>
            <a:prstDash val="solid"/>
          </a:ln>
        </p:spPr>
      </p:sp>
      <p:sp>
        <p:nvSpPr>
          <p:cNvPr id="6" name="Shape 3"/>
          <p:cNvSpPr/>
          <p:nvPr/>
        </p:nvSpPr>
        <p:spPr>
          <a:xfrm>
            <a:off x="640080" y="1581912"/>
            <a:ext cx="457200" cy="457200"/>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Text 5"/>
          <p:cNvSpPr txBox="1"/>
          <p:nvPr/>
        </p:nvSpPr>
        <p:spPr>
          <a:xfrm>
            <a:off x="640080" y="2148840"/>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账本</a:t>
            </a:r>
            <a:endParaRPr lang="en-US" sz="1700" dirty="0"/>
          </a:p>
        </p:txBody>
      </p:sp>
      <p:sp>
        <p:nvSpPr>
          <p:cNvPr id="9" name="Text 6"/>
          <p:cNvSpPr txBox="1"/>
          <p:nvPr/>
        </p:nvSpPr>
        <p:spPr>
          <a:xfrm>
            <a:off x="640080" y="2506980"/>
            <a:ext cx="3657600" cy="60655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区块链是公开共享、由分布各处的节点共同维护的账本。</a:t>
            </a:r>
            <a:endParaRPr lang="en-US" sz="1400" dirty="0"/>
          </a:p>
        </p:txBody>
      </p:sp>
      <p:sp>
        <p:nvSpPr>
          <p:cNvPr id="10" name="Shape 7"/>
          <p:cNvSpPr/>
          <p:nvPr/>
        </p:nvSpPr>
        <p:spPr>
          <a:xfrm>
            <a:off x="4663440" y="1417320"/>
            <a:ext cx="4023360" cy="1805940"/>
          </a:xfrm>
          <a:prstGeom prst="roundRect">
            <a:avLst>
              <a:gd name="adj" fmla="val 4051"/>
            </a:avLst>
          </a:prstGeom>
          <a:solidFill>
            <a:schemeClr val="bg2"/>
          </a:solidFill>
          <a:ln w="12700">
            <a:solidFill>
              <a:schemeClr val="bg2">
                <a:alpha val="0"/>
              </a:schemeClr>
            </a:solidFill>
            <a:prstDash val="solid"/>
          </a:ln>
        </p:spPr>
      </p:sp>
      <p:sp>
        <p:nvSpPr>
          <p:cNvPr id="11" name="Shape 8"/>
          <p:cNvSpPr/>
          <p:nvPr/>
        </p:nvSpPr>
        <p:spPr>
          <a:xfrm>
            <a:off x="4846320" y="1581912"/>
            <a:ext cx="457200" cy="457200"/>
          </a:xfrm>
          <a:prstGeom prst="ellipse">
            <a:avLst/>
          </a:prstGeom>
          <a:solidFill>
            <a:schemeClr val="accent1"/>
          </a:solidFill>
          <a:ln w="12700">
            <a:solidFill>
              <a:schemeClr val="accent1">
                <a:alpha val="0"/>
              </a:schemeClr>
            </a:solidFill>
            <a:prstDash val="solid"/>
          </a:ln>
        </p:spPr>
      </p:sp>
      <p:sp>
        <p:nvSpPr>
          <p:cNvPr id="12" name="Text 9"/>
          <p:cNvSpPr txBox="1"/>
          <p:nvPr/>
        </p:nvSpPr>
        <p:spPr>
          <a:xfrm>
            <a:off x="484632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Text 10"/>
          <p:cNvSpPr txBox="1"/>
          <p:nvPr/>
        </p:nvSpPr>
        <p:spPr>
          <a:xfrm>
            <a:off x="4846320" y="2148840"/>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共识</a:t>
            </a:r>
            <a:endParaRPr lang="en-US" sz="1700" dirty="0"/>
          </a:p>
        </p:txBody>
      </p:sp>
      <p:sp>
        <p:nvSpPr>
          <p:cNvPr id="14" name="Text 11"/>
          <p:cNvSpPr txBox="1"/>
          <p:nvPr/>
        </p:nvSpPr>
        <p:spPr>
          <a:xfrm>
            <a:off x="4846320" y="2506980"/>
            <a:ext cx="3657600" cy="60655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矿工用算力给区块盖“工作量印章”，节点独立验证。</a:t>
            </a:r>
            <a:endParaRPr lang="en-US" sz="1400" dirty="0"/>
          </a:p>
        </p:txBody>
      </p:sp>
      <p:sp>
        <p:nvSpPr>
          <p:cNvPr id="15" name="Shape 12"/>
          <p:cNvSpPr/>
          <p:nvPr/>
        </p:nvSpPr>
        <p:spPr>
          <a:xfrm>
            <a:off x="457200" y="3406140"/>
            <a:ext cx="4023360" cy="1805940"/>
          </a:xfrm>
          <a:prstGeom prst="roundRect">
            <a:avLst>
              <a:gd name="adj" fmla="val 4051"/>
            </a:avLst>
          </a:prstGeom>
          <a:solidFill>
            <a:schemeClr val="bg2"/>
          </a:solidFill>
          <a:ln w="12700">
            <a:solidFill>
              <a:schemeClr val="bg2">
                <a:alpha val="0"/>
              </a:schemeClr>
            </a:solidFill>
            <a:prstDash val="solid"/>
          </a:ln>
        </p:spPr>
      </p:sp>
      <p:sp>
        <p:nvSpPr>
          <p:cNvPr id="16" name="Shape 13"/>
          <p:cNvSpPr/>
          <p:nvPr/>
        </p:nvSpPr>
        <p:spPr>
          <a:xfrm>
            <a:off x="640080" y="3570732"/>
            <a:ext cx="457200" cy="457200"/>
          </a:xfrm>
          <a:prstGeom prst="ellipse">
            <a:avLst/>
          </a:prstGeom>
          <a:solidFill>
            <a:schemeClr val="accent1"/>
          </a:solidFill>
          <a:ln w="12700">
            <a:solidFill>
              <a:schemeClr val="accent1">
                <a:alpha val="0"/>
              </a:schemeClr>
            </a:solidFill>
            <a:prstDash val="solid"/>
          </a:ln>
        </p:spPr>
      </p:sp>
      <p:sp>
        <p:nvSpPr>
          <p:cNvPr id="17" name="Text 14"/>
          <p:cNvSpPr txBox="1"/>
          <p:nvPr/>
        </p:nvSpPr>
        <p:spPr>
          <a:xfrm>
            <a:off x="640080" y="357073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ext 15"/>
          <p:cNvSpPr txBox="1"/>
          <p:nvPr/>
        </p:nvSpPr>
        <p:spPr>
          <a:xfrm>
            <a:off x="640080" y="4137660"/>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哈希的三个作用</a:t>
            </a:r>
            <a:endParaRPr lang="en-US" sz="1700" dirty="0"/>
          </a:p>
        </p:txBody>
      </p:sp>
      <p:sp>
        <p:nvSpPr>
          <p:cNvPr id="19" name="Text 16"/>
          <p:cNvSpPr txBox="1"/>
          <p:nvPr/>
        </p:nvSpPr>
        <p:spPr>
          <a:xfrm>
            <a:off x="640080" y="4495800"/>
            <a:ext cx="3657600" cy="60655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让签名变短；PoW 的核心；把区块链接成链。</a:t>
            </a:r>
            <a:endParaRPr lang="en-US" sz="1400" dirty="0"/>
          </a:p>
        </p:txBody>
      </p:sp>
      <p:sp>
        <p:nvSpPr>
          <p:cNvPr id="20" name="Shape 17"/>
          <p:cNvSpPr/>
          <p:nvPr/>
        </p:nvSpPr>
        <p:spPr>
          <a:xfrm>
            <a:off x="4663440" y="3406140"/>
            <a:ext cx="4023360" cy="1805940"/>
          </a:xfrm>
          <a:prstGeom prst="roundRect">
            <a:avLst>
              <a:gd name="adj" fmla="val 4051"/>
            </a:avLst>
          </a:prstGeom>
          <a:solidFill>
            <a:schemeClr val="bg2"/>
          </a:solidFill>
          <a:ln w="12700">
            <a:solidFill>
              <a:schemeClr val="bg2">
                <a:alpha val="0"/>
              </a:schemeClr>
            </a:solidFill>
            <a:prstDash val="solid"/>
          </a:ln>
        </p:spPr>
      </p:sp>
      <p:sp>
        <p:nvSpPr>
          <p:cNvPr id="21" name="Shape 18"/>
          <p:cNvSpPr/>
          <p:nvPr/>
        </p:nvSpPr>
        <p:spPr>
          <a:xfrm>
            <a:off x="4846320" y="3570732"/>
            <a:ext cx="457200" cy="457200"/>
          </a:xfrm>
          <a:prstGeom prst="ellipse">
            <a:avLst/>
          </a:prstGeom>
          <a:solidFill>
            <a:schemeClr val="accent1"/>
          </a:solidFill>
          <a:ln w="12700">
            <a:solidFill>
              <a:schemeClr val="accent1">
                <a:alpha val="0"/>
              </a:schemeClr>
            </a:solidFill>
            <a:prstDash val="solid"/>
          </a:ln>
        </p:spPr>
      </p:sp>
      <p:sp>
        <p:nvSpPr>
          <p:cNvPr id="22" name="Text 19"/>
          <p:cNvSpPr txBox="1"/>
          <p:nvPr/>
        </p:nvSpPr>
        <p:spPr>
          <a:xfrm>
            <a:off x="4846320" y="357073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3" name="Text 20"/>
          <p:cNvSpPr txBox="1"/>
          <p:nvPr/>
        </p:nvSpPr>
        <p:spPr>
          <a:xfrm>
            <a:off x="4846320" y="4137660"/>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篡改的代价</a:t>
            </a:r>
            <a:endParaRPr lang="en-US" sz="1700" dirty="0"/>
          </a:p>
        </p:txBody>
      </p:sp>
      <p:sp>
        <p:nvSpPr>
          <p:cNvPr id="24" name="Text 21"/>
          <p:cNvSpPr txBox="1"/>
          <p:nvPr/>
        </p:nvSpPr>
        <p:spPr>
          <a:xfrm>
            <a:off x="4846320" y="4495800"/>
            <a:ext cx="3657600" cy="60655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重做该块及之后所有块的 PoW，并追上全网。</a:t>
            </a:r>
            <a:endParaRPr lang="en-US" sz="1400" dirty="0"/>
          </a:p>
        </p:txBody>
      </p:sp>
      <p:sp>
        <p:nvSpPr>
          <p:cNvPr id="25" name="Shape 22"/>
          <p:cNvSpPr/>
          <p:nvPr/>
        </p:nvSpPr>
        <p:spPr>
          <a:xfrm>
            <a:off x="457200" y="5349240"/>
            <a:ext cx="8229600" cy="777240"/>
          </a:xfrm>
          <a:prstGeom prst="roundRect">
            <a:avLst>
              <a:gd name="adj" fmla="val 9412"/>
            </a:avLst>
          </a:prstGeom>
          <a:solidFill>
            <a:schemeClr val="accent1">
              <a:alpha val="12000"/>
            </a:schemeClr>
          </a:solidFill>
          <a:ln w="12700">
            <a:solidFill>
              <a:schemeClr val="accent1">
                <a:alpha val="0"/>
              </a:schemeClr>
            </a:solidFill>
            <a:prstDash val="solid"/>
          </a:ln>
        </p:spPr>
      </p:sp>
      <p:pic>
        <p:nvPicPr>
          <p:cNvPr id="26" name="Image 0" descr="ask">    </p:cNvPr>
          <p:cNvPicPr>
            <a:picLocks noChangeAspect="1"/>
          </p:cNvPicPr>
          <p:nvPr/>
        </p:nvPicPr>
        <p:blipFill>
          <a:blip r:embed="rId1"/>
          <a:stretch>
            <a:fillRect/>
          </a:stretch>
        </p:blipFill>
        <p:spPr>
          <a:xfrm>
            <a:off x="640080" y="5545836"/>
            <a:ext cx="384048" cy="384048"/>
          </a:xfrm>
          <a:prstGeom prst="rect">
            <a:avLst/>
          </a:prstGeom>
        </p:spPr>
      </p:pic>
      <p:sp>
        <p:nvSpPr>
          <p:cNvPr id="27" name="Text 23"/>
          <p:cNvSpPr txBox="1"/>
          <p:nvPr/>
        </p:nvSpPr>
        <p:spPr>
          <a:xfrm>
            <a:off x="1188720" y="5422392"/>
            <a:ext cx="7315200" cy="63093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为什么会有人愿意耗费算力和电费去“挖矿”？——下一部分：</a:t>
            </a:r>
            <a:pPr algn="l" indent="0" marL="0">
              <a:lnSpc>
                <a:spcPct val="105000"/>
              </a:lnSpc>
              <a:buNone/>
            </a:pPr>
            <a:r>
              <a:rPr lang="en-US" sz="1600" b="1" dirty="0">
                <a:solidFill>
                  <a:schemeClr val="tx1"/>
                </a:solidFill>
              </a:rPr>
              <a:t>激励与货币发行</a:t>
            </a:r>
            <a:pPr algn="l" indent="0" marL="0">
              <a:lnSpc>
                <a:spcPct val="105000"/>
              </a:lnSpc>
              <a:buNone/>
            </a:pP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随堂小测：工作量证明</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随堂小测 · 工作量证明</a:t>
            </a:r>
            <a:endParaRPr lang="en-US" sz="1200" dirty="0"/>
          </a:p>
        </p:txBody>
      </p:sp>
      <p:sp>
        <p:nvSpPr>
          <p:cNvPr id="5" name="Shape 2"/>
          <p:cNvSpPr/>
          <p:nvPr/>
        </p:nvSpPr>
        <p:spPr>
          <a:xfrm>
            <a:off x="457200" y="1371600"/>
            <a:ext cx="8229600" cy="1417320"/>
          </a:xfrm>
          <a:prstGeom prst="roundRect">
            <a:avLst>
              <a:gd name="adj" fmla="val 5161"/>
            </a:avLst>
          </a:prstGeom>
          <a:solidFill>
            <a:schemeClr val="bg2"/>
          </a:solidFill>
          <a:ln w="12700">
            <a:solidFill>
              <a:schemeClr val="bg2">
                <a:alpha val="0"/>
              </a:schemeClr>
            </a:solidFill>
            <a:prstDash val="solid"/>
          </a:ln>
        </p:spPr>
      </p:sp>
      <p:sp>
        <p:nvSpPr>
          <p:cNvPr id="6" name="Shape 3"/>
          <p:cNvSpPr/>
          <p:nvPr/>
        </p:nvSpPr>
        <p:spPr>
          <a:xfrm>
            <a:off x="640080" y="1796796"/>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79679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1271016"/>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比特币的难度大约每多少个区块调整一次？</a:t>
            </a:r>
            <a:endParaRPr lang="en-US" sz="1500" dirty="0"/>
          </a:p>
          <a:p>
            <a:pPr algn="l" indent="0" marL="0">
              <a:lnSpc>
                <a:spcPct val="105000"/>
              </a:lnSpc>
              <a:buNone/>
            </a:pPr>
            <a:r>
              <a:rPr lang="en-US" sz="1400" dirty="0">
                <a:solidFill>
                  <a:schemeClr val="accent4"/>
                </a:solidFill>
              </a:rPr>
              <a:t>A 144　B 2016　C 210,000　D 每 10 分钟</a:t>
            </a:r>
            <a:endParaRPr lang="en-US" sz="1500" dirty="0"/>
          </a:p>
        </p:txBody>
      </p:sp>
      <p:sp>
        <p:nvSpPr>
          <p:cNvPr id="9" name="Shape 6"/>
          <p:cNvSpPr/>
          <p:nvPr/>
        </p:nvSpPr>
        <p:spPr>
          <a:xfrm>
            <a:off x="7772400" y="1897380"/>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897380"/>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11" name="Shape 8"/>
          <p:cNvSpPr/>
          <p:nvPr/>
        </p:nvSpPr>
        <p:spPr>
          <a:xfrm>
            <a:off x="457200" y="2898648"/>
            <a:ext cx="8229600" cy="1417320"/>
          </a:xfrm>
          <a:prstGeom prst="roundRect">
            <a:avLst>
              <a:gd name="adj" fmla="val 5161"/>
            </a:avLst>
          </a:prstGeom>
          <a:solidFill>
            <a:schemeClr val="bg2"/>
          </a:solidFill>
          <a:ln w="12700">
            <a:solidFill>
              <a:schemeClr val="bg2">
                <a:alpha val="0"/>
              </a:schemeClr>
            </a:solidFill>
            <a:prstDash val="solid"/>
          </a:ln>
        </p:spPr>
      </p:sp>
      <p:sp>
        <p:nvSpPr>
          <p:cNvPr id="12" name="Shape 9"/>
          <p:cNvSpPr/>
          <p:nvPr/>
        </p:nvSpPr>
        <p:spPr>
          <a:xfrm>
            <a:off x="640080" y="3323844"/>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332384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971800"/>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“平均 10 分钟出一个区块”，意味着每个区块的间隔都是 10 分钟吗？</a:t>
            </a:r>
            <a:endParaRPr lang="en-US" sz="1500" dirty="0"/>
          </a:p>
        </p:txBody>
      </p:sp>
      <p:sp>
        <p:nvSpPr>
          <p:cNvPr id="15" name="Shape 12"/>
          <p:cNvSpPr/>
          <p:nvPr/>
        </p:nvSpPr>
        <p:spPr>
          <a:xfrm>
            <a:off x="7772400" y="3424428"/>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342442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7" name="Shape 14"/>
          <p:cNvSpPr/>
          <p:nvPr/>
        </p:nvSpPr>
        <p:spPr>
          <a:xfrm>
            <a:off x="457200" y="4425696"/>
            <a:ext cx="8229600" cy="1417320"/>
          </a:xfrm>
          <a:prstGeom prst="roundRect">
            <a:avLst>
              <a:gd name="adj" fmla="val 5161"/>
            </a:avLst>
          </a:prstGeom>
          <a:solidFill>
            <a:schemeClr val="bg2"/>
          </a:solidFill>
          <a:ln w="12700">
            <a:solidFill>
              <a:schemeClr val="bg2">
                <a:alpha val="0"/>
              </a:schemeClr>
            </a:solidFill>
            <a:prstDash val="solid"/>
          </a:ln>
        </p:spPr>
      </p:sp>
      <p:sp>
        <p:nvSpPr>
          <p:cNvPr id="18" name="Shape 15"/>
          <p:cNvSpPr/>
          <p:nvPr/>
        </p:nvSpPr>
        <p:spPr>
          <a:xfrm>
            <a:off x="640080" y="485089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85089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4498848"/>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51% 攻击者能偷走别人的比特币吗？为什么？</a:t>
            </a:r>
            <a:endParaRPr lang="en-US" sz="1500" dirty="0"/>
          </a:p>
        </p:txBody>
      </p:sp>
      <p:sp>
        <p:nvSpPr>
          <p:cNvPr id="21" name="Shape 18"/>
          <p:cNvSpPr/>
          <p:nvPr/>
        </p:nvSpPr>
        <p:spPr>
          <a:xfrm>
            <a:off x="7772400" y="495147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95147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06</a:t>
            </a:r>
            <a:endParaRPr lang="en-US" sz="9600" dirty="0"/>
          </a:p>
        </p:txBody>
      </p:sp>
      <p:pic>
        <p:nvPicPr>
          <p:cNvPr id="3" name="Image 0" descr="FaCoins">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激励与发行：矿工为何愿付电费？</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没有银行发工资，协议自己“发行新币”来付给记账人——这也是比特币的货币政策。</a:t>
            </a:r>
            <a:endParaRPr lang="en-US"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激励机制：用新币和手续费，买“诚实”</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来源：白皮书 §6 Incentive</a:t>
            </a:r>
            <a:endParaRPr lang="en-US" sz="1000" dirty="0"/>
          </a:p>
        </p:txBody>
      </p:sp>
      <p:sp>
        <p:nvSpPr>
          <p:cNvPr id="6" name="Shape 3"/>
          <p:cNvSpPr/>
          <p:nvPr/>
        </p:nvSpPr>
        <p:spPr>
          <a:xfrm>
            <a:off x="457200" y="1463040"/>
            <a:ext cx="2743200" cy="1143000"/>
          </a:xfrm>
          <a:prstGeom prst="roundRect">
            <a:avLst>
              <a:gd name="adj" fmla="val 6400"/>
            </a:avLst>
          </a:prstGeom>
          <a:solidFill>
            <a:schemeClr val="bg2"/>
          </a:solidFill>
          <a:ln w="12700">
            <a:solidFill>
              <a:schemeClr val="bg2">
                <a:alpha val="0"/>
              </a:schemeClr>
            </a:solidFill>
            <a:prstDash val="solid"/>
          </a:ln>
        </p:spPr>
      </p:sp>
      <p:sp>
        <p:nvSpPr>
          <p:cNvPr id="7" name="Text 4"/>
          <p:cNvSpPr txBox="1"/>
          <p:nvPr/>
        </p:nvSpPr>
        <p:spPr>
          <a:xfrm>
            <a:off x="457200" y="1463040"/>
            <a:ext cx="2743200" cy="1143000"/>
          </a:xfrm>
          <a:prstGeom prst="rect">
            <a:avLst/>
          </a:prstGeom>
          <a:noFill/>
          <a:ln/>
        </p:spPr>
        <p:txBody>
          <a:bodyPr wrap="square" lIns="0" tIns="0" rIns="0" bIns="0" rtlCol="0" anchor="ctr"/>
          <a:lstStyle/>
          <a:p>
            <a:pPr algn="ctr" indent="0" marL="0">
              <a:lnSpc>
                <a:spcPct val="105000"/>
              </a:lnSpc>
              <a:spcAft>
                <a:spcPts val="300"/>
              </a:spcAft>
              <a:buNone/>
            </a:pPr>
            <a:r>
              <a:rPr lang="en-US" sz="1800" b="1" dirty="0">
                <a:solidFill>
                  <a:schemeClr val="tx1"/>
                </a:solidFill>
              </a:rPr>
              <a:t>区块补贴</a:t>
            </a:r>
            <a:endParaRPr lang="en-US" sz="1400" dirty="0"/>
          </a:p>
          <a:p>
            <a:pPr algn="ctr" indent="0" marL="0">
              <a:lnSpc>
                <a:spcPct val="105000"/>
              </a:lnSpc>
              <a:buNone/>
            </a:pPr>
            <a:r>
              <a:rPr lang="en-US" sz="1400" dirty="0">
                <a:solidFill>
                  <a:schemeClr val="accent4"/>
                </a:solidFill>
              </a:rPr>
              <a:t>协议发行的新币</a:t>
            </a:r>
            <a:endParaRPr lang="en-US" sz="1400" dirty="0"/>
          </a:p>
        </p:txBody>
      </p:sp>
      <p:sp>
        <p:nvSpPr>
          <p:cNvPr id="8" name="Text 5"/>
          <p:cNvSpPr txBox="1"/>
          <p:nvPr/>
        </p:nvSpPr>
        <p:spPr>
          <a:xfrm>
            <a:off x="3200400" y="1463040"/>
            <a:ext cx="457200" cy="114300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6"/>
                </a:solidFill>
              </a:rPr>
              <a:t>+</a:t>
            </a:r>
            <a:endParaRPr lang="en-US" sz="3000" dirty="0"/>
          </a:p>
        </p:txBody>
      </p:sp>
      <p:sp>
        <p:nvSpPr>
          <p:cNvPr id="9" name="Shape 6"/>
          <p:cNvSpPr/>
          <p:nvPr/>
        </p:nvSpPr>
        <p:spPr>
          <a:xfrm>
            <a:off x="3657600" y="1463040"/>
            <a:ext cx="2743200" cy="1143000"/>
          </a:xfrm>
          <a:prstGeom prst="roundRect">
            <a:avLst>
              <a:gd name="adj" fmla="val 6400"/>
            </a:avLst>
          </a:prstGeom>
          <a:solidFill>
            <a:schemeClr val="bg2"/>
          </a:solidFill>
          <a:ln w="12700">
            <a:solidFill>
              <a:schemeClr val="bg2">
                <a:alpha val="0"/>
              </a:schemeClr>
            </a:solidFill>
            <a:prstDash val="solid"/>
          </a:ln>
        </p:spPr>
      </p:sp>
      <p:sp>
        <p:nvSpPr>
          <p:cNvPr id="10" name="Text 7"/>
          <p:cNvSpPr txBox="1"/>
          <p:nvPr/>
        </p:nvSpPr>
        <p:spPr>
          <a:xfrm>
            <a:off x="3657600" y="1463040"/>
            <a:ext cx="2743200" cy="1143000"/>
          </a:xfrm>
          <a:prstGeom prst="rect">
            <a:avLst/>
          </a:prstGeom>
          <a:noFill/>
          <a:ln/>
        </p:spPr>
        <p:txBody>
          <a:bodyPr wrap="square" lIns="0" tIns="0" rIns="0" bIns="0" rtlCol="0" anchor="ctr"/>
          <a:lstStyle/>
          <a:p>
            <a:pPr algn="ctr" indent="0" marL="0">
              <a:lnSpc>
                <a:spcPct val="105000"/>
              </a:lnSpc>
              <a:spcAft>
                <a:spcPts val="300"/>
              </a:spcAft>
              <a:buNone/>
            </a:pPr>
            <a:r>
              <a:rPr lang="en-US" sz="1800" b="1" dirty="0">
                <a:solidFill>
                  <a:schemeClr val="tx1"/>
                </a:solidFill>
              </a:rPr>
              <a:t>交易手续费</a:t>
            </a:r>
            <a:endParaRPr lang="en-US" sz="1400" dirty="0"/>
          </a:p>
          <a:p>
            <a:pPr algn="ctr" indent="0" marL="0">
              <a:lnSpc>
                <a:spcPct val="105000"/>
              </a:lnSpc>
              <a:buNone/>
            </a:pPr>
            <a:r>
              <a:rPr lang="en-US" sz="1400" dirty="0">
                <a:solidFill>
                  <a:schemeClr val="accent4"/>
                </a:solidFill>
              </a:rPr>
              <a:t>用户为尽快上链而支付</a:t>
            </a:r>
            <a:endParaRPr lang="en-US" sz="1400" dirty="0"/>
          </a:p>
        </p:txBody>
      </p:sp>
      <p:sp>
        <p:nvSpPr>
          <p:cNvPr id="11" name="Shape 8"/>
          <p:cNvSpPr/>
          <p:nvPr/>
        </p:nvSpPr>
        <p:spPr>
          <a:xfrm>
            <a:off x="6492240" y="2029968"/>
            <a:ext cx="457200" cy="0"/>
          </a:xfrm>
          <a:prstGeom prst="line">
            <a:avLst/>
          </a:prstGeom>
          <a:noFill/>
          <a:ln w="38100">
            <a:solidFill>
              <a:schemeClr val="accent1"/>
            </a:solidFill>
            <a:prstDash val="solid"/>
            <a:tailEnd type="triangle"/>
          </a:ln>
        </p:spPr>
      </p:sp>
      <p:sp>
        <p:nvSpPr>
          <p:cNvPr id="12" name="Shape 9"/>
          <p:cNvSpPr/>
          <p:nvPr/>
        </p:nvSpPr>
        <p:spPr>
          <a:xfrm>
            <a:off x="6995160" y="1463040"/>
            <a:ext cx="1691640" cy="1143000"/>
          </a:xfrm>
          <a:prstGeom prst="roundRect">
            <a:avLst>
              <a:gd name="adj" fmla="val 6400"/>
            </a:avLst>
          </a:prstGeom>
          <a:solidFill>
            <a:schemeClr val="accent1"/>
          </a:solidFill>
          <a:ln w="12700">
            <a:solidFill>
              <a:schemeClr val="accent1">
                <a:alpha val="0"/>
              </a:schemeClr>
            </a:solidFill>
            <a:prstDash val="solid"/>
          </a:ln>
        </p:spPr>
      </p:sp>
      <p:sp>
        <p:nvSpPr>
          <p:cNvPr id="13" name="Text 10"/>
          <p:cNvSpPr txBox="1"/>
          <p:nvPr/>
        </p:nvSpPr>
        <p:spPr>
          <a:xfrm>
            <a:off x="6995160" y="1463040"/>
            <a:ext cx="1691640" cy="114300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矿工收入</a:t>
            </a:r>
            <a:endParaRPr lang="en-US" sz="1800" dirty="0"/>
          </a:p>
        </p:txBody>
      </p:sp>
      <p:sp>
        <p:nvSpPr>
          <p:cNvPr id="14" name="Shape 11"/>
          <p:cNvSpPr/>
          <p:nvPr/>
        </p:nvSpPr>
        <p:spPr>
          <a:xfrm>
            <a:off x="457200" y="2926080"/>
            <a:ext cx="8229600" cy="3017520"/>
          </a:xfrm>
          <a:prstGeom prst="roundRect">
            <a:avLst>
              <a:gd name="adj" fmla="val 2424"/>
            </a:avLst>
          </a:prstGeom>
          <a:solidFill>
            <a:schemeClr val="bg2"/>
          </a:solidFill>
          <a:ln w="12700">
            <a:solidFill>
              <a:schemeClr val="bg2">
                <a:alpha val="0"/>
              </a:schemeClr>
            </a:solidFill>
            <a:prstDash val="solid"/>
          </a:ln>
        </p:spPr>
      </p:sp>
      <p:sp>
        <p:nvSpPr>
          <p:cNvPr id="15" name="Text 12"/>
          <p:cNvSpPr txBox="1"/>
          <p:nvPr/>
        </p:nvSpPr>
        <p:spPr>
          <a:xfrm>
            <a:off x="685800" y="2971800"/>
            <a:ext cx="731520" cy="822960"/>
          </a:xfrm>
          <a:prstGeom prst="rect">
            <a:avLst/>
          </a:prstGeom>
          <a:noFill/>
          <a:ln/>
        </p:spPr>
        <p:txBody>
          <a:bodyPr wrap="square" lIns="0" tIns="0" rIns="0" bIns="0" rtlCol="0" anchor="t"/>
          <a:lstStyle/>
          <a:p>
            <a:pPr indent="0" marL="0">
              <a:buNone/>
            </a:pPr>
            <a:r>
              <a:rPr lang="en-US" sz="6000" b="1" dirty="0">
                <a:solidFill>
                  <a:schemeClr val="accent1"/>
                </a:solidFill>
              </a:rPr>
              <a:t>“</a:t>
            </a:r>
            <a:endParaRPr lang="en-US" sz="6000" dirty="0"/>
          </a:p>
        </p:txBody>
      </p:sp>
      <p:sp>
        <p:nvSpPr>
          <p:cNvPr id="16" name="Text 13"/>
          <p:cNvSpPr txBox="1"/>
          <p:nvPr/>
        </p:nvSpPr>
        <p:spPr>
          <a:xfrm>
            <a:off x="1280160" y="3200400"/>
            <a:ext cx="7040880" cy="2103120"/>
          </a:xfrm>
          <a:prstGeom prst="rect">
            <a:avLst/>
          </a:prstGeom>
          <a:noFill/>
          <a:ln/>
        </p:spPr>
        <p:txBody>
          <a:bodyPr wrap="square" lIns="0" tIns="0" rIns="0" bIns="0" rtlCol="0" anchor="t"/>
          <a:lstStyle/>
          <a:p>
            <a:pPr algn="l" indent="0" marL="0">
              <a:lnSpc>
                <a:spcPct val="124200"/>
              </a:lnSpc>
              <a:buNone/>
            </a:pPr>
            <a:r>
              <a:rPr lang="en-US" sz="1800" dirty="0">
                <a:solidFill>
                  <a:schemeClr val="tx1"/>
                </a:solidFill>
              </a:rPr>
              <a:t>如果一个贪婪的攻击者掌握了比所有诚实节点加起来更多的算力，他就得在两者间选择：用它把付出去的钱再骗回来，还是用它生成新币。他应当发现，遵守规则——这些规则让他获得的新币比其他所有人加起来还多——比破坏系统、毁掉自己财富的价值更有利可图。</a:t>
            </a:r>
            <a:endParaRPr lang="en-US" sz="1800" dirty="0"/>
          </a:p>
        </p:txBody>
      </p:sp>
      <p:sp>
        <p:nvSpPr>
          <p:cNvPr id="17" name="Text 14"/>
          <p:cNvSpPr txBox="1"/>
          <p:nvPr/>
        </p:nvSpPr>
        <p:spPr>
          <a:xfrm>
            <a:off x="1280160" y="5394960"/>
            <a:ext cx="7040880" cy="365760"/>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 中本聪，白皮书 §6</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coinbase 交易：新币从这里诞生</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来源：图：learnmeabitcoin.com（原课件）</a:t>
            </a:r>
            <a:endParaRPr lang="en-US" sz="1000" dirty="0"/>
          </a:p>
        </p:txBody>
      </p:sp>
      <p:sp>
        <p:nvSpPr>
          <p:cNvPr id="6" name="Shape 3"/>
          <p:cNvSpPr/>
          <p:nvPr/>
        </p:nvSpPr>
        <p:spPr>
          <a:xfrm>
            <a:off x="438912" y="1444752"/>
            <a:ext cx="4608576" cy="2261453"/>
          </a:xfrm>
          <a:prstGeom prst="rect">
            <a:avLst/>
          </a:prstGeom>
          <a:solidFill>
            <a:schemeClr val="bg1"/>
          </a:solidFill>
          <a:ln w="9525">
            <a:solidFill>
              <a:schemeClr val="accent5"/>
            </a:solidFill>
            <a:prstDash val="solid"/>
          </a:ln>
        </p:spPr>
      </p:sp>
      <p:pic>
        <p:nvPicPr>
          <p:cNvPr id="7" name="Image 0" descr="coinbase 交易示意图">    </p:cNvPr>
          <p:cNvPicPr>
            <a:picLocks noChangeAspect="1"/>
          </p:cNvPicPr>
          <p:nvPr/>
        </p:nvPicPr>
        <p:blipFill>
          <a:blip r:embed="rId1"/>
          <a:stretch>
            <a:fillRect/>
          </a:stretch>
        </p:blipFill>
        <p:spPr>
          <a:xfrm>
            <a:off x="457200" y="1463040"/>
            <a:ext cx="4572000" cy="2224877"/>
          </a:xfrm>
          <a:prstGeom prst="rect">
            <a:avLst/>
          </a:prstGeom>
        </p:spPr>
      </p:pic>
      <p:sp>
        <p:nvSpPr>
          <p:cNvPr id="8" name="Text 4"/>
          <p:cNvSpPr txBox="1"/>
          <p:nvPr/>
        </p:nvSpPr>
        <p:spPr>
          <a:xfrm>
            <a:off x="5303520" y="1463040"/>
            <a:ext cx="3383280" cy="365760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500" dirty="0">
                <a:solidFill>
                  <a:schemeClr val="tx1"/>
                </a:solidFill>
              </a:rPr>
              <a:t>区块里的</a:t>
            </a:r>
            <a:pPr algn="l" marL="254000" indent="-254000">
              <a:lnSpc>
                <a:spcPct val="105000"/>
              </a:lnSpc>
              <a:spcAft>
                <a:spcPts val="800"/>
              </a:spcAft>
              <a:buSzPct val="100000"/>
              <a:buChar char="•"/>
            </a:pPr>
            <a:r>
              <a:rPr lang="en-US" sz="1500" b="1" dirty="0">
                <a:solidFill>
                  <a:schemeClr val="tx1"/>
                </a:solidFill>
              </a:rPr>
              <a:t>第一笔</a:t>
            </a:r>
            <a:pPr algn="l" marL="254000" indent="-254000">
              <a:lnSpc>
                <a:spcPct val="105000"/>
              </a:lnSpc>
              <a:spcAft>
                <a:spcPts val="800"/>
              </a:spcAft>
              <a:buSzPct val="100000"/>
              <a:buChar char="•"/>
            </a:pPr>
            <a:r>
              <a:rPr lang="en-US" sz="1500" dirty="0">
                <a:solidFill>
                  <a:schemeClr val="tx1"/>
                </a:solidFill>
              </a:rPr>
              <a:t>交易，由矿工自己构造</a:t>
            </a:r>
            <a:endParaRPr lang="en-US" sz="1500" dirty="0"/>
          </a:p>
          <a:p>
            <a:pPr algn="l" marL="254000" indent="-254000">
              <a:lnSpc>
                <a:spcPct val="105000"/>
              </a:lnSpc>
              <a:spcAft>
                <a:spcPts val="800"/>
              </a:spcAft>
              <a:buSzPct val="100000"/>
              <a:buChar char="•"/>
            </a:pPr>
            <a:r>
              <a:rPr lang="en-US" sz="1500" b="1" dirty="0">
                <a:solidFill>
                  <a:schemeClr val="tx1"/>
                </a:solidFill>
              </a:rPr>
              <a:t>没有真实输入</a:t>
            </a:r>
            <a:pPr algn="l" marL="254000" indent="-254000">
              <a:lnSpc>
                <a:spcPct val="105000"/>
              </a:lnSpc>
              <a:spcAft>
                <a:spcPts val="800"/>
              </a:spcAft>
              <a:buSzPct val="100000"/>
              <a:buChar char="•"/>
            </a:pPr>
            <a:r>
              <a:rPr lang="en-US" sz="1500" dirty="0">
                <a:solidFill>
                  <a:schemeClr val="tx1"/>
                </a:solidFill>
              </a:rPr>
              <a:t>：不花费任何已有的币</a:t>
            </a:r>
            <a:endParaRPr lang="en-US" sz="1500" dirty="0"/>
          </a:p>
          <a:p>
            <a:pPr algn="l" marL="254000" indent="-254000">
              <a:lnSpc>
                <a:spcPct val="105000"/>
              </a:lnSpc>
              <a:spcAft>
                <a:spcPts val="800"/>
              </a:spcAft>
              <a:buSzPct val="100000"/>
              <a:buChar char="•"/>
            </a:pPr>
            <a:r>
              <a:rPr lang="en-US" sz="1500" dirty="0">
                <a:solidFill>
                  <a:schemeClr val="tx1"/>
                </a:solidFill>
              </a:rPr>
              <a:t>输出 = </a:t>
            </a:r>
            <a:pPr algn="l" marL="254000" indent="-254000">
              <a:lnSpc>
                <a:spcPct val="105000"/>
              </a:lnSpc>
              <a:spcAft>
                <a:spcPts val="800"/>
              </a:spcAft>
              <a:buSzPct val="100000"/>
              <a:buChar char="•"/>
            </a:pPr>
            <a:r>
              <a:rPr lang="en-US" sz="1500" b="1" dirty="0">
                <a:solidFill>
                  <a:schemeClr val="tx1"/>
                </a:solidFill>
              </a:rPr>
              <a:t>区块补贴 + 区块内全部手续费</a:t>
            </a:r>
            <a:endParaRPr lang="en-US" sz="1500" dirty="0"/>
          </a:p>
          <a:p>
            <a:pPr algn="l" marL="254000" indent="-254000">
              <a:lnSpc>
                <a:spcPct val="105000"/>
              </a:lnSpc>
              <a:buSzPct val="100000"/>
              <a:buChar char="•"/>
            </a:pPr>
            <a:r>
              <a:rPr lang="en-US" sz="1500" dirty="0">
                <a:solidFill>
                  <a:schemeClr val="tx1"/>
                </a:solidFill>
              </a:rPr>
              <a:t>协议允许的</a:t>
            </a:r>
            <a:pPr algn="l" marL="254000" indent="-254000">
              <a:lnSpc>
                <a:spcPct val="105000"/>
              </a:lnSpc>
              <a:buSzPct val="100000"/>
              <a:buChar char="•"/>
            </a:pPr>
            <a:r>
              <a:rPr lang="en-US" sz="1500" b="1" dirty="0">
                <a:solidFill>
                  <a:schemeClr val="tx1"/>
                </a:solidFill>
              </a:rPr>
              <a:t>唯一发币途径</a:t>
            </a:r>
            <a:pPr algn="l" marL="254000" indent="-254000">
              <a:lnSpc>
                <a:spcPct val="105000"/>
              </a:lnSpc>
              <a:buSzPct val="100000"/>
              <a:buChar char="•"/>
            </a:pPr>
            <a:r>
              <a:rPr lang="en-US" sz="1500" dirty="0">
                <a:solidFill>
                  <a:schemeClr val="tx1"/>
                </a:solidFill>
              </a:rPr>
              <a:t>；需 100 个区块“成熟”才能花</a:t>
            </a:r>
            <a:endParaRPr lang="en-US" sz="1500" dirty="0"/>
          </a:p>
        </p:txBody>
      </p:sp>
      <p:sp>
        <p:nvSpPr>
          <p:cNvPr id="9" name="Shape 5"/>
          <p:cNvSpPr/>
          <p:nvPr/>
        </p:nvSpPr>
        <p:spPr>
          <a:xfrm>
            <a:off x="457200" y="4343400"/>
            <a:ext cx="8229600" cy="1097280"/>
          </a:xfrm>
          <a:prstGeom prst="roundRect">
            <a:avLst>
              <a:gd name="adj" fmla="val 6667"/>
            </a:avLst>
          </a:prstGeom>
          <a:solidFill>
            <a:schemeClr val="accent1">
              <a:alpha val="12000"/>
            </a:schemeClr>
          </a:solidFill>
          <a:ln w="12700">
            <a:solidFill>
              <a:schemeClr val="accent1">
                <a:alpha val="0"/>
              </a:schemeClr>
            </a:solidFill>
            <a:prstDash val="solid"/>
          </a:ln>
        </p:spPr>
      </p:sp>
      <p:pic>
        <p:nvPicPr>
          <p:cNvPr id="10" name="Image 1" descr="key">    </p:cNvPr>
          <p:cNvPicPr>
            <a:picLocks noChangeAspect="1"/>
          </p:cNvPicPr>
          <p:nvPr/>
        </p:nvPicPr>
        <p:blipFill>
          <a:blip r:embed="rId2"/>
          <a:stretch>
            <a:fillRect/>
          </a:stretch>
        </p:blipFill>
        <p:spPr>
          <a:xfrm>
            <a:off x="640080" y="4700016"/>
            <a:ext cx="384048" cy="384048"/>
          </a:xfrm>
          <a:prstGeom prst="rect">
            <a:avLst/>
          </a:prstGeom>
        </p:spPr>
      </p:pic>
      <p:sp>
        <p:nvSpPr>
          <p:cNvPr id="11" name="Text 6"/>
          <p:cNvSpPr txBox="1"/>
          <p:nvPr/>
        </p:nvSpPr>
        <p:spPr>
          <a:xfrm>
            <a:off x="1188720" y="4416552"/>
            <a:ext cx="7315200" cy="95097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挖矿不是“解出谜题就凭空拿币”：谁赢得竞赛，谁就有权</a:t>
            </a:r>
            <a:pPr algn="l" indent="0" marL="0">
              <a:lnSpc>
                <a:spcPct val="105000"/>
              </a:lnSpc>
              <a:buNone/>
            </a:pPr>
            <a:r>
              <a:rPr lang="en-US" sz="1600" b="1" dirty="0">
                <a:solidFill>
                  <a:schemeClr val="tx1"/>
                </a:solidFill>
              </a:rPr>
              <a:t>在自己的区块里，按协议规定给自己发行新币</a:t>
            </a:r>
            <a:pPr algn="l" indent="0" marL="0">
              <a:lnSpc>
                <a:spcPct val="105000"/>
              </a:lnSpc>
              <a:buNone/>
            </a:pP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FFFFFF"/>
                </a:solidFill>
              </a:rPr>
              <a:t>创世区块：写给银行体系的一行字</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1"/>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5"/>
                </a:solidFill>
              </a:rPr>
              <a:t>来源：比特币创世区块（区块 0）；《泰晤士报》2009-01-03 头版</a:t>
            </a:r>
            <a:endParaRPr lang="en-US" sz="1000" dirty="0"/>
          </a:p>
        </p:txBody>
      </p:sp>
      <p:sp>
        <p:nvSpPr>
          <p:cNvPr id="6" name="Shape 3"/>
          <p:cNvSpPr/>
          <p:nvPr/>
        </p:nvSpPr>
        <p:spPr>
          <a:xfrm>
            <a:off x="457200" y="1463040"/>
            <a:ext cx="8229600" cy="1234440"/>
          </a:xfrm>
          <a:prstGeom prst="roundRect">
            <a:avLst>
              <a:gd name="adj" fmla="val 5926"/>
            </a:avLst>
          </a:prstGeom>
          <a:solidFill>
            <a:schemeClr val="tx2"/>
          </a:solidFill>
          <a:ln w="12700">
            <a:solidFill>
              <a:schemeClr val="tx2">
                <a:alpha val="0"/>
              </a:schemeClr>
            </a:solidFill>
            <a:prstDash val="solid"/>
          </a:ln>
        </p:spPr>
      </p:sp>
      <p:sp>
        <p:nvSpPr>
          <p:cNvPr id="7" name="Text 4"/>
          <p:cNvSpPr txBox="1"/>
          <p:nvPr/>
        </p:nvSpPr>
        <p:spPr>
          <a:xfrm>
            <a:off x="640080" y="1554480"/>
            <a:ext cx="7863840" cy="1051560"/>
          </a:xfrm>
          <a:prstGeom prst="rect">
            <a:avLst/>
          </a:prstGeom>
          <a:noFill/>
          <a:ln/>
        </p:spPr>
        <p:txBody>
          <a:bodyPr wrap="square" lIns="0" tIns="0" rIns="0" bIns="0" rtlCol="0" anchor="ctr"/>
          <a:lstStyle/>
          <a:p>
            <a:pPr algn="ctr" indent="0" marL="0">
              <a:lnSpc>
                <a:spcPct val="105000"/>
              </a:lnSpc>
              <a:buNone/>
            </a:pPr>
            <a:r>
              <a:rPr lang="en-US" sz="1900" dirty="0">
                <a:solidFill>
                  <a:schemeClr val="accent1"/>
                </a:solidFill>
                <a:latin typeface="Consolas" pitchFamily="34" charset="0"/>
                <a:ea typeface="Consolas" pitchFamily="34" charset="-122"/>
                <a:cs typeface="Consolas" pitchFamily="34" charset="-120"/>
              </a:rPr>
              <a:t>The Times 03/Jan/2009 Chancellor on brink of second bailout for banks</a:t>
            </a:r>
            <a:endParaRPr lang="en-US" sz="1900" dirty="0"/>
          </a:p>
        </p:txBody>
      </p:sp>
      <p:sp>
        <p:nvSpPr>
          <p:cNvPr id="8" name="Text 5"/>
          <p:cNvSpPr txBox="1"/>
          <p:nvPr/>
        </p:nvSpPr>
        <p:spPr>
          <a:xfrm>
            <a:off x="457200" y="2834640"/>
            <a:ext cx="8229600" cy="457200"/>
          </a:xfrm>
          <a:prstGeom prst="rect">
            <a:avLst/>
          </a:prstGeom>
          <a:noFill/>
          <a:ln/>
        </p:spPr>
        <p:txBody>
          <a:bodyPr wrap="square" lIns="0" tIns="0" rIns="0" bIns="0" rtlCol="0" anchor="t"/>
          <a:lstStyle/>
          <a:p>
            <a:pPr algn="ctr" indent="0" marL="0">
              <a:lnSpc>
                <a:spcPct val="105000"/>
              </a:lnSpc>
              <a:buNone/>
            </a:pPr>
            <a:r>
              <a:rPr lang="en-US" sz="1800" dirty="0">
                <a:solidFill>
                  <a:schemeClr val="bg1"/>
                </a:solidFill>
              </a:rPr>
              <a:t>《泰晤士报》2009 年 1 月 3 日：财政大臣即将对银行实施第二次救助</a:t>
            </a:r>
            <a:endParaRPr lang="en-US" sz="1800" dirty="0"/>
          </a:p>
        </p:txBody>
      </p:sp>
      <p:sp>
        <p:nvSpPr>
          <p:cNvPr id="9" name="Shape 6"/>
          <p:cNvSpPr/>
          <p:nvPr/>
        </p:nvSpPr>
        <p:spPr>
          <a:xfrm>
            <a:off x="457200" y="3520440"/>
            <a:ext cx="2651760" cy="1325880"/>
          </a:xfrm>
          <a:prstGeom prst="roundRect">
            <a:avLst>
              <a:gd name="adj" fmla="val 5517"/>
            </a:avLst>
          </a:prstGeom>
          <a:solidFill>
            <a:schemeClr val="tx2"/>
          </a:solidFill>
          <a:ln w="12700">
            <a:solidFill>
              <a:schemeClr val="tx2">
                <a:alpha val="0"/>
              </a:schemeClr>
            </a:solidFill>
            <a:prstDash val="solid"/>
          </a:ln>
        </p:spPr>
      </p:sp>
      <p:sp>
        <p:nvSpPr>
          <p:cNvPr id="10" name="Text 7"/>
          <p:cNvSpPr txBox="1"/>
          <p:nvPr/>
        </p:nvSpPr>
        <p:spPr>
          <a:xfrm>
            <a:off x="594360" y="3630168"/>
            <a:ext cx="2377440" cy="662940"/>
          </a:xfrm>
          <a:prstGeom prst="rect">
            <a:avLst/>
          </a:prstGeom>
          <a:noFill/>
          <a:ln/>
        </p:spPr>
        <p:txBody>
          <a:bodyPr wrap="square" lIns="0" tIns="0" rIns="0" bIns="0" rtlCol="0" anchor="ctr"/>
          <a:lstStyle/>
          <a:p>
            <a:pPr algn="ctr" indent="0" marL="0">
              <a:lnSpc>
                <a:spcPct val="105000"/>
              </a:lnSpc>
              <a:buNone/>
            </a:pPr>
            <a:r>
              <a:rPr lang="en-US" sz="2600" b="1" dirty="0">
                <a:solidFill>
                  <a:schemeClr val="accent1"/>
                </a:solidFill>
              </a:rPr>
              <a:t>2009-01-03</a:t>
            </a:r>
            <a:endParaRPr lang="en-US" sz="2600" dirty="0"/>
          </a:p>
        </p:txBody>
      </p:sp>
      <p:sp>
        <p:nvSpPr>
          <p:cNvPr id="11" name="Text 8"/>
          <p:cNvSpPr txBox="1"/>
          <p:nvPr/>
        </p:nvSpPr>
        <p:spPr>
          <a:xfrm>
            <a:off x="594360" y="4289450"/>
            <a:ext cx="2377440" cy="503834"/>
          </a:xfrm>
          <a:prstGeom prst="rect">
            <a:avLst/>
          </a:prstGeom>
          <a:noFill/>
          <a:ln/>
        </p:spPr>
        <p:txBody>
          <a:bodyPr wrap="square" lIns="0" tIns="0" rIns="0" bIns="0" rtlCol="0" anchor="t"/>
          <a:lstStyle/>
          <a:p>
            <a:pPr algn="ctr" indent="0" marL="0">
              <a:lnSpc>
                <a:spcPct val="105000"/>
              </a:lnSpc>
              <a:buNone/>
            </a:pPr>
            <a:r>
              <a:rPr lang="en-US" sz="1400" dirty="0">
                <a:solidFill>
                  <a:schemeClr val="bg2"/>
                </a:solidFill>
              </a:rPr>
              <a:t>创世区块被挖出</a:t>
            </a:r>
            <a:endParaRPr lang="en-US" sz="1400" dirty="0"/>
          </a:p>
        </p:txBody>
      </p:sp>
      <p:sp>
        <p:nvSpPr>
          <p:cNvPr id="12" name="Shape 9"/>
          <p:cNvSpPr/>
          <p:nvPr/>
        </p:nvSpPr>
        <p:spPr>
          <a:xfrm>
            <a:off x="3246120" y="3520440"/>
            <a:ext cx="2651760" cy="1325880"/>
          </a:xfrm>
          <a:prstGeom prst="roundRect">
            <a:avLst>
              <a:gd name="adj" fmla="val 5517"/>
            </a:avLst>
          </a:prstGeom>
          <a:solidFill>
            <a:schemeClr val="tx2"/>
          </a:solidFill>
          <a:ln w="12700">
            <a:solidFill>
              <a:schemeClr val="tx2">
                <a:alpha val="0"/>
              </a:schemeClr>
            </a:solidFill>
            <a:prstDash val="solid"/>
          </a:ln>
        </p:spPr>
      </p:sp>
      <p:sp>
        <p:nvSpPr>
          <p:cNvPr id="13" name="Text 10"/>
          <p:cNvSpPr txBox="1"/>
          <p:nvPr/>
        </p:nvSpPr>
        <p:spPr>
          <a:xfrm>
            <a:off x="3383280" y="3630168"/>
            <a:ext cx="2377440" cy="66294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1"/>
                </a:solidFill>
              </a:rPr>
              <a:t>50 BTC</a:t>
            </a:r>
            <a:endParaRPr lang="en-US" sz="2800" dirty="0"/>
          </a:p>
        </p:txBody>
      </p:sp>
      <p:sp>
        <p:nvSpPr>
          <p:cNvPr id="14" name="Text 11"/>
          <p:cNvSpPr txBox="1"/>
          <p:nvPr/>
        </p:nvSpPr>
        <p:spPr>
          <a:xfrm>
            <a:off x="3383280" y="4289450"/>
            <a:ext cx="2377440" cy="503834"/>
          </a:xfrm>
          <a:prstGeom prst="rect">
            <a:avLst/>
          </a:prstGeom>
          <a:noFill/>
          <a:ln/>
        </p:spPr>
        <p:txBody>
          <a:bodyPr wrap="square" lIns="0" tIns="0" rIns="0" bIns="0" rtlCol="0" anchor="t"/>
          <a:lstStyle/>
          <a:p>
            <a:pPr algn="ctr" indent="0" marL="0">
              <a:lnSpc>
                <a:spcPct val="105000"/>
              </a:lnSpc>
              <a:buNone/>
            </a:pPr>
            <a:r>
              <a:rPr lang="en-US" sz="1400" dirty="0">
                <a:solidFill>
                  <a:schemeClr val="bg2"/>
                </a:solidFill>
              </a:rPr>
              <a:t>区块奖励，永远无法被花费</a:t>
            </a:r>
            <a:endParaRPr lang="en-US" sz="1400" dirty="0"/>
          </a:p>
        </p:txBody>
      </p:sp>
      <p:sp>
        <p:nvSpPr>
          <p:cNvPr id="15" name="Shape 12"/>
          <p:cNvSpPr/>
          <p:nvPr/>
        </p:nvSpPr>
        <p:spPr>
          <a:xfrm>
            <a:off x="6035040" y="3520440"/>
            <a:ext cx="2651760" cy="1325880"/>
          </a:xfrm>
          <a:prstGeom prst="roundRect">
            <a:avLst>
              <a:gd name="adj" fmla="val 5517"/>
            </a:avLst>
          </a:prstGeom>
          <a:solidFill>
            <a:schemeClr val="tx2"/>
          </a:solidFill>
          <a:ln w="12700">
            <a:solidFill>
              <a:schemeClr val="tx2">
                <a:alpha val="0"/>
              </a:schemeClr>
            </a:solidFill>
            <a:prstDash val="solid"/>
          </a:ln>
        </p:spPr>
      </p:sp>
      <p:sp>
        <p:nvSpPr>
          <p:cNvPr id="16" name="Text 13"/>
          <p:cNvSpPr txBox="1"/>
          <p:nvPr/>
        </p:nvSpPr>
        <p:spPr>
          <a:xfrm>
            <a:off x="6172200" y="3630168"/>
            <a:ext cx="2377440" cy="662940"/>
          </a:xfrm>
          <a:prstGeom prst="rect">
            <a:avLst/>
          </a:prstGeom>
          <a:noFill/>
          <a:ln/>
        </p:spPr>
        <p:txBody>
          <a:bodyPr wrap="square" lIns="0" tIns="0" rIns="0" bIns="0" rtlCol="0" anchor="ctr"/>
          <a:lstStyle/>
          <a:p>
            <a:pPr algn="ctr" indent="0" marL="0">
              <a:lnSpc>
                <a:spcPct val="105000"/>
              </a:lnSpc>
              <a:buNone/>
            </a:pPr>
            <a:r>
              <a:rPr lang="en-US" sz="2400" b="1" dirty="0">
                <a:solidFill>
                  <a:schemeClr val="accent1"/>
                </a:solidFill>
              </a:rPr>
              <a:t>0000000000…</a:t>
            </a:r>
            <a:endParaRPr lang="en-US" sz="2400" dirty="0"/>
          </a:p>
        </p:txBody>
      </p:sp>
      <p:sp>
        <p:nvSpPr>
          <p:cNvPr id="17" name="Text 14"/>
          <p:cNvSpPr txBox="1"/>
          <p:nvPr/>
        </p:nvSpPr>
        <p:spPr>
          <a:xfrm>
            <a:off x="6172200" y="4289450"/>
            <a:ext cx="2377440" cy="503834"/>
          </a:xfrm>
          <a:prstGeom prst="rect">
            <a:avLst/>
          </a:prstGeom>
          <a:noFill/>
          <a:ln/>
        </p:spPr>
        <p:txBody>
          <a:bodyPr wrap="square" lIns="0" tIns="0" rIns="0" bIns="0" rtlCol="0" anchor="t"/>
          <a:lstStyle/>
          <a:p>
            <a:pPr algn="ctr" indent="0" marL="0">
              <a:lnSpc>
                <a:spcPct val="105000"/>
              </a:lnSpc>
              <a:buNone/>
            </a:pPr>
            <a:r>
              <a:rPr lang="en-US" sz="1400" dirty="0">
                <a:solidFill>
                  <a:schemeClr val="bg2"/>
                </a:solidFill>
              </a:rPr>
              <a:t>区块哈希以 10 个十六进制 0 开头</a:t>
            </a:r>
            <a:endParaRPr lang="en-US" sz="1400" dirty="0"/>
          </a:p>
        </p:txBody>
      </p:sp>
      <p:sp>
        <p:nvSpPr>
          <p:cNvPr id="18" name="Text 15"/>
          <p:cNvSpPr txBox="1"/>
          <p:nvPr/>
        </p:nvSpPr>
        <p:spPr>
          <a:xfrm>
            <a:off x="457200" y="5120640"/>
            <a:ext cx="8229600" cy="457200"/>
          </a:xfrm>
          <a:prstGeom prst="rect">
            <a:avLst/>
          </a:prstGeom>
          <a:noFill/>
          <a:ln/>
        </p:spPr>
        <p:txBody>
          <a:bodyPr wrap="square" lIns="0" tIns="0" rIns="0" bIns="0" rtlCol="0" anchor="t"/>
          <a:lstStyle/>
          <a:p>
            <a:pPr algn="ctr" indent="0" marL="0">
              <a:lnSpc>
                <a:spcPct val="105000"/>
              </a:lnSpc>
              <a:buNone/>
            </a:pPr>
            <a:r>
              <a:rPr lang="en-US" sz="1300" dirty="0">
                <a:solidFill>
                  <a:schemeClr val="accent5"/>
                </a:solidFill>
                <a:latin typeface="Consolas" pitchFamily="34" charset="0"/>
                <a:ea typeface="Consolas" pitchFamily="34" charset="-122"/>
                <a:cs typeface="Consolas" pitchFamily="34" charset="-120"/>
              </a:rPr>
              <a:t>000000000019d6689c085ae165831e934ff763ae46a2a6c172b3f1b60a8ce26f</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中本聪之谜：约 110 万枚从未动过的币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拓展</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来源：Sergio Lerner（2013）；COPA v Wright（英国高等法院，2024-03）；公开报道</a:t>
            </a:r>
            <a:endParaRPr lang="en-US" sz="1000" dirty="0"/>
          </a:p>
        </p:txBody>
      </p:sp>
      <p:sp>
        <p:nvSpPr>
          <p:cNvPr id="6" name="Shape 3"/>
          <p:cNvSpPr/>
          <p:nvPr/>
        </p:nvSpPr>
        <p:spPr>
          <a:xfrm>
            <a:off x="457200" y="1463040"/>
            <a:ext cx="2621280" cy="3246120"/>
          </a:xfrm>
          <a:prstGeom prst="roundRect">
            <a:avLst>
              <a:gd name="adj" fmla="val 2791"/>
            </a:avLst>
          </a:prstGeom>
          <a:solidFill>
            <a:schemeClr val="bg2"/>
          </a:solidFill>
          <a:ln w="12700">
            <a:solidFill>
              <a:schemeClr val="bg2">
                <a:alpha val="0"/>
              </a:schemeClr>
            </a:solidFill>
            <a:prstDash val="solid"/>
          </a:ln>
        </p:spPr>
      </p:sp>
      <p:sp>
        <p:nvSpPr>
          <p:cNvPr id="7" name="Shape 4"/>
          <p:cNvSpPr/>
          <p:nvPr/>
        </p:nvSpPr>
        <p:spPr>
          <a:xfrm>
            <a:off x="640080" y="1627632"/>
            <a:ext cx="502920" cy="502920"/>
          </a:xfrm>
          <a:prstGeom prst="ellipse">
            <a:avLst/>
          </a:prstGeom>
          <a:solidFill>
            <a:schemeClr val="accent1"/>
          </a:solidFill>
          <a:ln w="12700">
            <a:solidFill>
              <a:schemeClr val="accent1">
                <a:alpha val="0"/>
              </a:schemeClr>
            </a:solidFill>
            <a:prstDash val="solid"/>
          </a:ln>
        </p:spPr>
      </p:sp>
      <p:pic>
        <p:nvPicPr>
          <p:cNvPr id="8" name="Image 0" descr="FaMask">    </p:cNvPr>
          <p:cNvPicPr>
            <a:picLocks noChangeAspect="1"/>
          </p:cNvPicPr>
          <p:nvPr/>
        </p:nvPicPr>
        <p:blipFill>
          <a:blip r:embed="rId1"/>
          <a:stretch>
            <a:fillRect/>
          </a:stretch>
        </p:blipFill>
        <p:spPr>
          <a:xfrm>
            <a:off x="750722" y="1738274"/>
            <a:ext cx="281635" cy="281635"/>
          </a:xfrm>
          <a:prstGeom prst="rect">
            <a:avLst/>
          </a:prstGeom>
        </p:spPr>
      </p:pic>
      <p:sp>
        <p:nvSpPr>
          <p:cNvPr id="9" name="Text 5"/>
          <p:cNvSpPr txBox="1"/>
          <p:nvPr/>
        </p:nvSpPr>
        <p:spPr>
          <a:xfrm>
            <a:off x="64008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消失</a:t>
            </a:r>
            <a:endParaRPr lang="en-US" sz="1800" dirty="0"/>
          </a:p>
        </p:txBody>
      </p:sp>
      <p:sp>
        <p:nvSpPr>
          <p:cNvPr id="10" name="Text 6"/>
          <p:cNvSpPr txBox="1"/>
          <p:nvPr/>
        </p:nvSpPr>
        <p:spPr>
          <a:xfrm>
            <a:off x="640080" y="2624328"/>
            <a:ext cx="2255520" cy="19751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2008–2011 年活跃；2011 年 4 月最后一封邮件称“已转向其他事情”，此后再未发声。</a:t>
            </a:r>
            <a:endParaRPr lang="en-US" sz="1500" dirty="0"/>
          </a:p>
        </p:txBody>
      </p:sp>
      <p:sp>
        <p:nvSpPr>
          <p:cNvPr id="11" name="Shape 7"/>
          <p:cNvSpPr/>
          <p:nvPr/>
        </p:nvSpPr>
        <p:spPr>
          <a:xfrm>
            <a:off x="3261360" y="1463040"/>
            <a:ext cx="2621280" cy="3246120"/>
          </a:xfrm>
          <a:prstGeom prst="roundRect">
            <a:avLst>
              <a:gd name="adj" fmla="val 2791"/>
            </a:avLst>
          </a:prstGeom>
          <a:solidFill>
            <a:schemeClr val="bg2"/>
          </a:solidFill>
          <a:ln w="12700">
            <a:solidFill>
              <a:schemeClr val="bg2">
                <a:alpha val="0"/>
              </a:schemeClr>
            </a:solidFill>
            <a:prstDash val="solid"/>
          </a:ln>
        </p:spPr>
      </p:sp>
      <p:sp>
        <p:nvSpPr>
          <p:cNvPr id="12" name="Shape 8"/>
          <p:cNvSpPr/>
          <p:nvPr/>
        </p:nvSpPr>
        <p:spPr>
          <a:xfrm>
            <a:off x="3444240" y="1627632"/>
            <a:ext cx="502920" cy="502920"/>
          </a:xfrm>
          <a:prstGeom prst="ellipse">
            <a:avLst/>
          </a:prstGeom>
          <a:solidFill>
            <a:schemeClr val="accent1"/>
          </a:solidFill>
          <a:ln w="12700">
            <a:solidFill>
              <a:schemeClr val="accent1">
                <a:alpha val="0"/>
              </a:schemeClr>
            </a:solidFill>
            <a:prstDash val="solid"/>
          </a:ln>
        </p:spPr>
      </p:sp>
      <p:pic>
        <p:nvPicPr>
          <p:cNvPr id="13" name="Image 1" descr="FaSearch">    </p:cNvPr>
          <p:cNvPicPr>
            <a:picLocks noChangeAspect="1"/>
          </p:cNvPicPr>
          <p:nvPr/>
        </p:nvPicPr>
        <p:blipFill>
          <a:blip r:embed="rId2"/>
          <a:stretch>
            <a:fillRect/>
          </a:stretch>
        </p:blipFill>
        <p:spPr>
          <a:xfrm>
            <a:off x="3554882" y="1738274"/>
            <a:ext cx="281635" cy="281635"/>
          </a:xfrm>
          <a:prstGeom prst="rect">
            <a:avLst/>
          </a:prstGeom>
        </p:spPr>
      </p:pic>
      <p:sp>
        <p:nvSpPr>
          <p:cNvPr id="14" name="Text 9"/>
          <p:cNvSpPr txBox="1"/>
          <p:nvPr/>
        </p:nvSpPr>
        <p:spPr>
          <a:xfrm>
            <a:off x="344424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Patoshi 模式</a:t>
            </a:r>
            <a:endParaRPr lang="en-US" sz="1800" dirty="0"/>
          </a:p>
        </p:txBody>
      </p:sp>
      <p:sp>
        <p:nvSpPr>
          <p:cNvPr id="15" name="Text 10"/>
          <p:cNvSpPr txBox="1"/>
          <p:nvPr/>
        </p:nvSpPr>
        <p:spPr>
          <a:xfrm>
            <a:off x="3444240" y="2624328"/>
            <a:ext cx="2255520" cy="19751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研究者据早期区块特征识别出疑似同一矿工，估计约 110 万枚比特币至今未动。</a:t>
            </a:r>
            <a:endParaRPr lang="en-US" sz="1500" dirty="0"/>
          </a:p>
        </p:txBody>
      </p:sp>
      <p:sp>
        <p:nvSpPr>
          <p:cNvPr id="16" name="Shape 11"/>
          <p:cNvSpPr/>
          <p:nvPr/>
        </p:nvSpPr>
        <p:spPr>
          <a:xfrm>
            <a:off x="6065520" y="1463040"/>
            <a:ext cx="2621280" cy="3246120"/>
          </a:xfrm>
          <a:prstGeom prst="roundRect">
            <a:avLst>
              <a:gd name="adj" fmla="val 2791"/>
            </a:avLst>
          </a:prstGeom>
          <a:solidFill>
            <a:schemeClr val="bg2"/>
          </a:solidFill>
          <a:ln w="12700">
            <a:solidFill>
              <a:schemeClr val="bg2">
                <a:alpha val="0"/>
              </a:schemeClr>
            </a:solidFill>
            <a:prstDash val="solid"/>
          </a:ln>
        </p:spPr>
      </p:sp>
      <p:sp>
        <p:nvSpPr>
          <p:cNvPr id="17" name="Shape 12"/>
          <p:cNvSpPr/>
          <p:nvPr/>
        </p:nvSpPr>
        <p:spPr>
          <a:xfrm>
            <a:off x="6248400" y="1627632"/>
            <a:ext cx="502920" cy="502920"/>
          </a:xfrm>
          <a:prstGeom prst="ellipse">
            <a:avLst/>
          </a:prstGeom>
          <a:solidFill>
            <a:schemeClr val="accent1"/>
          </a:solidFill>
          <a:ln w="12700">
            <a:solidFill>
              <a:schemeClr val="accent1">
                <a:alpha val="0"/>
              </a:schemeClr>
            </a:solidFill>
            <a:prstDash val="solid"/>
          </a:ln>
        </p:spPr>
      </p:sp>
      <p:pic>
        <p:nvPicPr>
          <p:cNvPr id="18" name="Image 2" descr="FaGavel">    </p:cNvPr>
          <p:cNvPicPr>
            <a:picLocks noChangeAspect="1"/>
          </p:cNvPicPr>
          <p:nvPr/>
        </p:nvPicPr>
        <p:blipFill>
          <a:blip r:embed="rId3"/>
          <a:stretch>
            <a:fillRect/>
          </a:stretch>
        </p:blipFill>
        <p:spPr>
          <a:xfrm>
            <a:off x="6359042" y="1738274"/>
            <a:ext cx="281635" cy="281635"/>
          </a:xfrm>
          <a:prstGeom prst="rect">
            <a:avLst/>
          </a:prstGeom>
        </p:spPr>
      </p:pic>
      <p:sp>
        <p:nvSpPr>
          <p:cNvPr id="19" name="Text 13"/>
          <p:cNvSpPr txBox="1"/>
          <p:nvPr/>
        </p:nvSpPr>
        <p:spPr>
          <a:xfrm>
            <a:off x="6248400" y="224942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身份之争</a:t>
            </a:r>
            <a:endParaRPr lang="en-US" sz="1800" dirty="0"/>
          </a:p>
        </p:txBody>
      </p:sp>
      <p:sp>
        <p:nvSpPr>
          <p:cNvPr id="20" name="Text 14"/>
          <p:cNvSpPr txBox="1"/>
          <p:nvPr/>
        </p:nvSpPr>
        <p:spPr>
          <a:xfrm>
            <a:off x="6248400" y="2624328"/>
            <a:ext cx="2255520" cy="19751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Craig Wright 自称是中本聪，2024 年英国高等法院裁定其不是；其他猜测均无定论。</a:t>
            </a:r>
            <a:endParaRPr lang="en-US" sz="1500" dirty="0"/>
          </a:p>
        </p:txBody>
      </p:sp>
      <p:sp>
        <p:nvSpPr>
          <p:cNvPr id="21" name="Shape 15"/>
          <p:cNvSpPr/>
          <p:nvPr/>
        </p:nvSpPr>
        <p:spPr>
          <a:xfrm>
            <a:off x="457200" y="4937760"/>
            <a:ext cx="8229600" cy="960120"/>
          </a:xfrm>
          <a:prstGeom prst="roundRect">
            <a:avLst>
              <a:gd name="adj" fmla="val 7619"/>
            </a:avLst>
          </a:prstGeom>
          <a:solidFill>
            <a:schemeClr val="accent1">
              <a:alpha val="12000"/>
            </a:schemeClr>
          </a:solidFill>
          <a:ln w="12700">
            <a:solidFill>
              <a:schemeClr val="accent1">
                <a:alpha val="0"/>
              </a:schemeClr>
            </a:solidFill>
            <a:prstDash val="solid"/>
          </a:ln>
        </p:spPr>
      </p:sp>
      <p:pic>
        <p:nvPicPr>
          <p:cNvPr id="22" name="Image 3" descr="ask">    </p:cNvPr>
          <p:cNvPicPr>
            <a:picLocks noChangeAspect="1"/>
          </p:cNvPicPr>
          <p:nvPr/>
        </p:nvPicPr>
        <p:blipFill>
          <a:blip r:embed="rId4"/>
          <a:stretch>
            <a:fillRect/>
          </a:stretch>
        </p:blipFill>
        <p:spPr>
          <a:xfrm>
            <a:off x="640080" y="5225796"/>
            <a:ext cx="384048" cy="384048"/>
          </a:xfrm>
          <a:prstGeom prst="rect">
            <a:avLst/>
          </a:prstGeom>
        </p:spPr>
      </p:pic>
      <p:sp>
        <p:nvSpPr>
          <p:cNvPr id="23" name="Text 16"/>
          <p:cNvSpPr txBox="1"/>
          <p:nvPr/>
        </p:nvSpPr>
        <p:spPr>
          <a:xfrm>
            <a:off x="1188720" y="5010912"/>
            <a:ext cx="7315200" cy="81381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讨论：创造者“消失”，对一个去中心化系统是</a:t>
            </a:r>
            <a:pPr algn="l" indent="0" marL="0">
              <a:lnSpc>
                <a:spcPct val="105000"/>
              </a:lnSpc>
              <a:buNone/>
            </a:pPr>
            <a:r>
              <a:rPr lang="en-US" sz="1700" b="1" dirty="0">
                <a:solidFill>
                  <a:schemeClr val="tx1"/>
                </a:solidFill>
              </a:rPr>
              <a:t>优点</a:t>
            </a:r>
            <a:pPr algn="l" indent="0" marL="0">
              <a:lnSpc>
                <a:spcPct val="105000"/>
              </a:lnSpc>
              <a:buNone/>
            </a:pPr>
            <a:r>
              <a:rPr lang="en-US" sz="1700" dirty="0">
                <a:solidFill>
                  <a:schemeClr val="tx1"/>
                </a:solidFill>
              </a:rPr>
              <a:t>还是</a:t>
            </a:r>
            <a:pPr algn="l" indent="0" marL="0">
              <a:lnSpc>
                <a:spcPct val="105000"/>
              </a:lnSpc>
              <a:buNone/>
            </a:pPr>
            <a:r>
              <a:rPr lang="en-US" sz="1700" b="1" dirty="0">
                <a:solidFill>
                  <a:schemeClr val="tx1"/>
                </a:solidFill>
              </a:rPr>
              <a:t>隐患</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减半：区块补贴每 21 万个块砍一半</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来源：协议规则；区块高度与日期取自区块链记录</a:t>
            </a:r>
            <a:endParaRPr lang="en-US" sz="1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737360"/>
                <a:gridCol w="1737360"/>
                <a:gridCol w="1645920"/>
                <a:gridCol w="1554480"/>
                <a:gridCol w="1554480"/>
              </a:tblGrid>
              <a:tr h="457200">
                <a:tc>
                  <a:txBody>
                    <a:bodyPr/>
                    <a:lstStyle/>
                    <a:p>
                      <a:pPr algn="ctr" indent="0" marL="0">
                        <a:buNone/>
                      </a:pP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日期</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区块高度</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区块补贴</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累计已发行</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566928">
                <a:tc>
                  <a:txBody>
                    <a:bodyPr/>
                    <a:lstStyle/>
                    <a:p>
                      <a:pPr algn="ctr" indent="0" marL="0">
                        <a:buNone/>
                      </a:pPr>
                      <a:r>
                        <a:rPr lang="en-US" sz="1600" b="1" dirty="0">
                          <a:solidFill>
                            <a:schemeClr val="tx1"/>
                          </a:solidFill>
                        </a:rPr>
                        <a:t>起点</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2009-01-03</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50 BTC</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66928">
                <a:tc>
                  <a:txBody>
                    <a:bodyPr/>
                    <a:lstStyle/>
                    <a:p>
                      <a:pPr algn="ctr" indent="0" marL="0">
                        <a:buNone/>
                      </a:pPr>
                      <a:r>
                        <a:rPr lang="en-US" sz="1600" b="1" dirty="0">
                          <a:solidFill>
                            <a:schemeClr val="tx1"/>
                          </a:solidFill>
                        </a:rPr>
                        <a:t>第 1 次</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2012-11-28</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210,000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25 BTC</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50%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66928">
                <a:tc>
                  <a:txBody>
                    <a:bodyPr/>
                    <a:lstStyle/>
                    <a:p>
                      <a:pPr algn="ctr" indent="0" marL="0">
                        <a:buNone/>
                      </a:pPr>
                      <a:r>
                        <a:rPr lang="en-US" sz="1600" b="1" dirty="0">
                          <a:solidFill>
                            <a:schemeClr val="tx1"/>
                          </a:solidFill>
                        </a:rPr>
                        <a:t>第 2 次</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2016-07-09</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420,000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12.5 BTC</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75%</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66928">
                <a:tc>
                  <a:txBody>
                    <a:bodyPr/>
                    <a:lstStyle/>
                    <a:p>
                      <a:pPr algn="ctr" indent="0" marL="0">
                        <a:buNone/>
                      </a:pPr>
                      <a:r>
                        <a:rPr lang="en-US" sz="1600" b="1" dirty="0">
                          <a:solidFill>
                            <a:schemeClr val="tx1"/>
                          </a:solidFill>
                        </a:rPr>
                        <a:t>第 3 次</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2020-05-11</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630,000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6.25 BTC</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87.5%</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66928">
                <a:tc>
                  <a:txBody>
                    <a:bodyPr/>
                    <a:lstStyle/>
                    <a:p>
                      <a:pPr algn="ctr" indent="0" marL="0">
                        <a:buNone/>
                      </a:pPr>
                      <a:r>
                        <a:rPr lang="en-US" sz="1600" b="1" dirty="0">
                          <a:solidFill>
                            <a:schemeClr val="accent6"/>
                          </a:solidFill>
                        </a:rPr>
                        <a:t>第 4 次</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6"/>
                          </a:solidFill>
                        </a:rPr>
                        <a:t>2024-04-20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6"/>
                          </a:solidFill>
                        </a:rPr>
                        <a:t>840,000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6"/>
                          </a:solidFill>
                        </a:rPr>
                        <a:t>3.125 BTC</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6"/>
                          </a:solidFill>
                        </a:rPr>
                        <a:t>93.75%</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66928">
                <a:tc>
                  <a:txBody>
                    <a:bodyPr/>
                    <a:lstStyle/>
                    <a:p>
                      <a:pPr algn="ctr" indent="0" marL="0">
                        <a:buNone/>
                      </a:pPr>
                      <a:r>
                        <a:rPr lang="en-US" sz="1600" b="1" dirty="0">
                          <a:solidFill>
                            <a:schemeClr val="tx1"/>
                          </a:solidFill>
                        </a:rPr>
                        <a:t>第 5 次（预计）</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 2028 年</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1,050,000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1.5625 BTC</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96.875%</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7" name="Shape 3"/>
          <p:cNvSpPr/>
          <p:nvPr/>
        </p:nvSpPr>
        <p:spPr>
          <a:xfrm>
            <a:off x="457200" y="5440680"/>
            <a:ext cx="8229600" cy="685800"/>
          </a:xfrm>
          <a:prstGeom prst="roundRect">
            <a:avLst>
              <a:gd name="adj" fmla="val 10667"/>
            </a:avLst>
          </a:prstGeom>
          <a:solidFill>
            <a:schemeClr val="accent1">
              <a:alpha val="12000"/>
            </a:schemeClr>
          </a:solidFill>
          <a:ln w="12700">
            <a:solidFill>
              <a:schemeClr val="accent1">
                <a:alpha val="0"/>
              </a:schemeClr>
            </a:solidFill>
            <a:prstDash val="solid"/>
          </a:ln>
        </p:spPr>
      </p:sp>
      <p:pic>
        <p:nvPicPr>
          <p:cNvPr id="8" name="Image 0" descr="key">    </p:cNvPr>
          <p:cNvPicPr>
            <a:picLocks noChangeAspect="1"/>
          </p:cNvPicPr>
          <p:nvPr/>
        </p:nvPicPr>
        <p:blipFill>
          <a:blip r:embed="rId1"/>
          <a:stretch>
            <a:fillRect/>
          </a:stretch>
        </p:blipFill>
        <p:spPr>
          <a:xfrm>
            <a:off x="640080" y="5591556"/>
            <a:ext cx="384048" cy="384048"/>
          </a:xfrm>
          <a:prstGeom prst="rect">
            <a:avLst/>
          </a:prstGeom>
        </p:spPr>
      </p:pic>
      <p:sp>
        <p:nvSpPr>
          <p:cNvPr id="9" name="Text 4"/>
          <p:cNvSpPr txBox="1"/>
          <p:nvPr/>
        </p:nvSpPr>
        <p:spPr>
          <a:xfrm>
            <a:off x="1188720" y="5513832"/>
            <a:ext cx="7315200" cy="53949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减半按</a:t>
            </a:r>
            <a:pPr algn="l" indent="0" marL="0">
              <a:lnSpc>
                <a:spcPct val="105000"/>
              </a:lnSpc>
              <a:buNone/>
            </a:pPr>
            <a:r>
              <a:rPr lang="en-US" sz="1400" b="1" dirty="0">
                <a:solidFill>
                  <a:schemeClr val="tx1"/>
                </a:solidFill>
              </a:rPr>
              <a:t>区块高度</a:t>
            </a:r>
            <a:pPr algn="l" indent="0" marL="0">
              <a:lnSpc>
                <a:spcPct val="105000"/>
              </a:lnSpc>
              <a:buNone/>
            </a:pPr>
            <a:r>
              <a:rPr lang="en-US" sz="1400" dirty="0">
                <a:solidFill>
                  <a:schemeClr val="tx1"/>
                </a:solidFill>
              </a:rPr>
              <a:t>触发（每 210,000 块），不是按日历：难度调整把间隔维持在约 10 分钟，所以约每四年一次。</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为什么是 2100 万？一道等比数列题</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来源：协议规则；作者计算</a:t>
            </a:r>
            <a:endParaRPr lang="en-US" sz="1000" dirty="0"/>
          </a:p>
        </p:txBody>
      </p:sp>
      <p:sp>
        <p:nvSpPr>
          <p:cNvPr id="6" name="Shape 3"/>
          <p:cNvSpPr/>
          <p:nvPr/>
        </p:nvSpPr>
        <p:spPr>
          <a:xfrm>
            <a:off x="457200" y="1463040"/>
            <a:ext cx="4206240" cy="4480560"/>
          </a:xfrm>
          <a:prstGeom prst="roundRect">
            <a:avLst>
              <a:gd name="adj" fmla="val 1739"/>
            </a:avLst>
          </a:prstGeom>
          <a:solidFill>
            <a:schemeClr val="bg2"/>
          </a:solidFill>
          <a:ln w="12700">
            <a:solidFill>
              <a:schemeClr val="bg2">
                <a:alpha val="0"/>
              </a:schemeClr>
            </a:solidFill>
            <a:prstDash val="solid"/>
          </a:ln>
        </p:spPr>
      </p:sp>
      <p:sp>
        <p:nvSpPr>
          <p:cNvPr id="7" name="Text 4"/>
          <p:cNvSpPr txBox="1"/>
          <p:nvPr/>
        </p:nvSpPr>
        <p:spPr>
          <a:xfrm>
            <a:off x="640080" y="1600200"/>
            <a:ext cx="3840480" cy="4206240"/>
          </a:xfrm>
          <a:prstGeom prst="rect">
            <a:avLst/>
          </a:prstGeom>
          <a:noFill/>
          <a:ln/>
        </p:spPr>
        <p:txBody>
          <a:bodyPr wrap="square" lIns="0" tIns="0" rIns="0" bIns="0" rtlCol="0" anchor="ctr"/>
          <a:lstStyle/>
          <a:p>
            <a:pPr algn="l" indent="0" marL="0">
              <a:lnSpc>
                <a:spcPct val="105000"/>
              </a:lnSpc>
              <a:spcAft>
                <a:spcPts val="1000"/>
              </a:spcAft>
              <a:buNone/>
            </a:pPr>
            <a:r>
              <a:rPr lang="en-US" sz="1600" b="1" dirty="0">
                <a:solidFill>
                  <a:schemeClr val="tx1"/>
                </a:solidFill>
              </a:rPr>
              <a:t>每个“纪元”210,000 个块</a:t>
            </a:r>
            <a:endParaRPr lang="en-US" sz="1600" dirty="0"/>
          </a:p>
          <a:p>
            <a:pPr algn="l" indent="0" marL="0">
              <a:lnSpc>
                <a:spcPct val="105000"/>
              </a:lnSpc>
              <a:spcAft>
                <a:spcPts val="1000"/>
              </a:spcAft>
              <a:buNone/>
            </a:pPr>
            <a:r>
              <a:rPr lang="en-US" sz="1600" dirty="0">
                <a:solidFill>
                  <a:schemeClr val="tx1"/>
                </a:solidFill>
              </a:rPr>
              <a:t>首个纪元：每块 50 个</a:t>
            </a:r>
            <a:endParaRPr lang="en-US" sz="1600" dirty="0"/>
          </a:p>
          <a:p>
            <a:pPr algn="l" indent="0" marL="0">
              <a:lnSpc>
                <a:spcPct val="105000"/>
              </a:lnSpc>
              <a:spcAft>
                <a:spcPts val="1000"/>
              </a:spcAft>
              <a:buNone/>
            </a:pPr>
            <a:r>
              <a:rPr lang="en-US" sz="1600" b="1" dirty="0">
                <a:solidFill>
                  <a:schemeClr val="accent6"/>
                </a:solidFill>
              </a:rPr>
              <a:t>→ 210,000 × 50 = 10,500,000</a:t>
            </a:r>
            <a:endParaRPr lang="en-US" sz="1600" dirty="0"/>
          </a:p>
          <a:p>
            <a:pPr algn="l" indent="0" marL="0">
              <a:lnSpc>
                <a:spcPct val="105000"/>
              </a:lnSpc>
              <a:spcAft>
                <a:spcPts val="1000"/>
              </a:spcAft>
              <a:buNone/>
            </a:pPr>
            <a:r>
              <a:rPr lang="en-US" sz="1600" dirty="0">
                <a:solidFill>
                  <a:schemeClr val="tx1"/>
                </a:solidFill>
              </a:rPr>
              <a:t>此后每个纪元减半：</a:t>
            </a:r>
            <a:endParaRPr lang="en-US" sz="1600" dirty="0"/>
          </a:p>
          <a:p>
            <a:pPr algn="l" indent="0" marL="0">
              <a:lnSpc>
                <a:spcPct val="105000"/>
              </a:lnSpc>
              <a:spcAft>
                <a:spcPts val="1000"/>
              </a:spcAft>
              <a:buNone/>
            </a:pPr>
            <a:r>
              <a:rPr lang="en-US" sz="1600" b="1" dirty="0">
                <a:solidFill>
                  <a:schemeClr val="tx1"/>
                </a:solidFill>
              </a:rPr>
              <a:t>10,500,000 × (1 + ½ + ¼ + ⅛ + …)</a:t>
            </a:r>
            <a:endParaRPr lang="en-US" sz="1600" dirty="0"/>
          </a:p>
          <a:p>
            <a:pPr algn="l" indent="0" marL="0">
              <a:lnSpc>
                <a:spcPct val="105000"/>
              </a:lnSpc>
              <a:spcAft>
                <a:spcPts val="1000"/>
              </a:spcAft>
              <a:buNone/>
            </a:pPr>
            <a:r>
              <a:rPr lang="en-US" sz="1600" b="1" dirty="0">
                <a:solidFill>
                  <a:schemeClr val="tx1"/>
                </a:solidFill>
              </a:rPr>
              <a:t>= 10,500,000 × 2</a:t>
            </a:r>
            <a:endParaRPr lang="en-US" sz="1600" dirty="0"/>
          </a:p>
          <a:p>
            <a:pPr algn="l" indent="0" marL="0">
              <a:lnSpc>
                <a:spcPct val="105000"/>
              </a:lnSpc>
              <a:spcAft>
                <a:spcPts val="1000"/>
              </a:spcAft>
              <a:buNone/>
            </a:pPr>
            <a:r>
              <a:rPr lang="en-US" sz="2200" b="1" dirty="0">
                <a:solidFill>
                  <a:schemeClr val="accent6"/>
                </a:solidFill>
              </a:rPr>
              <a:t>= 21,000,000</a:t>
            </a:r>
            <a:endParaRPr lang="en-US" sz="1600" dirty="0"/>
          </a:p>
          <a:p>
            <a:pPr algn="l" indent="0" marL="0">
              <a:lnSpc>
                <a:spcPct val="105000"/>
              </a:lnSpc>
              <a:buNone/>
            </a:pPr>
            <a:r>
              <a:rPr lang="en-US" sz="1300" dirty="0">
                <a:solidFill>
                  <a:schemeClr val="accent4"/>
                </a:solidFill>
              </a:rPr>
              <a:t>精确上限 20,999,999.9769 BTC（最小单位“聪”取整）</a:t>
            </a:r>
            <a:endParaRPr lang="en-US" sz="1600" dirty="0"/>
          </a:p>
        </p:txBody>
      </p:sp>
      <p:graphicFrame>
        <p:nvGraphicFramePr>
          <p:cNvPr id="8" name="Chart 0" descr=""/>
          <p:cNvGraphicFramePr/>
          <p:nvPr/>
        </p:nvGraphicFramePr>
        <p:xfrm>
          <a:off x="4846320" y="1417320"/>
          <a:ext cx="3840480"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2026-03：第 2000 万枚比特币被挖出</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来源：The Block（2026-03，区块 939,999）；World Gold Council / Metals Focus（2025 年末）；作者计算</a:t>
            </a:r>
            <a:endParaRPr lang="en-US" sz="1000" dirty="0"/>
          </a:p>
        </p:txBody>
      </p:sp>
      <p:sp>
        <p:nvSpPr>
          <p:cNvPr id="6" name="Shape 3"/>
          <p:cNvSpPr/>
          <p:nvPr/>
        </p:nvSpPr>
        <p:spPr>
          <a:xfrm>
            <a:off x="457200" y="1417320"/>
            <a:ext cx="2651760" cy="1508760"/>
          </a:xfrm>
          <a:prstGeom prst="roundRect">
            <a:avLst>
              <a:gd name="adj" fmla="val 4848"/>
            </a:avLst>
          </a:prstGeom>
          <a:solidFill>
            <a:schemeClr val="bg2"/>
          </a:solidFill>
          <a:ln w="12700">
            <a:solidFill>
              <a:schemeClr val="bg2">
                <a:alpha val="0"/>
              </a:schemeClr>
            </a:solidFill>
            <a:prstDash val="solid"/>
          </a:ln>
        </p:spPr>
      </p:sp>
      <p:sp>
        <p:nvSpPr>
          <p:cNvPr id="7" name="Text 4"/>
          <p:cNvSpPr txBox="1"/>
          <p:nvPr/>
        </p:nvSpPr>
        <p:spPr>
          <a:xfrm>
            <a:off x="594360" y="1527048"/>
            <a:ext cx="2377440" cy="754380"/>
          </a:xfrm>
          <a:prstGeom prst="rect">
            <a:avLst/>
          </a:prstGeom>
          <a:noFill/>
          <a:ln/>
        </p:spPr>
        <p:txBody>
          <a:bodyPr wrap="square" lIns="0" tIns="0" rIns="0" bIns="0" rtlCol="0" anchor="ctr"/>
          <a:lstStyle/>
          <a:p>
            <a:pPr algn="ctr" indent="0" marL="0">
              <a:lnSpc>
                <a:spcPct val="105000"/>
              </a:lnSpc>
              <a:buNone/>
            </a:pPr>
            <a:r>
              <a:rPr lang="en-US" sz="2400" b="1" dirty="0">
                <a:solidFill>
                  <a:schemeClr val="accent6"/>
                </a:solidFill>
              </a:rPr>
              <a:t>20,000,000</a:t>
            </a:r>
            <a:endParaRPr lang="en-US" sz="2400" dirty="0"/>
          </a:p>
        </p:txBody>
      </p:sp>
      <p:sp>
        <p:nvSpPr>
          <p:cNvPr id="8" name="Text 5"/>
          <p:cNvSpPr txBox="1"/>
          <p:nvPr/>
        </p:nvSpPr>
        <p:spPr>
          <a:xfrm>
            <a:off x="594360" y="2292401"/>
            <a:ext cx="2377440" cy="573329"/>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已发行（约占上限的 95.2%）</a:t>
            </a:r>
            <a:endParaRPr lang="en-US" sz="1400" dirty="0"/>
          </a:p>
        </p:txBody>
      </p:sp>
      <p:sp>
        <p:nvSpPr>
          <p:cNvPr id="9" name="Shape 6"/>
          <p:cNvSpPr/>
          <p:nvPr/>
        </p:nvSpPr>
        <p:spPr>
          <a:xfrm>
            <a:off x="3246120" y="1417320"/>
            <a:ext cx="2651760" cy="1508760"/>
          </a:xfrm>
          <a:prstGeom prst="roundRect">
            <a:avLst>
              <a:gd name="adj" fmla="val 4848"/>
            </a:avLst>
          </a:prstGeom>
          <a:solidFill>
            <a:schemeClr val="bg2"/>
          </a:solidFill>
          <a:ln w="12700">
            <a:solidFill>
              <a:schemeClr val="bg2">
                <a:alpha val="0"/>
              </a:schemeClr>
            </a:solidFill>
            <a:prstDash val="solid"/>
          </a:ln>
        </p:spPr>
      </p:sp>
      <p:sp>
        <p:nvSpPr>
          <p:cNvPr id="10" name="Text 7"/>
          <p:cNvSpPr txBox="1"/>
          <p:nvPr/>
        </p:nvSpPr>
        <p:spPr>
          <a:xfrm>
            <a:off x="3383280" y="1527048"/>
            <a:ext cx="2377440" cy="75438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 114 年</a:t>
            </a:r>
            <a:endParaRPr lang="en-US" sz="2800" dirty="0"/>
          </a:p>
        </p:txBody>
      </p:sp>
      <p:sp>
        <p:nvSpPr>
          <p:cNvPr id="11" name="Text 8"/>
          <p:cNvSpPr txBox="1"/>
          <p:nvPr/>
        </p:nvSpPr>
        <p:spPr>
          <a:xfrm>
            <a:off x="3383280" y="2292401"/>
            <a:ext cx="2377440" cy="573329"/>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发行剩下约 100 万枚</a:t>
            </a:r>
            <a:endParaRPr lang="en-US" sz="1400" dirty="0"/>
          </a:p>
        </p:txBody>
      </p:sp>
      <p:sp>
        <p:nvSpPr>
          <p:cNvPr id="12" name="Shape 9"/>
          <p:cNvSpPr/>
          <p:nvPr/>
        </p:nvSpPr>
        <p:spPr>
          <a:xfrm>
            <a:off x="6035040" y="1417320"/>
            <a:ext cx="2651760" cy="1508760"/>
          </a:xfrm>
          <a:prstGeom prst="roundRect">
            <a:avLst>
              <a:gd name="adj" fmla="val 4848"/>
            </a:avLst>
          </a:prstGeom>
          <a:solidFill>
            <a:schemeClr val="bg2"/>
          </a:solidFill>
          <a:ln w="12700">
            <a:solidFill>
              <a:schemeClr val="bg2">
                <a:alpha val="0"/>
              </a:schemeClr>
            </a:solidFill>
            <a:prstDash val="solid"/>
          </a:ln>
        </p:spPr>
      </p:sp>
      <p:sp>
        <p:nvSpPr>
          <p:cNvPr id="13" name="Text 10"/>
          <p:cNvSpPr txBox="1"/>
          <p:nvPr/>
        </p:nvSpPr>
        <p:spPr>
          <a:xfrm>
            <a:off x="6172200" y="1527048"/>
            <a:ext cx="2377440" cy="75438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 2140</a:t>
            </a:r>
            <a:endParaRPr lang="en-US" sz="2800" dirty="0"/>
          </a:p>
        </p:txBody>
      </p:sp>
      <p:sp>
        <p:nvSpPr>
          <p:cNvPr id="14" name="Text 11"/>
          <p:cNvSpPr txBox="1"/>
          <p:nvPr/>
        </p:nvSpPr>
        <p:spPr>
          <a:xfrm>
            <a:off x="6172200" y="2292401"/>
            <a:ext cx="2377440" cy="573329"/>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最后一枚比特币发行</a:t>
            </a:r>
            <a:endParaRPr lang="en-US" sz="14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8229600" cy="914400"/>
        </p:xfrm>
        <a:graphic>
          <a:graphicData uri="http://schemas.openxmlformats.org/drawingml/2006/table">
            <a:tbl>
              <a:tblPr/>
              <a:tblGrid>
                <a:gridCol w="1828800"/>
                <a:gridCol w="1737360"/>
                <a:gridCol w="1645920"/>
                <a:gridCol w="1463040"/>
                <a:gridCol w="1554480"/>
              </a:tblGrid>
              <a:tr h="457200">
                <a:tc>
                  <a:txBody>
                    <a:bodyPr/>
                    <a:lstStyle/>
                    <a:p>
                      <a:pPr algn="ctr" indent="0" marL="0">
                        <a:buNone/>
                      </a:pP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存量</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年新增</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年增发率</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存量 / 流量</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640080">
                <a:tc>
                  <a:txBody>
                    <a:bodyPr/>
                    <a:lstStyle/>
                    <a:p>
                      <a:pPr algn="ctr" indent="0" marL="0">
                        <a:buNone/>
                      </a:pPr>
                      <a:r>
                        <a:rPr lang="en-US" sz="1600" b="1" dirty="0">
                          <a:solidFill>
                            <a:schemeClr val="tx1"/>
                          </a:solidFill>
                        </a:rPr>
                        <a:t>黄金</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 22 万吨</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 3,650 吨</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 1.7%</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 60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640080">
                <a:tc>
                  <a:txBody>
                    <a:bodyPr/>
                    <a:lstStyle/>
                    <a:p>
                      <a:pPr algn="ctr" indent="0" marL="0">
                        <a:buNone/>
                      </a:pPr>
                      <a:r>
                        <a:rPr lang="en-US" sz="1600" b="1" dirty="0">
                          <a:solidFill>
                            <a:schemeClr val="tx1"/>
                          </a:solidFill>
                        </a:rPr>
                        <a:t>比特币（2026）</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 2,010 万枚</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 16.4 万枚</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6"/>
                          </a:solidFill>
                        </a:rPr>
                        <a:t>≈ 0.8%</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6"/>
                          </a:solidFill>
                        </a:rPr>
                        <a:t>≈ 120</a:t>
                      </a:r>
                      <a:endParaRPr lang="en-US" sz="16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16" name="Shape 12"/>
          <p:cNvSpPr/>
          <p:nvPr/>
        </p:nvSpPr>
        <p:spPr>
          <a:xfrm>
            <a:off x="457200" y="5166360"/>
            <a:ext cx="8229600" cy="822960"/>
          </a:xfrm>
          <a:prstGeom prst="roundRect">
            <a:avLst>
              <a:gd name="adj" fmla="val 8889"/>
            </a:avLst>
          </a:prstGeom>
          <a:solidFill>
            <a:schemeClr val="accent2">
              <a:alpha val="12000"/>
            </a:schemeClr>
          </a:solidFill>
          <a:ln w="12700">
            <a:solidFill>
              <a:schemeClr val="accent2">
                <a:alpha val="0"/>
              </a:schemeClr>
            </a:solidFill>
            <a:prstDash val="solid"/>
          </a:ln>
        </p:spPr>
      </p:sp>
      <p:pic>
        <p:nvPicPr>
          <p:cNvPr id="17" name="Image 0" descr="warn">    </p:cNvPr>
          <p:cNvPicPr>
            <a:picLocks noChangeAspect="1"/>
          </p:cNvPicPr>
          <p:nvPr/>
        </p:nvPicPr>
        <p:blipFill>
          <a:blip r:embed="rId1"/>
          <a:stretch>
            <a:fillRect/>
          </a:stretch>
        </p:blipFill>
        <p:spPr>
          <a:xfrm>
            <a:off x="640080" y="5385816"/>
            <a:ext cx="384048" cy="384048"/>
          </a:xfrm>
          <a:prstGeom prst="rect">
            <a:avLst/>
          </a:prstGeom>
        </p:spPr>
      </p:pic>
      <p:sp>
        <p:nvSpPr>
          <p:cNvPr id="18" name="Text 13"/>
          <p:cNvSpPr txBox="1"/>
          <p:nvPr/>
        </p:nvSpPr>
        <p:spPr>
          <a:xfrm>
            <a:off x="1188720" y="5239512"/>
            <a:ext cx="7315200" cy="67665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2000 万不等于流通量：估计 </a:t>
            </a:r>
            <a:pPr algn="l" indent="0" marL="0">
              <a:lnSpc>
                <a:spcPct val="105000"/>
              </a:lnSpc>
              <a:buNone/>
            </a:pPr>
            <a:r>
              <a:rPr lang="en-US" sz="1700" b="1" dirty="0">
                <a:solidFill>
                  <a:schemeClr val="tx1"/>
                </a:solidFill>
              </a:rPr>
              <a:t>230–370 万枚已永久丢失</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减半之后矿工靠什么？手续费与“安全预算”</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来源：中本聪论坛帖（据 Prasad 引用）；Blockchair、Budget.Day 等的“安全预算”分析；2024 年 4 月 Runes 发行事件报道</a:t>
            </a:r>
            <a:endParaRPr lang="en-US" sz="1000" dirty="0"/>
          </a:p>
        </p:txBody>
      </p:sp>
      <p:sp>
        <p:nvSpPr>
          <p:cNvPr id="6" name="Shape 3"/>
          <p:cNvSpPr/>
          <p:nvPr/>
        </p:nvSpPr>
        <p:spPr>
          <a:xfrm>
            <a:off x="457200" y="1417320"/>
            <a:ext cx="4023360" cy="3931920"/>
          </a:xfrm>
          <a:prstGeom prst="roundRect">
            <a:avLst>
              <a:gd name="adj" fmla="val 1860"/>
            </a:avLst>
          </a:prstGeom>
          <a:solidFill>
            <a:schemeClr val="bg2"/>
          </a:solidFill>
          <a:ln w="12700">
            <a:solidFill>
              <a:schemeClr val="bg2">
                <a:alpha val="0"/>
              </a:schemeClr>
            </a:solidFill>
            <a:prstDash val="solid"/>
          </a:ln>
        </p:spPr>
      </p:sp>
      <p:sp>
        <p:nvSpPr>
          <p:cNvPr id="7" name="Text 4"/>
          <p:cNvSpPr txBox="1"/>
          <p:nvPr/>
        </p:nvSpPr>
        <p:spPr>
          <a:xfrm>
            <a:off x="685800" y="1463040"/>
            <a:ext cx="731520" cy="822960"/>
          </a:xfrm>
          <a:prstGeom prst="rect">
            <a:avLst/>
          </a:prstGeom>
          <a:noFill/>
          <a:ln/>
        </p:spPr>
        <p:txBody>
          <a:bodyPr wrap="square" lIns="0" tIns="0" rIns="0" bIns="0" rtlCol="0" anchor="t"/>
          <a:lstStyle/>
          <a:p>
            <a:pPr indent="0" marL="0">
              <a:buNone/>
            </a:pPr>
            <a:r>
              <a:rPr lang="en-US" sz="6000" b="1" dirty="0">
                <a:solidFill>
                  <a:schemeClr val="accent1"/>
                </a:solidFill>
              </a:rPr>
              <a:t>“</a:t>
            </a:r>
            <a:endParaRPr lang="en-US" sz="6000" dirty="0"/>
          </a:p>
        </p:txBody>
      </p:sp>
      <p:sp>
        <p:nvSpPr>
          <p:cNvPr id="8" name="Text 5"/>
          <p:cNvSpPr txBox="1"/>
          <p:nvPr/>
        </p:nvSpPr>
        <p:spPr>
          <a:xfrm>
            <a:off x="1280160" y="1691640"/>
            <a:ext cx="2834640" cy="3017520"/>
          </a:xfrm>
          <a:prstGeom prst="rect">
            <a:avLst/>
          </a:prstGeom>
          <a:noFill/>
          <a:ln/>
        </p:spPr>
        <p:txBody>
          <a:bodyPr wrap="square" lIns="0" tIns="0" rIns="0" bIns="0" rtlCol="0" anchor="t"/>
          <a:lstStyle/>
          <a:p>
            <a:pPr algn="l" indent="0" marL="0">
              <a:lnSpc>
                <a:spcPct val="124200"/>
              </a:lnSpc>
              <a:buNone/>
            </a:pPr>
            <a:r>
              <a:rPr lang="en-US" sz="1800" dirty="0">
                <a:solidFill>
                  <a:schemeClr val="tx1"/>
                </a:solidFill>
              </a:rPr>
              <a:t>几十年后，当奖励变得太小，交易手续费将成为节点的主要收入。我相信 20 年后，要么交易量会非常大，要么根本没有交易。</a:t>
            </a:r>
            <a:endParaRPr lang="en-US" sz="1800" dirty="0"/>
          </a:p>
        </p:txBody>
      </p:sp>
      <p:sp>
        <p:nvSpPr>
          <p:cNvPr id="9" name="Text 6"/>
          <p:cNvSpPr txBox="1"/>
          <p:nvPr/>
        </p:nvSpPr>
        <p:spPr>
          <a:xfrm>
            <a:off x="1280160" y="4800600"/>
            <a:ext cx="2834640" cy="365760"/>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 中本聪（论坛帖）</a:t>
            </a:r>
            <a:endParaRPr lang="en-US" sz="1300" dirty="0"/>
          </a:p>
        </p:txBody>
      </p:sp>
      <p:sp>
        <p:nvSpPr>
          <p:cNvPr id="10" name="Shape 7"/>
          <p:cNvSpPr/>
          <p:nvPr/>
        </p:nvSpPr>
        <p:spPr>
          <a:xfrm>
            <a:off x="4663440" y="1417320"/>
            <a:ext cx="4023360" cy="1897380"/>
          </a:xfrm>
          <a:prstGeom prst="roundRect">
            <a:avLst>
              <a:gd name="adj" fmla="val 3855"/>
            </a:avLst>
          </a:prstGeom>
          <a:solidFill>
            <a:schemeClr val="bg2"/>
          </a:solidFill>
          <a:ln w="12700">
            <a:solidFill>
              <a:schemeClr val="bg2">
                <a:alpha val="0"/>
              </a:schemeClr>
            </a:solidFill>
            <a:prstDash val="solid"/>
          </a:ln>
        </p:spPr>
      </p:sp>
      <p:sp>
        <p:nvSpPr>
          <p:cNvPr id="11" name="Shape 8"/>
          <p:cNvSpPr/>
          <p:nvPr/>
        </p:nvSpPr>
        <p:spPr>
          <a:xfrm>
            <a:off x="4846320" y="1581912"/>
            <a:ext cx="502920" cy="502920"/>
          </a:xfrm>
          <a:prstGeom prst="ellipse">
            <a:avLst/>
          </a:prstGeom>
          <a:solidFill>
            <a:schemeClr val="accent3"/>
          </a:solidFill>
          <a:ln w="12700">
            <a:solidFill>
              <a:schemeClr val="accent3">
                <a:alpha val="0"/>
              </a:schemeClr>
            </a:solidFill>
            <a:prstDash val="solid"/>
          </a:ln>
        </p:spPr>
      </p:sp>
      <p:pic>
        <p:nvPicPr>
          <p:cNvPr id="12" name="Image 0" descr="FaThumbsUp">    </p:cNvPr>
          <p:cNvPicPr>
            <a:picLocks noChangeAspect="1"/>
          </p:cNvPicPr>
          <p:nvPr/>
        </p:nvPicPr>
        <p:blipFill>
          <a:blip r:embed="rId1"/>
          <a:stretch>
            <a:fillRect/>
          </a:stretch>
        </p:blipFill>
        <p:spPr>
          <a:xfrm>
            <a:off x="4956962" y="1692554"/>
            <a:ext cx="281635" cy="281635"/>
          </a:xfrm>
          <a:prstGeom prst="rect">
            <a:avLst/>
          </a:prstGeom>
        </p:spPr>
      </p:pic>
      <p:sp>
        <p:nvSpPr>
          <p:cNvPr id="13" name="Text 9"/>
          <p:cNvSpPr txBox="1"/>
          <p:nvPr/>
        </p:nvSpPr>
        <p:spPr>
          <a:xfrm>
            <a:off x="4846320" y="220370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乐观</a:t>
            </a:r>
            <a:endParaRPr lang="en-US" sz="1700" dirty="0"/>
          </a:p>
        </p:txBody>
      </p:sp>
      <p:sp>
        <p:nvSpPr>
          <p:cNvPr id="14" name="Text 10"/>
          <p:cNvSpPr txBox="1"/>
          <p:nvPr/>
        </p:nvSpPr>
        <p:spPr>
          <a:xfrm>
            <a:off x="4846320" y="2561844"/>
            <a:ext cx="3657600" cy="64312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价格上涨可抵消补贴减半；手续费市场随使用量增长。</a:t>
            </a:r>
            <a:endParaRPr lang="en-US" sz="1400" dirty="0"/>
          </a:p>
        </p:txBody>
      </p:sp>
      <p:sp>
        <p:nvSpPr>
          <p:cNvPr id="15" name="Shape 11"/>
          <p:cNvSpPr/>
          <p:nvPr/>
        </p:nvSpPr>
        <p:spPr>
          <a:xfrm>
            <a:off x="4663440" y="3451860"/>
            <a:ext cx="4023360" cy="1897380"/>
          </a:xfrm>
          <a:prstGeom prst="roundRect">
            <a:avLst>
              <a:gd name="adj" fmla="val 3855"/>
            </a:avLst>
          </a:prstGeom>
          <a:solidFill>
            <a:schemeClr val="bg2"/>
          </a:solidFill>
          <a:ln w="12700">
            <a:solidFill>
              <a:schemeClr val="bg2">
                <a:alpha val="0"/>
              </a:schemeClr>
            </a:solidFill>
            <a:prstDash val="solid"/>
          </a:ln>
        </p:spPr>
      </p:sp>
      <p:sp>
        <p:nvSpPr>
          <p:cNvPr id="16" name="Shape 12"/>
          <p:cNvSpPr/>
          <p:nvPr/>
        </p:nvSpPr>
        <p:spPr>
          <a:xfrm>
            <a:off x="4846320" y="3616452"/>
            <a:ext cx="502920" cy="502920"/>
          </a:xfrm>
          <a:prstGeom prst="ellipse">
            <a:avLst/>
          </a:prstGeom>
          <a:solidFill>
            <a:schemeClr val="accent2"/>
          </a:solidFill>
          <a:ln w="12700">
            <a:solidFill>
              <a:schemeClr val="accent2">
                <a:alpha val="0"/>
              </a:schemeClr>
            </a:solidFill>
            <a:prstDash val="solid"/>
          </a:ln>
        </p:spPr>
      </p:sp>
      <p:pic>
        <p:nvPicPr>
          <p:cNvPr id="17" name="Image 1" descr="FaExclamationTriangle">    </p:cNvPr>
          <p:cNvPicPr>
            <a:picLocks noChangeAspect="1"/>
          </p:cNvPicPr>
          <p:nvPr/>
        </p:nvPicPr>
        <p:blipFill>
          <a:blip r:embed="rId2"/>
          <a:stretch>
            <a:fillRect/>
          </a:stretch>
        </p:blipFill>
        <p:spPr>
          <a:xfrm>
            <a:off x="4956962" y="3727094"/>
            <a:ext cx="281635" cy="281635"/>
          </a:xfrm>
          <a:prstGeom prst="rect">
            <a:avLst/>
          </a:prstGeom>
        </p:spPr>
      </p:pic>
      <p:sp>
        <p:nvSpPr>
          <p:cNvPr id="18" name="Text 13"/>
          <p:cNvSpPr txBox="1"/>
          <p:nvPr/>
        </p:nvSpPr>
        <p:spPr>
          <a:xfrm>
            <a:off x="4846320" y="423824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担忧</a:t>
            </a:r>
            <a:endParaRPr lang="en-US" sz="1700" dirty="0"/>
          </a:p>
        </p:txBody>
      </p:sp>
      <p:sp>
        <p:nvSpPr>
          <p:cNvPr id="19" name="Text 14"/>
          <p:cNvSpPr txBox="1"/>
          <p:nvPr/>
        </p:nvSpPr>
        <p:spPr>
          <a:xfrm>
            <a:off x="4846320" y="4596384"/>
            <a:ext cx="3657600" cy="64312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补贴约每 4 年减半；若币价与手续费不涨，“安全预算”缩水，攻击成本下降。</a:t>
            </a:r>
            <a:endParaRPr lang="en-US" sz="1400" dirty="0"/>
          </a:p>
        </p:txBody>
      </p:sp>
      <p:sp>
        <p:nvSpPr>
          <p:cNvPr id="20" name="Shape 15"/>
          <p:cNvSpPr/>
          <p:nvPr/>
        </p:nvSpPr>
        <p:spPr>
          <a:xfrm>
            <a:off x="457200" y="5486400"/>
            <a:ext cx="8229600" cy="658368"/>
          </a:xfrm>
          <a:prstGeom prst="roundRect">
            <a:avLst>
              <a:gd name="adj" fmla="val 11111"/>
            </a:avLst>
          </a:prstGeom>
          <a:solidFill>
            <a:schemeClr val="accent1">
              <a:alpha val="12000"/>
            </a:schemeClr>
          </a:solidFill>
          <a:ln w="12700">
            <a:solidFill>
              <a:schemeClr val="accent1">
                <a:alpha val="0"/>
              </a:schemeClr>
            </a:solidFill>
            <a:prstDash val="solid"/>
          </a:ln>
        </p:spPr>
      </p:sp>
      <p:pic>
        <p:nvPicPr>
          <p:cNvPr id="21" name="Image 2" descr="key">    </p:cNvPr>
          <p:cNvPicPr>
            <a:picLocks noChangeAspect="1"/>
          </p:cNvPicPr>
          <p:nvPr/>
        </p:nvPicPr>
        <p:blipFill>
          <a:blip r:embed="rId3"/>
          <a:stretch>
            <a:fillRect/>
          </a:stretch>
        </p:blipFill>
        <p:spPr>
          <a:xfrm>
            <a:off x="640080" y="5623560"/>
            <a:ext cx="384048" cy="384048"/>
          </a:xfrm>
          <a:prstGeom prst="rect">
            <a:avLst/>
          </a:prstGeom>
        </p:spPr>
      </p:pic>
      <p:sp>
        <p:nvSpPr>
          <p:cNvPr id="22" name="Text 16"/>
          <p:cNvSpPr txBox="1"/>
          <p:nvPr/>
        </p:nvSpPr>
        <p:spPr>
          <a:xfrm>
            <a:off x="1188720" y="5559552"/>
            <a:ext cx="7315200" cy="512064"/>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现状：手续费多数时间只占矿工收入的</a:t>
            </a:r>
            <a:pPr algn="l" indent="0" marL="0">
              <a:lnSpc>
                <a:spcPct val="105000"/>
              </a:lnSpc>
              <a:buNone/>
            </a:pPr>
            <a:r>
              <a:rPr lang="en-US" sz="1400" b="1" dirty="0">
                <a:solidFill>
                  <a:schemeClr val="tx1"/>
                </a:solidFill>
              </a:rPr>
              <a:t>个位数百分比</a:t>
            </a:r>
            <a:pPr algn="l" indent="0" marL="0">
              <a:lnSpc>
                <a:spcPct val="105000"/>
              </a:lnSpc>
              <a:buNone/>
            </a:pPr>
            <a:r>
              <a:rPr lang="en-US" sz="1400" dirty="0">
                <a:solidFill>
                  <a:schemeClr val="tx1"/>
                </a:solidFill>
              </a:rPr>
              <a:t>；2024 年 4 月 Runes 发行时，单块手续费曾超过 100 万美元。</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通缩还是低通胀？供应上限的正反两面</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激励与发行</a:t>
            </a:r>
            <a:endParaRPr lang="en-US" sz="1200" dirty="0"/>
          </a:p>
        </p:txBody>
      </p:sp>
      <p:sp>
        <p:nvSpPr>
          <p:cNvPr id="5" name="Shape 2"/>
          <p:cNvSpPr/>
          <p:nvPr/>
        </p:nvSpPr>
        <p:spPr>
          <a:xfrm>
            <a:off x="457200" y="1417320"/>
            <a:ext cx="8229600" cy="960120"/>
          </a:xfrm>
          <a:prstGeom prst="roundRect">
            <a:avLst>
              <a:gd name="adj" fmla="val 7619"/>
            </a:avLst>
          </a:prstGeom>
          <a:solidFill>
            <a:schemeClr val="accent1">
              <a:alpha val="12000"/>
            </a:schemeClr>
          </a:solidFill>
          <a:ln w="12700">
            <a:solidFill>
              <a:schemeClr val="accent1">
                <a:alpha val="0"/>
              </a:schemeClr>
            </a:solidFill>
            <a:prstDash val="solid"/>
          </a:ln>
        </p:spPr>
      </p:sp>
      <p:pic>
        <p:nvPicPr>
          <p:cNvPr id="6" name="Image 0" descr="key">    </p:cNvPr>
          <p:cNvPicPr>
            <a:picLocks noChangeAspect="1"/>
          </p:cNvPicPr>
          <p:nvPr/>
        </p:nvPicPr>
        <p:blipFill>
          <a:blip r:embed="rId1"/>
          <a:stretch>
            <a:fillRect/>
          </a:stretch>
        </p:blipFill>
        <p:spPr>
          <a:xfrm>
            <a:off x="640080" y="1705356"/>
            <a:ext cx="384048" cy="384048"/>
          </a:xfrm>
          <a:prstGeom prst="rect">
            <a:avLst/>
          </a:prstGeom>
        </p:spPr>
      </p:pic>
      <p:sp>
        <p:nvSpPr>
          <p:cNvPr id="7" name="Text 3"/>
          <p:cNvSpPr txBox="1"/>
          <p:nvPr/>
        </p:nvSpPr>
        <p:spPr>
          <a:xfrm>
            <a:off x="1188720" y="1490472"/>
            <a:ext cx="7315200" cy="81381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准确说法：比特币是</a:t>
            </a:r>
            <a:pPr algn="l" indent="0" marL="0">
              <a:lnSpc>
                <a:spcPct val="105000"/>
              </a:lnSpc>
              <a:buNone/>
            </a:pPr>
            <a:r>
              <a:rPr lang="en-US" sz="1600" b="1" dirty="0">
                <a:solidFill>
                  <a:schemeClr val="tx1"/>
                </a:solidFill>
              </a:rPr>
              <a:t>渐进式低通胀</a:t>
            </a:r>
            <a:pPr algn="l" indent="0" marL="0">
              <a:lnSpc>
                <a:spcPct val="105000"/>
              </a:lnSpc>
              <a:buNone/>
            </a:pPr>
            <a:r>
              <a:rPr lang="en-US" sz="1600" dirty="0">
                <a:solidFill>
                  <a:schemeClr val="tx1"/>
                </a:solidFill>
              </a:rPr>
              <a:t>（disinflation）——发行仍在增加，只是越来越慢；2024 年减半后年增发率约 0.8%。</a:t>
            </a:r>
            <a:endParaRPr lang="en-US" sz="1600" dirty="0"/>
          </a:p>
        </p:txBody>
      </p:sp>
      <p:sp>
        <p:nvSpPr>
          <p:cNvPr id="8" name="Shape 4"/>
          <p:cNvSpPr/>
          <p:nvPr/>
        </p:nvSpPr>
        <p:spPr>
          <a:xfrm>
            <a:off x="457200" y="2560320"/>
            <a:ext cx="4023360" cy="2834640"/>
          </a:xfrm>
          <a:prstGeom prst="roundRect">
            <a:avLst>
              <a:gd name="adj" fmla="val 2581"/>
            </a:avLst>
          </a:prstGeom>
          <a:solidFill>
            <a:schemeClr val="bg2"/>
          </a:solidFill>
          <a:ln w="12700">
            <a:solidFill>
              <a:schemeClr val="bg2">
                <a:alpha val="0"/>
              </a:schemeClr>
            </a:solidFill>
            <a:prstDash val="solid"/>
          </a:ln>
        </p:spPr>
      </p:sp>
      <p:sp>
        <p:nvSpPr>
          <p:cNvPr id="9" name="Shape 5"/>
          <p:cNvSpPr/>
          <p:nvPr/>
        </p:nvSpPr>
        <p:spPr>
          <a:xfrm>
            <a:off x="640080" y="2724912"/>
            <a:ext cx="502920" cy="502920"/>
          </a:xfrm>
          <a:prstGeom prst="ellipse">
            <a:avLst/>
          </a:prstGeom>
          <a:solidFill>
            <a:schemeClr val="accent3"/>
          </a:solidFill>
          <a:ln w="12700">
            <a:solidFill>
              <a:schemeClr val="accent3">
                <a:alpha val="0"/>
              </a:schemeClr>
            </a:solidFill>
            <a:prstDash val="solid"/>
          </a:ln>
        </p:spPr>
      </p:sp>
      <p:pic>
        <p:nvPicPr>
          <p:cNvPr id="10" name="Image 1" descr="FaThumbsUp">    </p:cNvPr>
          <p:cNvPicPr>
            <a:picLocks noChangeAspect="1"/>
          </p:cNvPicPr>
          <p:nvPr/>
        </p:nvPicPr>
        <p:blipFill>
          <a:blip r:embed="rId2"/>
          <a:stretch>
            <a:fillRect/>
          </a:stretch>
        </p:blipFill>
        <p:spPr>
          <a:xfrm>
            <a:off x="750722" y="2835554"/>
            <a:ext cx="281635" cy="281635"/>
          </a:xfrm>
          <a:prstGeom prst="rect">
            <a:avLst/>
          </a:prstGeom>
        </p:spPr>
      </p:pic>
      <p:sp>
        <p:nvSpPr>
          <p:cNvPr id="11" name="Text 6"/>
          <p:cNvSpPr txBox="1"/>
          <p:nvPr/>
        </p:nvSpPr>
        <p:spPr>
          <a:xfrm>
            <a:off x="640080" y="3346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支持者</a:t>
            </a:r>
            <a:endParaRPr lang="en-US" sz="1800" dirty="0"/>
          </a:p>
        </p:txBody>
      </p:sp>
      <p:sp>
        <p:nvSpPr>
          <p:cNvPr id="12" name="Text 7"/>
          <p:cNvSpPr txBox="1"/>
          <p:nvPr/>
        </p:nvSpPr>
        <p:spPr>
          <a:xfrm>
            <a:off x="640080" y="3721608"/>
            <a:ext cx="3657600" cy="1563624"/>
          </a:xfrm>
          <a:prstGeom prst="rect">
            <a:avLst/>
          </a:prstGeom>
          <a:noFill/>
          <a:ln/>
        </p:spPr>
        <p:txBody>
          <a:bodyPr wrap="square" lIns="0" tIns="0" rIns="0" bIns="0" rtlCol="0" anchor="t"/>
          <a:lstStyle/>
          <a:p>
            <a:pPr algn="l" indent="0" marL="0">
              <a:lnSpc>
                <a:spcPct val="105000"/>
              </a:lnSpc>
              <a:spcAft>
                <a:spcPts val="400"/>
              </a:spcAft>
              <a:buNone/>
            </a:pPr>
            <a:r>
              <a:rPr lang="en-US" sz="1400" dirty="0">
                <a:solidFill>
                  <a:schemeClr val="accent4"/>
                </a:solidFill>
              </a:rPr>
              <a:t>稀缺：总量有硬上限</a:t>
            </a:r>
            <a:endParaRPr lang="en-US" sz="1400" dirty="0"/>
          </a:p>
          <a:p>
            <a:pPr algn="l" indent="0" marL="0">
              <a:lnSpc>
                <a:spcPct val="105000"/>
              </a:lnSpc>
              <a:spcAft>
                <a:spcPts val="400"/>
              </a:spcAft>
              <a:buNone/>
            </a:pPr>
            <a:r>
              <a:rPr lang="en-US" sz="1400" dirty="0">
                <a:solidFill>
                  <a:schemeClr val="accent4"/>
                </a:solidFill>
              </a:rPr>
              <a:t>货币政策可预期，不依赖任何机构</a:t>
            </a:r>
            <a:endParaRPr lang="en-US" sz="1400" dirty="0"/>
          </a:p>
          <a:p>
            <a:pPr algn="l" indent="0" marL="0">
              <a:lnSpc>
                <a:spcPct val="105000"/>
              </a:lnSpc>
              <a:buNone/>
            </a:pPr>
            <a:r>
              <a:rPr lang="en-US" sz="1400" dirty="0">
                <a:solidFill>
                  <a:schemeClr val="accent4"/>
                </a:solidFill>
              </a:rPr>
              <a:t>抗通胀</a:t>
            </a:r>
            <a:endParaRPr lang="en-US" sz="1400" dirty="0"/>
          </a:p>
        </p:txBody>
      </p:sp>
      <p:sp>
        <p:nvSpPr>
          <p:cNvPr id="13" name="Shape 8"/>
          <p:cNvSpPr/>
          <p:nvPr/>
        </p:nvSpPr>
        <p:spPr>
          <a:xfrm>
            <a:off x="4663440" y="2560320"/>
            <a:ext cx="4023360" cy="2834640"/>
          </a:xfrm>
          <a:prstGeom prst="roundRect">
            <a:avLst>
              <a:gd name="adj" fmla="val 2581"/>
            </a:avLst>
          </a:prstGeom>
          <a:solidFill>
            <a:schemeClr val="bg2"/>
          </a:solidFill>
          <a:ln w="12700">
            <a:solidFill>
              <a:schemeClr val="bg2">
                <a:alpha val="0"/>
              </a:schemeClr>
            </a:solidFill>
            <a:prstDash val="solid"/>
          </a:ln>
        </p:spPr>
      </p:sp>
      <p:sp>
        <p:nvSpPr>
          <p:cNvPr id="14" name="Shape 9"/>
          <p:cNvSpPr/>
          <p:nvPr/>
        </p:nvSpPr>
        <p:spPr>
          <a:xfrm>
            <a:off x="4846320" y="2724912"/>
            <a:ext cx="502920" cy="502920"/>
          </a:xfrm>
          <a:prstGeom prst="ellipse">
            <a:avLst/>
          </a:prstGeom>
          <a:solidFill>
            <a:schemeClr val="accent2"/>
          </a:solidFill>
          <a:ln w="12700">
            <a:solidFill>
              <a:schemeClr val="accent2">
                <a:alpha val="0"/>
              </a:schemeClr>
            </a:solidFill>
            <a:prstDash val="solid"/>
          </a:ln>
        </p:spPr>
      </p:sp>
      <p:pic>
        <p:nvPicPr>
          <p:cNvPr id="15" name="Image 2" descr="FaThumbsDown">    </p:cNvPr>
          <p:cNvPicPr>
            <a:picLocks noChangeAspect="1"/>
          </p:cNvPicPr>
          <p:nvPr/>
        </p:nvPicPr>
        <p:blipFill>
          <a:blip r:embed="rId3"/>
          <a:stretch>
            <a:fillRect/>
          </a:stretch>
        </p:blipFill>
        <p:spPr>
          <a:xfrm>
            <a:off x="4956962" y="2835554"/>
            <a:ext cx="281635" cy="281635"/>
          </a:xfrm>
          <a:prstGeom prst="rect">
            <a:avLst/>
          </a:prstGeom>
        </p:spPr>
      </p:pic>
      <p:sp>
        <p:nvSpPr>
          <p:cNvPr id="16" name="Text 10"/>
          <p:cNvSpPr txBox="1"/>
          <p:nvPr/>
        </p:nvSpPr>
        <p:spPr>
          <a:xfrm>
            <a:off x="4846320" y="334670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批评者</a:t>
            </a:r>
            <a:endParaRPr lang="en-US" sz="1800" dirty="0"/>
          </a:p>
        </p:txBody>
      </p:sp>
      <p:sp>
        <p:nvSpPr>
          <p:cNvPr id="17" name="Text 11"/>
          <p:cNvSpPr txBox="1"/>
          <p:nvPr/>
        </p:nvSpPr>
        <p:spPr>
          <a:xfrm>
            <a:off x="4846320" y="3721608"/>
            <a:ext cx="3657600" cy="1563624"/>
          </a:xfrm>
          <a:prstGeom prst="rect">
            <a:avLst/>
          </a:prstGeom>
          <a:noFill/>
          <a:ln/>
        </p:spPr>
        <p:txBody>
          <a:bodyPr wrap="square" lIns="0" tIns="0" rIns="0" bIns="0" rtlCol="0" anchor="t"/>
          <a:lstStyle/>
          <a:p>
            <a:pPr algn="l" indent="0" marL="0">
              <a:lnSpc>
                <a:spcPct val="105000"/>
              </a:lnSpc>
              <a:spcAft>
                <a:spcPts val="400"/>
              </a:spcAft>
              <a:buNone/>
            </a:pPr>
            <a:r>
              <a:rPr lang="en-US" sz="1400" dirty="0">
                <a:solidFill>
                  <a:schemeClr val="accent4"/>
                </a:solidFill>
              </a:rPr>
              <a:t>“通缩螺旋”：预期价格下跌 → 推迟消费与投资 → 需求下降</a:t>
            </a:r>
            <a:endParaRPr lang="en-US" sz="1400" dirty="0"/>
          </a:p>
          <a:p>
            <a:pPr algn="l" indent="0" marL="0">
              <a:lnSpc>
                <a:spcPct val="105000"/>
              </a:lnSpc>
              <a:spcAft>
                <a:spcPts val="400"/>
              </a:spcAft>
              <a:buNone/>
            </a:pPr>
            <a:r>
              <a:rPr lang="en-US" sz="1400" dirty="0">
                <a:solidFill>
                  <a:schemeClr val="accent4"/>
                </a:solidFill>
              </a:rPr>
              <a:t>持币者倾向囤积，不愿花掉</a:t>
            </a:r>
            <a:endParaRPr lang="en-US" sz="1400" dirty="0"/>
          </a:p>
          <a:p>
            <a:pPr algn="l" indent="0" marL="0">
              <a:lnSpc>
                <a:spcPct val="105000"/>
              </a:lnSpc>
              <a:buNone/>
            </a:pPr>
            <a:r>
              <a:rPr lang="en-US" sz="1400" dirty="0">
                <a:solidFill>
                  <a:schemeClr val="accent4"/>
                </a:solidFill>
              </a:rPr>
              <a:t>硬上限使货币供给缺乏弹性</a:t>
            </a:r>
            <a:endParaRPr lang="en-US" sz="1400" dirty="0"/>
          </a:p>
        </p:txBody>
      </p:sp>
      <p:sp>
        <p:nvSpPr>
          <p:cNvPr id="18" name="Text 12"/>
          <p:cNvSpPr txBox="1"/>
          <p:nvPr/>
        </p:nvSpPr>
        <p:spPr>
          <a:xfrm>
            <a:off x="457200" y="5577840"/>
            <a:ext cx="8229600" cy="45720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现实：几乎没有商品以比特币标价，“通缩螺旋”尚未被真正检验。</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随堂小测：激励与发行</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随堂小测 · 货币发行</a:t>
            </a:r>
            <a:endParaRPr lang="en-US" sz="1200" dirty="0"/>
          </a:p>
        </p:txBody>
      </p:sp>
      <p:sp>
        <p:nvSpPr>
          <p:cNvPr id="5" name="Shape 2"/>
          <p:cNvSpPr/>
          <p:nvPr/>
        </p:nvSpPr>
        <p:spPr>
          <a:xfrm>
            <a:off x="457200" y="1371600"/>
            <a:ext cx="8229600" cy="1417320"/>
          </a:xfrm>
          <a:prstGeom prst="roundRect">
            <a:avLst>
              <a:gd name="adj" fmla="val 5161"/>
            </a:avLst>
          </a:prstGeom>
          <a:solidFill>
            <a:schemeClr val="bg2"/>
          </a:solidFill>
          <a:ln w="12700">
            <a:solidFill>
              <a:schemeClr val="bg2">
                <a:alpha val="0"/>
              </a:schemeClr>
            </a:solidFill>
            <a:prstDash val="solid"/>
          </a:ln>
        </p:spPr>
      </p:sp>
      <p:sp>
        <p:nvSpPr>
          <p:cNvPr id="6" name="Shape 3"/>
          <p:cNvSpPr/>
          <p:nvPr/>
        </p:nvSpPr>
        <p:spPr>
          <a:xfrm>
            <a:off x="640080" y="1796796"/>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79679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请用一个算式解释：比特币总量上限为什么是 2100 万？</a:t>
            </a:r>
            <a:endParaRPr lang="en-US" sz="1500" dirty="0"/>
          </a:p>
        </p:txBody>
      </p:sp>
      <p:sp>
        <p:nvSpPr>
          <p:cNvPr id="9" name="Shape 6"/>
          <p:cNvSpPr/>
          <p:nvPr/>
        </p:nvSpPr>
        <p:spPr>
          <a:xfrm>
            <a:off x="7772400" y="1897380"/>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897380"/>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1" name="Shape 8"/>
          <p:cNvSpPr/>
          <p:nvPr/>
        </p:nvSpPr>
        <p:spPr>
          <a:xfrm>
            <a:off x="457200" y="2898648"/>
            <a:ext cx="8229600" cy="1417320"/>
          </a:xfrm>
          <a:prstGeom prst="roundRect">
            <a:avLst>
              <a:gd name="adj" fmla="val 5161"/>
            </a:avLst>
          </a:prstGeom>
          <a:solidFill>
            <a:schemeClr val="bg2"/>
          </a:solidFill>
          <a:ln w="12700">
            <a:solidFill>
              <a:schemeClr val="bg2">
                <a:alpha val="0"/>
              </a:schemeClr>
            </a:solidFill>
            <a:prstDash val="solid"/>
          </a:ln>
        </p:spPr>
      </p:sp>
      <p:sp>
        <p:nvSpPr>
          <p:cNvPr id="12" name="Shape 9"/>
          <p:cNvSpPr/>
          <p:nvPr/>
        </p:nvSpPr>
        <p:spPr>
          <a:xfrm>
            <a:off x="640080" y="3323844"/>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332384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971800"/>
            <a:ext cx="6126480" cy="1271016"/>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2024 年 4 月的减半之后，每个区块的补贴是多少？</a:t>
            </a:r>
            <a:endParaRPr lang="en-US" sz="1500" dirty="0"/>
          </a:p>
          <a:p>
            <a:pPr algn="l" indent="0" marL="0">
              <a:lnSpc>
                <a:spcPct val="105000"/>
              </a:lnSpc>
              <a:buNone/>
            </a:pPr>
            <a:r>
              <a:rPr lang="en-US" sz="1400" dirty="0">
                <a:solidFill>
                  <a:schemeClr val="accent4"/>
                </a:solidFill>
              </a:rPr>
              <a:t>A 12.5　B 6.25　C 3.125　D 1.5625</a:t>
            </a:r>
            <a:endParaRPr lang="en-US" sz="1500" dirty="0"/>
          </a:p>
        </p:txBody>
      </p:sp>
      <p:sp>
        <p:nvSpPr>
          <p:cNvPr id="15" name="Shape 12"/>
          <p:cNvSpPr/>
          <p:nvPr/>
        </p:nvSpPr>
        <p:spPr>
          <a:xfrm>
            <a:off x="7772400" y="3424428"/>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342442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17" name="Shape 14"/>
          <p:cNvSpPr/>
          <p:nvPr/>
        </p:nvSpPr>
        <p:spPr>
          <a:xfrm>
            <a:off x="457200" y="4425696"/>
            <a:ext cx="8229600" cy="1417320"/>
          </a:xfrm>
          <a:prstGeom prst="roundRect">
            <a:avLst>
              <a:gd name="adj" fmla="val 5161"/>
            </a:avLst>
          </a:prstGeom>
          <a:solidFill>
            <a:schemeClr val="bg2"/>
          </a:solidFill>
          <a:ln w="12700">
            <a:solidFill>
              <a:schemeClr val="bg2">
                <a:alpha val="0"/>
              </a:schemeClr>
            </a:solidFill>
            <a:prstDash val="solid"/>
          </a:ln>
        </p:spPr>
      </p:sp>
      <p:sp>
        <p:nvSpPr>
          <p:cNvPr id="18" name="Shape 15"/>
          <p:cNvSpPr/>
          <p:nvPr/>
        </p:nvSpPr>
        <p:spPr>
          <a:xfrm>
            <a:off x="640080" y="485089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85089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4498848"/>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coinbase 交易有什么特殊之处？</a:t>
            </a:r>
            <a:endParaRPr lang="en-US" sz="1500" dirty="0"/>
          </a:p>
        </p:txBody>
      </p:sp>
      <p:sp>
        <p:nvSpPr>
          <p:cNvPr id="21" name="Shape 18"/>
          <p:cNvSpPr/>
          <p:nvPr/>
        </p:nvSpPr>
        <p:spPr>
          <a:xfrm>
            <a:off x="7772400" y="495147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95147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07</a:t>
            </a:r>
            <a:endParaRPr lang="en-US" sz="9600" dirty="0"/>
          </a:p>
        </p:txBody>
      </p:sp>
      <p:pic>
        <p:nvPicPr>
          <p:cNvPr id="3" name="Image 0" descr="FaTrophy">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成就：没有可信中介，也能信任账</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同一把尺子：它在多大程度上满足了前面提出的四个要求？</a:t>
            </a:r>
            <a:endParaRPr lang="en-US" sz="2000" dirty="0"/>
          </a:p>
        </p:txBody>
      </p:sp>
      <p:sp>
        <p:nvSpPr>
          <p:cNvPr id="6"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300" dirty="0">
                <a:solidFill>
                  <a:schemeClr val="accent5"/>
                </a:solidFill>
              </a:rPr>
              <a:t>这一部分回答支付系统的哪个要求？</a:t>
            </a:r>
            <a:endParaRPr lang="en-US" sz="1300" dirty="0"/>
          </a:p>
        </p:txBody>
      </p:sp>
      <p:sp>
        <p:nvSpPr>
          <p:cNvPr id="7" name="Shape 4"/>
          <p:cNvSpPr/>
          <p:nvPr/>
        </p:nvSpPr>
        <p:spPr>
          <a:xfrm>
            <a:off x="457200" y="512064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8" name="Text 5"/>
          <p:cNvSpPr txBox="1"/>
          <p:nvPr/>
        </p:nvSpPr>
        <p:spPr>
          <a:xfrm>
            <a:off x="457200" y="512064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① 识别交易双方</a:t>
            </a:r>
            <a:endParaRPr lang="en-US" sz="1300" dirty="0"/>
          </a:p>
        </p:txBody>
      </p:sp>
      <p:sp>
        <p:nvSpPr>
          <p:cNvPr id="9" name="Shape 6"/>
          <p:cNvSpPr/>
          <p:nvPr/>
        </p:nvSpPr>
        <p:spPr>
          <a:xfrm>
            <a:off x="4617720" y="512064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0" name="Text 7"/>
          <p:cNvSpPr txBox="1"/>
          <p:nvPr/>
        </p:nvSpPr>
        <p:spPr>
          <a:xfrm>
            <a:off x="4617720" y="512064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② 便捷促成并验证交易</a:t>
            </a:r>
            <a:endParaRPr lang="en-US" sz="1300" dirty="0"/>
          </a:p>
        </p:txBody>
      </p:sp>
      <p:sp>
        <p:nvSpPr>
          <p:cNvPr id="11" name="Shape 8"/>
          <p:cNvSpPr/>
          <p:nvPr/>
        </p:nvSpPr>
        <p:spPr>
          <a:xfrm>
            <a:off x="45720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2" name="Text 9"/>
          <p:cNvSpPr txBox="1"/>
          <p:nvPr/>
        </p:nvSpPr>
        <p:spPr>
          <a:xfrm>
            <a:off x="45720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③ 记录可验证、不可更改</a:t>
            </a:r>
            <a:endParaRPr lang="en-US" sz="1300" dirty="0"/>
          </a:p>
        </p:txBody>
      </p:sp>
      <p:sp>
        <p:nvSpPr>
          <p:cNvPr id="13" name="Shape 10"/>
          <p:cNvSpPr/>
          <p:nvPr/>
        </p:nvSpPr>
        <p:spPr>
          <a:xfrm>
            <a:off x="4617720" y="5623560"/>
            <a:ext cx="4023360" cy="384048"/>
          </a:xfrm>
          <a:prstGeom prst="roundRect">
            <a:avLst>
              <a:gd name="adj" fmla="val 50000"/>
            </a:avLst>
          </a:prstGeom>
          <a:solidFill>
            <a:schemeClr val="accent1"/>
          </a:solidFill>
          <a:ln w="12700">
            <a:solidFill>
              <a:schemeClr val="accent1">
                <a:alpha val="0"/>
              </a:schemeClr>
            </a:solidFill>
            <a:prstDash val="solid"/>
          </a:ln>
        </p:spPr>
      </p:sp>
      <p:sp>
        <p:nvSpPr>
          <p:cNvPr id="14" name="Text 11"/>
          <p:cNvSpPr txBox="1"/>
          <p:nvPr/>
        </p:nvSpPr>
        <p:spPr>
          <a:xfrm>
            <a:off x="4617720" y="5623560"/>
            <a:ext cx="4023360" cy="384048"/>
          </a:xfrm>
          <a:prstGeom prst="rect">
            <a:avLst/>
          </a:prstGeom>
          <a:noFill/>
          <a:ln/>
        </p:spPr>
        <p:txBody>
          <a:bodyPr wrap="square" lIns="0" tIns="0" rIns="0" bIns="0" rtlCol="0" anchor="ctr"/>
          <a:lstStyle/>
          <a:p>
            <a:pPr algn="ctr" indent="0" marL="0">
              <a:buNone/>
            </a:pPr>
            <a:r>
              <a:rPr lang="en-US" sz="1300" b="1" dirty="0">
                <a:solidFill>
                  <a:schemeClr val="tx1"/>
                </a:solidFill>
              </a:rPr>
              <a:t>④ 防止同一单位货币重复使用</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成就一：四个要求，协议层基本都做到了</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成就</a:t>
            </a:r>
            <a:endParaRPr lang="en-US" sz="1200" dirty="0"/>
          </a:p>
        </p:txBody>
      </p:sp>
      <p:sp>
        <p:nvSpPr>
          <p:cNvPr id="5" name="Shape 2"/>
          <p:cNvSpPr/>
          <p:nvPr/>
        </p:nvSpPr>
        <p:spPr>
          <a:xfrm>
            <a:off x="457200" y="1417320"/>
            <a:ext cx="8229600" cy="914400"/>
          </a:xfrm>
          <a:prstGeom prst="roundRect">
            <a:avLst>
              <a:gd name="adj" fmla="val 8000"/>
            </a:avLst>
          </a:prstGeom>
          <a:solidFill>
            <a:schemeClr val="bg2"/>
          </a:solidFill>
          <a:ln w="12700">
            <a:solidFill>
              <a:schemeClr val="bg2">
                <a:alpha val="0"/>
              </a:schemeClr>
            </a:solidFill>
            <a:prstDash val="solid"/>
          </a:ln>
        </p:spPr>
      </p:sp>
      <p:sp>
        <p:nvSpPr>
          <p:cNvPr id="6" name="Shape 3"/>
          <p:cNvSpPr/>
          <p:nvPr/>
        </p:nvSpPr>
        <p:spPr>
          <a:xfrm>
            <a:off x="640080" y="1600200"/>
            <a:ext cx="548640" cy="548640"/>
          </a:xfrm>
          <a:prstGeom prst="ellipse">
            <a:avLst/>
          </a:prstGeom>
          <a:solidFill>
            <a:schemeClr val="accent3"/>
          </a:solidFill>
          <a:ln w="12700">
            <a:solidFill>
              <a:schemeClr val="accent3">
                <a:alpha val="0"/>
              </a:schemeClr>
            </a:solidFill>
            <a:prstDash val="solid"/>
          </a:ln>
        </p:spPr>
      </p:sp>
      <p:pic>
        <p:nvPicPr>
          <p:cNvPr id="7" name="Image 0" descr="FaCheckCircle">    </p:cNvPr>
          <p:cNvPicPr>
            <a:picLocks noChangeAspect="1"/>
          </p:cNvPicPr>
          <p:nvPr/>
        </p:nvPicPr>
        <p:blipFill>
          <a:blip r:embed="rId1"/>
          <a:stretch>
            <a:fillRect/>
          </a:stretch>
        </p:blipFill>
        <p:spPr>
          <a:xfrm>
            <a:off x="760781" y="1720901"/>
            <a:ext cx="307238" cy="307238"/>
          </a:xfrm>
          <a:prstGeom prst="rect">
            <a:avLst/>
          </a:prstGeom>
        </p:spPr>
      </p:pic>
      <p:sp>
        <p:nvSpPr>
          <p:cNvPr id="8" name="Text 4"/>
          <p:cNvSpPr txBox="1"/>
          <p:nvPr/>
        </p:nvSpPr>
        <p:spPr>
          <a:xfrm>
            <a:off x="1417320" y="1463040"/>
            <a:ext cx="7132320" cy="822960"/>
          </a:xfrm>
          <a:prstGeom prst="rect">
            <a:avLst/>
          </a:prstGeom>
          <a:noFill/>
          <a:ln/>
        </p:spPr>
        <p:txBody>
          <a:bodyPr wrap="square" lIns="0" tIns="0" rIns="0" bIns="0" rtlCol="0" anchor="ctr"/>
          <a:lstStyle/>
          <a:p>
            <a:pPr algn="l" indent="0" marL="0">
              <a:lnSpc>
                <a:spcPct val="105000"/>
              </a:lnSpc>
              <a:spcAft>
                <a:spcPts val="200"/>
              </a:spcAft>
              <a:buNone/>
            </a:pPr>
            <a:r>
              <a:rPr lang="en-US" sz="1700" b="1" dirty="0">
                <a:solidFill>
                  <a:schemeClr val="tx1"/>
                </a:solidFill>
              </a:rPr>
              <a:t>① 识别双方</a:t>
            </a:r>
            <a:endParaRPr lang="en-US" sz="1400" dirty="0"/>
          </a:p>
          <a:p>
            <a:pPr algn="l" indent="0" marL="0">
              <a:lnSpc>
                <a:spcPct val="105000"/>
              </a:lnSpc>
              <a:buNone/>
            </a:pPr>
            <a:r>
              <a:rPr lang="en-US" sz="1400" dirty="0">
                <a:solidFill>
                  <a:schemeClr val="accent4"/>
                </a:solidFill>
              </a:rPr>
              <a:t>公钥 / 地址 + 数字签名：不靠实名，也能证明“这是我授权的”</a:t>
            </a:r>
            <a:endParaRPr lang="en-US" sz="1400" dirty="0"/>
          </a:p>
        </p:txBody>
      </p:sp>
      <p:sp>
        <p:nvSpPr>
          <p:cNvPr id="9" name="Shape 5"/>
          <p:cNvSpPr/>
          <p:nvPr/>
        </p:nvSpPr>
        <p:spPr>
          <a:xfrm>
            <a:off x="457200" y="2441448"/>
            <a:ext cx="8229600" cy="914400"/>
          </a:xfrm>
          <a:prstGeom prst="roundRect">
            <a:avLst>
              <a:gd name="adj" fmla="val 8000"/>
            </a:avLst>
          </a:prstGeom>
          <a:solidFill>
            <a:schemeClr val="bg2"/>
          </a:solidFill>
          <a:ln w="12700">
            <a:solidFill>
              <a:schemeClr val="bg2">
                <a:alpha val="0"/>
              </a:schemeClr>
            </a:solidFill>
            <a:prstDash val="solid"/>
          </a:ln>
        </p:spPr>
      </p:sp>
      <p:sp>
        <p:nvSpPr>
          <p:cNvPr id="10" name="Shape 6"/>
          <p:cNvSpPr/>
          <p:nvPr/>
        </p:nvSpPr>
        <p:spPr>
          <a:xfrm>
            <a:off x="640080" y="2624328"/>
            <a:ext cx="548640" cy="548640"/>
          </a:xfrm>
          <a:prstGeom prst="ellipse">
            <a:avLst/>
          </a:prstGeom>
          <a:solidFill>
            <a:schemeClr val="accent3"/>
          </a:solidFill>
          <a:ln w="12700">
            <a:solidFill>
              <a:schemeClr val="accent3">
                <a:alpha val="0"/>
              </a:schemeClr>
            </a:solidFill>
            <a:prstDash val="solid"/>
          </a:ln>
        </p:spPr>
      </p:sp>
      <p:pic>
        <p:nvPicPr>
          <p:cNvPr id="11" name="Image 1" descr="FaCheckCircle">    </p:cNvPr>
          <p:cNvPicPr>
            <a:picLocks noChangeAspect="1"/>
          </p:cNvPicPr>
          <p:nvPr/>
        </p:nvPicPr>
        <p:blipFill>
          <a:blip r:embed="rId2"/>
          <a:stretch>
            <a:fillRect/>
          </a:stretch>
        </p:blipFill>
        <p:spPr>
          <a:xfrm>
            <a:off x="760781" y="2745029"/>
            <a:ext cx="307238" cy="307238"/>
          </a:xfrm>
          <a:prstGeom prst="rect">
            <a:avLst/>
          </a:prstGeom>
        </p:spPr>
      </p:pic>
      <p:sp>
        <p:nvSpPr>
          <p:cNvPr id="12" name="Text 7"/>
          <p:cNvSpPr txBox="1"/>
          <p:nvPr/>
        </p:nvSpPr>
        <p:spPr>
          <a:xfrm>
            <a:off x="1417320" y="2487168"/>
            <a:ext cx="7132320" cy="822960"/>
          </a:xfrm>
          <a:prstGeom prst="rect">
            <a:avLst/>
          </a:prstGeom>
          <a:noFill/>
          <a:ln/>
        </p:spPr>
        <p:txBody>
          <a:bodyPr wrap="square" lIns="0" tIns="0" rIns="0" bIns="0" rtlCol="0" anchor="ctr"/>
          <a:lstStyle/>
          <a:p>
            <a:pPr algn="l" indent="0" marL="0">
              <a:lnSpc>
                <a:spcPct val="105000"/>
              </a:lnSpc>
              <a:spcAft>
                <a:spcPts val="200"/>
              </a:spcAft>
              <a:buNone/>
            </a:pPr>
            <a:r>
              <a:rPr lang="en-US" sz="1700" b="1" dirty="0">
                <a:solidFill>
                  <a:schemeClr val="tx1"/>
                </a:solidFill>
              </a:rPr>
              <a:t>② 便捷验证</a:t>
            </a:r>
            <a:endParaRPr lang="en-US" sz="1400" dirty="0"/>
          </a:p>
          <a:p>
            <a:pPr algn="l" indent="0" marL="0">
              <a:lnSpc>
                <a:spcPct val="105000"/>
              </a:lnSpc>
              <a:buNone/>
            </a:pPr>
            <a:r>
              <a:rPr lang="en-US" sz="1400" dirty="0">
                <a:solidFill>
                  <a:schemeClr val="accent4"/>
                </a:solidFill>
              </a:rPr>
              <a:t>任何人、任何时刻都能在区块浏览器核验交易，无需许可</a:t>
            </a:r>
            <a:endParaRPr lang="en-US" sz="1400" dirty="0"/>
          </a:p>
        </p:txBody>
      </p:sp>
      <p:sp>
        <p:nvSpPr>
          <p:cNvPr id="13" name="Shape 8"/>
          <p:cNvSpPr/>
          <p:nvPr/>
        </p:nvSpPr>
        <p:spPr>
          <a:xfrm>
            <a:off x="457200" y="3465576"/>
            <a:ext cx="8229600" cy="914400"/>
          </a:xfrm>
          <a:prstGeom prst="roundRect">
            <a:avLst>
              <a:gd name="adj" fmla="val 8000"/>
            </a:avLst>
          </a:prstGeom>
          <a:solidFill>
            <a:schemeClr val="bg2"/>
          </a:solidFill>
          <a:ln w="12700">
            <a:solidFill>
              <a:schemeClr val="bg2">
                <a:alpha val="0"/>
              </a:schemeClr>
            </a:solidFill>
            <a:prstDash val="solid"/>
          </a:ln>
        </p:spPr>
      </p:sp>
      <p:sp>
        <p:nvSpPr>
          <p:cNvPr id="14" name="Shape 9"/>
          <p:cNvSpPr/>
          <p:nvPr/>
        </p:nvSpPr>
        <p:spPr>
          <a:xfrm>
            <a:off x="640080" y="3648456"/>
            <a:ext cx="548640" cy="548640"/>
          </a:xfrm>
          <a:prstGeom prst="ellipse">
            <a:avLst/>
          </a:prstGeom>
          <a:solidFill>
            <a:schemeClr val="accent3"/>
          </a:solidFill>
          <a:ln w="12700">
            <a:solidFill>
              <a:schemeClr val="accent3">
                <a:alpha val="0"/>
              </a:schemeClr>
            </a:solidFill>
            <a:prstDash val="solid"/>
          </a:ln>
        </p:spPr>
      </p:sp>
      <p:pic>
        <p:nvPicPr>
          <p:cNvPr id="15" name="Image 2" descr="FaCheckCircle">    </p:cNvPr>
          <p:cNvPicPr>
            <a:picLocks noChangeAspect="1"/>
          </p:cNvPicPr>
          <p:nvPr/>
        </p:nvPicPr>
        <p:blipFill>
          <a:blip r:embed="rId3"/>
          <a:stretch>
            <a:fillRect/>
          </a:stretch>
        </p:blipFill>
        <p:spPr>
          <a:xfrm>
            <a:off x="760781" y="3769157"/>
            <a:ext cx="307238" cy="307238"/>
          </a:xfrm>
          <a:prstGeom prst="rect">
            <a:avLst/>
          </a:prstGeom>
        </p:spPr>
      </p:pic>
      <p:sp>
        <p:nvSpPr>
          <p:cNvPr id="16" name="Text 10"/>
          <p:cNvSpPr txBox="1"/>
          <p:nvPr/>
        </p:nvSpPr>
        <p:spPr>
          <a:xfrm>
            <a:off x="1417320" y="3511296"/>
            <a:ext cx="7132320" cy="822960"/>
          </a:xfrm>
          <a:prstGeom prst="rect">
            <a:avLst/>
          </a:prstGeom>
          <a:noFill/>
          <a:ln/>
        </p:spPr>
        <p:txBody>
          <a:bodyPr wrap="square" lIns="0" tIns="0" rIns="0" bIns="0" rtlCol="0" anchor="ctr"/>
          <a:lstStyle/>
          <a:p>
            <a:pPr algn="l" indent="0" marL="0">
              <a:lnSpc>
                <a:spcPct val="105000"/>
              </a:lnSpc>
              <a:spcAft>
                <a:spcPts val="200"/>
              </a:spcAft>
              <a:buNone/>
            </a:pPr>
            <a:r>
              <a:rPr lang="en-US" sz="1700" b="1" dirty="0">
                <a:solidFill>
                  <a:schemeClr val="tx1"/>
                </a:solidFill>
              </a:rPr>
              <a:t>③ 不可更改</a:t>
            </a:r>
            <a:endParaRPr lang="en-US" sz="1400" dirty="0"/>
          </a:p>
          <a:p>
            <a:pPr algn="l" indent="0" marL="0">
              <a:lnSpc>
                <a:spcPct val="105000"/>
              </a:lnSpc>
              <a:buNone/>
            </a:pPr>
            <a:r>
              <a:rPr lang="en-US" sz="1400" dirty="0">
                <a:solidFill>
                  <a:schemeClr val="accent4"/>
                </a:solidFill>
              </a:rPr>
              <a:t>哈希链 + 累计工作量：已确认的历史从未被攻击者改写</a:t>
            </a:r>
            <a:endParaRPr lang="en-US" sz="1400" dirty="0"/>
          </a:p>
        </p:txBody>
      </p:sp>
      <p:sp>
        <p:nvSpPr>
          <p:cNvPr id="17" name="Shape 11"/>
          <p:cNvSpPr/>
          <p:nvPr/>
        </p:nvSpPr>
        <p:spPr>
          <a:xfrm>
            <a:off x="457200" y="4489704"/>
            <a:ext cx="8229600" cy="914400"/>
          </a:xfrm>
          <a:prstGeom prst="roundRect">
            <a:avLst>
              <a:gd name="adj" fmla="val 8000"/>
            </a:avLst>
          </a:prstGeom>
          <a:solidFill>
            <a:schemeClr val="bg2"/>
          </a:solidFill>
          <a:ln w="12700">
            <a:solidFill>
              <a:schemeClr val="bg2">
                <a:alpha val="0"/>
              </a:schemeClr>
            </a:solidFill>
            <a:prstDash val="solid"/>
          </a:ln>
        </p:spPr>
      </p:sp>
      <p:sp>
        <p:nvSpPr>
          <p:cNvPr id="18" name="Shape 12"/>
          <p:cNvSpPr/>
          <p:nvPr/>
        </p:nvSpPr>
        <p:spPr>
          <a:xfrm>
            <a:off x="640080" y="4672584"/>
            <a:ext cx="548640" cy="548640"/>
          </a:xfrm>
          <a:prstGeom prst="ellipse">
            <a:avLst/>
          </a:prstGeom>
          <a:solidFill>
            <a:schemeClr val="accent3"/>
          </a:solidFill>
          <a:ln w="12700">
            <a:solidFill>
              <a:schemeClr val="accent3">
                <a:alpha val="0"/>
              </a:schemeClr>
            </a:solidFill>
            <a:prstDash val="solid"/>
          </a:ln>
        </p:spPr>
      </p:sp>
      <p:pic>
        <p:nvPicPr>
          <p:cNvPr id="19" name="Image 3" descr="FaCheckCircle">    </p:cNvPr>
          <p:cNvPicPr>
            <a:picLocks noChangeAspect="1"/>
          </p:cNvPicPr>
          <p:nvPr/>
        </p:nvPicPr>
        <p:blipFill>
          <a:blip r:embed="rId4"/>
          <a:stretch>
            <a:fillRect/>
          </a:stretch>
        </p:blipFill>
        <p:spPr>
          <a:xfrm>
            <a:off x="760781" y="4793285"/>
            <a:ext cx="307238" cy="307238"/>
          </a:xfrm>
          <a:prstGeom prst="rect">
            <a:avLst/>
          </a:prstGeom>
        </p:spPr>
      </p:pic>
      <p:sp>
        <p:nvSpPr>
          <p:cNvPr id="20" name="Text 13"/>
          <p:cNvSpPr txBox="1"/>
          <p:nvPr/>
        </p:nvSpPr>
        <p:spPr>
          <a:xfrm>
            <a:off x="1417320" y="4535424"/>
            <a:ext cx="7132320" cy="822960"/>
          </a:xfrm>
          <a:prstGeom prst="rect">
            <a:avLst/>
          </a:prstGeom>
          <a:noFill/>
          <a:ln/>
        </p:spPr>
        <p:txBody>
          <a:bodyPr wrap="square" lIns="0" tIns="0" rIns="0" bIns="0" rtlCol="0" anchor="ctr"/>
          <a:lstStyle/>
          <a:p>
            <a:pPr algn="l" indent="0" marL="0">
              <a:lnSpc>
                <a:spcPct val="105000"/>
              </a:lnSpc>
              <a:spcAft>
                <a:spcPts val="200"/>
              </a:spcAft>
              <a:buNone/>
            </a:pPr>
            <a:r>
              <a:rPr lang="en-US" sz="1700" b="1" dirty="0">
                <a:solidFill>
                  <a:schemeClr val="tx1"/>
                </a:solidFill>
              </a:rPr>
              <a:t>④ 防双重支付</a:t>
            </a:r>
            <a:endParaRPr lang="en-US" sz="1400" dirty="0"/>
          </a:p>
          <a:p>
            <a:pPr algn="l" indent="0" marL="0">
              <a:lnSpc>
                <a:spcPct val="105000"/>
              </a:lnSpc>
              <a:buNone/>
            </a:pPr>
            <a:r>
              <a:rPr lang="en-US" sz="1400" dirty="0">
                <a:solidFill>
                  <a:schemeClr val="accent4"/>
                </a:solidFill>
              </a:rPr>
              <a:t>最长链共识 + UTXO：没有中央账本，同一枚币也无法被确认两次</a:t>
            </a:r>
            <a:endParaRPr lang="en-US" sz="1400" dirty="0"/>
          </a:p>
        </p:txBody>
      </p:sp>
      <p:sp>
        <p:nvSpPr>
          <p:cNvPr id="21" name="Shape 14"/>
          <p:cNvSpPr/>
          <p:nvPr/>
        </p:nvSpPr>
        <p:spPr>
          <a:xfrm>
            <a:off x="457200" y="5532120"/>
            <a:ext cx="8229600" cy="594360"/>
          </a:xfrm>
          <a:prstGeom prst="roundRect">
            <a:avLst>
              <a:gd name="adj" fmla="val 12308"/>
            </a:avLst>
          </a:prstGeom>
          <a:solidFill>
            <a:schemeClr val="accent1">
              <a:alpha val="12000"/>
            </a:schemeClr>
          </a:solidFill>
          <a:ln w="12700">
            <a:solidFill>
              <a:schemeClr val="accent1">
                <a:alpha val="0"/>
              </a:schemeClr>
            </a:solidFill>
            <a:prstDash val="solid"/>
          </a:ln>
        </p:spPr>
      </p:sp>
      <p:pic>
        <p:nvPicPr>
          <p:cNvPr id="22" name="Image 4" descr="key">    </p:cNvPr>
          <p:cNvPicPr>
            <a:picLocks noChangeAspect="1"/>
          </p:cNvPicPr>
          <p:nvPr/>
        </p:nvPicPr>
        <p:blipFill>
          <a:blip r:embed="rId5"/>
          <a:stretch>
            <a:fillRect/>
          </a:stretch>
        </p:blipFill>
        <p:spPr>
          <a:xfrm>
            <a:off x="640080" y="5637276"/>
            <a:ext cx="384048" cy="384048"/>
          </a:xfrm>
          <a:prstGeom prst="rect">
            <a:avLst/>
          </a:prstGeom>
        </p:spPr>
      </p:pic>
      <p:sp>
        <p:nvSpPr>
          <p:cNvPr id="23" name="Text 15"/>
          <p:cNvSpPr txBox="1"/>
          <p:nvPr/>
        </p:nvSpPr>
        <p:spPr>
          <a:xfrm>
            <a:off x="1188720" y="5605272"/>
            <a:ext cx="7315200" cy="448056"/>
          </a:xfrm>
          <a:prstGeom prst="rect">
            <a:avLst/>
          </a:prstGeom>
          <a:noFill/>
          <a:ln/>
        </p:spPr>
        <p:txBody>
          <a:bodyPr wrap="square" lIns="0" tIns="0" rIns="0" bIns="0" rtlCol="0" anchor="ctr"/>
          <a:lstStyle/>
          <a:p>
            <a:pPr algn="l" indent="0" marL="0">
              <a:lnSpc>
                <a:spcPct val="105000"/>
              </a:lnSpc>
              <a:buNone/>
            </a:pPr>
            <a:r>
              <a:rPr lang="en-US" sz="1500" b="1" dirty="0">
                <a:solidFill>
                  <a:schemeClr val="tx1"/>
                </a:solidFill>
              </a:rPr>
              <a:t>透明孕育信任</a:t>
            </a:r>
            <a:pPr algn="l" indent="0" marL="0">
              <a:lnSpc>
                <a:spcPct val="105000"/>
              </a:lnSpc>
              <a:buNone/>
            </a:pPr>
            <a:r>
              <a:rPr lang="en-US" sz="1500" dirty="0">
                <a:solidFill>
                  <a:schemeClr val="tx1"/>
                </a:solidFill>
              </a:rPr>
              <a:t>：人们信任的是可检验的规则，而不是某个机构。</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成就二：协议层稳定运行了 17 年</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成就</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来源：Bitnodes（2025-12）；mempool.space 等公开数据（2026）；比特币开发者社区记录</a:t>
            </a:r>
            <a:endParaRPr lang="en-US" sz="1000" dirty="0"/>
          </a:p>
        </p:txBody>
      </p:sp>
      <p:sp>
        <p:nvSpPr>
          <p:cNvPr id="6" name="Shape 3"/>
          <p:cNvSpPr/>
          <p:nvPr/>
        </p:nvSpPr>
        <p:spPr>
          <a:xfrm>
            <a:off x="457200" y="1417320"/>
            <a:ext cx="2651760" cy="1463040"/>
          </a:xfrm>
          <a:prstGeom prst="roundRect">
            <a:avLst>
              <a:gd name="adj" fmla="val 5000"/>
            </a:avLst>
          </a:prstGeom>
          <a:solidFill>
            <a:schemeClr val="bg2"/>
          </a:solidFill>
          <a:ln w="12700">
            <a:solidFill>
              <a:schemeClr val="bg2">
                <a:alpha val="0"/>
              </a:schemeClr>
            </a:solidFill>
            <a:prstDash val="solid"/>
          </a:ln>
        </p:spPr>
      </p:sp>
      <p:sp>
        <p:nvSpPr>
          <p:cNvPr id="7" name="Text 4"/>
          <p:cNvSpPr txBox="1"/>
          <p:nvPr/>
        </p:nvSpPr>
        <p:spPr>
          <a:xfrm>
            <a:off x="594360" y="1527048"/>
            <a:ext cx="2377440" cy="73152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 17 年</a:t>
            </a:r>
            <a:endParaRPr lang="en-US" sz="2800" dirty="0"/>
          </a:p>
        </p:txBody>
      </p:sp>
      <p:sp>
        <p:nvSpPr>
          <p:cNvPr id="8" name="Text 5"/>
          <p:cNvSpPr txBox="1"/>
          <p:nvPr/>
        </p:nvSpPr>
        <p:spPr>
          <a:xfrm>
            <a:off x="594360" y="2265883"/>
            <a:ext cx="2377440" cy="555955"/>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2009-01-03 至今连续运行</a:t>
            </a:r>
            <a:endParaRPr lang="en-US" sz="1400" dirty="0"/>
          </a:p>
        </p:txBody>
      </p:sp>
      <p:sp>
        <p:nvSpPr>
          <p:cNvPr id="9" name="Shape 6"/>
          <p:cNvSpPr/>
          <p:nvPr/>
        </p:nvSpPr>
        <p:spPr>
          <a:xfrm>
            <a:off x="3246120" y="1417320"/>
            <a:ext cx="2651760" cy="1463040"/>
          </a:xfrm>
          <a:prstGeom prst="roundRect">
            <a:avLst>
              <a:gd name="adj" fmla="val 5000"/>
            </a:avLst>
          </a:prstGeom>
          <a:solidFill>
            <a:schemeClr val="bg2"/>
          </a:solidFill>
          <a:ln w="12700">
            <a:solidFill>
              <a:schemeClr val="bg2">
                <a:alpha val="0"/>
              </a:schemeClr>
            </a:solidFill>
            <a:prstDash val="solid"/>
          </a:ln>
        </p:spPr>
      </p:sp>
      <p:sp>
        <p:nvSpPr>
          <p:cNvPr id="10" name="Text 7"/>
          <p:cNvSpPr txBox="1"/>
          <p:nvPr/>
        </p:nvSpPr>
        <p:spPr>
          <a:xfrm>
            <a:off x="3383280" y="1527048"/>
            <a:ext cx="2377440" cy="73152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 2.4 万</a:t>
            </a:r>
            <a:endParaRPr lang="en-US" sz="2800" dirty="0"/>
          </a:p>
        </p:txBody>
      </p:sp>
      <p:sp>
        <p:nvSpPr>
          <p:cNvPr id="11" name="Text 8"/>
          <p:cNvSpPr txBox="1"/>
          <p:nvPr/>
        </p:nvSpPr>
        <p:spPr>
          <a:xfrm>
            <a:off x="3383280" y="2265883"/>
            <a:ext cx="2377440" cy="555955"/>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可达节点（Bitnodes，2025-12）</a:t>
            </a:r>
            <a:endParaRPr lang="en-US" sz="1400" dirty="0"/>
          </a:p>
        </p:txBody>
      </p:sp>
      <p:sp>
        <p:nvSpPr>
          <p:cNvPr id="12" name="Shape 9"/>
          <p:cNvSpPr/>
          <p:nvPr/>
        </p:nvSpPr>
        <p:spPr>
          <a:xfrm>
            <a:off x="6035040" y="1417320"/>
            <a:ext cx="2651760" cy="1463040"/>
          </a:xfrm>
          <a:prstGeom prst="roundRect">
            <a:avLst>
              <a:gd name="adj" fmla="val 5000"/>
            </a:avLst>
          </a:prstGeom>
          <a:solidFill>
            <a:schemeClr val="bg2"/>
          </a:solidFill>
          <a:ln w="12700">
            <a:solidFill>
              <a:schemeClr val="bg2">
                <a:alpha val="0"/>
              </a:schemeClr>
            </a:solidFill>
            <a:prstDash val="solid"/>
          </a:ln>
        </p:spPr>
      </p:sp>
      <p:sp>
        <p:nvSpPr>
          <p:cNvPr id="13" name="Text 10"/>
          <p:cNvSpPr txBox="1"/>
          <p:nvPr/>
        </p:nvSpPr>
        <p:spPr>
          <a:xfrm>
            <a:off x="6172200" y="1527048"/>
            <a:ext cx="2377440" cy="731520"/>
          </a:xfrm>
          <a:prstGeom prst="rect">
            <a:avLst/>
          </a:prstGeom>
          <a:noFill/>
          <a:ln/>
        </p:spPr>
        <p:txBody>
          <a:bodyPr wrap="square" lIns="0" tIns="0" rIns="0" bIns="0" rtlCol="0" anchor="ctr"/>
          <a:lstStyle/>
          <a:p>
            <a:pPr algn="ctr" indent="0" marL="0">
              <a:lnSpc>
                <a:spcPct val="105000"/>
              </a:lnSpc>
              <a:buNone/>
            </a:pPr>
            <a:r>
              <a:rPr lang="en-US" sz="2600" b="1" dirty="0">
                <a:solidFill>
                  <a:schemeClr val="accent6"/>
                </a:solidFill>
              </a:rPr>
              <a:t>≈ 1 ZH/s</a:t>
            </a:r>
            <a:endParaRPr lang="en-US" sz="2600" dirty="0"/>
          </a:p>
        </p:txBody>
      </p:sp>
      <p:sp>
        <p:nvSpPr>
          <p:cNvPr id="14" name="Text 11"/>
          <p:cNvSpPr txBox="1"/>
          <p:nvPr/>
        </p:nvSpPr>
        <p:spPr>
          <a:xfrm>
            <a:off x="6172200" y="2265883"/>
            <a:ext cx="2377440" cy="555955"/>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全网算力，约 10²¹ 次/秒（2026）</a:t>
            </a:r>
            <a:endParaRPr lang="en-US" sz="1400" dirty="0"/>
          </a:p>
        </p:txBody>
      </p:sp>
      <p:sp>
        <p:nvSpPr>
          <p:cNvPr id="15" name="Shape 12"/>
          <p:cNvSpPr/>
          <p:nvPr/>
        </p:nvSpPr>
        <p:spPr>
          <a:xfrm>
            <a:off x="457200" y="3108960"/>
            <a:ext cx="4023360" cy="1828800"/>
          </a:xfrm>
          <a:prstGeom prst="roundRect">
            <a:avLst>
              <a:gd name="adj" fmla="val 4000"/>
            </a:avLst>
          </a:prstGeom>
          <a:solidFill>
            <a:schemeClr val="bg2"/>
          </a:solidFill>
          <a:ln w="12700">
            <a:solidFill>
              <a:schemeClr val="bg2">
                <a:alpha val="0"/>
              </a:schemeClr>
            </a:solidFill>
            <a:prstDash val="solid"/>
          </a:ln>
        </p:spPr>
      </p:sp>
      <p:sp>
        <p:nvSpPr>
          <p:cNvPr id="16" name="Shape 13"/>
          <p:cNvSpPr/>
          <p:nvPr/>
        </p:nvSpPr>
        <p:spPr>
          <a:xfrm>
            <a:off x="640080" y="3273552"/>
            <a:ext cx="502920" cy="502920"/>
          </a:xfrm>
          <a:prstGeom prst="ellipse">
            <a:avLst/>
          </a:prstGeom>
          <a:solidFill>
            <a:schemeClr val="accent1"/>
          </a:solidFill>
          <a:ln w="12700">
            <a:solidFill>
              <a:schemeClr val="accent1">
                <a:alpha val="0"/>
              </a:schemeClr>
            </a:solidFill>
            <a:prstDash val="solid"/>
          </a:ln>
        </p:spPr>
      </p:sp>
      <p:pic>
        <p:nvPicPr>
          <p:cNvPr id="17" name="Image 0" descr="FaClock">    </p:cNvPr>
          <p:cNvPicPr>
            <a:picLocks noChangeAspect="1"/>
          </p:cNvPicPr>
          <p:nvPr/>
        </p:nvPicPr>
        <p:blipFill>
          <a:blip r:embed="rId1"/>
          <a:stretch>
            <a:fillRect/>
          </a:stretch>
        </p:blipFill>
        <p:spPr>
          <a:xfrm>
            <a:off x="750722" y="3384194"/>
            <a:ext cx="281635" cy="281635"/>
          </a:xfrm>
          <a:prstGeom prst="rect">
            <a:avLst/>
          </a:prstGeom>
        </p:spPr>
      </p:pic>
      <p:sp>
        <p:nvSpPr>
          <p:cNvPr id="18" name="Text 14"/>
          <p:cNvSpPr txBox="1"/>
          <p:nvPr/>
        </p:nvSpPr>
        <p:spPr>
          <a:xfrm>
            <a:off x="640080" y="389534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协议层出过的事</a:t>
            </a:r>
            <a:endParaRPr lang="en-US" sz="1700" dirty="0"/>
          </a:p>
        </p:txBody>
      </p:sp>
      <p:sp>
        <p:nvSpPr>
          <p:cNvPr id="19" name="Text 15"/>
          <p:cNvSpPr txBox="1"/>
          <p:nvPr/>
        </p:nvSpPr>
        <p:spPr>
          <a:xfrm>
            <a:off x="640080" y="4253484"/>
            <a:ext cx="3657600" cy="57454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2010-08 溢出漏洞（数小时修复）；2013-03 版本分叉（数小时恢复）。</a:t>
            </a:r>
            <a:endParaRPr lang="en-US" sz="1400" dirty="0"/>
          </a:p>
        </p:txBody>
      </p:sp>
      <p:sp>
        <p:nvSpPr>
          <p:cNvPr id="20" name="Shape 16"/>
          <p:cNvSpPr/>
          <p:nvPr/>
        </p:nvSpPr>
        <p:spPr>
          <a:xfrm>
            <a:off x="4663440" y="3108960"/>
            <a:ext cx="4023360" cy="1828800"/>
          </a:xfrm>
          <a:prstGeom prst="roundRect">
            <a:avLst>
              <a:gd name="adj" fmla="val 4000"/>
            </a:avLst>
          </a:prstGeom>
          <a:solidFill>
            <a:schemeClr val="bg2"/>
          </a:solidFill>
          <a:ln w="12700">
            <a:solidFill>
              <a:schemeClr val="bg2">
                <a:alpha val="0"/>
              </a:schemeClr>
            </a:solidFill>
            <a:prstDash val="solid"/>
          </a:ln>
        </p:spPr>
      </p:sp>
      <p:sp>
        <p:nvSpPr>
          <p:cNvPr id="21" name="Shape 17"/>
          <p:cNvSpPr/>
          <p:nvPr/>
        </p:nvSpPr>
        <p:spPr>
          <a:xfrm>
            <a:off x="4846320" y="3273552"/>
            <a:ext cx="502920" cy="502920"/>
          </a:xfrm>
          <a:prstGeom prst="ellipse">
            <a:avLst/>
          </a:prstGeom>
          <a:solidFill>
            <a:schemeClr val="accent1"/>
          </a:solidFill>
          <a:ln w="12700">
            <a:solidFill>
              <a:schemeClr val="accent1">
                <a:alpha val="0"/>
              </a:schemeClr>
            </a:solidFill>
            <a:prstDash val="solid"/>
          </a:ln>
        </p:spPr>
      </p:sp>
      <p:pic>
        <p:nvPicPr>
          <p:cNvPr id="22" name="Image 1" descr="FaShieldAlt">    </p:cNvPr>
          <p:cNvPicPr>
            <a:picLocks noChangeAspect="1"/>
          </p:cNvPicPr>
          <p:nvPr/>
        </p:nvPicPr>
        <p:blipFill>
          <a:blip r:embed="rId2"/>
          <a:stretch>
            <a:fillRect/>
          </a:stretch>
        </p:blipFill>
        <p:spPr>
          <a:xfrm>
            <a:off x="4956962" y="3384194"/>
            <a:ext cx="281635" cy="281635"/>
          </a:xfrm>
          <a:prstGeom prst="rect">
            <a:avLst/>
          </a:prstGeom>
        </p:spPr>
      </p:pic>
      <p:sp>
        <p:nvSpPr>
          <p:cNvPr id="23" name="Text 18"/>
          <p:cNvSpPr txBox="1"/>
          <p:nvPr/>
        </p:nvSpPr>
        <p:spPr>
          <a:xfrm>
            <a:off x="4846320" y="389534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真正失守的地方</a:t>
            </a:r>
            <a:endParaRPr lang="en-US" sz="1700" dirty="0"/>
          </a:p>
        </p:txBody>
      </p:sp>
      <p:sp>
        <p:nvSpPr>
          <p:cNvPr id="24" name="Text 19"/>
          <p:cNvSpPr txBox="1"/>
          <p:nvPr/>
        </p:nvSpPr>
        <p:spPr>
          <a:xfrm>
            <a:off x="4846320" y="4253484"/>
            <a:ext cx="3657600" cy="57454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交易所、托管方和个人——见“不足”部分的安全一页。</a:t>
            </a:r>
            <a:endParaRPr lang="en-US" sz="1400" dirty="0"/>
          </a:p>
        </p:txBody>
      </p:sp>
      <p:sp>
        <p:nvSpPr>
          <p:cNvPr id="25" name="Shape 20"/>
          <p:cNvSpPr/>
          <p:nvPr/>
        </p:nvSpPr>
        <p:spPr>
          <a:xfrm>
            <a:off x="457200" y="5166360"/>
            <a:ext cx="8229600" cy="868680"/>
          </a:xfrm>
          <a:prstGeom prst="roundRect">
            <a:avLst>
              <a:gd name="adj" fmla="val 8421"/>
            </a:avLst>
          </a:prstGeom>
          <a:solidFill>
            <a:schemeClr val="accent2">
              <a:alpha val="12000"/>
            </a:schemeClr>
          </a:solidFill>
          <a:ln w="12700">
            <a:solidFill>
              <a:schemeClr val="accent2">
                <a:alpha val="0"/>
              </a:schemeClr>
            </a:solidFill>
            <a:prstDash val="solid"/>
          </a:ln>
        </p:spPr>
      </p:sp>
      <p:pic>
        <p:nvPicPr>
          <p:cNvPr id="26" name="Image 2" descr="warn">    </p:cNvPr>
          <p:cNvPicPr>
            <a:picLocks noChangeAspect="1"/>
          </p:cNvPicPr>
          <p:nvPr/>
        </p:nvPicPr>
        <p:blipFill>
          <a:blip r:embed="rId3"/>
          <a:stretch>
            <a:fillRect/>
          </a:stretch>
        </p:blipFill>
        <p:spPr>
          <a:xfrm>
            <a:off x="640080" y="5408676"/>
            <a:ext cx="384048" cy="384048"/>
          </a:xfrm>
          <a:prstGeom prst="rect">
            <a:avLst/>
          </a:prstGeom>
        </p:spPr>
      </p:pic>
      <p:sp>
        <p:nvSpPr>
          <p:cNvPr id="27" name="Text 21"/>
          <p:cNvSpPr txBox="1"/>
          <p:nvPr/>
        </p:nvSpPr>
        <p:spPr>
          <a:xfrm>
            <a:off x="1188720" y="5239512"/>
            <a:ext cx="7315200" cy="72237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“从未被攻破”≠“不会被攻破”：算力集中、监管、量子计算是长期风险。</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区块链不是万能药：先问“我需要区块链吗？”</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成就</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来源：Wüst &amp; Gervais (2018), Do you need a Blockchain?；ASX 2022-11 公告；Maersk 2022-11 公告</a:t>
            </a:r>
            <a:endParaRPr lang="en-US" sz="1000" dirty="0"/>
          </a:p>
        </p:txBody>
      </p:sp>
      <p:sp>
        <p:nvSpPr>
          <p:cNvPr id="6" name="Shape 3"/>
          <p:cNvSpPr/>
          <p:nvPr/>
        </p:nvSpPr>
        <p:spPr>
          <a:xfrm>
            <a:off x="457200" y="1417320"/>
            <a:ext cx="4937760" cy="1024128"/>
          </a:xfrm>
          <a:prstGeom prst="roundRect">
            <a:avLst>
              <a:gd name="adj" fmla="val 7143"/>
            </a:avLst>
          </a:prstGeom>
          <a:solidFill>
            <a:schemeClr val="bg2"/>
          </a:solidFill>
          <a:ln w="12700">
            <a:solidFill>
              <a:schemeClr val="bg2">
                <a:alpha val="0"/>
              </a:schemeClr>
            </a:solidFill>
            <a:prstDash val="solid"/>
          </a:ln>
        </p:spPr>
      </p:sp>
      <p:sp>
        <p:nvSpPr>
          <p:cNvPr id="7" name="Shape 4"/>
          <p:cNvSpPr/>
          <p:nvPr/>
        </p:nvSpPr>
        <p:spPr>
          <a:xfrm>
            <a:off x="594360" y="1673352"/>
            <a:ext cx="512064" cy="512064"/>
          </a:xfrm>
          <a:prstGeom prst="ellipse">
            <a:avLst/>
          </a:prstGeom>
          <a:solidFill>
            <a:schemeClr val="accent1"/>
          </a:solidFill>
          <a:ln w="12700">
            <a:solidFill>
              <a:schemeClr val="accent1">
                <a:alpha val="0"/>
              </a:schemeClr>
            </a:solidFill>
            <a:prstDash val="solid"/>
          </a:ln>
        </p:spPr>
      </p:sp>
      <p:sp>
        <p:nvSpPr>
          <p:cNvPr id="8" name="Text 5"/>
          <p:cNvSpPr txBox="1"/>
          <p:nvPr/>
        </p:nvSpPr>
        <p:spPr>
          <a:xfrm>
            <a:off x="594360" y="1673352"/>
            <a:ext cx="512064" cy="512064"/>
          </a:xfrm>
          <a:prstGeom prst="rect">
            <a:avLst/>
          </a:prstGeom>
          <a:noFill/>
          <a:ln/>
        </p:spPr>
        <p:txBody>
          <a:bodyPr wrap="square" lIns="0" tIns="0" rIns="0" bIns="0" rtlCol="0" anchor="ctr"/>
          <a:lstStyle/>
          <a:p>
            <a:pPr algn="ctr" indent="0" marL="0">
              <a:buNone/>
            </a:pPr>
            <a:r>
              <a:rPr lang="en-US" sz="1700" b="1" dirty="0">
                <a:solidFill>
                  <a:schemeClr val="tx1"/>
                </a:solidFill>
              </a:rPr>
              <a:t>1</a:t>
            </a:r>
            <a:endParaRPr lang="en-US" sz="1700" dirty="0"/>
          </a:p>
        </p:txBody>
      </p:sp>
      <p:sp>
        <p:nvSpPr>
          <p:cNvPr id="9" name="Text 6"/>
          <p:cNvSpPr txBox="1"/>
          <p:nvPr/>
        </p:nvSpPr>
        <p:spPr>
          <a:xfrm>
            <a:off x="1280160" y="1463040"/>
            <a:ext cx="4023360" cy="932688"/>
          </a:xfrm>
          <a:prstGeom prst="rect">
            <a:avLst/>
          </a:prstGeom>
          <a:noFill/>
          <a:ln/>
        </p:spPr>
        <p:txBody>
          <a:bodyPr wrap="square" lIns="0" tIns="0" rIns="0" bIns="0" rtlCol="0" anchor="ctr"/>
          <a:lstStyle/>
          <a:p>
            <a:pPr algn="l" indent="0" marL="0">
              <a:lnSpc>
                <a:spcPct val="105000"/>
              </a:lnSpc>
              <a:spcAft>
                <a:spcPts val="200"/>
              </a:spcAft>
              <a:buNone/>
            </a:pPr>
            <a:r>
              <a:rPr lang="en-US" sz="1600" b="1" dirty="0">
                <a:solidFill>
                  <a:schemeClr val="tx1"/>
                </a:solidFill>
              </a:rPr>
              <a:t>需要存储共享的状态吗？</a:t>
            </a:r>
            <a:endParaRPr lang="en-US" sz="1400" dirty="0"/>
          </a:p>
          <a:p>
            <a:pPr algn="l" indent="0" marL="0">
              <a:lnSpc>
                <a:spcPct val="105000"/>
              </a:lnSpc>
              <a:buNone/>
            </a:pPr>
            <a:r>
              <a:rPr lang="en-US" sz="1400" dirty="0">
                <a:solidFill>
                  <a:schemeClr val="accent4"/>
                </a:solidFill>
              </a:rPr>
              <a:t>若否 → 不需要区块链</a:t>
            </a:r>
            <a:endParaRPr lang="en-US" sz="1400" dirty="0"/>
          </a:p>
        </p:txBody>
      </p:sp>
      <p:sp>
        <p:nvSpPr>
          <p:cNvPr id="10" name="Shape 7"/>
          <p:cNvSpPr/>
          <p:nvPr/>
        </p:nvSpPr>
        <p:spPr>
          <a:xfrm>
            <a:off x="2926080" y="2450592"/>
            <a:ext cx="0" cy="128016"/>
          </a:xfrm>
          <a:prstGeom prst="line">
            <a:avLst/>
          </a:prstGeom>
          <a:noFill/>
          <a:ln w="25400">
            <a:solidFill>
              <a:schemeClr val="accent1"/>
            </a:solidFill>
            <a:prstDash val="solid"/>
            <a:tailEnd type="triangle"/>
          </a:ln>
        </p:spPr>
      </p:sp>
      <p:sp>
        <p:nvSpPr>
          <p:cNvPr id="11" name="Shape 8"/>
          <p:cNvSpPr/>
          <p:nvPr/>
        </p:nvSpPr>
        <p:spPr>
          <a:xfrm>
            <a:off x="457200" y="2587752"/>
            <a:ext cx="4937760" cy="1024128"/>
          </a:xfrm>
          <a:prstGeom prst="roundRect">
            <a:avLst>
              <a:gd name="adj" fmla="val 7143"/>
            </a:avLst>
          </a:prstGeom>
          <a:solidFill>
            <a:schemeClr val="bg2"/>
          </a:solidFill>
          <a:ln w="12700">
            <a:solidFill>
              <a:schemeClr val="bg2">
                <a:alpha val="0"/>
              </a:schemeClr>
            </a:solidFill>
            <a:prstDash val="solid"/>
          </a:ln>
        </p:spPr>
      </p:sp>
      <p:sp>
        <p:nvSpPr>
          <p:cNvPr id="12" name="Shape 9"/>
          <p:cNvSpPr/>
          <p:nvPr/>
        </p:nvSpPr>
        <p:spPr>
          <a:xfrm>
            <a:off x="594360" y="2843784"/>
            <a:ext cx="512064" cy="512064"/>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594360" y="2843784"/>
            <a:ext cx="512064" cy="512064"/>
          </a:xfrm>
          <a:prstGeom prst="rect">
            <a:avLst/>
          </a:prstGeom>
          <a:noFill/>
          <a:ln/>
        </p:spPr>
        <p:txBody>
          <a:bodyPr wrap="square" lIns="0" tIns="0" rIns="0" bIns="0" rtlCol="0" anchor="ctr"/>
          <a:lstStyle/>
          <a:p>
            <a:pPr algn="ctr" indent="0" marL="0">
              <a:buNone/>
            </a:pPr>
            <a:r>
              <a:rPr lang="en-US" sz="1700" b="1" dirty="0">
                <a:solidFill>
                  <a:schemeClr val="tx1"/>
                </a:solidFill>
              </a:rPr>
              <a:t>2</a:t>
            </a:r>
            <a:endParaRPr lang="en-US" sz="1700" dirty="0"/>
          </a:p>
        </p:txBody>
      </p:sp>
      <p:sp>
        <p:nvSpPr>
          <p:cNvPr id="14" name="Text 11"/>
          <p:cNvSpPr txBox="1"/>
          <p:nvPr/>
        </p:nvSpPr>
        <p:spPr>
          <a:xfrm>
            <a:off x="1280160" y="2633472"/>
            <a:ext cx="4023360" cy="932688"/>
          </a:xfrm>
          <a:prstGeom prst="rect">
            <a:avLst/>
          </a:prstGeom>
          <a:noFill/>
          <a:ln/>
        </p:spPr>
        <p:txBody>
          <a:bodyPr wrap="square" lIns="0" tIns="0" rIns="0" bIns="0" rtlCol="0" anchor="ctr"/>
          <a:lstStyle/>
          <a:p>
            <a:pPr algn="l" indent="0" marL="0">
              <a:lnSpc>
                <a:spcPct val="105000"/>
              </a:lnSpc>
              <a:spcAft>
                <a:spcPts val="200"/>
              </a:spcAft>
              <a:buNone/>
            </a:pPr>
            <a:r>
              <a:rPr lang="en-US" sz="1600" b="1" dirty="0">
                <a:solidFill>
                  <a:schemeClr val="tx1"/>
                </a:solidFill>
              </a:rPr>
              <a:t>有多个写入者吗？</a:t>
            </a:r>
            <a:endParaRPr lang="en-US" sz="1400" dirty="0"/>
          </a:p>
          <a:p>
            <a:pPr algn="l" indent="0" marL="0">
              <a:lnSpc>
                <a:spcPct val="105000"/>
              </a:lnSpc>
              <a:buNone/>
            </a:pPr>
            <a:r>
              <a:rPr lang="en-US" sz="1400" dirty="0">
                <a:solidFill>
                  <a:schemeClr val="accent4"/>
                </a:solidFill>
              </a:rPr>
              <a:t>若否 → 用普通数据库</a:t>
            </a:r>
            <a:endParaRPr lang="en-US" sz="1400" dirty="0"/>
          </a:p>
        </p:txBody>
      </p:sp>
      <p:sp>
        <p:nvSpPr>
          <p:cNvPr id="15" name="Shape 12"/>
          <p:cNvSpPr/>
          <p:nvPr/>
        </p:nvSpPr>
        <p:spPr>
          <a:xfrm>
            <a:off x="2926080" y="3621024"/>
            <a:ext cx="0" cy="128016"/>
          </a:xfrm>
          <a:prstGeom prst="line">
            <a:avLst/>
          </a:prstGeom>
          <a:noFill/>
          <a:ln w="25400">
            <a:solidFill>
              <a:schemeClr val="accent1"/>
            </a:solidFill>
            <a:prstDash val="solid"/>
            <a:tailEnd type="triangle"/>
          </a:ln>
        </p:spPr>
      </p:sp>
      <p:sp>
        <p:nvSpPr>
          <p:cNvPr id="16" name="Shape 13"/>
          <p:cNvSpPr/>
          <p:nvPr/>
        </p:nvSpPr>
        <p:spPr>
          <a:xfrm>
            <a:off x="457200" y="3758184"/>
            <a:ext cx="4937760" cy="1024128"/>
          </a:xfrm>
          <a:prstGeom prst="roundRect">
            <a:avLst>
              <a:gd name="adj" fmla="val 7143"/>
            </a:avLst>
          </a:prstGeom>
          <a:solidFill>
            <a:schemeClr val="bg2"/>
          </a:solidFill>
          <a:ln w="12700">
            <a:solidFill>
              <a:schemeClr val="bg2">
                <a:alpha val="0"/>
              </a:schemeClr>
            </a:solidFill>
            <a:prstDash val="solid"/>
          </a:ln>
        </p:spPr>
      </p:sp>
      <p:sp>
        <p:nvSpPr>
          <p:cNvPr id="17" name="Shape 14"/>
          <p:cNvSpPr/>
          <p:nvPr/>
        </p:nvSpPr>
        <p:spPr>
          <a:xfrm>
            <a:off x="594360" y="4014216"/>
            <a:ext cx="512064" cy="512064"/>
          </a:xfrm>
          <a:prstGeom prst="ellipse">
            <a:avLst/>
          </a:prstGeom>
          <a:solidFill>
            <a:schemeClr val="accent1"/>
          </a:solidFill>
          <a:ln w="12700">
            <a:solidFill>
              <a:schemeClr val="accent1">
                <a:alpha val="0"/>
              </a:schemeClr>
            </a:solidFill>
            <a:prstDash val="solid"/>
          </a:ln>
        </p:spPr>
      </p:sp>
      <p:sp>
        <p:nvSpPr>
          <p:cNvPr id="18" name="Text 15"/>
          <p:cNvSpPr txBox="1"/>
          <p:nvPr/>
        </p:nvSpPr>
        <p:spPr>
          <a:xfrm>
            <a:off x="594360" y="4014216"/>
            <a:ext cx="512064" cy="512064"/>
          </a:xfrm>
          <a:prstGeom prst="rect">
            <a:avLst/>
          </a:prstGeom>
          <a:noFill/>
          <a:ln/>
        </p:spPr>
        <p:txBody>
          <a:bodyPr wrap="square" lIns="0" tIns="0" rIns="0" bIns="0" rtlCol="0" anchor="ctr"/>
          <a:lstStyle/>
          <a:p>
            <a:pPr algn="ctr" indent="0" marL="0">
              <a:buNone/>
            </a:pPr>
            <a:r>
              <a:rPr lang="en-US" sz="1700" b="1" dirty="0">
                <a:solidFill>
                  <a:schemeClr val="tx1"/>
                </a:solidFill>
              </a:rPr>
              <a:t>3</a:t>
            </a:r>
            <a:endParaRPr lang="en-US" sz="1700" dirty="0"/>
          </a:p>
        </p:txBody>
      </p:sp>
      <p:sp>
        <p:nvSpPr>
          <p:cNvPr id="19" name="Text 16"/>
          <p:cNvSpPr txBox="1"/>
          <p:nvPr/>
        </p:nvSpPr>
        <p:spPr>
          <a:xfrm>
            <a:off x="1280160" y="3803904"/>
            <a:ext cx="4023360" cy="932688"/>
          </a:xfrm>
          <a:prstGeom prst="rect">
            <a:avLst/>
          </a:prstGeom>
          <a:noFill/>
          <a:ln/>
        </p:spPr>
        <p:txBody>
          <a:bodyPr wrap="square" lIns="0" tIns="0" rIns="0" bIns="0" rtlCol="0" anchor="ctr"/>
          <a:lstStyle/>
          <a:p>
            <a:pPr algn="l" indent="0" marL="0">
              <a:lnSpc>
                <a:spcPct val="105000"/>
              </a:lnSpc>
              <a:spcAft>
                <a:spcPts val="200"/>
              </a:spcAft>
              <a:buNone/>
            </a:pPr>
            <a:r>
              <a:rPr lang="en-US" sz="1600" b="1" dirty="0">
                <a:solidFill>
                  <a:schemeClr val="tx1"/>
                </a:solidFill>
              </a:rPr>
              <a:t>有一个人人都信任的第三方吗？</a:t>
            </a:r>
            <a:endParaRPr lang="en-US" sz="1400" dirty="0"/>
          </a:p>
          <a:p>
            <a:pPr algn="l" indent="0" marL="0">
              <a:lnSpc>
                <a:spcPct val="105000"/>
              </a:lnSpc>
              <a:buNone/>
            </a:pPr>
            <a:r>
              <a:rPr lang="en-US" sz="1400" dirty="0">
                <a:solidFill>
                  <a:schemeClr val="accent4"/>
                </a:solidFill>
              </a:rPr>
              <a:t>若有 → 让它记账即可</a:t>
            </a:r>
            <a:endParaRPr lang="en-US" sz="1400" dirty="0"/>
          </a:p>
        </p:txBody>
      </p:sp>
      <p:sp>
        <p:nvSpPr>
          <p:cNvPr id="20" name="Shape 17"/>
          <p:cNvSpPr/>
          <p:nvPr/>
        </p:nvSpPr>
        <p:spPr>
          <a:xfrm>
            <a:off x="2926080" y="4791456"/>
            <a:ext cx="0" cy="128016"/>
          </a:xfrm>
          <a:prstGeom prst="line">
            <a:avLst/>
          </a:prstGeom>
          <a:noFill/>
          <a:ln w="25400">
            <a:solidFill>
              <a:schemeClr val="accent1"/>
            </a:solidFill>
            <a:prstDash val="solid"/>
            <a:tailEnd type="triangle"/>
          </a:ln>
        </p:spPr>
      </p:sp>
      <p:sp>
        <p:nvSpPr>
          <p:cNvPr id="21" name="Shape 18"/>
          <p:cNvSpPr/>
          <p:nvPr/>
        </p:nvSpPr>
        <p:spPr>
          <a:xfrm>
            <a:off x="457200" y="4928616"/>
            <a:ext cx="4937760" cy="1024128"/>
          </a:xfrm>
          <a:prstGeom prst="roundRect">
            <a:avLst>
              <a:gd name="adj" fmla="val 7143"/>
            </a:avLst>
          </a:prstGeom>
          <a:solidFill>
            <a:schemeClr val="bg2"/>
          </a:solidFill>
          <a:ln w="12700">
            <a:solidFill>
              <a:schemeClr val="bg2">
                <a:alpha val="0"/>
              </a:schemeClr>
            </a:solidFill>
            <a:prstDash val="solid"/>
          </a:ln>
        </p:spPr>
      </p:sp>
      <p:sp>
        <p:nvSpPr>
          <p:cNvPr id="22" name="Shape 19"/>
          <p:cNvSpPr/>
          <p:nvPr/>
        </p:nvSpPr>
        <p:spPr>
          <a:xfrm>
            <a:off x="594360" y="5184648"/>
            <a:ext cx="512064" cy="512064"/>
          </a:xfrm>
          <a:prstGeom prst="ellipse">
            <a:avLst/>
          </a:prstGeom>
          <a:solidFill>
            <a:schemeClr val="accent3"/>
          </a:solidFill>
          <a:ln w="12700">
            <a:solidFill>
              <a:schemeClr val="accent3">
                <a:alpha val="0"/>
              </a:schemeClr>
            </a:solidFill>
            <a:prstDash val="solid"/>
          </a:ln>
        </p:spPr>
      </p:sp>
      <p:sp>
        <p:nvSpPr>
          <p:cNvPr id="23" name="Text 20"/>
          <p:cNvSpPr txBox="1"/>
          <p:nvPr/>
        </p:nvSpPr>
        <p:spPr>
          <a:xfrm>
            <a:off x="594360" y="5184648"/>
            <a:ext cx="512064" cy="512064"/>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4" name="Text 21"/>
          <p:cNvSpPr txBox="1"/>
          <p:nvPr/>
        </p:nvSpPr>
        <p:spPr>
          <a:xfrm>
            <a:off x="1280160" y="4974336"/>
            <a:ext cx="4023360" cy="932688"/>
          </a:xfrm>
          <a:prstGeom prst="rect">
            <a:avLst/>
          </a:prstGeom>
          <a:noFill/>
          <a:ln/>
        </p:spPr>
        <p:txBody>
          <a:bodyPr wrap="square" lIns="0" tIns="0" rIns="0" bIns="0" rtlCol="0" anchor="ctr"/>
          <a:lstStyle/>
          <a:p>
            <a:pPr algn="l" indent="0" marL="0">
              <a:lnSpc>
                <a:spcPct val="105000"/>
              </a:lnSpc>
              <a:spcAft>
                <a:spcPts val="200"/>
              </a:spcAft>
              <a:buNone/>
            </a:pPr>
            <a:r>
              <a:rPr lang="en-US" sz="1600" b="1" dirty="0">
                <a:solidFill>
                  <a:schemeClr val="tx1"/>
                </a:solidFill>
              </a:rPr>
              <a:t>参与者互不信任，又要公开可验证？</a:t>
            </a:r>
            <a:endParaRPr lang="en-US" sz="1400" dirty="0"/>
          </a:p>
          <a:p>
            <a:pPr algn="l" indent="0" marL="0">
              <a:lnSpc>
                <a:spcPct val="105000"/>
              </a:lnSpc>
              <a:buNone/>
            </a:pPr>
            <a:r>
              <a:rPr lang="en-US" sz="1400" b="1" dirty="0">
                <a:solidFill>
                  <a:schemeClr val="accent3"/>
                </a:solidFill>
              </a:rPr>
              <a:t>若是 → 才可能需要区块链</a:t>
            </a:r>
            <a:endParaRPr lang="en-US" sz="1400" dirty="0"/>
          </a:p>
        </p:txBody>
      </p:sp>
      <p:sp>
        <p:nvSpPr>
          <p:cNvPr id="25" name="Shape 22"/>
          <p:cNvSpPr/>
          <p:nvPr/>
        </p:nvSpPr>
        <p:spPr>
          <a:xfrm>
            <a:off x="5577840" y="1417320"/>
            <a:ext cx="3108960" cy="2217420"/>
          </a:xfrm>
          <a:prstGeom prst="roundRect">
            <a:avLst>
              <a:gd name="adj" fmla="val 3299"/>
            </a:avLst>
          </a:prstGeom>
          <a:solidFill>
            <a:schemeClr val="bg2"/>
          </a:solidFill>
          <a:ln w="12700">
            <a:solidFill>
              <a:schemeClr val="bg2">
                <a:alpha val="0"/>
              </a:schemeClr>
            </a:solidFill>
            <a:prstDash val="solid"/>
          </a:ln>
        </p:spPr>
      </p:sp>
      <p:sp>
        <p:nvSpPr>
          <p:cNvPr id="26" name="Shape 23"/>
          <p:cNvSpPr/>
          <p:nvPr/>
        </p:nvSpPr>
        <p:spPr>
          <a:xfrm>
            <a:off x="5760720" y="1581912"/>
            <a:ext cx="502920" cy="502920"/>
          </a:xfrm>
          <a:prstGeom prst="ellipse">
            <a:avLst/>
          </a:prstGeom>
          <a:solidFill>
            <a:schemeClr val="accent1"/>
          </a:solidFill>
          <a:ln w="12700">
            <a:solidFill>
              <a:schemeClr val="accent1">
                <a:alpha val="0"/>
              </a:schemeClr>
            </a:solidFill>
            <a:prstDash val="solid"/>
          </a:ln>
        </p:spPr>
      </p:sp>
      <p:pic>
        <p:nvPicPr>
          <p:cNvPr id="27" name="Image 0" descr="FaUniversity">    </p:cNvPr>
          <p:cNvPicPr>
            <a:picLocks noChangeAspect="1"/>
          </p:cNvPicPr>
          <p:nvPr/>
        </p:nvPicPr>
        <p:blipFill>
          <a:blip r:embed="rId1"/>
          <a:stretch>
            <a:fillRect/>
          </a:stretch>
        </p:blipFill>
        <p:spPr>
          <a:xfrm>
            <a:off x="5871362" y="1692554"/>
            <a:ext cx="281635" cy="281635"/>
          </a:xfrm>
          <a:prstGeom prst="rect">
            <a:avLst/>
          </a:prstGeom>
        </p:spPr>
      </p:pic>
      <p:sp>
        <p:nvSpPr>
          <p:cNvPr id="28" name="Text 24"/>
          <p:cNvSpPr txBox="1"/>
          <p:nvPr/>
        </p:nvSpPr>
        <p:spPr>
          <a:xfrm>
            <a:off x="5760720" y="2203704"/>
            <a:ext cx="274320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澳交所 CHESS 项目</a:t>
            </a:r>
            <a:endParaRPr lang="en-US" sz="1600" dirty="0"/>
          </a:p>
        </p:txBody>
      </p:sp>
      <p:sp>
        <p:nvSpPr>
          <p:cNvPr id="29" name="Text 25"/>
          <p:cNvSpPr txBox="1"/>
          <p:nvPr/>
        </p:nvSpPr>
        <p:spPr>
          <a:xfrm>
            <a:off x="5760720" y="2545080"/>
            <a:ext cx="2743200" cy="97993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用 DLT 替换清算系统，2022-11 放弃，减值约 2.5 亿澳元。</a:t>
            </a:r>
            <a:endParaRPr lang="en-US" sz="1400" dirty="0"/>
          </a:p>
        </p:txBody>
      </p:sp>
      <p:sp>
        <p:nvSpPr>
          <p:cNvPr id="30" name="Shape 26"/>
          <p:cNvSpPr/>
          <p:nvPr/>
        </p:nvSpPr>
        <p:spPr>
          <a:xfrm>
            <a:off x="5577840" y="3771900"/>
            <a:ext cx="3108960" cy="2217420"/>
          </a:xfrm>
          <a:prstGeom prst="roundRect">
            <a:avLst>
              <a:gd name="adj" fmla="val 3299"/>
            </a:avLst>
          </a:prstGeom>
          <a:solidFill>
            <a:schemeClr val="bg2"/>
          </a:solidFill>
          <a:ln w="12700">
            <a:solidFill>
              <a:schemeClr val="bg2">
                <a:alpha val="0"/>
              </a:schemeClr>
            </a:solidFill>
            <a:prstDash val="solid"/>
          </a:ln>
        </p:spPr>
      </p:sp>
      <p:sp>
        <p:nvSpPr>
          <p:cNvPr id="31" name="Shape 27"/>
          <p:cNvSpPr/>
          <p:nvPr/>
        </p:nvSpPr>
        <p:spPr>
          <a:xfrm>
            <a:off x="5760720" y="3936492"/>
            <a:ext cx="502920" cy="502920"/>
          </a:xfrm>
          <a:prstGeom prst="ellipse">
            <a:avLst/>
          </a:prstGeom>
          <a:solidFill>
            <a:schemeClr val="accent1"/>
          </a:solidFill>
          <a:ln w="12700">
            <a:solidFill>
              <a:schemeClr val="accent1">
                <a:alpha val="0"/>
              </a:schemeClr>
            </a:solidFill>
            <a:prstDash val="solid"/>
          </a:ln>
        </p:spPr>
      </p:sp>
      <p:pic>
        <p:nvPicPr>
          <p:cNvPr id="32" name="Image 1" descr="FaIndustry">    </p:cNvPr>
          <p:cNvPicPr>
            <a:picLocks noChangeAspect="1"/>
          </p:cNvPicPr>
          <p:nvPr/>
        </p:nvPicPr>
        <p:blipFill>
          <a:blip r:embed="rId2"/>
          <a:stretch>
            <a:fillRect/>
          </a:stretch>
        </p:blipFill>
        <p:spPr>
          <a:xfrm>
            <a:off x="5871362" y="4047134"/>
            <a:ext cx="281635" cy="281635"/>
          </a:xfrm>
          <a:prstGeom prst="rect">
            <a:avLst/>
          </a:prstGeom>
        </p:spPr>
      </p:pic>
      <p:sp>
        <p:nvSpPr>
          <p:cNvPr id="33" name="Text 28"/>
          <p:cNvSpPr txBox="1"/>
          <p:nvPr/>
        </p:nvSpPr>
        <p:spPr>
          <a:xfrm>
            <a:off x="5760720" y="4558284"/>
            <a:ext cx="274320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TradeLens</a:t>
            </a:r>
            <a:endParaRPr lang="en-US" sz="1600" dirty="0"/>
          </a:p>
        </p:txBody>
      </p:sp>
      <p:sp>
        <p:nvSpPr>
          <p:cNvPr id="34" name="Text 29"/>
          <p:cNvSpPr txBox="1"/>
          <p:nvPr/>
        </p:nvSpPr>
        <p:spPr>
          <a:xfrm>
            <a:off x="5760720" y="4899660"/>
            <a:ext cx="2743200" cy="979932"/>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IBM–马士基航运区块链，2022-11 宣布停运。</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从“边缘实验”到“主流资产”：2024–2026</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成就</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来源：SEC；美国白宫（2025-03-06 行政令）；GENIUS Act（2025-07-18）；公开行情与清算数据；Bernstein / Fidelity（2026-02）</a:t>
            </a:r>
            <a:endParaRPr lang="en-US" sz="1000" dirty="0"/>
          </a:p>
        </p:txBody>
      </p:sp>
      <p:sp>
        <p:nvSpPr>
          <p:cNvPr id="6" name="Shape 3"/>
          <p:cNvSpPr/>
          <p:nvPr/>
        </p:nvSpPr>
        <p:spPr>
          <a:xfrm>
            <a:off x="1984248" y="1703070"/>
            <a:ext cx="0" cy="3314700"/>
          </a:xfrm>
          <a:prstGeom prst="line">
            <a:avLst/>
          </a:prstGeom>
          <a:noFill/>
          <a:ln w="19050">
            <a:solidFill>
              <a:schemeClr val="accent5"/>
            </a:solidFill>
            <a:prstDash val="solid"/>
          </a:ln>
        </p:spPr>
      </p:sp>
      <p:sp>
        <p:nvSpPr>
          <p:cNvPr id="7" name="Shape 4"/>
          <p:cNvSpPr/>
          <p:nvPr/>
        </p:nvSpPr>
        <p:spPr>
          <a:xfrm>
            <a:off x="457200" y="1547622"/>
            <a:ext cx="1325880" cy="310896"/>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457200" y="154762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2024-01-10</a:t>
            </a:r>
            <a:endParaRPr lang="en-US" sz="1200" dirty="0"/>
          </a:p>
        </p:txBody>
      </p:sp>
      <p:sp>
        <p:nvSpPr>
          <p:cNvPr id="9" name="Shape 6"/>
          <p:cNvSpPr/>
          <p:nvPr/>
        </p:nvSpPr>
        <p:spPr>
          <a:xfrm>
            <a:off x="1911096" y="1629918"/>
            <a:ext cx="146304" cy="146304"/>
          </a:xfrm>
          <a:prstGeom prst="ellipse">
            <a:avLst/>
          </a:prstGeom>
          <a:solidFill>
            <a:schemeClr val="accent4"/>
          </a:solidFill>
          <a:ln w="12700">
            <a:solidFill>
              <a:schemeClr val="accent4">
                <a:alpha val="0"/>
              </a:schemeClr>
            </a:solidFill>
            <a:prstDash val="solid"/>
          </a:ln>
        </p:spPr>
      </p:sp>
      <p:sp>
        <p:nvSpPr>
          <p:cNvPr id="10" name="Text 7"/>
          <p:cNvSpPr txBox="1"/>
          <p:nvPr/>
        </p:nvSpPr>
        <p:spPr>
          <a:xfrm>
            <a:off x="2240280" y="1389888"/>
            <a:ext cx="6446520" cy="6263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美国批准首批现货比特币 ETF</a:t>
            </a:r>
            <a:endParaRPr lang="en-US" sz="1300" dirty="0"/>
          </a:p>
          <a:p>
            <a:pPr algn="l" indent="0" marL="0">
              <a:lnSpc>
                <a:spcPct val="105000"/>
              </a:lnSpc>
              <a:buNone/>
            </a:pPr>
            <a:r>
              <a:rPr lang="en-US" sz="1300" dirty="0">
                <a:solidFill>
                  <a:schemeClr val="accent4"/>
                </a:solidFill>
              </a:rPr>
              <a:t>传统投资者可通过证券账户持有</a:t>
            </a:r>
            <a:endParaRPr lang="en-US" sz="1300" dirty="0"/>
          </a:p>
        </p:txBody>
      </p:sp>
      <p:sp>
        <p:nvSpPr>
          <p:cNvPr id="11" name="Shape 8"/>
          <p:cNvSpPr/>
          <p:nvPr/>
        </p:nvSpPr>
        <p:spPr>
          <a:xfrm>
            <a:off x="457200" y="2210562"/>
            <a:ext cx="1325880" cy="310896"/>
          </a:xfrm>
          <a:prstGeom prst="roundRect">
            <a:avLst>
              <a:gd name="adj" fmla="val 50000"/>
            </a:avLst>
          </a:prstGeom>
          <a:solidFill>
            <a:schemeClr val="tx1"/>
          </a:solidFill>
          <a:ln w="12700">
            <a:solidFill>
              <a:schemeClr val="tx1">
                <a:alpha val="0"/>
              </a:schemeClr>
            </a:solidFill>
            <a:prstDash val="solid"/>
          </a:ln>
        </p:spPr>
      </p:sp>
      <p:sp>
        <p:nvSpPr>
          <p:cNvPr id="12" name="Text 9"/>
          <p:cNvSpPr txBox="1"/>
          <p:nvPr/>
        </p:nvSpPr>
        <p:spPr>
          <a:xfrm>
            <a:off x="457200" y="221056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2024-04-20</a:t>
            </a:r>
            <a:endParaRPr lang="en-US" sz="1200" dirty="0"/>
          </a:p>
        </p:txBody>
      </p:sp>
      <p:sp>
        <p:nvSpPr>
          <p:cNvPr id="13" name="Shape 10"/>
          <p:cNvSpPr/>
          <p:nvPr/>
        </p:nvSpPr>
        <p:spPr>
          <a:xfrm>
            <a:off x="1911096" y="2292858"/>
            <a:ext cx="146304" cy="146304"/>
          </a:xfrm>
          <a:prstGeom prst="ellipse">
            <a:avLst/>
          </a:prstGeom>
          <a:solidFill>
            <a:schemeClr val="accent4"/>
          </a:solidFill>
          <a:ln w="12700">
            <a:solidFill>
              <a:schemeClr val="accent4">
                <a:alpha val="0"/>
              </a:schemeClr>
            </a:solidFill>
            <a:prstDash val="solid"/>
          </a:ln>
        </p:spPr>
      </p:sp>
      <p:sp>
        <p:nvSpPr>
          <p:cNvPr id="14" name="Text 11"/>
          <p:cNvSpPr txBox="1"/>
          <p:nvPr/>
        </p:nvSpPr>
        <p:spPr>
          <a:xfrm>
            <a:off x="2240280" y="2052828"/>
            <a:ext cx="6446520" cy="6263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第四次减半</a:t>
            </a:r>
            <a:endParaRPr lang="en-US" sz="1300" dirty="0"/>
          </a:p>
          <a:p>
            <a:pPr algn="l" indent="0" marL="0">
              <a:lnSpc>
                <a:spcPct val="105000"/>
              </a:lnSpc>
              <a:buNone/>
            </a:pPr>
            <a:r>
              <a:rPr lang="en-US" sz="1300" dirty="0">
                <a:solidFill>
                  <a:schemeClr val="accent4"/>
                </a:solidFill>
              </a:rPr>
              <a:t>区块补贴降至 3.125 BTC</a:t>
            </a:r>
            <a:endParaRPr lang="en-US" sz="1300" dirty="0"/>
          </a:p>
        </p:txBody>
      </p:sp>
      <p:sp>
        <p:nvSpPr>
          <p:cNvPr id="15" name="Shape 12"/>
          <p:cNvSpPr/>
          <p:nvPr/>
        </p:nvSpPr>
        <p:spPr>
          <a:xfrm>
            <a:off x="457200" y="2873502"/>
            <a:ext cx="1325880" cy="310896"/>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457200" y="287350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2025-03-06</a:t>
            </a:r>
            <a:endParaRPr lang="en-US" sz="1200" dirty="0"/>
          </a:p>
        </p:txBody>
      </p:sp>
      <p:sp>
        <p:nvSpPr>
          <p:cNvPr id="17" name="Shape 14"/>
          <p:cNvSpPr/>
          <p:nvPr/>
        </p:nvSpPr>
        <p:spPr>
          <a:xfrm>
            <a:off x="1911096" y="2955798"/>
            <a:ext cx="146304" cy="146304"/>
          </a:xfrm>
          <a:prstGeom prst="ellipse">
            <a:avLst/>
          </a:prstGeom>
          <a:solidFill>
            <a:schemeClr val="accent4"/>
          </a:solidFill>
          <a:ln w="12700">
            <a:solidFill>
              <a:schemeClr val="accent4">
                <a:alpha val="0"/>
              </a:schemeClr>
            </a:solidFill>
            <a:prstDash val="solid"/>
          </a:ln>
        </p:spPr>
      </p:sp>
      <p:sp>
        <p:nvSpPr>
          <p:cNvPr id="18" name="Text 15"/>
          <p:cNvSpPr txBox="1"/>
          <p:nvPr/>
        </p:nvSpPr>
        <p:spPr>
          <a:xfrm>
            <a:off x="2240280" y="2715768"/>
            <a:ext cx="6446520" cy="6263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美国设立“战略比特币储备”</a:t>
            </a:r>
            <a:endParaRPr lang="en-US" sz="1300" dirty="0"/>
          </a:p>
          <a:p>
            <a:pPr algn="l" indent="0" marL="0">
              <a:lnSpc>
                <a:spcPct val="105000"/>
              </a:lnSpc>
              <a:buNone/>
            </a:pPr>
            <a:r>
              <a:rPr lang="en-US" sz="1300" dirty="0">
                <a:solidFill>
                  <a:schemeClr val="accent4"/>
                </a:solidFill>
              </a:rPr>
              <a:t>以政府已没收的比特币为基础（行政令）</a:t>
            </a:r>
            <a:endParaRPr lang="en-US" sz="1300" dirty="0"/>
          </a:p>
        </p:txBody>
      </p:sp>
      <p:sp>
        <p:nvSpPr>
          <p:cNvPr id="19" name="Shape 16"/>
          <p:cNvSpPr/>
          <p:nvPr/>
        </p:nvSpPr>
        <p:spPr>
          <a:xfrm>
            <a:off x="457200" y="3536442"/>
            <a:ext cx="1325880" cy="310896"/>
          </a:xfrm>
          <a:prstGeom prst="roundRect">
            <a:avLst>
              <a:gd name="adj" fmla="val 50000"/>
            </a:avLst>
          </a:prstGeom>
          <a:solidFill>
            <a:schemeClr val="tx1"/>
          </a:solidFill>
          <a:ln w="12700">
            <a:solidFill>
              <a:schemeClr val="tx1">
                <a:alpha val="0"/>
              </a:schemeClr>
            </a:solidFill>
            <a:prstDash val="solid"/>
          </a:ln>
        </p:spPr>
      </p:sp>
      <p:sp>
        <p:nvSpPr>
          <p:cNvPr id="20" name="Text 17"/>
          <p:cNvSpPr txBox="1"/>
          <p:nvPr/>
        </p:nvSpPr>
        <p:spPr>
          <a:xfrm>
            <a:off x="457200" y="353644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2025-07-18</a:t>
            </a:r>
            <a:endParaRPr lang="en-US" sz="1200" dirty="0"/>
          </a:p>
        </p:txBody>
      </p:sp>
      <p:sp>
        <p:nvSpPr>
          <p:cNvPr id="21" name="Shape 18"/>
          <p:cNvSpPr/>
          <p:nvPr/>
        </p:nvSpPr>
        <p:spPr>
          <a:xfrm>
            <a:off x="1911096" y="3618738"/>
            <a:ext cx="146304" cy="146304"/>
          </a:xfrm>
          <a:prstGeom prst="ellipse">
            <a:avLst/>
          </a:prstGeom>
          <a:solidFill>
            <a:schemeClr val="accent4"/>
          </a:solidFill>
          <a:ln w="12700">
            <a:solidFill>
              <a:schemeClr val="accent4">
                <a:alpha val="0"/>
              </a:schemeClr>
            </a:solidFill>
            <a:prstDash val="solid"/>
          </a:ln>
        </p:spPr>
      </p:sp>
      <p:sp>
        <p:nvSpPr>
          <p:cNvPr id="22" name="Text 19"/>
          <p:cNvSpPr txBox="1"/>
          <p:nvPr/>
        </p:nvSpPr>
        <p:spPr>
          <a:xfrm>
            <a:off x="2240280" y="3378708"/>
            <a:ext cx="6446520" cy="6263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美国签署 GENIUS 法案</a:t>
            </a:r>
            <a:endParaRPr lang="en-US" sz="1300" dirty="0"/>
          </a:p>
          <a:p>
            <a:pPr algn="l" indent="0" marL="0">
              <a:lnSpc>
                <a:spcPct val="105000"/>
              </a:lnSpc>
              <a:buNone/>
            </a:pPr>
            <a:r>
              <a:rPr lang="en-US" sz="1300" dirty="0">
                <a:solidFill>
                  <a:schemeClr val="accent4"/>
                </a:solidFill>
              </a:rPr>
              <a:t>稳定币监管框架</a:t>
            </a:r>
            <a:endParaRPr lang="en-US" sz="1300" dirty="0"/>
          </a:p>
        </p:txBody>
      </p:sp>
      <p:sp>
        <p:nvSpPr>
          <p:cNvPr id="23" name="Shape 20"/>
          <p:cNvSpPr/>
          <p:nvPr/>
        </p:nvSpPr>
        <p:spPr>
          <a:xfrm>
            <a:off x="457200" y="4199382"/>
            <a:ext cx="1325880" cy="310896"/>
          </a:xfrm>
          <a:prstGeom prst="roundRect">
            <a:avLst>
              <a:gd name="adj" fmla="val 50000"/>
            </a:avLst>
          </a:prstGeom>
          <a:solidFill>
            <a:schemeClr val="accent1"/>
          </a:solidFill>
          <a:ln w="12700">
            <a:solidFill>
              <a:schemeClr val="accent1">
                <a:alpha val="0"/>
              </a:schemeClr>
            </a:solidFill>
            <a:prstDash val="solid"/>
          </a:ln>
        </p:spPr>
      </p:sp>
      <p:sp>
        <p:nvSpPr>
          <p:cNvPr id="24" name="Text 21"/>
          <p:cNvSpPr txBox="1"/>
          <p:nvPr/>
        </p:nvSpPr>
        <p:spPr>
          <a:xfrm>
            <a:off x="457200" y="4199382"/>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2025-10-06</a:t>
            </a:r>
            <a:endParaRPr lang="en-US" sz="1200" dirty="0"/>
          </a:p>
        </p:txBody>
      </p:sp>
      <p:sp>
        <p:nvSpPr>
          <p:cNvPr id="25" name="Shape 22"/>
          <p:cNvSpPr/>
          <p:nvPr/>
        </p:nvSpPr>
        <p:spPr>
          <a:xfrm>
            <a:off x="1911096" y="4281678"/>
            <a:ext cx="146304" cy="146304"/>
          </a:xfrm>
          <a:prstGeom prst="ellipse">
            <a:avLst/>
          </a:prstGeom>
          <a:solidFill>
            <a:schemeClr val="accent1"/>
          </a:solidFill>
          <a:ln w="12700">
            <a:solidFill>
              <a:schemeClr val="accent1">
                <a:alpha val="0"/>
              </a:schemeClr>
            </a:solidFill>
            <a:prstDash val="solid"/>
          </a:ln>
        </p:spPr>
      </p:sp>
      <p:sp>
        <p:nvSpPr>
          <p:cNvPr id="26" name="Text 23"/>
          <p:cNvSpPr txBox="1"/>
          <p:nvPr/>
        </p:nvSpPr>
        <p:spPr>
          <a:xfrm>
            <a:off x="2240280" y="4041648"/>
            <a:ext cx="6446520" cy="6263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价格创历史高点（约 12.6 万美元）</a:t>
            </a:r>
            <a:endParaRPr lang="en-US" sz="1300" dirty="0"/>
          </a:p>
          <a:p>
            <a:pPr algn="l" indent="0" marL="0">
              <a:lnSpc>
                <a:spcPct val="105000"/>
              </a:lnSpc>
              <a:buNone/>
            </a:pPr>
            <a:r>
              <a:rPr lang="en-US" sz="1300" dirty="0">
                <a:solidFill>
                  <a:schemeClr val="accent4"/>
                </a:solidFill>
              </a:rPr>
              <a:t>10 月 10 日单日约 190 亿美元杠杆头寸被清算</a:t>
            </a:r>
            <a:endParaRPr lang="en-US" sz="1300" dirty="0"/>
          </a:p>
        </p:txBody>
      </p:sp>
      <p:sp>
        <p:nvSpPr>
          <p:cNvPr id="27" name="Shape 24"/>
          <p:cNvSpPr/>
          <p:nvPr/>
        </p:nvSpPr>
        <p:spPr>
          <a:xfrm>
            <a:off x="457200" y="4862322"/>
            <a:ext cx="1325880" cy="310896"/>
          </a:xfrm>
          <a:prstGeom prst="roundRect">
            <a:avLst>
              <a:gd name="adj" fmla="val 50000"/>
            </a:avLst>
          </a:prstGeom>
          <a:solidFill>
            <a:schemeClr val="tx1"/>
          </a:solidFill>
          <a:ln w="12700">
            <a:solidFill>
              <a:schemeClr val="tx1">
                <a:alpha val="0"/>
              </a:schemeClr>
            </a:solidFill>
            <a:prstDash val="solid"/>
          </a:ln>
        </p:spPr>
      </p:sp>
      <p:sp>
        <p:nvSpPr>
          <p:cNvPr id="28" name="Text 25"/>
          <p:cNvSpPr txBox="1"/>
          <p:nvPr/>
        </p:nvSpPr>
        <p:spPr>
          <a:xfrm>
            <a:off x="457200" y="486232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2026-02</a:t>
            </a:r>
            <a:endParaRPr lang="en-US" sz="1200" dirty="0"/>
          </a:p>
        </p:txBody>
      </p:sp>
      <p:sp>
        <p:nvSpPr>
          <p:cNvPr id="29" name="Shape 26"/>
          <p:cNvSpPr/>
          <p:nvPr/>
        </p:nvSpPr>
        <p:spPr>
          <a:xfrm>
            <a:off x="1911096" y="4944618"/>
            <a:ext cx="146304" cy="146304"/>
          </a:xfrm>
          <a:prstGeom prst="ellipse">
            <a:avLst/>
          </a:prstGeom>
          <a:solidFill>
            <a:schemeClr val="accent4"/>
          </a:solidFill>
          <a:ln w="12700">
            <a:solidFill>
              <a:schemeClr val="accent4">
                <a:alpha val="0"/>
              </a:schemeClr>
            </a:solidFill>
            <a:prstDash val="solid"/>
          </a:ln>
        </p:spPr>
      </p:sp>
      <p:sp>
        <p:nvSpPr>
          <p:cNvPr id="30" name="Text 27"/>
          <p:cNvSpPr txBox="1"/>
          <p:nvPr/>
        </p:nvSpPr>
        <p:spPr>
          <a:xfrm>
            <a:off x="2240280" y="4704588"/>
            <a:ext cx="6446520" cy="6263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回撤至约 6 万美元</a:t>
            </a:r>
            <a:endParaRPr lang="en-US" sz="1300" dirty="0"/>
          </a:p>
          <a:p>
            <a:pPr algn="l" indent="0" marL="0">
              <a:lnSpc>
                <a:spcPct val="105000"/>
              </a:lnSpc>
              <a:buNone/>
            </a:pPr>
            <a:r>
              <a:rPr lang="en-US" sz="1300" dirty="0">
                <a:solidFill>
                  <a:schemeClr val="accent4"/>
                </a:solidFill>
              </a:rPr>
              <a:t>较高点约 −52%</a:t>
            </a:r>
            <a:endParaRPr lang="en-US" sz="1300" dirty="0"/>
          </a:p>
        </p:txBody>
      </p:sp>
      <p:sp>
        <p:nvSpPr>
          <p:cNvPr id="31" name="Shape 28"/>
          <p:cNvSpPr/>
          <p:nvPr/>
        </p:nvSpPr>
        <p:spPr>
          <a:xfrm>
            <a:off x="457200" y="5486400"/>
            <a:ext cx="8229600" cy="640080"/>
          </a:xfrm>
          <a:prstGeom prst="roundRect">
            <a:avLst>
              <a:gd name="adj" fmla="val 11429"/>
            </a:avLst>
          </a:prstGeom>
          <a:solidFill>
            <a:schemeClr val="accent2">
              <a:alpha val="12000"/>
            </a:schemeClr>
          </a:solidFill>
          <a:ln w="12700">
            <a:solidFill>
              <a:schemeClr val="accent2">
                <a:alpha val="0"/>
              </a:schemeClr>
            </a:solidFill>
            <a:prstDash val="solid"/>
          </a:ln>
        </p:spPr>
      </p:sp>
      <p:pic>
        <p:nvPicPr>
          <p:cNvPr id="32" name="Image 0" descr="warn">    </p:cNvPr>
          <p:cNvPicPr>
            <a:picLocks noChangeAspect="1"/>
          </p:cNvPicPr>
          <p:nvPr/>
        </p:nvPicPr>
        <p:blipFill>
          <a:blip r:embed="rId1"/>
          <a:stretch>
            <a:fillRect/>
          </a:stretch>
        </p:blipFill>
        <p:spPr>
          <a:xfrm>
            <a:off x="640080" y="5614416"/>
            <a:ext cx="384048" cy="384048"/>
          </a:xfrm>
          <a:prstGeom prst="rect">
            <a:avLst/>
          </a:prstGeom>
        </p:spPr>
      </p:pic>
      <p:sp>
        <p:nvSpPr>
          <p:cNvPr id="33" name="Text 29"/>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主流化 ≠ 价值有保证：价格依然大起大落，杠杆与高波动并存。</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共识算法：工作量证明并不是唯一的答案</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成就</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来源：Ethereum Foundation（2022-09-15 合并）；Hyperledger / R3 文档</a:t>
            </a:r>
            <a:endParaRPr lang="en-US" sz="10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371600"/>
                <a:gridCol w="2103120"/>
                <a:gridCol w="2834640"/>
                <a:gridCol w="1920240"/>
              </a:tblGrid>
              <a:tr h="457200">
                <a:tc>
                  <a:txBody>
                    <a:bodyPr/>
                    <a:lstStyle/>
                    <a:p>
                      <a:pPr algn="l" indent="0" marL="0">
                        <a:buNone/>
                      </a:pP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工作量证明 PoW</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权益证明 PoS</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许可链共识</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658368">
                <a:tc>
                  <a:txBody>
                    <a:bodyPr/>
                    <a:lstStyle/>
                    <a:p>
                      <a:pPr algn="l" indent="0" marL="0">
                        <a:buNone/>
                      </a:pPr>
                      <a:r>
                        <a:rPr lang="en-US" sz="1400" b="1" dirty="0">
                          <a:solidFill>
                            <a:schemeClr val="tx1"/>
                          </a:solidFill>
                        </a:rPr>
                        <a:t>谁有权出块</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算力竞争</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质押的币（按权重选出）</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被授权的成员</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658368">
                <a:tc>
                  <a:txBody>
                    <a:bodyPr/>
                    <a:lstStyle/>
                    <a:p>
                      <a:pPr algn="l" indent="0" marL="0">
                        <a:buNone/>
                      </a:pPr>
                      <a:r>
                        <a:rPr lang="en-US" sz="1400" b="1" dirty="0">
                          <a:solidFill>
                            <a:schemeClr val="tx1"/>
                          </a:solidFill>
                        </a:rPr>
                        <a:t>安全来自</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电力与硬件成本</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作恶会被罚没质押</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成员身份与法律责任</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658368">
                <a:tc>
                  <a:txBody>
                    <a:bodyPr/>
                    <a:lstStyle/>
                    <a:p>
                      <a:pPr algn="l" indent="0" marL="0">
                        <a:buNone/>
                      </a:pPr>
                      <a:r>
                        <a:rPr lang="en-US" sz="1400" b="1" dirty="0">
                          <a:solidFill>
                            <a:schemeClr val="tx1"/>
                          </a:solidFill>
                        </a:rPr>
                        <a:t>能耗</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高</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极低（以太坊合并后约 −99.95%）</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低</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658368">
                <a:tc>
                  <a:txBody>
                    <a:bodyPr/>
                    <a:lstStyle/>
                    <a:p>
                      <a:pPr algn="l" indent="0" marL="0">
                        <a:buNone/>
                      </a:pPr>
                      <a:r>
                        <a:rPr lang="en-US" sz="1400" b="1" dirty="0">
                          <a:solidFill>
                            <a:schemeClr val="tx1"/>
                          </a:solidFill>
                        </a:rPr>
                        <a:t>代表</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比特币</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以太坊（2022-09 起）</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Hyperledger Fabric、Corda</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658368">
                <a:tc>
                  <a:txBody>
                    <a:bodyPr/>
                    <a:lstStyle/>
                    <a:p>
                      <a:pPr algn="l" indent="0" marL="0">
                        <a:buNone/>
                      </a:pPr>
                      <a:r>
                        <a:rPr lang="en-US" sz="1400" b="1" dirty="0">
                          <a:solidFill>
                            <a:schemeClr val="tx1"/>
                          </a:solidFill>
                        </a:rPr>
                        <a:t>主要争议</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耗电、矿池集中</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“富者愈富”</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去中心化程度低</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bl>
          </a:graphicData>
        </a:graphic>
      </p:graphicFrame>
      <p:sp>
        <p:nvSpPr>
          <p:cNvPr id="7" name="Shape 3"/>
          <p:cNvSpPr/>
          <p:nvPr/>
        </p:nvSpPr>
        <p:spPr>
          <a:xfrm>
            <a:off x="457200" y="548640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8" name="Image 0" descr="key">    </p:cNvPr>
          <p:cNvPicPr>
            <a:picLocks noChangeAspect="1"/>
          </p:cNvPicPr>
          <p:nvPr/>
        </p:nvPicPr>
        <p:blipFill>
          <a:blip r:embed="rId1"/>
          <a:stretch>
            <a:fillRect/>
          </a:stretch>
        </p:blipFill>
        <p:spPr>
          <a:xfrm>
            <a:off x="640080" y="5614416"/>
            <a:ext cx="384048" cy="384048"/>
          </a:xfrm>
          <a:prstGeom prst="rect">
            <a:avLst/>
          </a:prstGeom>
        </p:spPr>
      </p:pic>
      <p:sp>
        <p:nvSpPr>
          <p:cNvPr id="9" name="Text 4"/>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共识算法常常是区块链设计中</a:t>
            </a:r>
            <a:pPr algn="l" indent="0" marL="0">
              <a:lnSpc>
                <a:spcPct val="105000"/>
              </a:lnSpc>
              <a:buNone/>
            </a:pPr>
            <a:r>
              <a:rPr lang="en-US" sz="1600" b="1" dirty="0">
                <a:solidFill>
                  <a:schemeClr val="tx1"/>
                </a:solidFill>
              </a:rPr>
              <a:t>最复杂、也最具争议</a:t>
            </a:r>
            <a:pPr algn="l" indent="0" marL="0">
              <a:lnSpc>
                <a:spcPct val="105000"/>
              </a:lnSpc>
              <a:buNone/>
            </a:pPr>
            <a:r>
              <a:rPr lang="en-US" sz="1600" dirty="0">
                <a:solidFill>
                  <a:schemeClr val="tx1"/>
                </a:solidFill>
              </a:rPr>
              <a:t>的部分。</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08</a:t>
            </a:r>
            <a:endParaRPr lang="en-US" sz="9600" dirty="0"/>
          </a:p>
        </p:txBody>
      </p:sp>
      <p:pic>
        <p:nvPicPr>
          <p:cNvPr id="3" name="Image 0" descr="FaBalanceScale">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不足：作为“货币”，它及格吗？</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用货币的三种职能和四个要求逐项检验：价值稳定、支付效率、安全、隐私、能耗、价值基础。</a:t>
            </a: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用同一把尺子：货币的三种职能</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a:t>
            </a:r>
            <a:endParaRPr lang="en-US" sz="1200" dirty="0"/>
          </a:p>
        </p:txBody>
      </p:sp>
      <p:sp>
        <p:nvSpPr>
          <p:cNvPr id="5" name="Shape 2"/>
          <p:cNvSpPr/>
          <p:nvPr/>
        </p:nvSpPr>
        <p:spPr>
          <a:xfrm>
            <a:off x="457200" y="1417320"/>
            <a:ext cx="8229600" cy="1234440"/>
          </a:xfrm>
          <a:prstGeom prst="roundRect">
            <a:avLst>
              <a:gd name="adj" fmla="val 5926"/>
            </a:avLst>
          </a:prstGeom>
          <a:solidFill>
            <a:schemeClr val="bg2"/>
          </a:solidFill>
          <a:ln w="12700">
            <a:solidFill>
              <a:schemeClr val="bg2">
                <a:alpha val="0"/>
              </a:schemeClr>
            </a:solidFill>
            <a:prstDash val="solid"/>
          </a:ln>
        </p:spPr>
      </p:sp>
      <p:sp>
        <p:nvSpPr>
          <p:cNvPr id="6" name="Text 3"/>
          <p:cNvSpPr txBox="1"/>
          <p:nvPr/>
        </p:nvSpPr>
        <p:spPr>
          <a:xfrm>
            <a:off x="640080" y="1508760"/>
            <a:ext cx="2194560" cy="1051560"/>
          </a:xfrm>
          <a:prstGeom prst="rect">
            <a:avLst/>
          </a:prstGeom>
          <a:noFill/>
          <a:ln/>
        </p:spPr>
        <p:txBody>
          <a:bodyPr wrap="square" lIns="0" tIns="0" rIns="0" bIns="0" rtlCol="0" anchor="ctr"/>
          <a:lstStyle/>
          <a:p>
            <a:pPr algn="l" indent="0" marL="0">
              <a:lnSpc>
                <a:spcPct val="105000"/>
              </a:lnSpc>
              <a:spcAft>
                <a:spcPts val="300"/>
              </a:spcAft>
              <a:buNone/>
            </a:pPr>
            <a:r>
              <a:rPr lang="en-US" sz="2000" b="1" dirty="0">
                <a:solidFill>
                  <a:schemeClr val="tx1"/>
                </a:solidFill>
              </a:rPr>
              <a:t>交换媒介</a:t>
            </a:r>
            <a:endParaRPr lang="en-US" sz="1400" dirty="0"/>
          </a:p>
          <a:p>
            <a:pPr algn="l" indent="0" marL="0">
              <a:lnSpc>
                <a:spcPct val="105000"/>
              </a:lnSpc>
              <a:buNone/>
            </a:pPr>
            <a:r>
              <a:rPr lang="en-US" sz="1300" dirty="0">
                <a:solidFill>
                  <a:schemeClr val="accent4"/>
                </a:solidFill>
              </a:rPr>
              <a:t>要求：快、便宜、可扩展</a:t>
            </a:r>
            <a:endParaRPr lang="en-US" sz="1400" dirty="0"/>
          </a:p>
        </p:txBody>
      </p:sp>
      <p:sp>
        <p:nvSpPr>
          <p:cNvPr id="7" name="Text 4"/>
          <p:cNvSpPr txBox="1"/>
          <p:nvPr/>
        </p:nvSpPr>
        <p:spPr>
          <a:xfrm>
            <a:off x="2926080" y="1508760"/>
            <a:ext cx="3840480" cy="1051560"/>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约 3–7 笔/秒；手续费波动；确认慢。小额靠闪电网络</a:t>
            </a:r>
            <a:endParaRPr lang="en-US" sz="1500" dirty="0"/>
          </a:p>
        </p:txBody>
      </p:sp>
      <p:sp>
        <p:nvSpPr>
          <p:cNvPr id="8" name="Shape 5"/>
          <p:cNvSpPr/>
          <p:nvPr/>
        </p:nvSpPr>
        <p:spPr>
          <a:xfrm>
            <a:off x="6949440" y="1810512"/>
            <a:ext cx="1554480" cy="457200"/>
          </a:xfrm>
          <a:prstGeom prst="roundRect">
            <a:avLst>
              <a:gd name="adj" fmla="val 50000"/>
            </a:avLst>
          </a:prstGeom>
          <a:solidFill>
            <a:schemeClr val="accent1"/>
          </a:solidFill>
          <a:ln w="12700">
            <a:solidFill>
              <a:schemeClr val="accent1">
                <a:alpha val="0"/>
              </a:schemeClr>
            </a:solidFill>
            <a:prstDash val="solid"/>
          </a:ln>
        </p:spPr>
      </p:sp>
      <p:sp>
        <p:nvSpPr>
          <p:cNvPr id="9" name="Text 6"/>
          <p:cNvSpPr txBox="1"/>
          <p:nvPr/>
        </p:nvSpPr>
        <p:spPr>
          <a:xfrm>
            <a:off x="6949440" y="1810512"/>
            <a:ext cx="1554480" cy="457200"/>
          </a:xfrm>
          <a:prstGeom prst="rect">
            <a:avLst/>
          </a:prstGeom>
          <a:noFill/>
          <a:ln/>
        </p:spPr>
        <p:txBody>
          <a:bodyPr wrap="square" lIns="0" tIns="0" rIns="0" bIns="0" rtlCol="0" anchor="ctr"/>
          <a:lstStyle/>
          <a:p>
            <a:pPr algn="ctr" indent="0" marL="0">
              <a:buNone/>
            </a:pPr>
            <a:r>
              <a:rPr lang="en-US" sz="1500" b="1" dirty="0">
                <a:solidFill>
                  <a:schemeClr val="tx1"/>
                </a:solidFill>
              </a:rPr>
              <a:t>△ 勉强</a:t>
            </a:r>
            <a:endParaRPr lang="en-US" sz="1500" dirty="0"/>
          </a:p>
        </p:txBody>
      </p:sp>
      <p:sp>
        <p:nvSpPr>
          <p:cNvPr id="10" name="Shape 7"/>
          <p:cNvSpPr/>
          <p:nvPr/>
        </p:nvSpPr>
        <p:spPr>
          <a:xfrm>
            <a:off x="457200" y="2788920"/>
            <a:ext cx="8229600" cy="1234440"/>
          </a:xfrm>
          <a:prstGeom prst="roundRect">
            <a:avLst>
              <a:gd name="adj" fmla="val 5926"/>
            </a:avLst>
          </a:prstGeom>
          <a:solidFill>
            <a:schemeClr val="bg2"/>
          </a:solidFill>
          <a:ln w="12700">
            <a:solidFill>
              <a:schemeClr val="bg2">
                <a:alpha val="0"/>
              </a:schemeClr>
            </a:solidFill>
            <a:prstDash val="solid"/>
          </a:ln>
        </p:spPr>
      </p:sp>
      <p:sp>
        <p:nvSpPr>
          <p:cNvPr id="11" name="Text 8"/>
          <p:cNvSpPr txBox="1"/>
          <p:nvPr/>
        </p:nvSpPr>
        <p:spPr>
          <a:xfrm>
            <a:off x="640080" y="2880360"/>
            <a:ext cx="2194560" cy="1051560"/>
          </a:xfrm>
          <a:prstGeom prst="rect">
            <a:avLst/>
          </a:prstGeom>
          <a:noFill/>
          <a:ln/>
        </p:spPr>
        <p:txBody>
          <a:bodyPr wrap="square" lIns="0" tIns="0" rIns="0" bIns="0" rtlCol="0" anchor="ctr"/>
          <a:lstStyle/>
          <a:p>
            <a:pPr algn="l" indent="0" marL="0">
              <a:lnSpc>
                <a:spcPct val="105000"/>
              </a:lnSpc>
              <a:spcAft>
                <a:spcPts val="300"/>
              </a:spcAft>
              <a:buNone/>
            </a:pPr>
            <a:r>
              <a:rPr lang="en-US" sz="2000" b="1" dirty="0">
                <a:solidFill>
                  <a:schemeClr val="tx1"/>
                </a:solidFill>
              </a:rPr>
              <a:t>计价单位</a:t>
            </a:r>
            <a:endParaRPr lang="en-US" sz="1400" dirty="0"/>
          </a:p>
          <a:p>
            <a:pPr algn="l" indent="0" marL="0">
              <a:lnSpc>
                <a:spcPct val="105000"/>
              </a:lnSpc>
              <a:buNone/>
            </a:pPr>
            <a:r>
              <a:rPr lang="en-US" sz="1300" dirty="0">
                <a:solidFill>
                  <a:schemeClr val="accent4"/>
                </a:solidFill>
              </a:rPr>
              <a:t>要求：价值相对稳定</a:t>
            </a:r>
            <a:endParaRPr lang="en-US" sz="1400" dirty="0"/>
          </a:p>
        </p:txBody>
      </p:sp>
      <p:sp>
        <p:nvSpPr>
          <p:cNvPr id="12" name="Text 9"/>
          <p:cNvSpPr txBox="1"/>
          <p:nvPr/>
        </p:nvSpPr>
        <p:spPr>
          <a:xfrm>
            <a:off x="2926080" y="2880360"/>
            <a:ext cx="3840480" cy="1051560"/>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波动率远高于法币与黄金；几乎没有商品用比特币标价</a:t>
            </a:r>
            <a:endParaRPr lang="en-US" sz="1500" dirty="0"/>
          </a:p>
        </p:txBody>
      </p:sp>
      <p:sp>
        <p:nvSpPr>
          <p:cNvPr id="13" name="Shape 10"/>
          <p:cNvSpPr/>
          <p:nvPr/>
        </p:nvSpPr>
        <p:spPr>
          <a:xfrm>
            <a:off x="6949440" y="3182112"/>
            <a:ext cx="1554480" cy="457200"/>
          </a:xfrm>
          <a:prstGeom prst="roundRect">
            <a:avLst>
              <a:gd name="adj" fmla="val 50000"/>
            </a:avLst>
          </a:prstGeom>
          <a:solidFill>
            <a:schemeClr val="accent2"/>
          </a:solidFill>
          <a:ln w="12700">
            <a:solidFill>
              <a:schemeClr val="accent2">
                <a:alpha val="0"/>
              </a:schemeClr>
            </a:solidFill>
            <a:prstDash val="solid"/>
          </a:ln>
        </p:spPr>
      </p:sp>
      <p:sp>
        <p:nvSpPr>
          <p:cNvPr id="14" name="Text 11"/>
          <p:cNvSpPr txBox="1"/>
          <p:nvPr/>
        </p:nvSpPr>
        <p:spPr>
          <a:xfrm>
            <a:off x="6949440" y="3182112"/>
            <a:ext cx="1554480" cy="457200"/>
          </a:xfrm>
          <a:prstGeom prst="rect">
            <a:avLst/>
          </a:prstGeom>
          <a:noFill/>
          <a:ln/>
        </p:spPr>
        <p:txBody>
          <a:bodyPr wrap="square" lIns="0" tIns="0" rIns="0" bIns="0" rtlCol="0" anchor="ctr"/>
          <a:lstStyle/>
          <a:p>
            <a:pPr algn="ctr" indent="0" marL="0">
              <a:buNone/>
            </a:pPr>
            <a:r>
              <a:rPr lang="en-US" sz="1500" b="1" dirty="0">
                <a:solidFill>
                  <a:schemeClr val="bg1"/>
                </a:solidFill>
              </a:rPr>
              <a:t>✗ 不及格</a:t>
            </a:r>
            <a:endParaRPr lang="en-US" sz="1500" dirty="0"/>
          </a:p>
        </p:txBody>
      </p:sp>
      <p:sp>
        <p:nvSpPr>
          <p:cNvPr id="15" name="Shape 12"/>
          <p:cNvSpPr/>
          <p:nvPr/>
        </p:nvSpPr>
        <p:spPr>
          <a:xfrm>
            <a:off x="457200" y="4160520"/>
            <a:ext cx="8229600" cy="1234440"/>
          </a:xfrm>
          <a:prstGeom prst="roundRect">
            <a:avLst>
              <a:gd name="adj" fmla="val 5926"/>
            </a:avLst>
          </a:prstGeom>
          <a:solidFill>
            <a:schemeClr val="bg2"/>
          </a:solidFill>
          <a:ln w="12700">
            <a:solidFill>
              <a:schemeClr val="bg2">
                <a:alpha val="0"/>
              </a:schemeClr>
            </a:solidFill>
            <a:prstDash val="solid"/>
          </a:ln>
        </p:spPr>
      </p:sp>
      <p:sp>
        <p:nvSpPr>
          <p:cNvPr id="16" name="Text 13"/>
          <p:cNvSpPr txBox="1"/>
          <p:nvPr/>
        </p:nvSpPr>
        <p:spPr>
          <a:xfrm>
            <a:off x="640080" y="4251960"/>
            <a:ext cx="2194560" cy="1051560"/>
          </a:xfrm>
          <a:prstGeom prst="rect">
            <a:avLst/>
          </a:prstGeom>
          <a:noFill/>
          <a:ln/>
        </p:spPr>
        <p:txBody>
          <a:bodyPr wrap="square" lIns="0" tIns="0" rIns="0" bIns="0" rtlCol="0" anchor="ctr"/>
          <a:lstStyle/>
          <a:p>
            <a:pPr algn="l" indent="0" marL="0">
              <a:lnSpc>
                <a:spcPct val="105000"/>
              </a:lnSpc>
              <a:spcAft>
                <a:spcPts val="300"/>
              </a:spcAft>
              <a:buNone/>
            </a:pPr>
            <a:r>
              <a:rPr lang="en-US" sz="2000" b="1" dirty="0">
                <a:solidFill>
                  <a:schemeClr val="tx1"/>
                </a:solidFill>
              </a:rPr>
              <a:t>价值贮藏</a:t>
            </a:r>
            <a:endParaRPr lang="en-US" sz="1400" dirty="0"/>
          </a:p>
          <a:p>
            <a:pPr algn="l" indent="0" marL="0">
              <a:lnSpc>
                <a:spcPct val="105000"/>
              </a:lnSpc>
              <a:buNone/>
            </a:pPr>
            <a:r>
              <a:rPr lang="en-US" sz="1300" dirty="0">
                <a:solidFill>
                  <a:schemeClr val="accent4"/>
                </a:solidFill>
              </a:rPr>
              <a:t>要求：长期保值、保管安全</a:t>
            </a:r>
            <a:endParaRPr lang="en-US" sz="1400" dirty="0"/>
          </a:p>
        </p:txBody>
      </p:sp>
      <p:sp>
        <p:nvSpPr>
          <p:cNvPr id="17" name="Text 14"/>
          <p:cNvSpPr txBox="1"/>
          <p:nvPr/>
        </p:nvSpPr>
        <p:spPr>
          <a:xfrm>
            <a:off x="2926080" y="4251960"/>
            <a:ext cx="3840480" cy="1051560"/>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稀缺，但有 −50%～−85% 的回撤；私钥与托管风险高</a:t>
            </a:r>
            <a:endParaRPr lang="en-US" sz="1500" dirty="0"/>
          </a:p>
        </p:txBody>
      </p:sp>
      <p:sp>
        <p:nvSpPr>
          <p:cNvPr id="18" name="Shape 15"/>
          <p:cNvSpPr/>
          <p:nvPr/>
        </p:nvSpPr>
        <p:spPr>
          <a:xfrm>
            <a:off x="6949440" y="4553712"/>
            <a:ext cx="1554480" cy="457200"/>
          </a:xfrm>
          <a:prstGeom prst="roundRect">
            <a:avLst>
              <a:gd name="adj" fmla="val 50000"/>
            </a:avLst>
          </a:prstGeom>
          <a:solidFill>
            <a:schemeClr val="accent1"/>
          </a:solidFill>
          <a:ln w="12700">
            <a:solidFill>
              <a:schemeClr val="accent1">
                <a:alpha val="0"/>
              </a:schemeClr>
            </a:solidFill>
            <a:prstDash val="solid"/>
          </a:ln>
        </p:spPr>
      </p:sp>
      <p:sp>
        <p:nvSpPr>
          <p:cNvPr id="19" name="Text 16"/>
          <p:cNvSpPr txBox="1"/>
          <p:nvPr/>
        </p:nvSpPr>
        <p:spPr>
          <a:xfrm>
            <a:off x="6949440" y="4553712"/>
            <a:ext cx="1554480" cy="457200"/>
          </a:xfrm>
          <a:prstGeom prst="rect">
            <a:avLst/>
          </a:prstGeom>
          <a:noFill/>
          <a:ln/>
        </p:spPr>
        <p:txBody>
          <a:bodyPr wrap="square" lIns="0" tIns="0" rIns="0" bIns="0" rtlCol="0" anchor="ctr"/>
          <a:lstStyle/>
          <a:p>
            <a:pPr algn="ctr" indent="0" marL="0">
              <a:buNone/>
            </a:pPr>
            <a:r>
              <a:rPr lang="en-US" sz="1500" b="1" dirty="0">
                <a:solidFill>
                  <a:schemeClr val="tx1"/>
                </a:solidFill>
              </a:rPr>
              <a:t>△ 部分</a:t>
            </a:r>
            <a:endParaRPr lang="en-US" sz="1500" dirty="0"/>
          </a:p>
        </p:txBody>
      </p:sp>
      <p:sp>
        <p:nvSpPr>
          <p:cNvPr id="20" name="Shape 17"/>
          <p:cNvSpPr/>
          <p:nvPr/>
        </p:nvSpPr>
        <p:spPr>
          <a:xfrm>
            <a:off x="457200" y="5532120"/>
            <a:ext cx="8229600" cy="594360"/>
          </a:xfrm>
          <a:prstGeom prst="roundRect">
            <a:avLst>
              <a:gd name="adj" fmla="val 12308"/>
            </a:avLst>
          </a:prstGeom>
          <a:solidFill>
            <a:schemeClr val="accent1">
              <a:alpha val="12000"/>
            </a:schemeClr>
          </a:solidFill>
          <a:ln w="12700">
            <a:solidFill>
              <a:schemeClr val="accent1">
                <a:alpha val="0"/>
              </a:schemeClr>
            </a:solidFill>
            <a:prstDash val="solid"/>
          </a:ln>
        </p:spPr>
      </p:sp>
      <p:pic>
        <p:nvPicPr>
          <p:cNvPr id="21" name="Image 0" descr="ask">    </p:cNvPr>
          <p:cNvPicPr>
            <a:picLocks noChangeAspect="1"/>
          </p:cNvPicPr>
          <p:nvPr/>
        </p:nvPicPr>
        <p:blipFill>
          <a:blip r:embed="rId1"/>
          <a:stretch>
            <a:fillRect/>
          </a:stretch>
        </p:blipFill>
        <p:spPr>
          <a:xfrm>
            <a:off x="640080" y="5637276"/>
            <a:ext cx="384048" cy="384048"/>
          </a:xfrm>
          <a:prstGeom prst="rect">
            <a:avLst/>
          </a:prstGeom>
        </p:spPr>
      </p:pic>
      <p:sp>
        <p:nvSpPr>
          <p:cNvPr id="22" name="Text 18"/>
          <p:cNvSpPr txBox="1"/>
          <p:nvPr/>
        </p:nvSpPr>
        <p:spPr>
          <a:xfrm>
            <a:off x="1188720" y="5605272"/>
            <a:ext cx="7315200" cy="44805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后面逐项展开；顺便检验一个流行叙事：比特币是不是“数字黄金”？</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价值不稳定：2013–2025 年末价格与四次大回撤</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价值不稳定</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来源：CoinMarketCap 历史收盘价（近似值）；2025 年末价 ≈ $87.7k（媒体报道）；回撤：Bernstein、Fidelity</a:t>
            </a:r>
            <a:endParaRPr lang="en-US" sz="1000" dirty="0"/>
          </a:p>
        </p:txBody>
      </p:sp>
      <p:graphicFrame>
        <p:nvGraphicFramePr>
          <p:cNvPr id="6" name="Chart 0" descr=""/>
          <p:cNvGraphicFramePr/>
          <p:nvPr/>
        </p:nvGraphicFramePr>
        <p:xfrm>
          <a:off x="457200" y="1417320"/>
          <a:ext cx="5577840" cy="45720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263640" y="1463040"/>
            <a:ext cx="1188720" cy="1371600"/>
          </a:xfrm>
          <a:prstGeom prst="roundRect">
            <a:avLst>
              <a:gd name="adj" fmla="val 6154"/>
            </a:avLst>
          </a:prstGeom>
          <a:solidFill>
            <a:schemeClr val="bg2"/>
          </a:solidFill>
          <a:ln w="12700">
            <a:solidFill>
              <a:schemeClr val="bg2">
                <a:alpha val="0"/>
              </a:schemeClr>
            </a:solidFill>
            <a:prstDash val="solid"/>
          </a:ln>
        </p:spPr>
      </p:sp>
      <p:sp>
        <p:nvSpPr>
          <p:cNvPr id="8" name="Text 4"/>
          <p:cNvSpPr txBox="1"/>
          <p:nvPr/>
        </p:nvSpPr>
        <p:spPr>
          <a:xfrm>
            <a:off x="6400800" y="1572768"/>
            <a:ext cx="914400" cy="685800"/>
          </a:xfrm>
          <a:prstGeom prst="rect">
            <a:avLst/>
          </a:prstGeom>
          <a:noFill/>
          <a:ln/>
        </p:spPr>
        <p:txBody>
          <a:bodyPr wrap="square" lIns="0" tIns="0" rIns="0" bIns="0" rtlCol="0" anchor="ctr"/>
          <a:lstStyle/>
          <a:p>
            <a:pPr algn="ctr" indent="0" marL="0">
              <a:lnSpc>
                <a:spcPct val="105000"/>
              </a:lnSpc>
              <a:buNone/>
            </a:pPr>
            <a:r>
              <a:rPr lang="en-US" sz="2000" b="1" dirty="0">
                <a:solidFill>
                  <a:schemeClr val="accent2"/>
                </a:solidFill>
              </a:rPr>
              <a:t>−85%</a:t>
            </a:r>
            <a:endParaRPr lang="en-US" sz="2000" dirty="0"/>
          </a:p>
        </p:txBody>
      </p:sp>
      <p:sp>
        <p:nvSpPr>
          <p:cNvPr id="9" name="Text 5"/>
          <p:cNvSpPr txBox="1"/>
          <p:nvPr/>
        </p:nvSpPr>
        <p:spPr>
          <a:xfrm>
            <a:off x="6400800" y="2258568"/>
            <a:ext cx="914400" cy="521208"/>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回撤 2013–2015</a:t>
            </a:r>
            <a:endParaRPr lang="en-US" sz="1100" dirty="0"/>
          </a:p>
        </p:txBody>
      </p:sp>
      <p:sp>
        <p:nvSpPr>
          <p:cNvPr id="10" name="Shape 6"/>
          <p:cNvSpPr/>
          <p:nvPr/>
        </p:nvSpPr>
        <p:spPr>
          <a:xfrm>
            <a:off x="7498080" y="1463040"/>
            <a:ext cx="1188720" cy="1371600"/>
          </a:xfrm>
          <a:prstGeom prst="roundRect">
            <a:avLst>
              <a:gd name="adj" fmla="val 6154"/>
            </a:avLst>
          </a:prstGeom>
          <a:solidFill>
            <a:schemeClr val="bg2"/>
          </a:solidFill>
          <a:ln w="12700">
            <a:solidFill>
              <a:schemeClr val="bg2">
                <a:alpha val="0"/>
              </a:schemeClr>
            </a:solidFill>
            <a:prstDash val="solid"/>
          </a:ln>
        </p:spPr>
      </p:sp>
      <p:sp>
        <p:nvSpPr>
          <p:cNvPr id="11" name="Text 7"/>
          <p:cNvSpPr txBox="1"/>
          <p:nvPr/>
        </p:nvSpPr>
        <p:spPr>
          <a:xfrm>
            <a:off x="7635240" y="1572768"/>
            <a:ext cx="914400" cy="685800"/>
          </a:xfrm>
          <a:prstGeom prst="rect">
            <a:avLst/>
          </a:prstGeom>
          <a:noFill/>
          <a:ln/>
        </p:spPr>
        <p:txBody>
          <a:bodyPr wrap="square" lIns="0" tIns="0" rIns="0" bIns="0" rtlCol="0" anchor="ctr"/>
          <a:lstStyle/>
          <a:p>
            <a:pPr algn="ctr" indent="0" marL="0">
              <a:lnSpc>
                <a:spcPct val="105000"/>
              </a:lnSpc>
              <a:buNone/>
            </a:pPr>
            <a:r>
              <a:rPr lang="en-US" sz="2000" b="1" dirty="0">
                <a:solidFill>
                  <a:schemeClr val="accent2"/>
                </a:solidFill>
              </a:rPr>
              <a:t>−84%</a:t>
            </a:r>
            <a:endParaRPr lang="en-US" sz="2000" dirty="0"/>
          </a:p>
        </p:txBody>
      </p:sp>
      <p:sp>
        <p:nvSpPr>
          <p:cNvPr id="12" name="Text 8"/>
          <p:cNvSpPr txBox="1"/>
          <p:nvPr/>
        </p:nvSpPr>
        <p:spPr>
          <a:xfrm>
            <a:off x="7635240" y="2258568"/>
            <a:ext cx="914400" cy="521208"/>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回撤 2017–2018</a:t>
            </a:r>
            <a:endParaRPr lang="en-US" sz="1100" dirty="0"/>
          </a:p>
        </p:txBody>
      </p:sp>
      <p:sp>
        <p:nvSpPr>
          <p:cNvPr id="13" name="Shape 9"/>
          <p:cNvSpPr/>
          <p:nvPr/>
        </p:nvSpPr>
        <p:spPr>
          <a:xfrm>
            <a:off x="6263640" y="2926080"/>
            <a:ext cx="1188720" cy="1371600"/>
          </a:xfrm>
          <a:prstGeom prst="roundRect">
            <a:avLst>
              <a:gd name="adj" fmla="val 6154"/>
            </a:avLst>
          </a:prstGeom>
          <a:solidFill>
            <a:schemeClr val="bg2"/>
          </a:solidFill>
          <a:ln w="12700">
            <a:solidFill>
              <a:schemeClr val="bg2">
                <a:alpha val="0"/>
              </a:schemeClr>
            </a:solidFill>
            <a:prstDash val="solid"/>
          </a:ln>
        </p:spPr>
      </p:sp>
      <p:sp>
        <p:nvSpPr>
          <p:cNvPr id="14" name="Text 10"/>
          <p:cNvSpPr txBox="1"/>
          <p:nvPr/>
        </p:nvSpPr>
        <p:spPr>
          <a:xfrm>
            <a:off x="6400800" y="3035808"/>
            <a:ext cx="914400" cy="685800"/>
          </a:xfrm>
          <a:prstGeom prst="rect">
            <a:avLst/>
          </a:prstGeom>
          <a:noFill/>
          <a:ln/>
        </p:spPr>
        <p:txBody>
          <a:bodyPr wrap="square" lIns="0" tIns="0" rIns="0" bIns="0" rtlCol="0" anchor="ctr"/>
          <a:lstStyle/>
          <a:p>
            <a:pPr algn="ctr" indent="0" marL="0">
              <a:lnSpc>
                <a:spcPct val="105000"/>
              </a:lnSpc>
              <a:buNone/>
            </a:pPr>
            <a:r>
              <a:rPr lang="en-US" sz="2000" b="1" dirty="0">
                <a:solidFill>
                  <a:schemeClr val="accent2"/>
                </a:solidFill>
              </a:rPr>
              <a:t>−77%</a:t>
            </a:r>
            <a:endParaRPr lang="en-US" sz="2000" dirty="0"/>
          </a:p>
        </p:txBody>
      </p:sp>
      <p:sp>
        <p:nvSpPr>
          <p:cNvPr id="15" name="Text 11"/>
          <p:cNvSpPr txBox="1"/>
          <p:nvPr/>
        </p:nvSpPr>
        <p:spPr>
          <a:xfrm>
            <a:off x="6400800" y="3721608"/>
            <a:ext cx="914400" cy="521208"/>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回撤 2021–2022</a:t>
            </a:r>
            <a:endParaRPr lang="en-US" sz="1100" dirty="0"/>
          </a:p>
        </p:txBody>
      </p:sp>
      <p:sp>
        <p:nvSpPr>
          <p:cNvPr id="16" name="Shape 12"/>
          <p:cNvSpPr/>
          <p:nvPr/>
        </p:nvSpPr>
        <p:spPr>
          <a:xfrm>
            <a:off x="7498080" y="2926080"/>
            <a:ext cx="1188720" cy="1371600"/>
          </a:xfrm>
          <a:prstGeom prst="roundRect">
            <a:avLst>
              <a:gd name="adj" fmla="val 6154"/>
            </a:avLst>
          </a:prstGeom>
          <a:solidFill>
            <a:schemeClr val="bg2"/>
          </a:solidFill>
          <a:ln w="12700">
            <a:solidFill>
              <a:schemeClr val="bg2">
                <a:alpha val="0"/>
              </a:schemeClr>
            </a:solidFill>
            <a:prstDash val="solid"/>
          </a:ln>
        </p:spPr>
      </p:sp>
      <p:sp>
        <p:nvSpPr>
          <p:cNvPr id="17" name="Text 13"/>
          <p:cNvSpPr txBox="1"/>
          <p:nvPr/>
        </p:nvSpPr>
        <p:spPr>
          <a:xfrm>
            <a:off x="7635240" y="3035808"/>
            <a:ext cx="914400" cy="685800"/>
          </a:xfrm>
          <a:prstGeom prst="rect">
            <a:avLst/>
          </a:prstGeom>
          <a:noFill/>
          <a:ln/>
        </p:spPr>
        <p:txBody>
          <a:bodyPr wrap="square" lIns="0" tIns="0" rIns="0" bIns="0" rtlCol="0" anchor="ctr"/>
          <a:lstStyle/>
          <a:p>
            <a:pPr algn="ctr" indent="0" marL="0">
              <a:lnSpc>
                <a:spcPct val="105000"/>
              </a:lnSpc>
              <a:buNone/>
            </a:pPr>
            <a:r>
              <a:rPr lang="en-US" sz="2000" b="1" dirty="0">
                <a:solidFill>
                  <a:schemeClr val="accent2"/>
                </a:solidFill>
              </a:rPr>
              <a:t>−52%</a:t>
            </a:r>
            <a:endParaRPr lang="en-US" sz="2000" dirty="0"/>
          </a:p>
        </p:txBody>
      </p:sp>
      <p:sp>
        <p:nvSpPr>
          <p:cNvPr id="18" name="Text 14"/>
          <p:cNvSpPr txBox="1"/>
          <p:nvPr/>
        </p:nvSpPr>
        <p:spPr>
          <a:xfrm>
            <a:off x="7635240" y="3721608"/>
            <a:ext cx="914400" cy="521208"/>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回撤 2025–2026</a:t>
            </a:r>
            <a:endParaRPr lang="en-US" sz="1100" dirty="0"/>
          </a:p>
        </p:txBody>
      </p:sp>
      <p:sp>
        <p:nvSpPr>
          <p:cNvPr id="19" name="Shape 15"/>
          <p:cNvSpPr/>
          <p:nvPr/>
        </p:nvSpPr>
        <p:spPr>
          <a:xfrm>
            <a:off x="6263640" y="4480560"/>
            <a:ext cx="2423160" cy="1508760"/>
          </a:xfrm>
          <a:prstGeom prst="roundRect">
            <a:avLst>
              <a:gd name="adj" fmla="val 4848"/>
            </a:avLst>
          </a:prstGeom>
          <a:solidFill>
            <a:schemeClr val="accent2">
              <a:alpha val="12000"/>
            </a:schemeClr>
          </a:solidFill>
          <a:ln w="12700">
            <a:solidFill>
              <a:schemeClr val="accent2">
                <a:alpha val="0"/>
              </a:schemeClr>
            </a:solidFill>
            <a:prstDash val="solid"/>
          </a:ln>
        </p:spPr>
      </p:sp>
      <p:pic>
        <p:nvPicPr>
          <p:cNvPr id="20" name="Image 0" descr="warn">    </p:cNvPr>
          <p:cNvPicPr>
            <a:picLocks noChangeAspect="1"/>
          </p:cNvPicPr>
          <p:nvPr/>
        </p:nvPicPr>
        <p:blipFill>
          <a:blip r:embed="rId2"/>
          <a:stretch>
            <a:fillRect/>
          </a:stretch>
        </p:blipFill>
        <p:spPr>
          <a:xfrm>
            <a:off x="6446520" y="5042916"/>
            <a:ext cx="384048" cy="384048"/>
          </a:xfrm>
          <a:prstGeom prst="rect">
            <a:avLst/>
          </a:prstGeom>
        </p:spPr>
      </p:pic>
      <p:sp>
        <p:nvSpPr>
          <p:cNvPr id="21" name="Text 16"/>
          <p:cNvSpPr txBox="1"/>
          <p:nvPr/>
        </p:nvSpPr>
        <p:spPr>
          <a:xfrm>
            <a:off x="6995160" y="4553712"/>
            <a:ext cx="1508760" cy="1362456"/>
          </a:xfrm>
          <a:prstGeom prst="rect">
            <a:avLst/>
          </a:prstGeom>
          <a:noFill/>
          <a:ln/>
        </p:spPr>
        <p:txBody>
          <a:bodyPr wrap="square" lIns="0" tIns="0" rIns="0" bIns="0" rtlCol="0" anchor="ctr"/>
          <a:lstStyle/>
          <a:p>
            <a:pPr algn="l" indent="0" marL="0">
              <a:lnSpc>
                <a:spcPct val="105000"/>
              </a:lnSpc>
              <a:buNone/>
            </a:pPr>
            <a:r>
              <a:rPr lang="en-US" sz="1200" dirty="0">
                <a:solidFill>
                  <a:schemeClr val="tx1"/>
                </a:solidFill>
              </a:rPr>
              <a:t>2025-10-06 约 12.6 万美元 → 2026-02 约 6 万美元。上课前请更新“今天的价格”。</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圣诞礼物与披萨日：同一枚币的两种故事</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价值不稳定</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来源：Prasad (2021)；Laszlo Hanyecz 论坛帖（2010-05-22）；作者按 2025-10 高点估算</a:t>
            </a:r>
            <a:endParaRPr lang="en-US" sz="1000" dirty="0"/>
          </a:p>
        </p:txBody>
      </p:sp>
      <p:sp>
        <p:nvSpPr>
          <p:cNvPr id="6" name="Shape 3"/>
          <p:cNvSpPr/>
          <p:nvPr/>
        </p:nvSpPr>
        <p:spPr>
          <a:xfrm>
            <a:off x="457200" y="1463040"/>
            <a:ext cx="1441094" cy="1280160"/>
          </a:xfrm>
          <a:prstGeom prst="roundRect">
            <a:avLst>
              <a:gd name="adj" fmla="val 5714"/>
            </a:avLst>
          </a:prstGeom>
          <a:solidFill>
            <a:schemeClr val="bg2"/>
          </a:solidFill>
          <a:ln w="12700">
            <a:solidFill>
              <a:schemeClr val="bg2">
                <a:alpha val="0"/>
              </a:schemeClr>
            </a:solidFill>
            <a:prstDash val="solid"/>
          </a:ln>
        </p:spPr>
      </p:sp>
      <p:sp>
        <p:nvSpPr>
          <p:cNvPr id="7" name="Text 4"/>
          <p:cNvSpPr txBox="1"/>
          <p:nvPr/>
        </p:nvSpPr>
        <p:spPr>
          <a:xfrm>
            <a:off x="530352" y="1517904"/>
            <a:ext cx="1294790"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$419</a:t>
            </a:r>
            <a:endParaRPr lang="en-US" sz="1200" dirty="0"/>
          </a:p>
          <a:p>
            <a:pPr algn="ctr" indent="0" marL="0">
              <a:lnSpc>
                <a:spcPct val="105000"/>
              </a:lnSpc>
              <a:buNone/>
            </a:pPr>
            <a:r>
              <a:rPr lang="en-US" sz="1200" dirty="0">
                <a:solidFill>
                  <a:schemeClr val="accent4"/>
                </a:solidFill>
              </a:rPr>
              <a:t>2015 圣诞</a:t>
            </a:r>
            <a:endParaRPr lang="en-US" sz="1200" dirty="0"/>
          </a:p>
        </p:txBody>
      </p:sp>
      <p:sp>
        <p:nvSpPr>
          <p:cNvPr id="8" name="Shape 5"/>
          <p:cNvSpPr/>
          <p:nvPr/>
        </p:nvSpPr>
        <p:spPr>
          <a:xfrm>
            <a:off x="1934870" y="2002536"/>
            <a:ext cx="182880" cy="201168"/>
          </a:xfrm>
          <a:prstGeom prst="rightArrow">
            <a:avLst/>
          </a:prstGeom>
          <a:solidFill>
            <a:schemeClr val="accent1"/>
          </a:solidFill>
          <a:ln w="12700">
            <a:solidFill>
              <a:schemeClr val="accent1">
                <a:alpha val="0"/>
              </a:schemeClr>
            </a:solidFill>
            <a:prstDash val="solid"/>
          </a:ln>
        </p:spPr>
      </p:sp>
      <p:sp>
        <p:nvSpPr>
          <p:cNvPr id="9" name="Shape 6"/>
          <p:cNvSpPr/>
          <p:nvPr/>
        </p:nvSpPr>
        <p:spPr>
          <a:xfrm>
            <a:off x="2154326" y="1463040"/>
            <a:ext cx="1441094" cy="1280160"/>
          </a:xfrm>
          <a:prstGeom prst="roundRect">
            <a:avLst>
              <a:gd name="adj" fmla="val 5714"/>
            </a:avLst>
          </a:prstGeom>
          <a:solidFill>
            <a:schemeClr val="accent1"/>
          </a:solidFill>
          <a:ln w="12700">
            <a:solidFill>
              <a:schemeClr val="accent1">
                <a:alpha val="0"/>
              </a:schemeClr>
            </a:solidFill>
            <a:prstDash val="solid"/>
          </a:ln>
        </p:spPr>
      </p:sp>
      <p:sp>
        <p:nvSpPr>
          <p:cNvPr id="10" name="Text 7"/>
          <p:cNvSpPr txBox="1"/>
          <p:nvPr/>
        </p:nvSpPr>
        <p:spPr>
          <a:xfrm>
            <a:off x="2227478" y="1517904"/>
            <a:ext cx="1294790"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$19,650</a:t>
            </a:r>
            <a:endParaRPr lang="en-US" sz="1200" dirty="0"/>
          </a:p>
          <a:p>
            <a:pPr algn="ctr" indent="0" marL="0">
              <a:lnSpc>
                <a:spcPct val="105000"/>
              </a:lnSpc>
              <a:buNone/>
            </a:pPr>
            <a:r>
              <a:rPr lang="en-US" sz="1200" dirty="0">
                <a:solidFill>
                  <a:schemeClr val="accent4"/>
                </a:solidFill>
              </a:rPr>
              <a:t>2017-12 · 47 倍</a:t>
            </a:r>
            <a:endParaRPr lang="en-US" sz="1200" dirty="0"/>
          </a:p>
        </p:txBody>
      </p:sp>
      <p:sp>
        <p:nvSpPr>
          <p:cNvPr id="11" name="Shape 8"/>
          <p:cNvSpPr/>
          <p:nvPr/>
        </p:nvSpPr>
        <p:spPr>
          <a:xfrm>
            <a:off x="3631997" y="2002536"/>
            <a:ext cx="182880" cy="201168"/>
          </a:xfrm>
          <a:prstGeom prst="rightArrow">
            <a:avLst/>
          </a:prstGeom>
          <a:solidFill>
            <a:schemeClr val="accent1"/>
          </a:solidFill>
          <a:ln w="12700">
            <a:solidFill>
              <a:schemeClr val="accent1">
                <a:alpha val="0"/>
              </a:schemeClr>
            </a:solidFill>
            <a:prstDash val="solid"/>
          </a:ln>
        </p:spPr>
      </p:sp>
      <p:sp>
        <p:nvSpPr>
          <p:cNvPr id="12" name="Shape 9"/>
          <p:cNvSpPr/>
          <p:nvPr/>
        </p:nvSpPr>
        <p:spPr>
          <a:xfrm>
            <a:off x="3851453" y="1463040"/>
            <a:ext cx="1441094" cy="1280160"/>
          </a:xfrm>
          <a:prstGeom prst="roundRect">
            <a:avLst>
              <a:gd name="adj" fmla="val 5714"/>
            </a:avLst>
          </a:prstGeom>
          <a:solidFill>
            <a:schemeClr val="bg2"/>
          </a:solidFill>
          <a:ln w="12700">
            <a:solidFill>
              <a:schemeClr val="bg2">
                <a:alpha val="0"/>
              </a:schemeClr>
            </a:solidFill>
            <a:prstDash val="solid"/>
          </a:ln>
        </p:spPr>
      </p:sp>
      <p:sp>
        <p:nvSpPr>
          <p:cNvPr id="13" name="Text 10"/>
          <p:cNvSpPr txBox="1"/>
          <p:nvPr/>
        </p:nvSpPr>
        <p:spPr>
          <a:xfrm>
            <a:off x="3924605" y="1517904"/>
            <a:ext cx="1294790"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$15,075</a:t>
            </a:r>
            <a:endParaRPr lang="en-US" sz="1200" dirty="0"/>
          </a:p>
          <a:p>
            <a:pPr algn="ctr" indent="0" marL="0">
              <a:lnSpc>
                <a:spcPct val="105000"/>
              </a:lnSpc>
              <a:buNone/>
            </a:pPr>
            <a:r>
              <a:rPr lang="en-US" sz="1200" dirty="0">
                <a:solidFill>
                  <a:schemeClr val="accent4"/>
                </a:solidFill>
              </a:rPr>
              <a:t>十天后</a:t>
            </a:r>
            <a:endParaRPr lang="en-US" sz="1200" dirty="0"/>
          </a:p>
        </p:txBody>
      </p:sp>
      <p:sp>
        <p:nvSpPr>
          <p:cNvPr id="14" name="Shape 11"/>
          <p:cNvSpPr/>
          <p:nvPr/>
        </p:nvSpPr>
        <p:spPr>
          <a:xfrm>
            <a:off x="5329123" y="2002536"/>
            <a:ext cx="182880" cy="201168"/>
          </a:xfrm>
          <a:prstGeom prst="rightArrow">
            <a:avLst/>
          </a:prstGeom>
          <a:solidFill>
            <a:schemeClr val="accent1"/>
          </a:solidFill>
          <a:ln w="12700">
            <a:solidFill>
              <a:schemeClr val="accent1">
                <a:alpha val="0"/>
              </a:schemeClr>
            </a:solidFill>
            <a:prstDash val="solid"/>
          </a:ln>
        </p:spPr>
      </p:sp>
      <p:sp>
        <p:nvSpPr>
          <p:cNvPr id="15" name="Shape 12"/>
          <p:cNvSpPr/>
          <p:nvPr/>
        </p:nvSpPr>
        <p:spPr>
          <a:xfrm>
            <a:off x="5548579" y="1463040"/>
            <a:ext cx="1441094" cy="1280160"/>
          </a:xfrm>
          <a:prstGeom prst="roundRect">
            <a:avLst>
              <a:gd name="adj" fmla="val 5714"/>
            </a:avLst>
          </a:prstGeom>
          <a:solidFill>
            <a:schemeClr val="bg2"/>
          </a:solidFill>
          <a:ln w="12700">
            <a:solidFill>
              <a:schemeClr val="bg2">
                <a:alpha val="0"/>
              </a:schemeClr>
            </a:solidFill>
            <a:prstDash val="solid"/>
          </a:ln>
        </p:spPr>
      </p:sp>
      <p:sp>
        <p:nvSpPr>
          <p:cNvPr id="16" name="Text 13"/>
          <p:cNvSpPr txBox="1"/>
          <p:nvPr/>
        </p:nvSpPr>
        <p:spPr>
          <a:xfrm>
            <a:off x="5621731" y="1517904"/>
            <a:ext cx="1294790"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$3,183</a:t>
            </a:r>
            <a:endParaRPr lang="en-US" sz="1200" dirty="0"/>
          </a:p>
          <a:p>
            <a:pPr algn="ctr" indent="0" marL="0">
              <a:lnSpc>
                <a:spcPct val="105000"/>
              </a:lnSpc>
              <a:buNone/>
            </a:pPr>
            <a:r>
              <a:rPr lang="en-US" sz="1200" dirty="0">
                <a:solidFill>
                  <a:schemeClr val="accent4"/>
                </a:solidFill>
              </a:rPr>
              <a:t>2018-12-15</a:t>
            </a:r>
            <a:endParaRPr lang="en-US" sz="1200" dirty="0"/>
          </a:p>
        </p:txBody>
      </p:sp>
      <p:sp>
        <p:nvSpPr>
          <p:cNvPr id="17" name="Shape 14"/>
          <p:cNvSpPr/>
          <p:nvPr/>
        </p:nvSpPr>
        <p:spPr>
          <a:xfrm>
            <a:off x="7026250" y="2002536"/>
            <a:ext cx="182880" cy="201168"/>
          </a:xfrm>
          <a:prstGeom prst="rightArrow">
            <a:avLst/>
          </a:prstGeom>
          <a:solidFill>
            <a:schemeClr val="accent1"/>
          </a:solidFill>
          <a:ln w="12700">
            <a:solidFill>
              <a:schemeClr val="accent1">
                <a:alpha val="0"/>
              </a:schemeClr>
            </a:solidFill>
            <a:prstDash val="solid"/>
          </a:ln>
        </p:spPr>
      </p:sp>
      <p:sp>
        <p:nvSpPr>
          <p:cNvPr id="18" name="Shape 15"/>
          <p:cNvSpPr/>
          <p:nvPr/>
        </p:nvSpPr>
        <p:spPr>
          <a:xfrm>
            <a:off x="7245706" y="1463040"/>
            <a:ext cx="1441094" cy="1280160"/>
          </a:xfrm>
          <a:prstGeom prst="roundRect">
            <a:avLst>
              <a:gd name="adj" fmla="val 5714"/>
            </a:avLst>
          </a:prstGeom>
          <a:solidFill>
            <a:schemeClr val="bg2"/>
          </a:solidFill>
          <a:ln w="12700">
            <a:solidFill>
              <a:schemeClr val="bg2">
                <a:alpha val="0"/>
              </a:schemeClr>
            </a:solidFill>
            <a:prstDash val="solid"/>
          </a:ln>
        </p:spPr>
      </p:sp>
      <p:sp>
        <p:nvSpPr>
          <p:cNvPr id="19" name="Text 16"/>
          <p:cNvSpPr txBox="1"/>
          <p:nvPr/>
        </p:nvSpPr>
        <p:spPr>
          <a:xfrm>
            <a:off x="7318858" y="1517904"/>
            <a:ext cx="1294790" cy="1170432"/>
          </a:xfrm>
          <a:prstGeom prst="rect">
            <a:avLst/>
          </a:prstGeom>
          <a:noFill/>
          <a:ln/>
        </p:spPr>
        <p:txBody>
          <a:bodyPr wrap="square" lIns="0" tIns="0" rIns="0" bIns="0" rtlCol="0" anchor="ctr"/>
          <a:lstStyle/>
          <a:p>
            <a:pPr algn="ctr" indent="0" marL="0">
              <a:lnSpc>
                <a:spcPct val="105000"/>
              </a:lnSpc>
              <a:spcAft>
                <a:spcPts val="200"/>
              </a:spcAft>
              <a:buNone/>
            </a:pPr>
            <a:r>
              <a:rPr lang="en-US" sz="1800" b="1" dirty="0">
                <a:solidFill>
                  <a:schemeClr val="tx1"/>
                </a:solidFill>
              </a:rPr>
              <a:t>$24,400</a:t>
            </a:r>
            <a:endParaRPr lang="en-US" sz="1200" dirty="0"/>
          </a:p>
          <a:p>
            <a:pPr algn="ctr" indent="0" marL="0">
              <a:lnSpc>
                <a:spcPct val="105000"/>
              </a:lnSpc>
              <a:buNone/>
            </a:pPr>
            <a:r>
              <a:rPr lang="en-US" sz="1200" dirty="0">
                <a:solidFill>
                  <a:schemeClr val="accent4"/>
                </a:solidFill>
              </a:rPr>
              <a:t>2020 圣诞</a:t>
            </a:r>
            <a:endParaRPr lang="en-US" sz="1200" dirty="0"/>
          </a:p>
        </p:txBody>
      </p:sp>
      <p:sp>
        <p:nvSpPr>
          <p:cNvPr id="20" name="Shape 17"/>
          <p:cNvSpPr/>
          <p:nvPr/>
        </p:nvSpPr>
        <p:spPr>
          <a:xfrm>
            <a:off x="457200" y="3063240"/>
            <a:ext cx="8229600" cy="2880360"/>
          </a:xfrm>
          <a:prstGeom prst="roundRect">
            <a:avLst>
              <a:gd name="adj" fmla="val 2540"/>
            </a:avLst>
          </a:prstGeom>
          <a:solidFill>
            <a:schemeClr val="bg2"/>
          </a:solidFill>
          <a:ln w="12700">
            <a:solidFill>
              <a:schemeClr val="bg2">
                <a:alpha val="0"/>
              </a:schemeClr>
            </a:solidFill>
            <a:prstDash val="solid"/>
          </a:ln>
        </p:spPr>
      </p:sp>
      <p:sp>
        <p:nvSpPr>
          <p:cNvPr id="21" name="Shape 18"/>
          <p:cNvSpPr/>
          <p:nvPr/>
        </p:nvSpPr>
        <p:spPr>
          <a:xfrm>
            <a:off x="731520" y="3337560"/>
            <a:ext cx="822960" cy="822960"/>
          </a:xfrm>
          <a:prstGeom prst="ellipse">
            <a:avLst/>
          </a:prstGeom>
          <a:solidFill>
            <a:schemeClr val="accent1"/>
          </a:solidFill>
          <a:ln w="12700">
            <a:solidFill>
              <a:schemeClr val="accent1">
                <a:alpha val="0"/>
              </a:schemeClr>
            </a:solidFill>
            <a:prstDash val="solid"/>
          </a:ln>
        </p:spPr>
      </p:sp>
      <p:pic>
        <p:nvPicPr>
          <p:cNvPr id="22" name="Image 0" descr="FaPizzaSlice">    </p:cNvPr>
          <p:cNvPicPr>
            <a:picLocks noChangeAspect="1"/>
          </p:cNvPicPr>
          <p:nvPr/>
        </p:nvPicPr>
        <p:blipFill>
          <a:blip r:embed="rId1"/>
          <a:stretch>
            <a:fillRect/>
          </a:stretch>
        </p:blipFill>
        <p:spPr>
          <a:xfrm>
            <a:off x="912571" y="3518611"/>
            <a:ext cx="460858" cy="460858"/>
          </a:xfrm>
          <a:prstGeom prst="rect">
            <a:avLst/>
          </a:prstGeom>
        </p:spPr>
      </p:pic>
      <p:sp>
        <p:nvSpPr>
          <p:cNvPr id="23" name="Text 19"/>
          <p:cNvSpPr txBox="1"/>
          <p:nvPr/>
        </p:nvSpPr>
        <p:spPr>
          <a:xfrm>
            <a:off x="1828800" y="3246120"/>
            <a:ext cx="6675120" cy="2560320"/>
          </a:xfrm>
          <a:prstGeom prst="rect">
            <a:avLst/>
          </a:prstGeom>
          <a:noFill/>
          <a:ln/>
        </p:spPr>
        <p:txBody>
          <a:bodyPr wrap="square" lIns="0" tIns="0" rIns="0" bIns="0" rtlCol="0" anchor="ctr"/>
          <a:lstStyle/>
          <a:p>
            <a:pPr algn="l" indent="0" marL="0">
              <a:lnSpc>
                <a:spcPct val="105000"/>
              </a:lnSpc>
              <a:spcAft>
                <a:spcPts val="800"/>
              </a:spcAft>
              <a:buNone/>
            </a:pPr>
            <a:r>
              <a:rPr lang="en-US" sz="2000" b="1" dirty="0">
                <a:solidFill>
                  <a:schemeClr val="tx1"/>
                </a:solidFill>
              </a:rPr>
              <a:t>比特币披萨日 · 2010-05-22</a:t>
            </a:r>
            <a:endParaRPr lang="en-US" sz="1600" dirty="0"/>
          </a:p>
          <a:p>
            <a:pPr algn="l" indent="0" marL="0">
              <a:lnSpc>
                <a:spcPct val="105000"/>
              </a:lnSpc>
              <a:spcAft>
                <a:spcPts val="800"/>
              </a:spcAft>
              <a:buNone/>
            </a:pPr>
            <a:r>
              <a:rPr lang="en-US" sz="1600" dirty="0">
                <a:solidFill>
                  <a:schemeClr val="tx1"/>
                </a:solidFill>
              </a:rPr>
              <a:t>程序员 Laszlo Hanyecz 用 </a:t>
            </a:r>
            <a:pPr algn="l" indent="0" marL="0">
              <a:lnSpc>
                <a:spcPct val="105000"/>
              </a:lnSpc>
              <a:spcAft>
                <a:spcPts val="800"/>
              </a:spcAft>
              <a:buNone/>
            </a:pPr>
            <a:r>
              <a:rPr lang="en-US" sz="1600" b="1" dirty="0">
                <a:solidFill>
                  <a:schemeClr val="tx1"/>
                </a:solidFill>
              </a:rPr>
              <a:t>10,000 枚</a:t>
            </a:r>
            <a:pPr algn="l" indent="0" marL="0">
              <a:lnSpc>
                <a:spcPct val="105000"/>
              </a:lnSpc>
              <a:spcAft>
                <a:spcPts val="800"/>
              </a:spcAft>
              <a:buNone/>
            </a:pPr>
            <a:r>
              <a:rPr lang="en-US" sz="1600" dirty="0">
                <a:solidFill>
                  <a:schemeClr val="tx1"/>
                </a:solidFill>
              </a:rPr>
              <a:t>比特币买了两张棒约翰披萨（当时约 41 美元）——第一次真实购买。</a:t>
            </a:r>
            <a:endParaRPr lang="en-US" sz="1600" dirty="0"/>
          </a:p>
          <a:p>
            <a:pPr algn="l" indent="0" marL="0">
              <a:lnSpc>
                <a:spcPct val="105000"/>
              </a:lnSpc>
              <a:buNone/>
            </a:pPr>
            <a:r>
              <a:rPr lang="en-US" sz="1600" dirty="0">
                <a:solidFill>
                  <a:schemeClr val="accent6"/>
                </a:solidFill>
              </a:rPr>
              <a:t>按 2025 年 10 月的历史高点（约 12.6 万美元）计算，这笔“披萨钱”约值 </a:t>
            </a:r>
            <a:pPr algn="l" indent="0" marL="0">
              <a:lnSpc>
                <a:spcPct val="105000"/>
              </a:lnSpc>
              <a:buNone/>
            </a:pPr>
            <a:r>
              <a:rPr lang="en-US" sz="1600" b="1" dirty="0">
                <a:solidFill>
                  <a:schemeClr val="accent6"/>
                </a:solidFill>
              </a:rPr>
              <a:t>12.6 亿美元</a:t>
            </a:r>
            <a:pPr algn="l" indent="0" marL="0">
              <a:lnSpc>
                <a:spcPct val="105000"/>
              </a:lnSpc>
              <a:buNone/>
            </a:pPr>
            <a:r>
              <a:rPr lang="en-US" sz="1600" dirty="0">
                <a:solidFill>
                  <a:schemeClr val="accent6"/>
                </a:solidFill>
              </a:rPr>
              <a:t>。</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“数字黄金”经得起检验吗？</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价值不稳定</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来源：公开行情；Coinglass 等清算数据汇总（2025-10-10 前后）</a:t>
            </a:r>
            <a:endParaRPr lang="en-US" sz="1000" dirty="0"/>
          </a:p>
        </p:txBody>
      </p:sp>
      <p:sp>
        <p:nvSpPr>
          <p:cNvPr id="6" name="Shape 3"/>
          <p:cNvSpPr/>
          <p:nvPr/>
        </p:nvSpPr>
        <p:spPr>
          <a:xfrm>
            <a:off x="457200" y="1417320"/>
            <a:ext cx="2621280" cy="2834640"/>
          </a:xfrm>
          <a:prstGeom prst="roundRect">
            <a:avLst>
              <a:gd name="adj" fmla="val 2791"/>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8" name="Image 0" descr="FaFire">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2020-03-12</a:t>
            </a:r>
            <a:endParaRPr lang="en-US" sz="1800" dirty="0"/>
          </a:p>
        </p:txBody>
      </p:sp>
      <p:sp>
        <p:nvSpPr>
          <p:cNvPr id="10" name="Text 6"/>
          <p:cNvSpPr txBox="1"/>
          <p:nvPr/>
        </p:nvSpPr>
        <p:spPr>
          <a:xfrm>
            <a:off x="640080" y="2578608"/>
            <a:ext cx="2255520" cy="156362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“黑色星期四”：单日跌幅接近 40%，与美股同步被抛售。</a:t>
            </a:r>
            <a:endParaRPr lang="en-US" sz="1500" dirty="0"/>
          </a:p>
        </p:txBody>
      </p:sp>
      <p:sp>
        <p:nvSpPr>
          <p:cNvPr id="11" name="Shape 7"/>
          <p:cNvSpPr/>
          <p:nvPr/>
        </p:nvSpPr>
        <p:spPr>
          <a:xfrm>
            <a:off x="3261360" y="1417320"/>
            <a:ext cx="2621280" cy="2834640"/>
          </a:xfrm>
          <a:prstGeom prst="roundRect">
            <a:avLst>
              <a:gd name="adj" fmla="val 2791"/>
            </a:avLst>
          </a:prstGeom>
          <a:solidFill>
            <a:schemeClr val="bg2"/>
          </a:solidFill>
          <a:ln w="12700">
            <a:solidFill>
              <a:schemeClr val="bg2">
                <a:alpha val="0"/>
              </a:schemeClr>
            </a:solidFill>
            <a:prstDash val="solid"/>
          </a:ln>
        </p:spPr>
      </p:sp>
      <p:sp>
        <p:nvSpPr>
          <p:cNvPr id="12" name="Shape 8"/>
          <p:cNvSpPr/>
          <p:nvPr/>
        </p:nvSpPr>
        <p:spPr>
          <a:xfrm>
            <a:off x="3444240" y="1581912"/>
            <a:ext cx="502920" cy="502920"/>
          </a:xfrm>
          <a:prstGeom prst="ellipse">
            <a:avLst/>
          </a:prstGeom>
          <a:solidFill>
            <a:schemeClr val="accent1"/>
          </a:solidFill>
          <a:ln w="12700">
            <a:solidFill>
              <a:schemeClr val="accent1">
                <a:alpha val="0"/>
              </a:schemeClr>
            </a:solidFill>
            <a:prstDash val="solid"/>
          </a:ln>
        </p:spPr>
      </p:sp>
      <p:pic>
        <p:nvPicPr>
          <p:cNvPr id="13" name="Image 1" descr="FaChartLine">    </p:cNvPr>
          <p:cNvPicPr>
            <a:picLocks noChangeAspect="1"/>
          </p:cNvPicPr>
          <p:nvPr/>
        </p:nvPicPr>
        <p:blipFill>
          <a:blip r:embed="rId2"/>
          <a:stretch>
            <a:fillRect/>
          </a:stretch>
        </p:blipFill>
        <p:spPr>
          <a:xfrm>
            <a:off x="3554882" y="1692554"/>
            <a:ext cx="281635" cy="281635"/>
          </a:xfrm>
          <a:prstGeom prst="rect">
            <a:avLst/>
          </a:prstGeom>
        </p:spPr>
      </p:pic>
      <p:sp>
        <p:nvSpPr>
          <p:cNvPr id="14" name="Text 9"/>
          <p:cNvSpPr txBox="1"/>
          <p:nvPr/>
        </p:nvSpPr>
        <p:spPr>
          <a:xfrm>
            <a:off x="344424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2022 年</a:t>
            </a:r>
            <a:endParaRPr lang="en-US" sz="1800" dirty="0"/>
          </a:p>
        </p:txBody>
      </p:sp>
      <p:sp>
        <p:nvSpPr>
          <p:cNvPr id="15" name="Text 10"/>
          <p:cNvSpPr txBox="1"/>
          <p:nvPr/>
        </p:nvSpPr>
        <p:spPr>
          <a:xfrm>
            <a:off x="3444240" y="2578608"/>
            <a:ext cx="2255520" cy="156362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随美联储加息，与纳斯达克等风险资产同向大跌。</a:t>
            </a:r>
            <a:endParaRPr lang="en-US" sz="1500" dirty="0"/>
          </a:p>
        </p:txBody>
      </p:sp>
      <p:sp>
        <p:nvSpPr>
          <p:cNvPr id="16" name="Shape 11"/>
          <p:cNvSpPr/>
          <p:nvPr/>
        </p:nvSpPr>
        <p:spPr>
          <a:xfrm>
            <a:off x="6065520" y="1417320"/>
            <a:ext cx="2621280" cy="2834640"/>
          </a:xfrm>
          <a:prstGeom prst="roundRect">
            <a:avLst>
              <a:gd name="adj" fmla="val 2791"/>
            </a:avLst>
          </a:prstGeom>
          <a:solidFill>
            <a:schemeClr val="bg2"/>
          </a:solidFill>
          <a:ln w="12700">
            <a:solidFill>
              <a:schemeClr val="bg2">
                <a:alpha val="0"/>
              </a:schemeClr>
            </a:solidFill>
            <a:prstDash val="solid"/>
          </a:ln>
        </p:spPr>
      </p:sp>
      <p:sp>
        <p:nvSpPr>
          <p:cNvPr id="17" name="Shape 12"/>
          <p:cNvSpPr/>
          <p:nvPr/>
        </p:nvSpPr>
        <p:spPr>
          <a:xfrm>
            <a:off x="6248400" y="1581912"/>
            <a:ext cx="502920" cy="502920"/>
          </a:xfrm>
          <a:prstGeom prst="ellipse">
            <a:avLst/>
          </a:prstGeom>
          <a:solidFill>
            <a:schemeClr val="accent1"/>
          </a:solidFill>
          <a:ln w="12700">
            <a:solidFill>
              <a:schemeClr val="accent1">
                <a:alpha val="0"/>
              </a:schemeClr>
            </a:solidFill>
            <a:prstDash val="solid"/>
          </a:ln>
        </p:spPr>
      </p:sp>
      <p:pic>
        <p:nvPicPr>
          <p:cNvPr id="18" name="Image 2" descr="FaBolt">    </p:cNvPr>
          <p:cNvPicPr>
            <a:picLocks noChangeAspect="1"/>
          </p:cNvPicPr>
          <p:nvPr/>
        </p:nvPicPr>
        <p:blipFill>
          <a:blip r:embed="rId3"/>
          <a:stretch>
            <a:fillRect/>
          </a:stretch>
        </p:blipFill>
        <p:spPr>
          <a:xfrm>
            <a:off x="6359042" y="1692554"/>
            <a:ext cx="281635" cy="281635"/>
          </a:xfrm>
          <a:prstGeom prst="rect">
            <a:avLst/>
          </a:prstGeom>
        </p:spPr>
      </p:pic>
      <p:sp>
        <p:nvSpPr>
          <p:cNvPr id="19" name="Text 13"/>
          <p:cNvSpPr txBox="1"/>
          <p:nvPr/>
        </p:nvSpPr>
        <p:spPr>
          <a:xfrm>
            <a:off x="624840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2025-10-10</a:t>
            </a:r>
            <a:endParaRPr lang="en-US" sz="1800" dirty="0"/>
          </a:p>
        </p:txBody>
      </p:sp>
      <p:sp>
        <p:nvSpPr>
          <p:cNvPr id="20" name="Text 14"/>
          <p:cNvSpPr txBox="1"/>
          <p:nvPr/>
        </p:nvSpPr>
        <p:spPr>
          <a:xfrm>
            <a:off x="6248400" y="2578608"/>
            <a:ext cx="2255520" cy="156362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杠杆连环清算：一天约 190 亿美元头寸被清算。</a:t>
            </a:r>
            <a:endParaRPr lang="en-US" sz="1500" dirty="0"/>
          </a:p>
        </p:txBody>
      </p:sp>
      <p:sp>
        <p:nvSpPr>
          <p:cNvPr id="21" name="Shape 15"/>
          <p:cNvSpPr/>
          <p:nvPr/>
        </p:nvSpPr>
        <p:spPr>
          <a:xfrm>
            <a:off x="457200" y="4480560"/>
            <a:ext cx="8229600" cy="1188720"/>
          </a:xfrm>
          <a:prstGeom prst="roundRect">
            <a:avLst>
              <a:gd name="adj" fmla="val 6154"/>
            </a:avLst>
          </a:prstGeom>
          <a:solidFill>
            <a:schemeClr val="accent1">
              <a:alpha val="12000"/>
            </a:schemeClr>
          </a:solidFill>
          <a:ln w="12700">
            <a:solidFill>
              <a:schemeClr val="accent1">
                <a:alpha val="0"/>
              </a:schemeClr>
            </a:solidFill>
            <a:prstDash val="solid"/>
          </a:ln>
        </p:spPr>
      </p:sp>
      <p:pic>
        <p:nvPicPr>
          <p:cNvPr id="22" name="Image 3" descr="key">    </p:cNvPr>
          <p:cNvPicPr>
            <a:picLocks noChangeAspect="1"/>
          </p:cNvPicPr>
          <p:nvPr/>
        </p:nvPicPr>
        <p:blipFill>
          <a:blip r:embed="rId4"/>
          <a:stretch>
            <a:fillRect/>
          </a:stretch>
        </p:blipFill>
        <p:spPr>
          <a:xfrm>
            <a:off x="640080" y="4882896"/>
            <a:ext cx="384048" cy="384048"/>
          </a:xfrm>
          <a:prstGeom prst="rect">
            <a:avLst/>
          </a:prstGeom>
        </p:spPr>
      </p:pic>
      <p:sp>
        <p:nvSpPr>
          <p:cNvPr id="23" name="Text 16"/>
          <p:cNvSpPr txBox="1"/>
          <p:nvPr/>
        </p:nvSpPr>
        <p:spPr>
          <a:xfrm>
            <a:off x="1188720" y="4553712"/>
            <a:ext cx="7315200" cy="104241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结论：</a:t>
            </a:r>
            <a:pPr algn="l" indent="0" marL="0">
              <a:lnSpc>
                <a:spcPct val="105000"/>
              </a:lnSpc>
              <a:buNone/>
            </a:pPr>
            <a:r>
              <a:rPr lang="en-US" sz="1700" b="1" dirty="0">
                <a:solidFill>
                  <a:schemeClr val="tx1"/>
                </a:solidFill>
              </a:rPr>
              <a:t>避险属性尚未被证实</a:t>
            </a:r>
            <a:pPr algn="l" indent="0" marL="0">
              <a:lnSpc>
                <a:spcPct val="105000"/>
              </a:lnSpc>
              <a:buNone/>
            </a:pPr>
            <a:r>
              <a:rPr lang="en-US" sz="1700" dirty="0">
                <a:solidFill>
                  <a:schemeClr val="tx1"/>
                </a:solidFill>
              </a:rPr>
              <a:t>——更像一种高波动的风险资产；与黄金的相似，主要在“稀缺”这一点。</a:t>
            </a:r>
            <a:endParaRPr lang="en-US" sz="1700" dirty="0"/>
          </a:p>
        </p:txBody>
      </p:sp>
      <p:sp>
        <p:nvSpPr>
          <p:cNvPr id="24" name="Text 17"/>
          <p:cNvSpPr txBox="1"/>
          <p:nvPr/>
        </p:nvSpPr>
        <p:spPr>
          <a:xfrm>
            <a:off x="457200" y="5760720"/>
            <a:ext cx="8229600" cy="365760"/>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长期相关性是否稳定，学界仍有争议，不宜下绝对结论。</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手续费与确认时间：2017 年与 2024 年两次拥堵</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支付效率</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来源：blockchain.com（图：截至 2025-10-10 / 10-12）；北美比特币大会官网（2018-01）；Steam（2017-12）</a:t>
            </a:r>
            <a:endParaRPr lang="en-US" sz="1000" dirty="0"/>
          </a:p>
        </p:txBody>
      </p:sp>
      <p:sp>
        <p:nvSpPr>
          <p:cNvPr id="6" name="Text 3"/>
          <p:cNvSpPr txBox="1"/>
          <p:nvPr/>
        </p:nvSpPr>
        <p:spPr>
          <a:xfrm>
            <a:off x="457200" y="1371600"/>
            <a:ext cx="8229600" cy="73152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2018 年 1 月，北美比特币大会因“慢、贵、难处理”停收比特币购票款；2017 年 12 月 Steam 也停用了比特币支付。</a:t>
            </a:r>
            <a:endParaRPr lang="en-US" sz="1600" dirty="0"/>
          </a:p>
        </p:txBody>
      </p:sp>
      <p:sp>
        <p:nvSpPr>
          <p:cNvPr id="7" name="Shape 4"/>
          <p:cNvSpPr/>
          <p:nvPr/>
        </p:nvSpPr>
        <p:spPr>
          <a:xfrm>
            <a:off x="438912" y="2464598"/>
            <a:ext cx="4059936" cy="2203123"/>
          </a:xfrm>
          <a:prstGeom prst="rect">
            <a:avLst/>
          </a:prstGeom>
          <a:solidFill>
            <a:schemeClr val="bg1"/>
          </a:solidFill>
          <a:ln w="9525">
            <a:solidFill>
              <a:schemeClr val="accent5"/>
            </a:solidFill>
            <a:prstDash val="solid"/>
          </a:ln>
        </p:spPr>
      </p:sp>
      <p:pic>
        <p:nvPicPr>
          <p:cNvPr id="8" name="Image 0" descr="比特币平均确认时间图表（blockchain.com）">    </p:cNvPr>
          <p:cNvPicPr>
            <a:picLocks noChangeAspect="1"/>
          </p:cNvPicPr>
          <p:nvPr/>
        </p:nvPicPr>
        <p:blipFill>
          <a:blip r:embed="rId1"/>
          <a:stretch>
            <a:fillRect/>
          </a:stretch>
        </p:blipFill>
        <p:spPr>
          <a:xfrm>
            <a:off x="457200" y="2482886"/>
            <a:ext cx="4023360" cy="2166547"/>
          </a:xfrm>
          <a:prstGeom prst="rect">
            <a:avLst/>
          </a:prstGeom>
        </p:spPr>
      </p:pic>
      <p:sp>
        <p:nvSpPr>
          <p:cNvPr id="9" name="Text 5"/>
          <p:cNvSpPr txBox="1"/>
          <p:nvPr/>
        </p:nvSpPr>
        <p:spPr>
          <a:xfrm>
            <a:off x="457200" y="4704298"/>
            <a:ext cx="4023360" cy="27432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平均确认时间（2016-04 至 2025-10）</a:t>
            </a:r>
            <a:endParaRPr lang="en-US" sz="1100" dirty="0"/>
          </a:p>
        </p:txBody>
      </p:sp>
      <p:sp>
        <p:nvSpPr>
          <p:cNvPr id="10" name="Shape 6"/>
          <p:cNvSpPr/>
          <p:nvPr/>
        </p:nvSpPr>
        <p:spPr>
          <a:xfrm>
            <a:off x="4645152" y="2468567"/>
            <a:ext cx="4059936" cy="2195185"/>
          </a:xfrm>
          <a:prstGeom prst="rect">
            <a:avLst/>
          </a:prstGeom>
          <a:solidFill>
            <a:schemeClr val="bg1"/>
          </a:solidFill>
          <a:ln w="9525">
            <a:solidFill>
              <a:schemeClr val="accent5"/>
            </a:solidFill>
            <a:prstDash val="solid"/>
          </a:ln>
        </p:spPr>
      </p:sp>
      <p:pic>
        <p:nvPicPr>
          <p:cNvPr id="11" name="Image 1" descr="比特币每笔交易手续费图表（blockchain.com）">    </p:cNvPr>
          <p:cNvPicPr>
            <a:picLocks noChangeAspect="1"/>
          </p:cNvPicPr>
          <p:nvPr/>
        </p:nvPicPr>
        <p:blipFill>
          <a:blip r:embed="rId2"/>
          <a:stretch>
            <a:fillRect/>
          </a:stretch>
        </p:blipFill>
        <p:spPr>
          <a:xfrm>
            <a:off x="4663440" y="2486855"/>
            <a:ext cx="4023360" cy="2158609"/>
          </a:xfrm>
          <a:prstGeom prst="rect">
            <a:avLst/>
          </a:prstGeom>
        </p:spPr>
      </p:pic>
      <p:sp>
        <p:nvSpPr>
          <p:cNvPr id="12" name="Text 7"/>
          <p:cNvSpPr txBox="1"/>
          <p:nvPr/>
        </p:nvSpPr>
        <p:spPr>
          <a:xfrm>
            <a:off x="4663440" y="4700329"/>
            <a:ext cx="4023360" cy="27432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每笔交易手续费（美元，2009 至 2025-10）</a:t>
            </a:r>
            <a:endParaRPr lang="en-US" sz="1100" dirty="0"/>
          </a:p>
        </p:txBody>
      </p:sp>
      <p:sp>
        <p:nvSpPr>
          <p:cNvPr id="13" name="Shape 8"/>
          <p:cNvSpPr/>
          <p:nvPr/>
        </p:nvSpPr>
        <p:spPr>
          <a:xfrm>
            <a:off x="457200" y="5349240"/>
            <a:ext cx="8229600" cy="777240"/>
          </a:xfrm>
          <a:prstGeom prst="roundRect">
            <a:avLst>
              <a:gd name="adj" fmla="val 9412"/>
            </a:avLst>
          </a:prstGeom>
          <a:solidFill>
            <a:schemeClr val="accent1">
              <a:alpha val="12000"/>
            </a:schemeClr>
          </a:solidFill>
          <a:ln w="12700">
            <a:solidFill>
              <a:schemeClr val="accent1">
                <a:alpha val="0"/>
              </a:schemeClr>
            </a:solidFill>
            <a:prstDash val="solid"/>
          </a:ln>
        </p:spPr>
      </p:sp>
      <p:pic>
        <p:nvPicPr>
          <p:cNvPr id="14" name="Image 2" descr="key">    </p:cNvPr>
          <p:cNvPicPr>
            <a:picLocks noChangeAspect="1"/>
          </p:cNvPicPr>
          <p:nvPr/>
        </p:nvPicPr>
        <p:blipFill>
          <a:blip r:embed="rId3"/>
          <a:stretch>
            <a:fillRect/>
          </a:stretch>
        </p:blipFill>
        <p:spPr>
          <a:xfrm>
            <a:off x="640080" y="5545836"/>
            <a:ext cx="384048" cy="384048"/>
          </a:xfrm>
          <a:prstGeom prst="rect">
            <a:avLst/>
          </a:prstGeom>
        </p:spPr>
      </p:pic>
      <p:sp>
        <p:nvSpPr>
          <p:cNvPr id="15" name="Text 9"/>
          <p:cNvSpPr txBox="1"/>
          <p:nvPr/>
        </p:nvSpPr>
        <p:spPr>
          <a:xfrm>
            <a:off x="1188720" y="5422392"/>
            <a:ext cx="7315200" cy="63093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手续费</a:t>
            </a:r>
            <a:pPr algn="l" indent="0" marL="0">
              <a:lnSpc>
                <a:spcPct val="105000"/>
              </a:lnSpc>
              <a:buNone/>
            </a:pPr>
            <a:r>
              <a:rPr lang="en-US" sz="1500" b="1" dirty="0">
                <a:solidFill>
                  <a:schemeClr val="tx1"/>
                </a:solidFill>
              </a:rPr>
              <a:t>随需求剧烈波动</a:t>
            </a:r>
            <a:pPr algn="l" indent="0" marL="0">
              <a:lnSpc>
                <a:spcPct val="105000"/>
              </a:lnSpc>
              <a:buNone/>
            </a:pPr>
            <a:r>
              <a:rPr lang="en-US" sz="1500" dirty="0">
                <a:solidFill>
                  <a:schemeClr val="tx1"/>
                </a:solidFill>
              </a:rPr>
              <a:t>：2017 年底超过 50 美元，2024 年 4 月超过 100 美元，2025 年 10 月仅约 0.59 美元。</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吞吐量：每秒约 7 笔，是结构性约束</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支付效率</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来源：比特币协议规则；Visa 官方资料（自称峰值处理能力）</a:t>
            </a:r>
            <a:endParaRPr lang="en-US" sz="1000" dirty="0"/>
          </a:p>
        </p:txBody>
      </p:sp>
      <p:sp>
        <p:nvSpPr>
          <p:cNvPr id="6" name="Shape 3"/>
          <p:cNvSpPr/>
          <p:nvPr/>
        </p:nvSpPr>
        <p:spPr>
          <a:xfrm>
            <a:off x="457200" y="1417320"/>
            <a:ext cx="2651760" cy="1554480"/>
          </a:xfrm>
          <a:prstGeom prst="roundRect">
            <a:avLst>
              <a:gd name="adj" fmla="val 4706"/>
            </a:avLst>
          </a:prstGeom>
          <a:solidFill>
            <a:schemeClr val="bg2"/>
          </a:solidFill>
          <a:ln w="12700">
            <a:solidFill>
              <a:schemeClr val="bg2">
                <a:alpha val="0"/>
              </a:schemeClr>
            </a:solidFill>
            <a:prstDash val="solid"/>
          </a:ln>
        </p:spPr>
      </p:sp>
      <p:sp>
        <p:nvSpPr>
          <p:cNvPr id="7" name="Text 4"/>
          <p:cNvSpPr txBox="1"/>
          <p:nvPr/>
        </p:nvSpPr>
        <p:spPr>
          <a:xfrm>
            <a:off x="594360" y="1527048"/>
            <a:ext cx="2377440" cy="777240"/>
          </a:xfrm>
          <a:prstGeom prst="rect">
            <a:avLst/>
          </a:prstGeom>
          <a:noFill/>
          <a:ln/>
        </p:spPr>
        <p:txBody>
          <a:bodyPr wrap="square" lIns="0" tIns="0" rIns="0" bIns="0" rtlCol="0" anchor="ctr"/>
          <a:lstStyle/>
          <a:p>
            <a:pPr algn="ctr" indent="0" marL="0">
              <a:lnSpc>
                <a:spcPct val="105000"/>
              </a:lnSpc>
              <a:buNone/>
            </a:pPr>
            <a:r>
              <a:rPr lang="en-US" sz="2400" b="1" dirty="0">
                <a:solidFill>
                  <a:schemeClr val="accent6"/>
                </a:solidFill>
              </a:rPr>
              <a:t>≈ 7 笔/秒</a:t>
            </a:r>
            <a:endParaRPr lang="en-US" sz="2400" dirty="0"/>
          </a:p>
        </p:txBody>
      </p:sp>
      <p:sp>
        <p:nvSpPr>
          <p:cNvPr id="8" name="Text 5"/>
          <p:cNvSpPr txBox="1"/>
          <p:nvPr/>
        </p:nvSpPr>
        <p:spPr>
          <a:xfrm>
            <a:off x="594360" y="2318918"/>
            <a:ext cx="2377440" cy="590702"/>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比特币链上理论吞吐（约 3–7 笔/秒）</a:t>
            </a:r>
            <a:endParaRPr lang="en-US" sz="1400" dirty="0"/>
          </a:p>
        </p:txBody>
      </p:sp>
      <p:sp>
        <p:nvSpPr>
          <p:cNvPr id="9" name="Shape 6"/>
          <p:cNvSpPr/>
          <p:nvPr/>
        </p:nvSpPr>
        <p:spPr>
          <a:xfrm>
            <a:off x="3246120" y="1417320"/>
            <a:ext cx="2651760" cy="1554480"/>
          </a:xfrm>
          <a:prstGeom prst="roundRect">
            <a:avLst>
              <a:gd name="adj" fmla="val 4706"/>
            </a:avLst>
          </a:prstGeom>
          <a:solidFill>
            <a:schemeClr val="bg2"/>
          </a:solidFill>
          <a:ln w="12700">
            <a:solidFill>
              <a:schemeClr val="bg2">
                <a:alpha val="0"/>
              </a:schemeClr>
            </a:solidFill>
            <a:prstDash val="solid"/>
          </a:ln>
        </p:spPr>
      </p:sp>
      <p:sp>
        <p:nvSpPr>
          <p:cNvPr id="10" name="Text 7"/>
          <p:cNvSpPr txBox="1"/>
          <p:nvPr/>
        </p:nvSpPr>
        <p:spPr>
          <a:xfrm>
            <a:off x="3383280" y="1527048"/>
            <a:ext cx="2377440" cy="77724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10 分钟</a:t>
            </a:r>
            <a:endParaRPr lang="en-US" sz="2800" dirty="0"/>
          </a:p>
        </p:txBody>
      </p:sp>
      <p:sp>
        <p:nvSpPr>
          <p:cNvPr id="11" name="Text 8"/>
          <p:cNvSpPr txBox="1"/>
          <p:nvPr/>
        </p:nvSpPr>
        <p:spPr>
          <a:xfrm>
            <a:off x="3383280" y="2318918"/>
            <a:ext cx="2377440" cy="590702"/>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平均出块间隔，一个区块容纳几千笔</a:t>
            </a:r>
            <a:endParaRPr lang="en-US" sz="1400" dirty="0"/>
          </a:p>
        </p:txBody>
      </p:sp>
      <p:sp>
        <p:nvSpPr>
          <p:cNvPr id="12" name="Shape 9"/>
          <p:cNvSpPr/>
          <p:nvPr/>
        </p:nvSpPr>
        <p:spPr>
          <a:xfrm>
            <a:off x="6035040" y="1417320"/>
            <a:ext cx="2651760" cy="1554480"/>
          </a:xfrm>
          <a:prstGeom prst="roundRect">
            <a:avLst>
              <a:gd name="adj" fmla="val 4706"/>
            </a:avLst>
          </a:prstGeom>
          <a:solidFill>
            <a:schemeClr val="bg2"/>
          </a:solidFill>
          <a:ln w="12700">
            <a:solidFill>
              <a:schemeClr val="bg2">
                <a:alpha val="0"/>
              </a:schemeClr>
            </a:solidFill>
            <a:prstDash val="solid"/>
          </a:ln>
        </p:spPr>
      </p:sp>
      <p:sp>
        <p:nvSpPr>
          <p:cNvPr id="13" name="Text 10"/>
          <p:cNvSpPr txBox="1"/>
          <p:nvPr/>
        </p:nvSpPr>
        <p:spPr>
          <a:xfrm>
            <a:off x="6172200" y="1527048"/>
            <a:ext cx="2377440" cy="77724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 65,000</a:t>
            </a:r>
            <a:endParaRPr lang="en-US" sz="2800" dirty="0"/>
          </a:p>
        </p:txBody>
      </p:sp>
      <p:sp>
        <p:nvSpPr>
          <p:cNvPr id="14" name="Text 11"/>
          <p:cNvSpPr txBox="1"/>
          <p:nvPr/>
        </p:nvSpPr>
        <p:spPr>
          <a:xfrm>
            <a:off x="6172200" y="2318918"/>
            <a:ext cx="2377440" cy="590702"/>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Visa 官方称的峰值处理能力（笔/秒）</a:t>
            </a:r>
            <a:endParaRPr lang="en-US" sz="1400" dirty="0"/>
          </a:p>
        </p:txBody>
      </p:sp>
      <p:sp>
        <p:nvSpPr>
          <p:cNvPr id="15" name="Shape 12"/>
          <p:cNvSpPr/>
          <p:nvPr/>
        </p:nvSpPr>
        <p:spPr>
          <a:xfrm>
            <a:off x="457200" y="3200400"/>
            <a:ext cx="4023360" cy="2148840"/>
          </a:xfrm>
          <a:prstGeom prst="roundRect">
            <a:avLst>
              <a:gd name="adj" fmla="val 3404"/>
            </a:avLst>
          </a:prstGeom>
          <a:solidFill>
            <a:schemeClr val="bg2"/>
          </a:solidFill>
          <a:ln w="12700">
            <a:solidFill>
              <a:schemeClr val="bg2">
                <a:alpha val="0"/>
              </a:schemeClr>
            </a:solidFill>
            <a:prstDash val="solid"/>
          </a:ln>
        </p:spPr>
      </p:sp>
      <p:sp>
        <p:nvSpPr>
          <p:cNvPr id="16" name="Shape 13"/>
          <p:cNvSpPr/>
          <p:nvPr/>
        </p:nvSpPr>
        <p:spPr>
          <a:xfrm>
            <a:off x="640080" y="3364992"/>
            <a:ext cx="502920" cy="502920"/>
          </a:xfrm>
          <a:prstGeom prst="ellipse">
            <a:avLst/>
          </a:prstGeom>
          <a:solidFill>
            <a:schemeClr val="accent1"/>
          </a:solidFill>
          <a:ln w="12700">
            <a:solidFill>
              <a:schemeClr val="accent1">
                <a:alpha val="0"/>
              </a:schemeClr>
            </a:solidFill>
            <a:prstDash val="solid"/>
          </a:ln>
        </p:spPr>
      </p:sp>
      <p:pic>
        <p:nvPicPr>
          <p:cNvPr id="17" name="Image 0" descr="FaDatabase">    </p:cNvPr>
          <p:cNvPicPr>
            <a:picLocks noChangeAspect="1"/>
          </p:cNvPicPr>
          <p:nvPr/>
        </p:nvPicPr>
        <p:blipFill>
          <a:blip r:embed="rId1"/>
          <a:stretch>
            <a:fillRect/>
          </a:stretch>
        </p:blipFill>
        <p:spPr>
          <a:xfrm>
            <a:off x="750722" y="3475634"/>
            <a:ext cx="281635" cy="281635"/>
          </a:xfrm>
          <a:prstGeom prst="rect">
            <a:avLst/>
          </a:prstGeom>
        </p:spPr>
      </p:pic>
      <p:sp>
        <p:nvSpPr>
          <p:cNvPr id="18" name="Text 14"/>
          <p:cNvSpPr txBox="1"/>
          <p:nvPr/>
        </p:nvSpPr>
        <p:spPr>
          <a:xfrm>
            <a:off x="640080" y="398678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内存池（mempool）</a:t>
            </a:r>
            <a:endParaRPr lang="en-US" sz="1700" dirty="0"/>
          </a:p>
        </p:txBody>
      </p:sp>
      <p:sp>
        <p:nvSpPr>
          <p:cNvPr id="19" name="Text 15"/>
          <p:cNvSpPr txBox="1"/>
          <p:nvPr/>
        </p:nvSpPr>
        <p:spPr>
          <a:xfrm>
            <a:off x="640080" y="4344924"/>
            <a:ext cx="3657600" cy="89458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交易广播后先排队，矿工优先挑“每字节手续费”高的。</a:t>
            </a:r>
            <a:endParaRPr lang="en-US" sz="1400" dirty="0"/>
          </a:p>
        </p:txBody>
      </p:sp>
      <p:sp>
        <p:nvSpPr>
          <p:cNvPr id="20" name="Shape 16"/>
          <p:cNvSpPr/>
          <p:nvPr/>
        </p:nvSpPr>
        <p:spPr>
          <a:xfrm>
            <a:off x="4663440" y="3200400"/>
            <a:ext cx="4023360" cy="2148840"/>
          </a:xfrm>
          <a:prstGeom prst="roundRect">
            <a:avLst>
              <a:gd name="adj" fmla="val 3404"/>
            </a:avLst>
          </a:prstGeom>
          <a:solidFill>
            <a:schemeClr val="bg2"/>
          </a:solidFill>
          <a:ln w="12700">
            <a:solidFill>
              <a:schemeClr val="bg2">
                <a:alpha val="0"/>
              </a:schemeClr>
            </a:solidFill>
            <a:prstDash val="solid"/>
          </a:ln>
        </p:spPr>
      </p:sp>
      <p:sp>
        <p:nvSpPr>
          <p:cNvPr id="21" name="Shape 17"/>
          <p:cNvSpPr/>
          <p:nvPr/>
        </p:nvSpPr>
        <p:spPr>
          <a:xfrm>
            <a:off x="4846320" y="3364992"/>
            <a:ext cx="502920" cy="502920"/>
          </a:xfrm>
          <a:prstGeom prst="ellipse">
            <a:avLst/>
          </a:prstGeom>
          <a:solidFill>
            <a:schemeClr val="accent1"/>
          </a:solidFill>
          <a:ln w="12700">
            <a:solidFill>
              <a:schemeClr val="accent1">
                <a:alpha val="0"/>
              </a:schemeClr>
            </a:solidFill>
            <a:prstDash val="solid"/>
          </a:ln>
        </p:spPr>
      </p:sp>
      <p:pic>
        <p:nvPicPr>
          <p:cNvPr id="22" name="Image 1" descr="FaBalanceScale">    </p:cNvPr>
          <p:cNvPicPr>
            <a:picLocks noChangeAspect="1"/>
          </p:cNvPicPr>
          <p:nvPr/>
        </p:nvPicPr>
        <p:blipFill>
          <a:blip r:embed="rId2"/>
          <a:stretch>
            <a:fillRect/>
          </a:stretch>
        </p:blipFill>
        <p:spPr>
          <a:xfrm>
            <a:off x="4956962" y="3475634"/>
            <a:ext cx="281635" cy="281635"/>
          </a:xfrm>
          <a:prstGeom prst="rect">
            <a:avLst/>
          </a:prstGeom>
        </p:spPr>
      </p:pic>
      <p:sp>
        <p:nvSpPr>
          <p:cNvPr id="23" name="Text 18"/>
          <p:cNvSpPr txBox="1"/>
          <p:nvPr/>
        </p:nvSpPr>
        <p:spPr>
          <a:xfrm>
            <a:off x="4846320" y="398678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三难困境</a:t>
            </a:r>
            <a:endParaRPr lang="en-US" sz="1700" dirty="0"/>
          </a:p>
        </p:txBody>
      </p:sp>
      <p:sp>
        <p:nvSpPr>
          <p:cNvPr id="24" name="Text 19"/>
          <p:cNvSpPr txBox="1"/>
          <p:nvPr/>
        </p:nvSpPr>
        <p:spPr>
          <a:xfrm>
            <a:off x="4846320" y="4344924"/>
            <a:ext cx="3657600" cy="89458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去中心化、安全、可扩展，难以兼得。比特币选了前两项。</a:t>
            </a:r>
            <a:endParaRPr lang="en-US" sz="1400" dirty="0"/>
          </a:p>
        </p:txBody>
      </p:sp>
      <p:sp>
        <p:nvSpPr>
          <p:cNvPr id="25" name="Shape 20"/>
          <p:cNvSpPr/>
          <p:nvPr/>
        </p:nvSpPr>
        <p:spPr>
          <a:xfrm>
            <a:off x="457200" y="548640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26" name="Image 2" descr="key">    </p:cNvPr>
          <p:cNvPicPr>
            <a:picLocks noChangeAspect="1"/>
          </p:cNvPicPr>
          <p:nvPr/>
        </p:nvPicPr>
        <p:blipFill>
          <a:blip r:embed="rId3"/>
          <a:stretch>
            <a:fillRect/>
          </a:stretch>
        </p:blipFill>
        <p:spPr>
          <a:xfrm>
            <a:off x="640080" y="5614416"/>
            <a:ext cx="384048" cy="384048"/>
          </a:xfrm>
          <a:prstGeom prst="rect">
            <a:avLst/>
          </a:prstGeom>
        </p:spPr>
      </p:pic>
      <p:sp>
        <p:nvSpPr>
          <p:cNvPr id="27" name="Text 21"/>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拥堵时通过</a:t>
            </a:r>
            <a:pPr algn="l" indent="0" marL="0">
              <a:lnSpc>
                <a:spcPct val="105000"/>
              </a:lnSpc>
              <a:buNone/>
            </a:pPr>
            <a:r>
              <a:rPr lang="en-US" sz="1500" b="1" dirty="0">
                <a:solidFill>
                  <a:schemeClr val="tx1"/>
                </a:solidFill>
              </a:rPr>
              <a:t>加价</a:t>
            </a:r>
            <a:pPr algn="l" indent="0" marL="0">
              <a:lnSpc>
                <a:spcPct val="105000"/>
              </a:lnSpc>
              <a:buNone/>
            </a:pPr>
            <a:r>
              <a:rPr lang="en-US" sz="1500" dirty="0">
                <a:solidFill>
                  <a:schemeClr val="tx1"/>
                </a:solidFill>
              </a:rPr>
              <a:t>抢先上链；出块速度不随需求加快——所以费用上涨。</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闪电网络：把小额支付搬到链下</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支付效率</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来源：mempool.space 汇总（2026-05：公开容量约 4,898 BTC；2025-12 峰值约 5,637 BTC）；闪电网络白皮书（2016）</a:t>
            </a:r>
            <a:endParaRPr lang="en-US" sz="1000" dirty="0"/>
          </a:p>
        </p:txBody>
      </p:sp>
      <p:sp>
        <p:nvSpPr>
          <p:cNvPr id="6" name="Shape 3"/>
          <p:cNvSpPr/>
          <p:nvPr/>
        </p:nvSpPr>
        <p:spPr>
          <a:xfrm>
            <a:off x="457200" y="1463040"/>
            <a:ext cx="2316480" cy="1280160"/>
          </a:xfrm>
          <a:prstGeom prst="roundRect">
            <a:avLst>
              <a:gd name="adj" fmla="val 5714"/>
            </a:avLst>
          </a:prstGeom>
          <a:solidFill>
            <a:schemeClr val="bg2"/>
          </a:solidFill>
          <a:ln w="12700">
            <a:solidFill>
              <a:schemeClr val="bg2">
                <a:alpha val="0"/>
              </a:schemeClr>
            </a:solidFill>
            <a:prstDash val="solid"/>
          </a:ln>
        </p:spPr>
      </p:sp>
      <p:sp>
        <p:nvSpPr>
          <p:cNvPr id="7" name="Text 4"/>
          <p:cNvSpPr txBox="1"/>
          <p:nvPr/>
        </p:nvSpPr>
        <p:spPr>
          <a:xfrm>
            <a:off x="530352" y="1508760"/>
            <a:ext cx="2170176" cy="118872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链上：开通道</a:t>
            </a:r>
            <a:endParaRPr lang="en-US" sz="1300" dirty="0"/>
          </a:p>
          <a:p>
            <a:pPr algn="ctr" indent="0" marL="0">
              <a:lnSpc>
                <a:spcPct val="105000"/>
              </a:lnSpc>
              <a:buNone/>
            </a:pPr>
            <a:r>
              <a:rPr lang="en-US" sz="1300" dirty="0">
                <a:solidFill>
                  <a:schemeClr val="accent4"/>
                </a:solidFill>
              </a:rPr>
              <a:t>锁定资金（1 笔交易）</a:t>
            </a:r>
            <a:endParaRPr lang="en-US" sz="1300" dirty="0"/>
          </a:p>
        </p:txBody>
      </p:sp>
      <p:sp>
        <p:nvSpPr>
          <p:cNvPr id="8" name="Shape 5"/>
          <p:cNvSpPr/>
          <p:nvPr/>
        </p:nvSpPr>
        <p:spPr>
          <a:xfrm>
            <a:off x="2819400" y="2103120"/>
            <a:ext cx="548640" cy="0"/>
          </a:xfrm>
          <a:prstGeom prst="line">
            <a:avLst/>
          </a:prstGeom>
          <a:noFill/>
          <a:ln w="31750">
            <a:solidFill>
              <a:schemeClr val="accent1"/>
            </a:solidFill>
            <a:prstDash val="solid"/>
            <a:tailEnd type="triangle"/>
          </a:ln>
        </p:spPr>
      </p:sp>
      <p:sp>
        <p:nvSpPr>
          <p:cNvPr id="9" name="Shape 6"/>
          <p:cNvSpPr/>
          <p:nvPr/>
        </p:nvSpPr>
        <p:spPr>
          <a:xfrm>
            <a:off x="3413760" y="1463040"/>
            <a:ext cx="2316480" cy="1280160"/>
          </a:xfrm>
          <a:prstGeom prst="roundRect">
            <a:avLst>
              <a:gd name="adj" fmla="val 5714"/>
            </a:avLst>
          </a:prstGeom>
          <a:solidFill>
            <a:schemeClr val="bg2"/>
          </a:solidFill>
          <a:ln w="12700">
            <a:solidFill>
              <a:schemeClr val="bg2">
                <a:alpha val="0"/>
              </a:schemeClr>
            </a:solidFill>
            <a:prstDash val="solid"/>
          </a:ln>
        </p:spPr>
      </p:sp>
      <p:sp>
        <p:nvSpPr>
          <p:cNvPr id="10" name="Text 7"/>
          <p:cNvSpPr txBox="1"/>
          <p:nvPr/>
        </p:nvSpPr>
        <p:spPr>
          <a:xfrm>
            <a:off x="3486912" y="1508760"/>
            <a:ext cx="2170176" cy="118872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链下：反复转账</a:t>
            </a:r>
            <a:endParaRPr lang="en-US" sz="1300" dirty="0"/>
          </a:p>
          <a:p>
            <a:pPr algn="ctr" indent="0" marL="0">
              <a:lnSpc>
                <a:spcPct val="105000"/>
              </a:lnSpc>
              <a:buNone/>
            </a:pPr>
            <a:r>
              <a:rPr lang="en-US" sz="1300" dirty="0">
                <a:solidFill>
                  <a:schemeClr val="accent4"/>
                </a:solidFill>
              </a:rPr>
              <a:t>只更新余额，近乎即时</a:t>
            </a:r>
            <a:endParaRPr lang="en-US" sz="1300" dirty="0"/>
          </a:p>
        </p:txBody>
      </p:sp>
      <p:sp>
        <p:nvSpPr>
          <p:cNvPr id="11" name="Shape 8"/>
          <p:cNvSpPr/>
          <p:nvPr/>
        </p:nvSpPr>
        <p:spPr>
          <a:xfrm>
            <a:off x="5775960" y="2103120"/>
            <a:ext cx="548640" cy="0"/>
          </a:xfrm>
          <a:prstGeom prst="line">
            <a:avLst/>
          </a:prstGeom>
          <a:noFill/>
          <a:ln w="31750">
            <a:solidFill>
              <a:schemeClr val="accent1"/>
            </a:solidFill>
            <a:prstDash val="solid"/>
            <a:tailEnd type="triangle"/>
          </a:ln>
        </p:spPr>
      </p:sp>
      <p:sp>
        <p:nvSpPr>
          <p:cNvPr id="12" name="Shape 9"/>
          <p:cNvSpPr/>
          <p:nvPr/>
        </p:nvSpPr>
        <p:spPr>
          <a:xfrm>
            <a:off x="6370320" y="1463040"/>
            <a:ext cx="2316480" cy="1280160"/>
          </a:xfrm>
          <a:prstGeom prst="roundRect">
            <a:avLst>
              <a:gd name="adj" fmla="val 5714"/>
            </a:avLst>
          </a:prstGeom>
          <a:solidFill>
            <a:schemeClr val="bg2"/>
          </a:solidFill>
          <a:ln w="12700">
            <a:solidFill>
              <a:schemeClr val="bg2">
                <a:alpha val="0"/>
              </a:schemeClr>
            </a:solidFill>
            <a:prstDash val="solid"/>
          </a:ln>
        </p:spPr>
      </p:sp>
      <p:sp>
        <p:nvSpPr>
          <p:cNvPr id="13" name="Text 10"/>
          <p:cNvSpPr txBox="1"/>
          <p:nvPr/>
        </p:nvSpPr>
        <p:spPr>
          <a:xfrm>
            <a:off x="6443472" y="1508760"/>
            <a:ext cx="2170176" cy="1188720"/>
          </a:xfrm>
          <a:prstGeom prst="rect">
            <a:avLst/>
          </a:prstGeom>
          <a:noFill/>
          <a:ln/>
        </p:spPr>
        <p:txBody>
          <a:bodyPr wrap="square" lIns="0" tIns="0" rIns="0" bIns="0" rtlCol="0" anchor="ctr"/>
          <a:lstStyle/>
          <a:p>
            <a:pPr algn="ctr" indent="0" marL="0">
              <a:lnSpc>
                <a:spcPct val="105000"/>
              </a:lnSpc>
              <a:spcAft>
                <a:spcPts val="200"/>
              </a:spcAft>
              <a:buNone/>
            </a:pPr>
            <a:r>
              <a:rPr lang="en-US" sz="1600" b="1" dirty="0">
                <a:solidFill>
                  <a:schemeClr val="tx1"/>
                </a:solidFill>
              </a:rPr>
              <a:t>链上：关闭通道</a:t>
            </a:r>
            <a:endParaRPr lang="en-US" sz="1300" dirty="0"/>
          </a:p>
          <a:p>
            <a:pPr algn="ctr" indent="0" marL="0">
              <a:lnSpc>
                <a:spcPct val="105000"/>
              </a:lnSpc>
              <a:buNone/>
            </a:pPr>
            <a:r>
              <a:rPr lang="en-US" sz="1300" dirty="0">
                <a:solidFill>
                  <a:schemeClr val="accent4"/>
                </a:solidFill>
              </a:rPr>
              <a:t>结算最终余额（1 笔交易）</a:t>
            </a:r>
            <a:endParaRPr lang="en-US" sz="1300" dirty="0"/>
          </a:p>
        </p:txBody>
      </p:sp>
      <p:sp>
        <p:nvSpPr>
          <p:cNvPr id="14" name="Shape 11"/>
          <p:cNvSpPr/>
          <p:nvPr/>
        </p:nvSpPr>
        <p:spPr>
          <a:xfrm>
            <a:off x="457200" y="3017520"/>
            <a:ext cx="4023360" cy="2377440"/>
          </a:xfrm>
          <a:prstGeom prst="roundRect">
            <a:avLst>
              <a:gd name="adj" fmla="val 3077"/>
            </a:avLst>
          </a:prstGeom>
          <a:solidFill>
            <a:schemeClr val="bg2"/>
          </a:solidFill>
          <a:ln w="12700">
            <a:solidFill>
              <a:schemeClr val="bg2">
                <a:alpha val="0"/>
              </a:schemeClr>
            </a:solidFill>
            <a:prstDash val="solid"/>
          </a:ln>
        </p:spPr>
      </p:sp>
      <p:sp>
        <p:nvSpPr>
          <p:cNvPr id="15" name="Shape 12"/>
          <p:cNvSpPr/>
          <p:nvPr/>
        </p:nvSpPr>
        <p:spPr>
          <a:xfrm>
            <a:off x="640080" y="3182112"/>
            <a:ext cx="502920" cy="502920"/>
          </a:xfrm>
          <a:prstGeom prst="ellipse">
            <a:avLst/>
          </a:prstGeom>
          <a:solidFill>
            <a:schemeClr val="accent3"/>
          </a:solidFill>
          <a:ln w="12700">
            <a:solidFill>
              <a:schemeClr val="accent3">
                <a:alpha val="0"/>
              </a:schemeClr>
            </a:solidFill>
            <a:prstDash val="solid"/>
          </a:ln>
        </p:spPr>
      </p:sp>
      <p:pic>
        <p:nvPicPr>
          <p:cNvPr id="16" name="Image 0" descr="FaThumbsUp">    </p:cNvPr>
          <p:cNvPicPr>
            <a:picLocks noChangeAspect="1"/>
          </p:cNvPicPr>
          <p:nvPr/>
        </p:nvPicPr>
        <p:blipFill>
          <a:blip r:embed="rId1"/>
          <a:stretch>
            <a:fillRect/>
          </a:stretch>
        </p:blipFill>
        <p:spPr>
          <a:xfrm>
            <a:off x="750722" y="3292754"/>
            <a:ext cx="281635" cy="281635"/>
          </a:xfrm>
          <a:prstGeom prst="rect">
            <a:avLst/>
          </a:prstGeom>
        </p:spPr>
      </p:pic>
      <p:sp>
        <p:nvSpPr>
          <p:cNvPr id="17" name="Text 13"/>
          <p:cNvSpPr txBox="1"/>
          <p:nvPr/>
        </p:nvSpPr>
        <p:spPr>
          <a:xfrm>
            <a:off x="640080" y="380390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优势</a:t>
            </a:r>
            <a:endParaRPr lang="en-US" sz="1700" dirty="0"/>
          </a:p>
        </p:txBody>
      </p:sp>
      <p:sp>
        <p:nvSpPr>
          <p:cNvPr id="18" name="Text 14"/>
          <p:cNvSpPr txBox="1"/>
          <p:nvPr/>
        </p:nvSpPr>
        <p:spPr>
          <a:xfrm>
            <a:off x="640080" y="4162044"/>
            <a:ext cx="3657600" cy="112318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秒级到账、费用极低、链上负担小。</a:t>
            </a:r>
            <a:endParaRPr lang="en-US" sz="1400" dirty="0"/>
          </a:p>
        </p:txBody>
      </p:sp>
      <p:sp>
        <p:nvSpPr>
          <p:cNvPr id="19" name="Shape 15"/>
          <p:cNvSpPr/>
          <p:nvPr/>
        </p:nvSpPr>
        <p:spPr>
          <a:xfrm>
            <a:off x="4663440" y="3017520"/>
            <a:ext cx="4023360" cy="2377440"/>
          </a:xfrm>
          <a:prstGeom prst="roundRect">
            <a:avLst>
              <a:gd name="adj" fmla="val 3077"/>
            </a:avLst>
          </a:prstGeom>
          <a:solidFill>
            <a:schemeClr val="bg2"/>
          </a:solidFill>
          <a:ln w="12700">
            <a:solidFill>
              <a:schemeClr val="bg2">
                <a:alpha val="0"/>
              </a:schemeClr>
            </a:solidFill>
            <a:prstDash val="solid"/>
          </a:ln>
        </p:spPr>
      </p:sp>
      <p:sp>
        <p:nvSpPr>
          <p:cNvPr id="20" name="Shape 16"/>
          <p:cNvSpPr/>
          <p:nvPr/>
        </p:nvSpPr>
        <p:spPr>
          <a:xfrm>
            <a:off x="4846320" y="3182112"/>
            <a:ext cx="502920" cy="502920"/>
          </a:xfrm>
          <a:prstGeom prst="ellipse">
            <a:avLst/>
          </a:prstGeom>
          <a:solidFill>
            <a:schemeClr val="accent2"/>
          </a:solidFill>
          <a:ln w="12700">
            <a:solidFill>
              <a:schemeClr val="accent2">
                <a:alpha val="0"/>
              </a:schemeClr>
            </a:solidFill>
            <a:prstDash val="solid"/>
          </a:ln>
        </p:spPr>
      </p:sp>
      <p:pic>
        <p:nvPicPr>
          <p:cNvPr id="21" name="Image 1" descr="FaExclamationTriangle">    </p:cNvPr>
          <p:cNvPicPr>
            <a:picLocks noChangeAspect="1"/>
          </p:cNvPicPr>
          <p:nvPr/>
        </p:nvPicPr>
        <p:blipFill>
          <a:blip r:embed="rId2"/>
          <a:stretch>
            <a:fillRect/>
          </a:stretch>
        </p:blipFill>
        <p:spPr>
          <a:xfrm>
            <a:off x="4956962" y="3292754"/>
            <a:ext cx="281635" cy="281635"/>
          </a:xfrm>
          <a:prstGeom prst="rect">
            <a:avLst/>
          </a:prstGeom>
        </p:spPr>
      </p:pic>
      <p:sp>
        <p:nvSpPr>
          <p:cNvPr id="22" name="Text 17"/>
          <p:cNvSpPr txBox="1"/>
          <p:nvPr/>
        </p:nvSpPr>
        <p:spPr>
          <a:xfrm>
            <a:off x="4846320" y="380390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局限</a:t>
            </a:r>
            <a:endParaRPr lang="en-US" sz="1700" dirty="0"/>
          </a:p>
        </p:txBody>
      </p:sp>
      <p:sp>
        <p:nvSpPr>
          <p:cNvPr id="23" name="Text 18"/>
          <p:cNvSpPr txBox="1"/>
          <p:nvPr/>
        </p:nvSpPr>
        <p:spPr>
          <a:xfrm>
            <a:off x="4846320" y="4162044"/>
            <a:ext cx="3657600" cy="112318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需在线、流动性管理复杂、路由可能失败、容量有限（公开容量约 4,900～5,600 BTC）。</a:t>
            </a:r>
            <a:endParaRPr lang="en-US" sz="1400" dirty="0"/>
          </a:p>
        </p:txBody>
      </p:sp>
      <p:sp>
        <p:nvSpPr>
          <p:cNvPr id="24" name="Shape 19"/>
          <p:cNvSpPr/>
          <p:nvPr/>
        </p:nvSpPr>
        <p:spPr>
          <a:xfrm>
            <a:off x="457200" y="5532120"/>
            <a:ext cx="8229600" cy="594360"/>
          </a:xfrm>
          <a:prstGeom prst="roundRect">
            <a:avLst>
              <a:gd name="adj" fmla="val 12308"/>
            </a:avLst>
          </a:prstGeom>
          <a:solidFill>
            <a:schemeClr val="accent1">
              <a:alpha val="12000"/>
            </a:schemeClr>
          </a:solidFill>
          <a:ln w="12700">
            <a:solidFill>
              <a:schemeClr val="accent1">
                <a:alpha val="0"/>
              </a:schemeClr>
            </a:solidFill>
            <a:prstDash val="solid"/>
          </a:ln>
        </p:spPr>
      </p:sp>
      <p:pic>
        <p:nvPicPr>
          <p:cNvPr id="25" name="Image 2" descr="ask">    </p:cNvPr>
          <p:cNvPicPr>
            <a:picLocks noChangeAspect="1"/>
          </p:cNvPicPr>
          <p:nvPr/>
        </p:nvPicPr>
        <p:blipFill>
          <a:blip r:embed="rId3"/>
          <a:stretch>
            <a:fillRect/>
          </a:stretch>
        </p:blipFill>
        <p:spPr>
          <a:xfrm>
            <a:off x="640080" y="5637276"/>
            <a:ext cx="384048" cy="384048"/>
          </a:xfrm>
          <a:prstGeom prst="rect">
            <a:avLst/>
          </a:prstGeom>
        </p:spPr>
      </p:pic>
      <p:sp>
        <p:nvSpPr>
          <p:cNvPr id="26" name="Text 20"/>
          <p:cNvSpPr txBox="1"/>
          <p:nvPr/>
        </p:nvSpPr>
        <p:spPr>
          <a:xfrm>
            <a:off x="1188720" y="5605272"/>
            <a:ext cx="7315200" cy="44805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闪电网络是比特币的“扩容”，还是“另一个需要信任的支付系统”？</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现实检验：萨尔瓦多把比特币定为法定货币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现实检验</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来源：Reuters / The Block / IMF（2024-12、2025-01）报道；萨尔瓦多《比特币法》</a:t>
            </a:r>
            <a:endParaRPr lang="en-US" sz="1000" dirty="0"/>
          </a:p>
        </p:txBody>
      </p:sp>
      <p:sp>
        <p:nvSpPr>
          <p:cNvPr id="6" name="Shape 3"/>
          <p:cNvSpPr/>
          <p:nvPr/>
        </p:nvSpPr>
        <p:spPr>
          <a:xfrm>
            <a:off x="1984248" y="1760220"/>
            <a:ext cx="0" cy="3108960"/>
          </a:xfrm>
          <a:prstGeom prst="line">
            <a:avLst/>
          </a:prstGeom>
          <a:noFill/>
          <a:ln w="19050">
            <a:solidFill>
              <a:schemeClr val="accent5"/>
            </a:solidFill>
            <a:prstDash val="solid"/>
          </a:ln>
        </p:spPr>
      </p:sp>
      <p:sp>
        <p:nvSpPr>
          <p:cNvPr id="7" name="Shape 4"/>
          <p:cNvSpPr/>
          <p:nvPr/>
        </p:nvSpPr>
        <p:spPr>
          <a:xfrm>
            <a:off x="457200" y="1604772"/>
            <a:ext cx="1325880" cy="310896"/>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457200" y="160477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2021-06-09</a:t>
            </a:r>
            <a:endParaRPr lang="en-US" sz="1200" dirty="0"/>
          </a:p>
        </p:txBody>
      </p:sp>
      <p:sp>
        <p:nvSpPr>
          <p:cNvPr id="9" name="Shape 6"/>
          <p:cNvSpPr/>
          <p:nvPr/>
        </p:nvSpPr>
        <p:spPr>
          <a:xfrm>
            <a:off x="1911096" y="1687068"/>
            <a:ext cx="146304" cy="146304"/>
          </a:xfrm>
          <a:prstGeom prst="ellipse">
            <a:avLst/>
          </a:prstGeom>
          <a:solidFill>
            <a:schemeClr val="accent4"/>
          </a:solidFill>
          <a:ln w="12700">
            <a:solidFill>
              <a:schemeClr val="accent4">
                <a:alpha val="0"/>
              </a:schemeClr>
            </a:solidFill>
            <a:prstDash val="solid"/>
          </a:ln>
        </p:spPr>
      </p:sp>
      <p:sp>
        <p:nvSpPr>
          <p:cNvPr id="10" name="Text 7"/>
          <p:cNvSpPr txBox="1"/>
          <p:nvPr/>
        </p:nvSpPr>
        <p:spPr>
          <a:xfrm>
            <a:off x="2240280" y="1389888"/>
            <a:ext cx="6446520" cy="7406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国会通过《比特币法》</a:t>
            </a:r>
            <a:endParaRPr lang="en-US" sz="1300" dirty="0"/>
          </a:p>
          <a:p>
            <a:pPr algn="l" indent="0" marL="0">
              <a:lnSpc>
                <a:spcPct val="105000"/>
              </a:lnSpc>
              <a:buNone/>
            </a:pPr>
            <a:r>
              <a:rPr lang="en-US" sz="1300" dirty="0">
                <a:solidFill>
                  <a:schemeClr val="accent4"/>
                </a:solidFill>
              </a:rPr>
              <a:t>首个把比特币定为法定货币的国家</a:t>
            </a:r>
            <a:endParaRPr lang="en-US" sz="1300" dirty="0"/>
          </a:p>
        </p:txBody>
      </p:sp>
      <p:sp>
        <p:nvSpPr>
          <p:cNvPr id="11" name="Shape 8"/>
          <p:cNvSpPr/>
          <p:nvPr/>
        </p:nvSpPr>
        <p:spPr>
          <a:xfrm>
            <a:off x="457200" y="2382012"/>
            <a:ext cx="1325880" cy="310896"/>
          </a:xfrm>
          <a:prstGeom prst="roundRect">
            <a:avLst>
              <a:gd name="adj" fmla="val 50000"/>
            </a:avLst>
          </a:prstGeom>
          <a:solidFill>
            <a:schemeClr val="tx1"/>
          </a:solidFill>
          <a:ln w="12700">
            <a:solidFill>
              <a:schemeClr val="tx1">
                <a:alpha val="0"/>
              </a:schemeClr>
            </a:solidFill>
            <a:prstDash val="solid"/>
          </a:ln>
        </p:spPr>
      </p:sp>
      <p:sp>
        <p:nvSpPr>
          <p:cNvPr id="12" name="Text 9"/>
          <p:cNvSpPr txBox="1"/>
          <p:nvPr/>
        </p:nvSpPr>
        <p:spPr>
          <a:xfrm>
            <a:off x="457200" y="238201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2021-09-07</a:t>
            </a:r>
            <a:endParaRPr lang="en-US" sz="1200" dirty="0"/>
          </a:p>
        </p:txBody>
      </p:sp>
      <p:sp>
        <p:nvSpPr>
          <p:cNvPr id="13" name="Shape 10"/>
          <p:cNvSpPr/>
          <p:nvPr/>
        </p:nvSpPr>
        <p:spPr>
          <a:xfrm>
            <a:off x="1911096" y="2464308"/>
            <a:ext cx="146304" cy="146304"/>
          </a:xfrm>
          <a:prstGeom prst="ellipse">
            <a:avLst/>
          </a:prstGeom>
          <a:solidFill>
            <a:schemeClr val="accent4"/>
          </a:solidFill>
          <a:ln w="12700">
            <a:solidFill>
              <a:schemeClr val="accent4">
                <a:alpha val="0"/>
              </a:schemeClr>
            </a:solidFill>
            <a:prstDash val="solid"/>
          </a:ln>
        </p:spPr>
      </p:sp>
      <p:sp>
        <p:nvSpPr>
          <p:cNvPr id="14" name="Text 11"/>
          <p:cNvSpPr txBox="1"/>
          <p:nvPr/>
        </p:nvSpPr>
        <p:spPr>
          <a:xfrm>
            <a:off x="2240280" y="2167128"/>
            <a:ext cx="6446520" cy="7406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法律生效，推出 Chivo 钱包</a:t>
            </a:r>
            <a:endParaRPr lang="en-US" sz="1300" dirty="0"/>
          </a:p>
          <a:p>
            <a:pPr algn="l" indent="0" marL="0">
              <a:lnSpc>
                <a:spcPct val="105000"/>
              </a:lnSpc>
              <a:buNone/>
            </a:pPr>
            <a:r>
              <a:rPr lang="en-US" sz="1300" dirty="0">
                <a:solidFill>
                  <a:schemeClr val="accent4"/>
                </a:solidFill>
              </a:rPr>
              <a:t>向注册公民发放约 30 美元比特币</a:t>
            </a:r>
            <a:endParaRPr lang="en-US" sz="1300" dirty="0"/>
          </a:p>
        </p:txBody>
      </p:sp>
      <p:sp>
        <p:nvSpPr>
          <p:cNvPr id="15" name="Shape 12"/>
          <p:cNvSpPr/>
          <p:nvPr/>
        </p:nvSpPr>
        <p:spPr>
          <a:xfrm>
            <a:off x="457200" y="3159252"/>
            <a:ext cx="1325880" cy="310896"/>
          </a:xfrm>
          <a:prstGeom prst="roundRect">
            <a:avLst>
              <a:gd name="adj" fmla="val 50000"/>
            </a:avLst>
          </a:prstGeom>
          <a:solidFill>
            <a:schemeClr val="accent1"/>
          </a:solidFill>
          <a:ln w="12700">
            <a:solidFill>
              <a:schemeClr val="accent1">
                <a:alpha val="0"/>
              </a:schemeClr>
            </a:solidFill>
            <a:prstDash val="solid"/>
          </a:ln>
        </p:spPr>
      </p:sp>
      <p:sp>
        <p:nvSpPr>
          <p:cNvPr id="16" name="Text 13"/>
          <p:cNvSpPr txBox="1"/>
          <p:nvPr/>
        </p:nvSpPr>
        <p:spPr>
          <a:xfrm>
            <a:off x="457200" y="3159252"/>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2021–2024</a:t>
            </a:r>
            <a:endParaRPr lang="en-US" sz="1200" dirty="0"/>
          </a:p>
        </p:txBody>
      </p:sp>
      <p:sp>
        <p:nvSpPr>
          <p:cNvPr id="17" name="Shape 14"/>
          <p:cNvSpPr/>
          <p:nvPr/>
        </p:nvSpPr>
        <p:spPr>
          <a:xfrm>
            <a:off x="1911096" y="3241548"/>
            <a:ext cx="146304" cy="146304"/>
          </a:xfrm>
          <a:prstGeom prst="ellipse">
            <a:avLst/>
          </a:prstGeom>
          <a:solidFill>
            <a:schemeClr val="accent1"/>
          </a:solidFill>
          <a:ln w="12700">
            <a:solidFill>
              <a:schemeClr val="accent1">
                <a:alpha val="0"/>
              </a:schemeClr>
            </a:solidFill>
            <a:prstDash val="solid"/>
          </a:ln>
        </p:spPr>
      </p:sp>
      <p:sp>
        <p:nvSpPr>
          <p:cNvPr id="18" name="Text 15"/>
          <p:cNvSpPr txBox="1"/>
          <p:nvPr/>
        </p:nvSpPr>
        <p:spPr>
          <a:xfrm>
            <a:off x="2240280" y="2944368"/>
            <a:ext cx="6446520" cy="7406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日常使用率低</a:t>
            </a:r>
            <a:endParaRPr lang="en-US" sz="1300" dirty="0"/>
          </a:p>
          <a:p>
            <a:pPr algn="l" indent="0" marL="0">
              <a:lnSpc>
                <a:spcPct val="105000"/>
              </a:lnSpc>
              <a:buNone/>
            </a:pPr>
            <a:r>
              <a:rPr lang="en-US" sz="1300" dirty="0">
                <a:solidFill>
                  <a:schemeClr val="accent4"/>
                </a:solidFill>
              </a:rPr>
              <a:t>多项调查显示多数人仍用美元，商家接受有限</a:t>
            </a:r>
            <a:endParaRPr lang="en-US" sz="1300" dirty="0"/>
          </a:p>
        </p:txBody>
      </p:sp>
      <p:sp>
        <p:nvSpPr>
          <p:cNvPr id="19" name="Shape 16"/>
          <p:cNvSpPr/>
          <p:nvPr/>
        </p:nvSpPr>
        <p:spPr>
          <a:xfrm>
            <a:off x="457200" y="3936492"/>
            <a:ext cx="1325880" cy="310896"/>
          </a:xfrm>
          <a:prstGeom prst="roundRect">
            <a:avLst>
              <a:gd name="adj" fmla="val 50000"/>
            </a:avLst>
          </a:prstGeom>
          <a:solidFill>
            <a:schemeClr val="tx1"/>
          </a:solidFill>
          <a:ln w="12700">
            <a:solidFill>
              <a:schemeClr val="tx1">
                <a:alpha val="0"/>
              </a:schemeClr>
            </a:solidFill>
            <a:prstDash val="solid"/>
          </a:ln>
        </p:spPr>
      </p:sp>
      <p:sp>
        <p:nvSpPr>
          <p:cNvPr id="20" name="Text 17"/>
          <p:cNvSpPr txBox="1"/>
          <p:nvPr/>
        </p:nvSpPr>
        <p:spPr>
          <a:xfrm>
            <a:off x="457200" y="3936492"/>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2024-12</a:t>
            </a:r>
            <a:endParaRPr lang="en-US" sz="1200" dirty="0"/>
          </a:p>
        </p:txBody>
      </p:sp>
      <p:sp>
        <p:nvSpPr>
          <p:cNvPr id="21" name="Shape 18"/>
          <p:cNvSpPr/>
          <p:nvPr/>
        </p:nvSpPr>
        <p:spPr>
          <a:xfrm>
            <a:off x="1911096" y="4018788"/>
            <a:ext cx="146304" cy="146304"/>
          </a:xfrm>
          <a:prstGeom prst="ellipse">
            <a:avLst/>
          </a:prstGeom>
          <a:solidFill>
            <a:schemeClr val="accent4"/>
          </a:solidFill>
          <a:ln w="12700">
            <a:solidFill>
              <a:schemeClr val="accent4">
                <a:alpha val="0"/>
              </a:schemeClr>
            </a:solidFill>
            <a:prstDash val="solid"/>
          </a:ln>
        </p:spPr>
      </p:sp>
      <p:sp>
        <p:nvSpPr>
          <p:cNvPr id="22" name="Text 19"/>
          <p:cNvSpPr txBox="1"/>
          <p:nvPr/>
        </p:nvSpPr>
        <p:spPr>
          <a:xfrm>
            <a:off x="2240280" y="3721608"/>
            <a:ext cx="6446520" cy="7406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与 IMF 达成 14 亿美元安排</a:t>
            </a:r>
            <a:endParaRPr lang="en-US" sz="1300" dirty="0"/>
          </a:p>
          <a:p>
            <a:pPr algn="l" indent="0" marL="0">
              <a:lnSpc>
                <a:spcPct val="105000"/>
              </a:lnSpc>
              <a:buNone/>
            </a:pPr>
            <a:r>
              <a:rPr lang="en-US" sz="1300" dirty="0">
                <a:solidFill>
                  <a:schemeClr val="accent4"/>
                </a:solidFill>
              </a:rPr>
              <a:t>条件之一：缩减比特币的角色</a:t>
            </a:r>
            <a:endParaRPr lang="en-US" sz="1300" dirty="0"/>
          </a:p>
        </p:txBody>
      </p:sp>
      <p:sp>
        <p:nvSpPr>
          <p:cNvPr id="23" name="Shape 20"/>
          <p:cNvSpPr/>
          <p:nvPr/>
        </p:nvSpPr>
        <p:spPr>
          <a:xfrm>
            <a:off x="457200" y="4713732"/>
            <a:ext cx="1325880" cy="310896"/>
          </a:xfrm>
          <a:prstGeom prst="roundRect">
            <a:avLst>
              <a:gd name="adj" fmla="val 50000"/>
            </a:avLst>
          </a:prstGeom>
          <a:solidFill>
            <a:schemeClr val="accent1"/>
          </a:solidFill>
          <a:ln w="12700">
            <a:solidFill>
              <a:schemeClr val="accent1">
                <a:alpha val="0"/>
              </a:schemeClr>
            </a:solidFill>
            <a:prstDash val="solid"/>
          </a:ln>
        </p:spPr>
      </p:sp>
      <p:sp>
        <p:nvSpPr>
          <p:cNvPr id="24" name="Text 21"/>
          <p:cNvSpPr txBox="1"/>
          <p:nvPr/>
        </p:nvSpPr>
        <p:spPr>
          <a:xfrm>
            <a:off x="457200" y="4713732"/>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2025-01-29</a:t>
            </a:r>
            <a:endParaRPr lang="en-US" sz="1200" dirty="0"/>
          </a:p>
        </p:txBody>
      </p:sp>
      <p:sp>
        <p:nvSpPr>
          <p:cNvPr id="25" name="Shape 22"/>
          <p:cNvSpPr/>
          <p:nvPr/>
        </p:nvSpPr>
        <p:spPr>
          <a:xfrm>
            <a:off x="1911096" y="4796028"/>
            <a:ext cx="146304" cy="146304"/>
          </a:xfrm>
          <a:prstGeom prst="ellipse">
            <a:avLst/>
          </a:prstGeom>
          <a:solidFill>
            <a:schemeClr val="accent1"/>
          </a:solidFill>
          <a:ln w="12700">
            <a:solidFill>
              <a:schemeClr val="accent1">
                <a:alpha val="0"/>
              </a:schemeClr>
            </a:solidFill>
            <a:prstDash val="solid"/>
          </a:ln>
        </p:spPr>
      </p:sp>
      <p:sp>
        <p:nvSpPr>
          <p:cNvPr id="26" name="Text 23"/>
          <p:cNvSpPr txBox="1"/>
          <p:nvPr/>
        </p:nvSpPr>
        <p:spPr>
          <a:xfrm>
            <a:off x="2240280" y="4498848"/>
            <a:ext cx="6446520" cy="740664"/>
          </a:xfrm>
          <a:prstGeom prst="rect">
            <a:avLst/>
          </a:prstGeom>
          <a:noFill/>
          <a:ln/>
        </p:spPr>
        <p:txBody>
          <a:bodyPr wrap="square" lIns="0" tIns="0" rIns="0" bIns="0" rtlCol="0" anchor="ctr"/>
          <a:lstStyle/>
          <a:p>
            <a:pPr algn="l" indent="0" marL="0">
              <a:lnSpc>
                <a:spcPct val="105000"/>
              </a:lnSpc>
              <a:spcAft>
                <a:spcPts val="100"/>
              </a:spcAft>
              <a:buNone/>
            </a:pPr>
            <a:r>
              <a:rPr lang="en-US" sz="1500" b="1" dirty="0">
                <a:solidFill>
                  <a:schemeClr val="tx1"/>
                </a:solidFill>
              </a:rPr>
              <a:t>国会修法：不再强制接受</a:t>
            </a:r>
            <a:endParaRPr lang="en-US" sz="1300" dirty="0"/>
          </a:p>
          <a:p>
            <a:pPr algn="l" indent="0" marL="0">
              <a:lnSpc>
                <a:spcPct val="105000"/>
              </a:lnSpc>
              <a:buNone/>
            </a:pPr>
            <a:r>
              <a:rPr lang="en-US" sz="1300" dirty="0">
                <a:solidFill>
                  <a:schemeClr val="accent4"/>
                </a:solidFill>
              </a:rPr>
              <a:t>私营部门自愿接受；不再用于纳税</a:t>
            </a:r>
            <a:endParaRPr lang="en-US" sz="1300" dirty="0"/>
          </a:p>
        </p:txBody>
      </p:sp>
      <p:sp>
        <p:nvSpPr>
          <p:cNvPr id="27" name="Shape 24"/>
          <p:cNvSpPr/>
          <p:nvPr/>
        </p:nvSpPr>
        <p:spPr>
          <a:xfrm>
            <a:off x="457200" y="5440680"/>
            <a:ext cx="8229600" cy="685800"/>
          </a:xfrm>
          <a:prstGeom prst="roundRect">
            <a:avLst>
              <a:gd name="adj" fmla="val 10667"/>
            </a:avLst>
          </a:prstGeom>
          <a:solidFill>
            <a:schemeClr val="accent1">
              <a:alpha val="12000"/>
            </a:schemeClr>
          </a:solidFill>
          <a:ln w="12700">
            <a:solidFill>
              <a:schemeClr val="accent1">
                <a:alpha val="0"/>
              </a:schemeClr>
            </a:solidFill>
            <a:prstDash val="solid"/>
          </a:ln>
        </p:spPr>
      </p:sp>
      <p:pic>
        <p:nvPicPr>
          <p:cNvPr id="28" name="Image 0" descr="key">    </p:cNvPr>
          <p:cNvPicPr>
            <a:picLocks noChangeAspect="1"/>
          </p:cNvPicPr>
          <p:nvPr/>
        </p:nvPicPr>
        <p:blipFill>
          <a:blip r:embed="rId1"/>
          <a:stretch>
            <a:fillRect/>
          </a:stretch>
        </p:blipFill>
        <p:spPr>
          <a:xfrm>
            <a:off x="640080" y="5591556"/>
            <a:ext cx="384048" cy="384048"/>
          </a:xfrm>
          <a:prstGeom prst="rect">
            <a:avLst/>
          </a:prstGeom>
        </p:spPr>
      </p:pic>
      <p:sp>
        <p:nvSpPr>
          <p:cNvPr id="29" name="Text 25"/>
          <p:cNvSpPr txBox="1"/>
          <p:nvPr/>
        </p:nvSpPr>
        <p:spPr>
          <a:xfrm>
            <a:off x="1188720" y="5513832"/>
            <a:ext cx="7315200" cy="53949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法律上的“法定货币” ≠ 市场上的“被使用”。</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安全：被攻破的是平台和人，而不是协议</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安全</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来源：Chainalysis《2026 Crypto Crime Report》（2025-12-18）；公开报道</a:t>
            </a:r>
            <a:endParaRPr lang="en-US" sz="10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097280"/>
                <a:gridCol w="3017520"/>
                <a:gridCol w="4114800"/>
              </a:tblGrid>
              <a:tr h="457200">
                <a:tc>
                  <a:txBody>
                    <a:bodyPr/>
                    <a:lstStyle/>
                    <a:p>
                      <a:pPr algn="l" indent="0" marL="0">
                        <a:buNone/>
                      </a:pPr>
                      <a:r>
                        <a:rPr lang="en-US" sz="1500" b="1" dirty="0">
                          <a:solidFill>
                            <a:schemeClr val="bg1"/>
                          </a:solidFill>
                        </a:rPr>
                        <a:t>层面</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典型失守</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例子</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868680">
                <a:tc>
                  <a:txBody>
                    <a:bodyPr/>
                    <a:lstStyle/>
                    <a:p>
                      <a:pPr algn="l" indent="0" marL="0">
                        <a:buNone/>
                      </a:pPr>
                      <a:r>
                        <a:rPr lang="en-US" sz="1500" b="1" dirty="0">
                          <a:solidFill>
                            <a:schemeClr val="tx1"/>
                          </a:solidFill>
                        </a:rPr>
                        <a:t>协议</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17 年未被成功攻破</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2010 溢出漏洞（数小时修复）</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868680">
                <a:tc>
                  <a:txBody>
                    <a:bodyPr/>
                    <a:lstStyle/>
                    <a:p>
                      <a:pPr algn="l" indent="0" marL="0">
                        <a:buNone/>
                      </a:pPr>
                      <a:r>
                        <a:rPr lang="en-US" sz="1500" b="1" dirty="0">
                          <a:solidFill>
                            <a:schemeClr val="tx1"/>
                          </a:solidFill>
                        </a:rPr>
                        <a:t>平台</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交易所 / 托管被盗或挪用</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Mt.Gox 2014（约 85 万枚）；FTX 2022；Bybit 2025（约 15 亿美元）</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868680">
                <a:tc>
                  <a:txBody>
                    <a:bodyPr/>
                    <a:lstStyle/>
                    <a:p>
                      <a:pPr algn="l" indent="0" marL="0">
                        <a:buNone/>
                      </a:pPr>
                      <a:r>
                        <a:rPr lang="en-US" sz="1500" b="1" dirty="0">
                          <a:solidFill>
                            <a:schemeClr val="tx1"/>
                          </a:solidFill>
                        </a:rPr>
                        <a:t>个人</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钓鱼、社工、木马、私钥丢失</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2020 推特大劫案；见“容错率”一页</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bl>
          </a:graphicData>
        </a:graphic>
      </p:graphicFrame>
      <p:sp>
        <p:nvSpPr>
          <p:cNvPr id="7" name="Shape 3"/>
          <p:cNvSpPr/>
          <p:nvPr/>
        </p:nvSpPr>
        <p:spPr>
          <a:xfrm>
            <a:off x="457200" y="4572000"/>
            <a:ext cx="4023360" cy="1463040"/>
          </a:xfrm>
          <a:prstGeom prst="roundRect">
            <a:avLst>
              <a:gd name="adj" fmla="val 5000"/>
            </a:avLst>
          </a:prstGeom>
          <a:solidFill>
            <a:schemeClr val="bg2"/>
          </a:solidFill>
          <a:ln w="12700">
            <a:solidFill>
              <a:schemeClr val="bg2">
                <a:alpha val="0"/>
              </a:schemeClr>
            </a:solidFill>
            <a:prstDash val="solid"/>
          </a:ln>
        </p:spPr>
      </p:sp>
      <p:sp>
        <p:nvSpPr>
          <p:cNvPr id="8" name="Text 4"/>
          <p:cNvSpPr txBox="1"/>
          <p:nvPr/>
        </p:nvSpPr>
        <p:spPr>
          <a:xfrm>
            <a:off x="594360" y="4681728"/>
            <a:ext cx="3749040" cy="731520"/>
          </a:xfrm>
          <a:prstGeom prst="rect">
            <a:avLst/>
          </a:prstGeom>
          <a:noFill/>
          <a:ln/>
        </p:spPr>
        <p:txBody>
          <a:bodyPr wrap="square" lIns="0" tIns="0" rIns="0" bIns="0" rtlCol="0" anchor="ctr"/>
          <a:lstStyle/>
          <a:p>
            <a:pPr algn="ctr" indent="0" marL="0">
              <a:lnSpc>
                <a:spcPct val="105000"/>
              </a:lnSpc>
              <a:buNone/>
            </a:pPr>
            <a:r>
              <a:rPr lang="en-US" sz="2800" b="1" dirty="0">
                <a:solidFill>
                  <a:schemeClr val="accent6"/>
                </a:solidFill>
              </a:rPr>
              <a:t>&gt; 34 亿美元</a:t>
            </a:r>
            <a:endParaRPr lang="en-US" sz="2800" dirty="0"/>
          </a:p>
        </p:txBody>
      </p:sp>
      <p:sp>
        <p:nvSpPr>
          <p:cNvPr id="9" name="Text 5"/>
          <p:cNvSpPr txBox="1"/>
          <p:nvPr/>
        </p:nvSpPr>
        <p:spPr>
          <a:xfrm>
            <a:off x="594360" y="5420563"/>
            <a:ext cx="3749040" cy="555955"/>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2025 年被盗的加密资产（Chainalysis）</a:t>
            </a:r>
            <a:endParaRPr lang="en-US" sz="1400" dirty="0"/>
          </a:p>
        </p:txBody>
      </p:sp>
      <p:sp>
        <p:nvSpPr>
          <p:cNvPr id="10" name="Shape 6"/>
          <p:cNvSpPr/>
          <p:nvPr/>
        </p:nvSpPr>
        <p:spPr>
          <a:xfrm>
            <a:off x="4663440" y="4572000"/>
            <a:ext cx="4023360" cy="1463040"/>
          </a:xfrm>
          <a:prstGeom prst="roundRect">
            <a:avLst>
              <a:gd name="adj" fmla="val 5000"/>
            </a:avLst>
          </a:prstGeom>
          <a:solidFill>
            <a:schemeClr val="bg2"/>
          </a:solidFill>
          <a:ln w="12700">
            <a:solidFill>
              <a:schemeClr val="bg2">
                <a:alpha val="0"/>
              </a:schemeClr>
            </a:solidFill>
            <a:prstDash val="solid"/>
          </a:ln>
        </p:spPr>
      </p:sp>
      <p:sp>
        <p:nvSpPr>
          <p:cNvPr id="11" name="Text 7"/>
          <p:cNvSpPr txBox="1"/>
          <p:nvPr/>
        </p:nvSpPr>
        <p:spPr>
          <a:xfrm>
            <a:off x="4800600" y="4681728"/>
            <a:ext cx="3749040" cy="731520"/>
          </a:xfrm>
          <a:prstGeom prst="rect">
            <a:avLst/>
          </a:prstGeom>
          <a:noFill/>
          <a:ln/>
        </p:spPr>
        <p:txBody>
          <a:bodyPr wrap="square" lIns="0" tIns="0" rIns="0" bIns="0" rtlCol="0" anchor="ctr"/>
          <a:lstStyle/>
          <a:p>
            <a:pPr algn="ctr" indent="0" marL="0">
              <a:lnSpc>
                <a:spcPct val="105000"/>
              </a:lnSpc>
              <a:buNone/>
            </a:pPr>
            <a:r>
              <a:rPr lang="en-US" sz="3000" b="1" dirty="0">
                <a:solidFill>
                  <a:schemeClr val="accent2"/>
                </a:solidFill>
              </a:rPr>
              <a:t>≈ 59%</a:t>
            </a:r>
            <a:endParaRPr lang="en-US" sz="3000" dirty="0"/>
          </a:p>
        </p:txBody>
      </p:sp>
      <p:sp>
        <p:nvSpPr>
          <p:cNvPr id="12" name="Text 8"/>
          <p:cNvSpPr txBox="1"/>
          <p:nvPr/>
        </p:nvSpPr>
        <p:spPr>
          <a:xfrm>
            <a:off x="4800600" y="5420563"/>
            <a:ext cx="3749040" cy="555955"/>
          </a:xfrm>
          <a:prstGeom prst="rect">
            <a:avLst/>
          </a:prstGeom>
          <a:noFill/>
          <a:ln/>
        </p:spPr>
        <p:txBody>
          <a:bodyPr wrap="square" lIns="0" tIns="0" rIns="0" bIns="0" rtlCol="0" anchor="t"/>
          <a:lstStyle/>
          <a:p>
            <a:pPr algn="ctr" indent="0" marL="0">
              <a:lnSpc>
                <a:spcPct val="105000"/>
              </a:lnSpc>
              <a:buNone/>
            </a:pPr>
            <a:r>
              <a:rPr lang="en-US" sz="1400" dirty="0">
                <a:solidFill>
                  <a:schemeClr val="accent4"/>
                </a:solidFill>
              </a:rPr>
              <a:t>与朝鲜相关（至少 20.2 亿美元）</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Mt.Gox：交易所风险的原型</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安全</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来源：东京地方法院受托人公告；公开报道；图：原课件（Mt.Gox 债权人抗议）</a:t>
            </a:r>
            <a:endParaRPr lang="en-US" sz="1000" dirty="0"/>
          </a:p>
        </p:txBody>
      </p:sp>
      <p:sp>
        <p:nvSpPr>
          <p:cNvPr id="6" name="Shape 3"/>
          <p:cNvSpPr/>
          <p:nvPr/>
        </p:nvSpPr>
        <p:spPr>
          <a:xfrm>
            <a:off x="438912" y="1399032"/>
            <a:ext cx="3602736" cy="2717413"/>
          </a:xfrm>
          <a:prstGeom prst="rect">
            <a:avLst/>
          </a:prstGeom>
          <a:solidFill>
            <a:schemeClr val="bg1"/>
          </a:solidFill>
          <a:ln w="9525">
            <a:solidFill>
              <a:schemeClr val="accent5"/>
            </a:solidFill>
            <a:prstDash val="solid"/>
          </a:ln>
        </p:spPr>
      </p:sp>
      <p:pic>
        <p:nvPicPr>
          <p:cNvPr id="7" name="Image 0" descr="Mt.Gox 债权人举牌抗议">    </p:cNvPr>
          <p:cNvPicPr>
            <a:picLocks noChangeAspect="1"/>
          </p:cNvPicPr>
          <p:nvPr/>
        </p:nvPicPr>
        <p:blipFill>
          <a:blip r:embed="rId1"/>
          <a:stretch>
            <a:fillRect/>
          </a:stretch>
        </p:blipFill>
        <p:spPr>
          <a:xfrm>
            <a:off x="457200" y="1417320"/>
            <a:ext cx="3566160" cy="2680837"/>
          </a:xfrm>
          <a:prstGeom prst="rect">
            <a:avLst/>
          </a:prstGeom>
        </p:spPr>
      </p:pic>
      <p:sp>
        <p:nvSpPr>
          <p:cNvPr id="8" name="Shape 4"/>
          <p:cNvSpPr/>
          <p:nvPr/>
        </p:nvSpPr>
        <p:spPr>
          <a:xfrm>
            <a:off x="5504688" y="1801368"/>
            <a:ext cx="0" cy="3072384"/>
          </a:xfrm>
          <a:prstGeom prst="line">
            <a:avLst/>
          </a:prstGeom>
          <a:noFill/>
          <a:ln w="19050">
            <a:solidFill>
              <a:schemeClr val="accent5"/>
            </a:solidFill>
            <a:prstDash val="solid"/>
          </a:ln>
        </p:spPr>
      </p:sp>
      <p:sp>
        <p:nvSpPr>
          <p:cNvPr id="9" name="Shape 5"/>
          <p:cNvSpPr/>
          <p:nvPr/>
        </p:nvSpPr>
        <p:spPr>
          <a:xfrm>
            <a:off x="4206240" y="1645920"/>
            <a:ext cx="1097280" cy="310896"/>
          </a:xfrm>
          <a:prstGeom prst="roundRect">
            <a:avLst>
              <a:gd name="adj" fmla="val 50000"/>
            </a:avLst>
          </a:prstGeom>
          <a:solidFill>
            <a:schemeClr val="tx1"/>
          </a:solidFill>
          <a:ln w="12700">
            <a:solidFill>
              <a:schemeClr val="tx1">
                <a:alpha val="0"/>
              </a:schemeClr>
            </a:solidFill>
            <a:prstDash val="solid"/>
          </a:ln>
        </p:spPr>
      </p:sp>
      <p:sp>
        <p:nvSpPr>
          <p:cNvPr id="10" name="Text 6"/>
          <p:cNvSpPr txBox="1"/>
          <p:nvPr/>
        </p:nvSpPr>
        <p:spPr>
          <a:xfrm>
            <a:off x="4206240" y="1645920"/>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2010</a:t>
            </a:r>
            <a:endParaRPr lang="en-US" sz="1200" dirty="0"/>
          </a:p>
        </p:txBody>
      </p:sp>
      <p:sp>
        <p:nvSpPr>
          <p:cNvPr id="11" name="Shape 7"/>
          <p:cNvSpPr/>
          <p:nvPr/>
        </p:nvSpPr>
        <p:spPr>
          <a:xfrm>
            <a:off x="5431536" y="1728216"/>
            <a:ext cx="146304" cy="146304"/>
          </a:xfrm>
          <a:prstGeom prst="ellipse">
            <a:avLst/>
          </a:prstGeom>
          <a:solidFill>
            <a:schemeClr val="accent4"/>
          </a:solidFill>
          <a:ln w="12700">
            <a:solidFill>
              <a:schemeClr val="accent4">
                <a:alpha val="0"/>
              </a:schemeClr>
            </a:solidFill>
            <a:prstDash val="solid"/>
          </a:ln>
        </p:spPr>
      </p:sp>
      <p:sp>
        <p:nvSpPr>
          <p:cNvPr id="12" name="Text 8"/>
          <p:cNvSpPr txBox="1"/>
          <p:nvPr/>
        </p:nvSpPr>
        <p:spPr>
          <a:xfrm>
            <a:off x="5760720" y="1435608"/>
            <a:ext cx="2926080" cy="731520"/>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转型为比特币交易所</a:t>
            </a:r>
            <a:endParaRPr lang="en-US" sz="1200" dirty="0"/>
          </a:p>
          <a:p>
            <a:pPr algn="l" indent="0" marL="0">
              <a:lnSpc>
                <a:spcPct val="105000"/>
              </a:lnSpc>
              <a:buNone/>
            </a:pPr>
            <a:r>
              <a:rPr lang="en-US" sz="1200" dirty="0">
                <a:solidFill>
                  <a:schemeClr val="accent4"/>
                </a:solidFill>
              </a:rPr>
              <a:t>前身是万智牌卡牌交易站</a:t>
            </a:r>
            <a:endParaRPr lang="en-US" sz="1200" dirty="0"/>
          </a:p>
        </p:txBody>
      </p:sp>
      <p:sp>
        <p:nvSpPr>
          <p:cNvPr id="13" name="Shape 9"/>
          <p:cNvSpPr/>
          <p:nvPr/>
        </p:nvSpPr>
        <p:spPr>
          <a:xfrm>
            <a:off x="4206240" y="2414016"/>
            <a:ext cx="1097280" cy="310896"/>
          </a:xfrm>
          <a:prstGeom prst="roundRect">
            <a:avLst>
              <a:gd name="adj" fmla="val 50000"/>
            </a:avLst>
          </a:prstGeom>
          <a:solidFill>
            <a:schemeClr val="tx1"/>
          </a:solidFill>
          <a:ln w="12700">
            <a:solidFill>
              <a:schemeClr val="tx1">
                <a:alpha val="0"/>
              </a:schemeClr>
            </a:solidFill>
            <a:prstDash val="solid"/>
          </a:ln>
        </p:spPr>
      </p:sp>
      <p:sp>
        <p:nvSpPr>
          <p:cNvPr id="14" name="Text 10"/>
          <p:cNvSpPr txBox="1"/>
          <p:nvPr/>
        </p:nvSpPr>
        <p:spPr>
          <a:xfrm>
            <a:off x="4206240" y="2414016"/>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2011-06-19</a:t>
            </a:r>
            <a:endParaRPr lang="en-US" sz="1200" dirty="0"/>
          </a:p>
        </p:txBody>
      </p:sp>
      <p:sp>
        <p:nvSpPr>
          <p:cNvPr id="15" name="Shape 11"/>
          <p:cNvSpPr/>
          <p:nvPr/>
        </p:nvSpPr>
        <p:spPr>
          <a:xfrm>
            <a:off x="5431536" y="2496312"/>
            <a:ext cx="146304" cy="146304"/>
          </a:xfrm>
          <a:prstGeom prst="ellipse">
            <a:avLst/>
          </a:prstGeom>
          <a:solidFill>
            <a:schemeClr val="accent4"/>
          </a:solidFill>
          <a:ln w="12700">
            <a:solidFill>
              <a:schemeClr val="accent4">
                <a:alpha val="0"/>
              </a:schemeClr>
            </a:solidFill>
            <a:prstDash val="solid"/>
          </a:ln>
        </p:spPr>
      </p:sp>
      <p:sp>
        <p:nvSpPr>
          <p:cNvPr id="16" name="Text 12"/>
          <p:cNvSpPr txBox="1"/>
          <p:nvPr/>
        </p:nvSpPr>
        <p:spPr>
          <a:xfrm>
            <a:off x="5760720" y="2203704"/>
            <a:ext cx="2926080" cy="731520"/>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被黑，价格被砸到 1 美分</a:t>
            </a:r>
            <a:endParaRPr lang="en-US" sz="1200" dirty="0"/>
          </a:p>
        </p:txBody>
      </p:sp>
      <p:sp>
        <p:nvSpPr>
          <p:cNvPr id="17" name="Shape 13"/>
          <p:cNvSpPr/>
          <p:nvPr/>
        </p:nvSpPr>
        <p:spPr>
          <a:xfrm>
            <a:off x="4206240" y="3182112"/>
            <a:ext cx="1097280" cy="310896"/>
          </a:xfrm>
          <a:prstGeom prst="roundRect">
            <a:avLst>
              <a:gd name="adj" fmla="val 50000"/>
            </a:avLst>
          </a:prstGeom>
          <a:solidFill>
            <a:schemeClr val="tx1"/>
          </a:solidFill>
          <a:ln w="12700">
            <a:solidFill>
              <a:schemeClr val="tx1">
                <a:alpha val="0"/>
              </a:schemeClr>
            </a:solidFill>
            <a:prstDash val="solid"/>
          </a:ln>
        </p:spPr>
      </p:sp>
      <p:sp>
        <p:nvSpPr>
          <p:cNvPr id="18" name="Text 14"/>
          <p:cNvSpPr txBox="1"/>
          <p:nvPr/>
        </p:nvSpPr>
        <p:spPr>
          <a:xfrm>
            <a:off x="4206240" y="3182112"/>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2013</a:t>
            </a:r>
            <a:endParaRPr lang="en-US" sz="1200" dirty="0"/>
          </a:p>
        </p:txBody>
      </p:sp>
      <p:sp>
        <p:nvSpPr>
          <p:cNvPr id="19" name="Shape 15"/>
          <p:cNvSpPr/>
          <p:nvPr/>
        </p:nvSpPr>
        <p:spPr>
          <a:xfrm>
            <a:off x="5431536" y="3264408"/>
            <a:ext cx="146304" cy="146304"/>
          </a:xfrm>
          <a:prstGeom prst="ellipse">
            <a:avLst/>
          </a:prstGeom>
          <a:solidFill>
            <a:schemeClr val="accent4"/>
          </a:solidFill>
          <a:ln w="12700">
            <a:solidFill>
              <a:schemeClr val="accent4">
                <a:alpha val="0"/>
              </a:schemeClr>
            </a:solidFill>
            <a:prstDash val="solid"/>
          </a:ln>
        </p:spPr>
      </p:sp>
      <p:sp>
        <p:nvSpPr>
          <p:cNvPr id="20" name="Text 16"/>
          <p:cNvSpPr txBox="1"/>
          <p:nvPr/>
        </p:nvSpPr>
        <p:spPr>
          <a:xfrm>
            <a:off x="5760720" y="2971800"/>
            <a:ext cx="2926080" cy="731520"/>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占全球约 70% 的交易量</a:t>
            </a:r>
            <a:endParaRPr lang="en-US" sz="1200" dirty="0"/>
          </a:p>
        </p:txBody>
      </p:sp>
      <p:sp>
        <p:nvSpPr>
          <p:cNvPr id="21" name="Shape 17"/>
          <p:cNvSpPr/>
          <p:nvPr/>
        </p:nvSpPr>
        <p:spPr>
          <a:xfrm>
            <a:off x="4206240" y="3950208"/>
            <a:ext cx="1097280" cy="310896"/>
          </a:xfrm>
          <a:prstGeom prst="roundRect">
            <a:avLst>
              <a:gd name="adj" fmla="val 50000"/>
            </a:avLst>
          </a:prstGeom>
          <a:solidFill>
            <a:schemeClr val="accent1"/>
          </a:solidFill>
          <a:ln w="12700">
            <a:solidFill>
              <a:schemeClr val="accent1">
                <a:alpha val="0"/>
              </a:schemeClr>
            </a:solidFill>
            <a:prstDash val="solid"/>
          </a:ln>
        </p:spPr>
      </p:sp>
      <p:sp>
        <p:nvSpPr>
          <p:cNvPr id="22" name="Text 18"/>
          <p:cNvSpPr txBox="1"/>
          <p:nvPr/>
        </p:nvSpPr>
        <p:spPr>
          <a:xfrm>
            <a:off x="4206240" y="3950208"/>
            <a:ext cx="1097280" cy="310896"/>
          </a:xfrm>
          <a:prstGeom prst="rect">
            <a:avLst/>
          </a:prstGeom>
          <a:noFill/>
          <a:ln/>
        </p:spPr>
        <p:txBody>
          <a:bodyPr wrap="square" lIns="0" tIns="0" rIns="0" bIns="0" rtlCol="0" anchor="ctr"/>
          <a:lstStyle/>
          <a:p>
            <a:pPr algn="ctr" indent="0" marL="0">
              <a:buNone/>
            </a:pPr>
            <a:r>
              <a:rPr lang="en-US" sz="1200" b="1" dirty="0">
                <a:solidFill>
                  <a:schemeClr val="tx1"/>
                </a:solidFill>
              </a:rPr>
              <a:t>2014-02</a:t>
            </a:r>
            <a:endParaRPr lang="en-US" sz="1200" dirty="0"/>
          </a:p>
        </p:txBody>
      </p:sp>
      <p:sp>
        <p:nvSpPr>
          <p:cNvPr id="23" name="Shape 19"/>
          <p:cNvSpPr/>
          <p:nvPr/>
        </p:nvSpPr>
        <p:spPr>
          <a:xfrm>
            <a:off x="5431536" y="4032504"/>
            <a:ext cx="146304" cy="146304"/>
          </a:xfrm>
          <a:prstGeom prst="ellipse">
            <a:avLst/>
          </a:prstGeom>
          <a:solidFill>
            <a:schemeClr val="accent1"/>
          </a:solidFill>
          <a:ln w="12700">
            <a:solidFill>
              <a:schemeClr val="accent1">
                <a:alpha val="0"/>
              </a:schemeClr>
            </a:solidFill>
            <a:prstDash val="solid"/>
          </a:ln>
        </p:spPr>
      </p:sp>
      <p:sp>
        <p:nvSpPr>
          <p:cNvPr id="24" name="Text 20"/>
          <p:cNvSpPr txBox="1"/>
          <p:nvPr/>
        </p:nvSpPr>
        <p:spPr>
          <a:xfrm>
            <a:off x="5760720" y="3739896"/>
            <a:ext cx="2926080" cy="731520"/>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停止提现并破产</a:t>
            </a:r>
            <a:endParaRPr lang="en-US" sz="1200" dirty="0"/>
          </a:p>
          <a:p>
            <a:pPr algn="l" indent="0" marL="0">
              <a:lnSpc>
                <a:spcPct val="105000"/>
              </a:lnSpc>
              <a:buNone/>
            </a:pPr>
            <a:r>
              <a:rPr lang="en-US" sz="1200" dirty="0">
                <a:solidFill>
                  <a:schemeClr val="accent4"/>
                </a:solidFill>
              </a:rPr>
              <a:t>约 85 万枚丢失</a:t>
            </a:r>
            <a:endParaRPr lang="en-US" sz="1200" dirty="0"/>
          </a:p>
        </p:txBody>
      </p:sp>
      <p:sp>
        <p:nvSpPr>
          <p:cNvPr id="25" name="Shape 21"/>
          <p:cNvSpPr/>
          <p:nvPr/>
        </p:nvSpPr>
        <p:spPr>
          <a:xfrm>
            <a:off x="4206240" y="4718304"/>
            <a:ext cx="1097280" cy="310896"/>
          </a:xfrm>
          <a:prstGeom prst="roundRect">
            <a:avLst>
              <a:gd name="adj" fmla="val 50000"/>
            </a:avLst>
          </a:prstGeom>
          <a:solidFill>
            <a:schemeClr val="tx1"/>
          </a:solidFill>
          <a:ln w="12700">
            <a:solidFill>
              <a:schemeClr val="tx1">
                <a:alpha val="0"/>
              </a:schemeClr>
            </a:solidFill>
            <a:prstDash val="solid"/>
          </a:ln>
        </p:spPr>
      </p:sp>
      <p:sp>
        <p:nvSpPr>
          <p:cNvPr id="26" name="Text 22"/>
          <p:cNvSpPr txBox="1"/>
          <p:nvPr/>
        </p:nvSpPr>
        <p:spPr>
          <a:xfrm>
            <a:off x="4206240" y="4718304"/>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2024-07</a:t>
            </a:r>
            <a:endParaRPr lang="en-US" sz="1200" dirty="0"/>
          </a:p>
        </p:txBody>
      </p:sp>
      <p:sp>
        <p:nvSpPr>
          <p:cNvPr id="27" name="Shape 23"/>
          <p:cNvSpPr/>
          <p:nvPr/>
        </p:nvSpPr>
        <p:spPr>
          <a:xfrm>
            <a:off x="5431536" y="4800600"/>
            <a:ext cx="146304" cy="146304"/>
          </a:xfrm>
          <a:prstGeom prst="ellipse">
            <a:avLst/>
          </a:prstGeom>
          <a:solidFill>
            <a:schemeClr val="accent4"/>
          </a:solidFill>
          <a:ln w="12700">
            <a:solidFill>
              <a:schemeClr val="accent4">
                <a:alpha val="0"/>
              </a:schemeClr>
            </a:solidFill>
            <a:prstDash val="solid"/>
          </a:ln>
        </p:spPr>
      </p:sp>
      <p:sp>
        <p:nvSpPr>
          <p:cNvPr id="28" name="Text 24"/>
          <p:cNvSpPr txBox="1"/>
          <p:nvPr/>
        </p:nvSpPr>
        <p:spPr>
          <a:xfrm>
            <a:off x="5760720" y="4507992"/>
            <a:ext cx="2926080" cy="731520"/>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开始偿付债权人</a:t>
            </a:r>
            <a:endParaRPr lang="en-US" sz="1200" dirty="0"/>
          </a:p>
          <a:p>
            <a:pPr algn="l" indent="0" marL="0">
              <a:lnSpc>
                <a:spcPct val="105000"/>
              </a:lnSpc>
              <a:buNone/>
            </a:pPr>
            <a:r>
              <a:rPr lang="en-US" sz="1200" dirty="0">
                <a:solidFill>
                  <a:schemeClr val="accent4"/>
                </a:solidFill>
              </a:rPr>
              <a:t>期限已延至 2026-10-31</a:t>
            </a:r>
            <a:endParaRPr lang="en-US" sz="1200" dirty="0"/>
          </a:p>
        </p:txBody>
      </p:sp>
      <p:sp>
        <p:nvSpPr>
          <p:cNvPr id="29" name="Shape 25"/>
          <p:cNvSpPr/>
          <p:nvPr/>
        </p:nvSpPr>
        <p:spPr>
          <a:xfrm>
            <a:off x="457200" y="5394960"/>
            <a:ext cx="8229600" cy="731520"/>
          </a:xfrm>
          <a:prstGeom prst="roundRect">
            <a:avLst>
              <a:gd name="adj" fmla="val 10000"/>
            </a:avLst>
          </a:prstGeom>
          <a:solidFill>
            <a:schemeClr val="accent1">
              <a:alpha val="12000"/>
            </a:schemeClr>
          </a:solidFill>
          <a:ln w="12700">
            <a:solidFill>
              <a:schemeClr val="accent1">
                <a:alpha val="0"/>
              </a:schemeClr>
            </a:solidFill>
            <a:prstDash val="solid"/>
          </a:ln>
        </p:spPr>
      </p:sp>
      <p:pic>
        <p:nvPicPr>
          <p:cNvPr id="30" name="Image 1" descr="key">    </p:cNvPr>
          <p:cNvPicPr>
            <a:picLocks noChangeAspect="1"/>
          </p:cNvPicPr>
          <p:nvPr/>
        </p:nvPicPr>
        <p:blipFill>
          <a:blip r:embed="rId2"/>
          <a:stretch>
            <a:fillRect/>
          </a:stretch>
        </p:blipFill>
        <p:spPr>
          <a:xfrm>
            <a:off x="640080" y="5568696"/>
            <a:ext cx="384048" cy="384048"/>
          </a:xfrm>
          <a:prstGeom prst="rect">
            <a:avLst/>
          </a:prstGeom>
        </p:spPr>
      </p:pic>
      <p:sp>
        <p:nvSpPr>
          <p:cNvPr id="31" name="Text 26"/>
          <p:cNvSpPr txBox="1"/>
          <p:nvPr/>
        </p:nvSpPr>
        <p:spPr>
          <a:xfrm>
            <a:off x="1188720" y="5468112"/>
            <a:ext cx="7315200" cy="585216"/>
          </a:xfrm>
          <a:prstGeom prst="rect">
            <a:avLst/>
          </a:prstGeom>
          <a:noFill/>
          <a:ln/>
        </p:spPr>
        <p:txBody>
          <a:bodyPr wrap="square" lIns="0" tIns="0" rIns="0" bIns="0" rtlCol="0" anchor="ctr"/>
          <a:lstStyle/>
          <a:p>
            <a:pPr algn="l" indent="0" marL="0">
              <a:lnSpc>
                <a:spcPct val="105000"/>
              </a:lnSpc>
              <a:buNone/>
            </a:pPr>
            <a:r>
              <a:rPr lang="en-US" sz="1800" b="1" dirty="0">
                <a:solidFill>
                  <a:schemeClr val="tx1"/>
                </a:solidFill>
              </a:rPr>
              <a:t>不是你的钥匙，就不是你的币。</a:t>
            </a:r>
            <a:endParaRPr lang="en-US" sz="18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托管风险链：Mt.Gox → Quadriga → FTX</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安全</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来源：安大略证券委员会（OSC）QuadrigaCX 调查报告（2020）；美国司法部；公开报道</a:t>
            </a:r>
            <a:endParaRPr lang="en-US" sz="1000" dirty="0"/>
          </a:p>
        </p:txBody>
      </p:sp>
      <p:sp>
        <p:nvSpPr>
          <p:cNvPr id="6" name="Shape 3"/>
          <p:cNvSpPr/>
          <p:nvPr/>
        </p:nvSpPr>
        <p:spPr>
          <a:xfrm>
            <a:off x="1984248" y="1823085"/>
            <a:ext cx="0" cy="2708910"/>
          </a:xfrm>
          <a:prstGeom prst="line">
            <a:avLst/>
          </a:prstGeom>
          <a:noFill/>
          <a:ln w="19050">
            <a:solidFill>
              <a:schemeClr val="accent5"/>
            </a:solidFill>
            <a:prstDash val="solid"/>
          </a:ln>
        </p:spPr>
      </p:sp>
      <p:sp>
        <p:nvSpPr>
          <p:cNvPr id="7" name="Shape 4"/>
          <p:cNvSpPr/>
          <p:nvPr/>
        </p:nvSpPr>
        <p:spPr>
          <a:xfrm>
            <a:off x="457200" y="1667637"/>
            <a:ext cx="1325880" cy="310896"/>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457200" y="1667637"/>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2014-02</a:t>
            </a:r>
            <a:endParaRPr lang="en-US" sz="1200" dirty="0"/>
          </a:p>
        </p:txBody>
      </p:sp>
      <p:sp>
        <p:nvSpPr>
          <p:cNvPr id="9" name="Shape 6"/>
          <p:cNvSpPr/>
          <p:nvPr/>
        </p:nvSpPr>
        <p:spPr>
          <a:xfrm>
            <a:off x="1911096" y="1749933"/>
            <a:ext cx="146304" cy="146304"/>
          </a:xfrm>
          <a:prstGeom prst="ellipse">
            <a:avLst/>
          </a:prstGeom>
          <a:solidFill>
            <a:schemeClr val="accent4"/>
          </a:solidFill>
          <a:ln w="12700">
            <a:solidFill>
              <a:schemeClr val="accent4">
                <a:alpha val="0"/>
              </a:schemeClr>
            </a:solidFill>
            <a:prstDash val="solid"/>
          </a:ln>
        </p:spPr>
      </p:sp>
      <p:sp>
        <p:nvSpPr>
          <p:cNvPr id="10" name="Text 7"/>
          <p:cNvSpPr txBox="1"/>
          <p:nvPr/>
        </p:nvSpPr>
        <p:spPr>
          <a:xfrm>
            <a:off x="2240280" y="1389888"/>
            <a:ext cx="6446520" cy="86639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Mt.Gox 破产</a:t>
            </a:r>
            <a:endParaRPr lang="en-US" sz="1300" dirty="0"/>
          </a:p>
          <a:p>
            <a:pPr algn="l" indent="0" marL="0">
              <a:lnSpc>
                <a:spcPct val="105000"/>
              </a:lnSpc>
              <a:buNone/>
            </a:pPr>
            <a:r>
              <a:rPr lang="en-US" sz="1300" dirty="0">
                <a:solidFill>
                  <a:schemeClr val="accent4"/>
                </a:solidFill>
              </a:rPr>
              <a:t>约 85 万枚比特币丢失</a:t>
            </a:r>
            <a:endParaRPr lang="en-US" sz="1300" dirty="0"/>
          </a:p>
        </p:txBody>
      </p:sp>
      <p:sp>
        <p:nvSpPr>
          <p:cNvPr id="11" name="Shape 8"/>
          <p:cNvSpPr/>
          <p:nvPr/>
        </p:nvSpPr>
        <p:spPr>
          <a:xfrm>
            <a:off x="457200" y="2570607"/>
            <a:ext cx="1325880" cy="310896"/>
          </a:xfrm>
          <a:prstGeom prst="roundRect">
            <a:avLst>
              <a:gd name="adj" fmla="val 50000"/>
            </a:avLst>
          </a:prstGeom>
          <a:solidFill>
            <a:schemeClr val="tx1"/>
          </a:solidFill>
          <a:ln w="12700">
            <a:solidFill>
              <a:schemeClr val="tx1">
                <a:alpha val="0"/>
              </a:schemeClr>
            </a:solidFill>
            <a:prstDash val="solid"/>
          </a:ln>
        </p:spPr>
      </p:sp>
      <p:sp>
        <p:nvSpPr>
          <p:cNvPr id="12" name="Text 9"/>
          <p:cNvSpPr txBox="1"/>
          <p:nvPr/>
        </p:nvSpPr>
        <p:spPr>
          <a:xfrm>
            <a:off x="457200" y="2570607"/>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2019-01</a:t>
            </a:r>
            <a:endParaRPr lang="en-US" sz="1200" dirty="0"/>
          </a:p>
        </p:txBody>
      </p:sp>
      <p:sp>
        <p:nvSpPr>
          <p:cNvPr id="13" name="Shape 10"/>
          <p:cNvSpPr/>
          <p:nvPr/>
        </p:nvSpPr>
        <p:spPr>
          <a:xfrm>
            <a:off x="1911096" y="2652903"/>
            <a:ext cx="146304" cy="146304"/>
          </a:xfrm>
          <a:prstGeom prst="ellipse">
            <a:avLst/>
          </a:prstGeom>
          <a:solidFill>
            <a:schemeClr val="accent4"/>
          </a:solidFill>
          <a:ln w="12700">
            <a:solidFill>
              <a:schemeClr val="accent4">
                <a:alpha val="0"/>
              </a:schemeClr>
            </a:solidFill>
            <a:prstDash val="solid"/>
          </a:ln>
        </p:spPr>
      </p:sp>
      <p:sp>
        <p:nvSpPr>
          <p:cNvPr id="14" name="Text 11"/>
          <p:cNvSpPr txBox="1"/>
          <p:nvPr/>
        </p:nvSpPr>
        <p:spPr>
          <a:xfrm>
            <a:off x="2240280" y="2292858"/>
            <a:ext cx="6446520" cy="86639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Quadriga：CEO 去世，客户无法提现</a:t>
            </a:r>
            <a:endParaRPr lang="en-US" sz="1300" dirty="0"/>
          </a:p>
          <a:p>
            <a:pPr algn="l" indent="0" marL="0">
              <a:lnSpc>
                <a:spcPct val="105000"/>
              </a:lnSpc>
              <a:buNone/>
            </a:pPr>
            <a:r>
              <a:rPr lang="en-US" sz="1300" dirty="0">
                <a:solidFill>
                  <a:schemeClr val="accent4"/>
                </a:solidFill>
              </a:rPr>
              <a:t>当时的叙事：私钥随人而去</a:t>
            </a:r>
            <a:endParaRPr lang="en-US" sz="1300" dirty="0"/>
          </a:p>
        </p:txBody>
      </p:sp>
      <p:sp>
        <p:nvSpPr>
          <p:cNvPr id="15" name="Shape 12"/>
          <p:cNvSpPr/>
          <p:nvPr/>
        </p:nvSpPr>
        <p:spPr>
          <a:xfrm>
            <a:off x="457200" y="3473577"/>
            <a:ext cx="1325880" cy="310896"/>
          </a:xfrm>
          <a:prstGeom prst="roundRect">
            <a:avLst>
              <a:gd name="adj" fmla="val 50000"/>
            </a:avLst>
          </a:prstGeom>
          <a:solidFill>
            <a:schemeClr val="accent1"/>
          </a:solidFill>
          <a:ln w="12700">
            <a:solidFill>
              <a:schemeClr val="accent1">
                <a:alpha val="0"/>
              </a:schemeClr>
            </a:solidFill>
            <a:prstDash val="solid"/>
          </a:ln>
        </p:spPr>
      </p:sp>
      <p:sp>
        <p:nvSpPr>
          <p:cNvPr id="16" name="Text 13"/>
          <p:cNvSpPr txBox="1"/>
          <p:nvPr/>
        </p:nvSpPr>
        <p:spPr>
          <a:xfrm>
            <a:off x="457200" y="3473577"/>
            <a:ext cx="1325880" cy="310896"/>
          </a:xfrm>
          <a:prstGeom prst="rect">
            <a:avLst/>
          </a:prstGeom>
          <a:noFill/>
          <a:ln/>
        </p:spPr>
        <p:txBody>
          <a:bodyPr wrap="square" lIns="0" tIns="0" rIns="0" bIns="0" rtlCol="0" anchor="ctr"/>
          <a:lstStyle/>
          <a:p>
            <a:pPr algn="ctr" indent="0" marL="0">
              <a:buNone/>
            </a:pPr>
            <a:r>
              <a:rPr lang="en-US" sz="1200" b="1" dirty="0">
                <a:solidFill>
                  <a:schemeClr val="tx1"/>
                </a:solidFill>
              </a:rPr>
              <a:t>2020</a:t>
            </a:r>
            <a:endParaRPr lang="en-US" sz="1200" dirty="0"/>
          </a:p>
        </p:txBody>
      </p:sp>
      <p:sp>
        <p:nvSpPr>
          <p:cNvPr id="17" name="Shape 14"/>
          <p:cNvSpPr/>
          <p:nvPr/>
        </p:nvSpPr>
        <p:spPr>
          <a:xfrm>
            <a:off x="1911096" y="3555873"/>
            <a:ext cx="146304" cy="146304"/>
          </a:xfrm>
          <a:prstGeom prst="ellipse">
            <a:avLst/>
          </a:prstGeom>
          <a:solidFill>
            <a:schemeClr val="accent1"/>
          </a:solidFill>
          <a:ln w="12700">
            <a:solidFill>
              <a:schemeClr val="accent1">
                <a:alpha val="0"/>
              </a:schemeClr>
            </a:solidFill>
            <a:prstDash val="solid"/>
          </a:ln>
        </p:spPr>
      </p:sp>
      <p:sp>
        <p:nvSpPr>
          <p:cNvPr id="18" name="Text 15"/>
          <p:cNvSpPr txBox="1"/>
          <p:nvPr/>
        </p:nvSpPr>
        <p:spPr>
          <a:xfrm>
            <a:off x="2240280" y="3195828"/>
            <a:ext cx="6446520" cy="86639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OSC 报告：实为欺诈</a:t>
            </a:r>
            <a:endParaRPr lang="en-US" sz="1300" dirty="0"/>
          </a:p>
          <a:p>
            <a:pPr algn="l" indent="0" marL="0">
              <a:lnSpc>
                <a:spcPct val="105000"/>
              </a:lnSpc>
              <a:buNone/>
            </a:pPr>
            <a:r>
              <a:rPr lang="en-US" sz="1300" dirty="0">
                <a:solidFill>
                  <a:schemeClr val="accent4"/>
                </a:solidFill>
              </a:rPr>
              <a:t>冷钱包早已被掏空；损失约 2 亿加元量级</a:t>
            </a:r>
            <a:endParaRPr lang="en-US" sz="1300" dirty="0"/>
          </a:p>
        </p:txBody>
      </p:sp>
      <p:sp>
        <p:nvSpPr>
          <p:cNvPr id="19" name="Shape 16"/>
          <p:cNvSpPr/>
          <p:nvPr/>
        </p:nvSpPr>
        <p:spPr>
          <a:xfrm>
            <a:off x="457200" y="4376547"/>
            <a:ext cx="1325880" cy="310896"/>
          </a:xfrm>
          <a:prstGeom prst="roundRect">
            <a:avLst>
              <a:gd name="adj" fmla="val 50000"/>
            </a:avLst>
          </a:prstGeom>
          <a:solidFill>
            <a:schemeClr val="tx1"/>
          </a:solidFill>
          <a:ln w="12700">
            <a:solidFill>
              <a:schemeClr val="tx1">
                <a:alpha val="0"/>
              </a:schemeClr>
            </a:solidFill>
            <a:prstDash val="solid"/>
          </a:ln>
        </p:spPr>
      </p:sp>
      <p:sp>
        <p:nvSpPr>
          <p:cNvPr id="20" name="Text 17"/>
          <p:cNvSpPr txBox="1"/>
          <p:nvPr/>
        </p:nvSpPr>
        <p:spPr>
          <a:xfrm>
            <a:off x="457200" y="4376547"/>
            <a:ext cx="1325880" cy="310896"/>
          </a:xfrm>
          <a:prstGeom prst="rect">
            <a:avLst/>
          </a:prstGeom>
          <a:noFill/>
          <a:ln/>
        </p:spPr>
        <p:txBody>
          <a:bodyPr wrap="square" lIns="0" tIns="0" rIns="0" bIns="0" rtlCol="0" anchor="ctr"/>
          <a:lstStyle/>
          <a:p>
            <a:pPr algn="ctr" indent="0" marL="0">
              <a:buNone/>
            </a:pPr>
            <a:r>
              <a:rPr lang="en-US" sz="1200" b="1" dirty="0">
                <a:solidFill>
                  <a:schemeClr val="bg1"/>
                </a:solidFill>
              </a:rPr>
              <a:t>2022-11</a:t>
            </a:r>
            <a:endParaRPr lang="en-US" sz="1200" dirty="0"/>
          </a:p>
        </p:txBody>
      </p:sp>
      <p:sp>
        <p:nvSpPr>
          <p:cNvPr id="21" name="Shape 18"/>
          <p:cNvSpPr/>
          <p:nvPr/>
        </p:nvSpPr>
        <p:spPr>
          <a:xfrm>
            <a:off x="1911096" y="4458843"/>
            <a:ext cx="146304" cy="146304"/>
          </a:xfrm>
          <a:prstGeom prst="ellipse">
            <a:avLst/>
          </a:prstGeom>
          <a:solidFill>
            <a:schemeClr val="accent4"/>
          </a:solidFill>
          <a:ln w="12700">
            <a:solidFill>
              <a:schemeClr val="accent4">
                <a:alpha val="0"/>
              </a:schemeClr>
            </a:solidFill>
            <a:prstDash val="solid"/>
          </a:ln>
        </p:spPr>
      </p:sp>
      <p:sp>
        <p:nvSpPr>
          <p:cNvPr id="22" name="Text 19"/>
          <p:cNvSpPr txBox="1"/>
          <p:nvPr/>
        </p:nvSpPr>
        <p:spPr>
          <a:xfrm>
            <a:off x="2240280" y="4098798"/>
            <a:ext cx="6446520" cy="866394"/>
          </a:xfrm>
          <a:prstGeom prst="rect">
            <a:avLst/>
          </a:prstGeom>
          <a:noFill/>
          <a:ln/>
        </p:spPr>
        <p:txBody>
          <a:bodyPr wrap="square" lIns="0" tIns="0" rIns="0" bIns="0" rtlCol="0" anchor="ctr"/>
          <a:lstStyle/>
          <a:p>
            <a:pPr algn="l" indent="0" marL="0">
              <a:lnSpc>
                <a:spcPct val="105000"/>
              </a:lnSpc>
              <a:spcAft>
                <a:spcPts val="100"/>
              </a:spcAft>
              <a:buNone/>
            </a:pPr>
            <a:r>
              <a:rPr lang="en-US" sz="1600" b="1" dirty="0">
                <a:solidFill>
                  <a:schemeClr val="tx1"/>
                </a:solidFill>
              </a:rPr>
              <a:t>FTX 破产</a:t>
            </a:r>
            <a:endParaRPr lang="en-US" sz="1300" dirty="0"/>
          </a:p>
          <a:p>
            <a:pPr algn="l" indent="0" marL="0">
              <a:lnSpc>
                <a:spcPct val="105000"/>
              </a:lnSpc>
              <a:buNone/>
            </a:pPr>
            <a:r>
              <a:rPr lang="en-US" sz="1300" dirty="0">
                <a:solidFill>
                  <a:schemeClr val="accent4"/>
                </a:solidFill>
              </a:rPr>
              <a:t>客户资金被挪用；创始人 2024 年被判 25 年</a:t>
            </a:r>
            <a:endParaRPr lang="en-US" sz="1300" dirty="0"/>
          </a:p>
        </p:txBody>
      </p:sp>
      <p:sp>
        <p:nvSpPr>
          <p:cNvPr id="23" name="Shape 20"/>
          <p:cNvSpPr/>
          <p:nvPr/>
        </p:nvSpPr>
        <p:spPr>
          <a:xfrm>
            <a:off x="457200" y="5166360"/>
            <a:ext cx="8229600" cy="914400"/>
          </a:xfrm>
          <a:prstGeom prst="roundRect">
            <a:avLst>
              <a:gd name="adj" fmla="val 8000"/>
            </a:avLst>
          </a:prstGeom>
          <a:solidFill>
            <a:schemeClr val="accent1">
              <a:alpha val="12000"/>
            </a:schemeClr>
          </a:solidFill>
          <a:ln w="12700">
            <a:solidFill>
              <a:schemeClr val="accent1">
                <a:alpha val="0"/>
              </a:schemeClr>
            </a:solidFill>
            <a:prstDash val="solid"/>
          </a:ln>
        </p:spPr>
      </p:sp>
      <p:pic>
        <p:nvPicPr>
          <p:cNvPr id="24" name="Image 0" descr="key">    </p:cNvPr>
          <p:cNvPicPr>
            <a:picLocks noChangeAspect="1"/>
          </p:cNvPicPr>
          <p:nvPr/>
        </p:nvPicPr>
        <p:blipFill>
          <a:blip r:embed="rId1"/>
          <a:stretch>
            <a:fillRect/>
          </a:stretch>
        </p:blipFill>
        <p:spPr>
          <a:xfrm>
            <a:off x="640080" y="5431536"/>
            <a:ext cx="384048" cy="384048"/>
          </a:xfrm>
          <a:prstGeom prst="rect">
            <a:avLst/>
          </a:prstGeom>
        </p:spPr>
      </p:pic>
      <p:sp>
        <p:nvSpPr>
          <p:cNvPr id="25" name="Text 21"/>
          <p:cNvSpPr txBox="1"/>
          <p:nvPr/>
        </p:nvSpPr>
        <p:spPr>
          <a:xfrm>
            <a:off x="1188720" y="5239512"/>
            <a:ext cx="7315200" cy="76809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教训：</a:t>
            </a:r>
            <a:pPr algn="l" indent="0" marL="0">
              <a:lnSpc>
                <a:spcPct val="105000"/>
              </a:lnSpc>
              <a:buNone/>
            </a:pPr>
            <a:r>
              <a:rPr lang="en-US" sz="1600" b="1" dirty="0">
                <a:solidFill>
                  <a:schemeClr val="tx1"/>
                </a:solidFill>
              </a:rPr>
              <a:t>自托管</a:t>
            </a:r>
            <a:pPr algn="l" indent="0" marL="0">
              <a:lnSpc>
                <a:spcPct val="105000"/>
              </a:lnSpc>
              <a:buNone/>
            </a:pPr>
            <a:r>
              <a:rPr lang="en-US" sz="1600" dirty="0">
                <a:solidFill>
                  <a:schemeClr val="tx1"/>
                </a:solidFill>
              </a:rPr>
              <a:t> vs 托管；</a:t>
            </a:r>
            <a:pPr algn="l" indent="0" marL="0">
              <a:lnSpc>
                <a:spcPct val="105000"/>
              </a:lnSpc>
              <a:buNone/>
            </a:pPr>
            <a:r>
              <a:rPr lang="en-US" sz="1600" b="1" dirty="0">
                <a:solidFill>
                  <a:schemeClr val="tx1"/>
                </a:solidFill>
              </a:rPr>
              <a:t>储备证明 + 审计 + 监管</a:t>
            </a:r>
            <a:pPr algn="l" indent="0" marL="0">
              <a:lnSpc>
                <a:spcPct val="105000"/>
              </a:lnSpc>
              <a:buNone/>
            </a:pPr>
            <a:r>
              <a:rPr lang="en-US" sz="1600" dirty="0">
                <a:solidFill>
                  <a:schemeClr val="tx1"/>
                </a:solidFill>
              </a:rPr>
              <a:t>；故事要核实后续，别停在第一版叙事。</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假名≠匿名：账本公开，地址会被“拼”回真人</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隐私</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来源：Prasad (2021)；Chainalysis 等链上分析方法；FATF 旅行规则（2019）</a:t>
            </a:r>
            <a:endParaRPr lang="en-US" sz="1000" dirty="0"/>
          </a:p>
        </p:txBody>
      </p:sp>
      <p:sp>
        <p:nvSpPr>
          <p:cNvPr id="6" name="Shape 3"/>
          <p:cNvSpPr/>
          <p:nvPr/>
        </p:nvSpPr>
        <p:spPr>
          <a:xfrm>
            <a:off x="457200" y="1508760"/>
            <a:ext cx="1097280" cy="594360"/>
          </a:xfrm>
          <a:prstGeom prst="roundRect">
            <a:avLst>
              <a:gd name="adj" fmla="val 12308"/>
            </a:avLst>
          </a:prstGeom>
          <a:solidFill>
            <a:schemeClr val="bg2"/>
          </a:solidFill>
          <a:ln w="12700">
            <a:solidFill>
              <a:schemeClr val="bg2">
                <a:alpha val="0"/>
              </a:schemeClr>
            </a:solidFill>
            <a:prstDash val="solid"/>
          </a:ln>
        </p:spPr>
      </p:sp>
      <p:sp>
        <p:nvSpPr>
          <p:cNvPr id="7" name="Text 4"/>
          <p:cNvSpPr txBox="1"/>
          <p:nvPr/>
        </p:nvSpPr>
        <p:spPr>
          <a:xfrm>
            <a:off x="457200" y="1508760"/>
            <a:ext cx="1097280" cy="59436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地址 A1</a:t>
            </a:r>
            <a:endParaRPr lang="en-US" sz="1400" dirty="0"/>
          </a:p>
        </p:txBody>
      </p:sp>
      <p:sp>
        <p:nvSpPr>
          <p:cNvPr id="8" name="Shape 5"/>
          <p:cNvSpPr/>
          <p:nvPr/>
        </p:nvSpPr>
        <p:spPr>
          <a:xfrm>
            <a:off x="1600200" y="1801368"/>
            <a:ext cx="1097280" cy="530352"/>
          </a:xfrm>
          <a:prstGeom prst="line">
            <a:avLst/>
          </a:prstGeom>
          <a:noFill/>
          <a:ln w="25400">
            <a:solidFill>
              <a:schemeClr val="accent1"/>
            </a:solidFill>
            <a:prstDash val="solid"/>
            <a:tailEnd type="triangle"/>
          </a:ln>
        </p:spPr>
      </p:sp>
      <p:sp>
        <p:nvSpPr>
          <p:cNvPr id="9" name="Shape 6"/>
          <p:cNvSpPr/>
          <p:nvPr/>
        </p:nvSpPr>
        <p:spPr>
          <a:xfrm>
            <a:off x="457200" y="2331720"/>
            <a:ext cx="1097280" cy="594360"/>
          </a:xfrm>
          <a:prstGeom prst="roundRect">
            <a:avLst>
              <a:gd name="adj" fmla="val 12308"/>
            </a:avLst>
          </a:prstGeom>
          <a:solidFill>
            <a:schemeClr val="bg2"/>
          </a:solidFill>
          <a:ln w="12700">
            <a:solidFill>
              <a:schemeClr val="bg2">
                <a:alpha val="0"/>
              </a:schemeClr>
            </a:solidFill>
            <a:prstDash val="solid"/>
          </a:ln>
        </p:spPr>
      </p:sp>
      <p:sp>
        <p:nvSpPr>
          <p:cNvPr id="10" name="Text 7"/>
          <p:cNvSpPr txBox="1"/>
          <p:nvPr/>
        </p:nvSpPr>
        <p:spPr>
          <a:xfrm>
            <a:off x="457200" y="2331720"/>
            <a:ext cx="1097280" cy="59436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地址 A2</a:t>
            </a:r>
            <a:endParaRPr lang="en-US" sz="1400" dirty="0"/>
          </a:p>
        </p:txBody>
      </p:sp>
      <p:sp>
        <p:nvSpPr>
          <p:cNvPr id="11" name="Shape 8"/>
          <p:cNvSpPr/>
          <p:nvPr/>
        </p:nvSpPr>
        <p:spPr>
          <a:xfrm flipV="1">
            <a:off x="1600200" y="2331720"/>
            <a:ext cx="1097280" cy="292608"/>
          </a:xfrm>
          <a:prstGeom prst="line">
            <a:avLst/>
          </a:prstGeom>
          <a:noFill/>
          <a:ln w="25400">
            <a:solidFill>
              <a:schemeClr val="accent1"/>
            </a:solidFill>
            <a:prstDash val="solid"/>
            <a:tailEnd type="triangle"/>
          </a:ln>
        </p:spPr>
      </p:sp>
      <p:sp>
        <p:nvSpPr>
          <p:cNvPr id="12" name="Shape 9"/>
          <p:cNvSpPr/>
          <p:nvPr/>
        </p:nvSpPr>
        <p:spPr>
          <a:xfrm>
            <a:off x="457200" y="3154680"/>
            <a:ext cx="1097280" cy="594360"/>
          </a:xfrm>
          <a:prstGeom prst="roundRect">
            <a:avLst>
              <a:gd name="adj" fmla="val 12308"/>
            </a:avLst>
          </a:prstGeom>
          <a:solidFill>
            <a:schemeClr val="bg2"/>
          </a:solidFill>
          <a:ln w="12700">
            <a:solidFill>
              <a:schemeClr val="bg2">
                <a:alpha val="0"/>
              </a:schemeClr>
            </a:solidFill>
            <a:prstDash val="solid"/>
          </a:ln>
        </p:spPr>
      </p:sp>
      <p:sp>
        <p:nvSpPr>
          <p:cNvPr id="13" name="Text 10"/>
          <p:cNvSpPr txBox="1"/>
          <p:nvPr/>
        </p:nvSpPr>
        <p:spPr>
          <a:xfrm>
            <a:off x="457200" y="3154680"/>
            <a:ext cx="1097280" cy="594360"/>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地址 A3</a:t>
            </a:r>
            <a:endParaRPr lang="en-US" sz="1400" dirty="0"/>
          </a:p>
        </p:txBody>
      </p:sp>
      <p:sp>
        <p:nvSpPr>
          <p:cNvPr id="14" name="Shape 11"/>
          <p:cNvSpPr/>
          <p:nvPr/>
        </p:nvSpPr>
        <p:spPr>
          <a:xfrm flipV="1">
            <a:off x="1600200" y="2331720"/>
            <a:ext cx="1097280" cy="1115568"/>
          </a:xfrm>
          <a:prstGeom prst="line">
            <a:avLst/>
          </a:prstGeom>
          <a:noFill/>
          <a:ln w="25400">
            <a:solidFill>
              <a:schemeClr val="accent1"/>
            </a:solidFill>
            <a:prstDash val="solid"/>
            <a:tailEnd type="triangle"/>
          </a:ln>
        </p:spPr>
      </p:sp>
      <p:sp>
        <p:nvSpPr>
          <p:cNvPr id="15" name="Shape 12"/>
          <p:cNvSpPr/>
          <p:nvPr/>
        </p:nvSpPr>
        <p:spPr>
          <a:xfrm>
            <a:off x="2743200" y="1920240"/>
            <a:ext cx="822960" cy="822960"/>
          </a:xfrm>
          <a:prstGeom prst="ellipse">
            <a:avLst/>
          </a:prstGeom>
          <a:solidFill>
            <a:schemeClr val="tx1"/>
          </a:solidFill>
          <a:ln w="12700">
            <a:solidFill>
              <a:schemeClr val="tx1">
                <a:alpha val="0"/>
              </a:schemeClr>
            </a:solidFill>
            <a:prstDash val="solid"/>
          </a:ln>
        </p:spPr>
      </p:sp>
      <p:sp>
        <p:nvSpPr>
          <p:cNvPr id="16" name="Text 13"/>
          <p:cNvSpPr txBox="1"/>
          <p:nvPr/>
        </p:nvSpPr>
        <p:spPr>
          <a:xfrm>
            <a:off x="2743200" y="1920240"/>
            <a:ext cx="822960" cy="822960"/>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一笔交易</a:t>
            </a:r>
            <a:endParaRPr lang="en-US" sz="1200" dirty="0"/>
          </a:p>
        </p:txBody>
      </p:sp>
      <p:sp>
        <p:nvSpPr>
          <p:cNvPr id="17" name="Shape 14"/>
          <p:cNvSpPr/>
          <p:nvPr/>
        </p:nvSpPr>
        <p:spPr>
          <a:xfrm flipV="1">
            <a:off x="3611880" y="1920240"/>
            <a:ext cx="960120" cy="320040"/>
          </a:xfrm>
          <a:prstGeom prst="line">
            <a:avLst/>
          </a:prstGeom>
          <a:noFill/>
          <a:ln w="25400">
            <a:solidFill>
              <a:schemeClr val="accent1"/>
            </a:solidFill>
            <a:prstDash val="solid"/>
            <a:tailEnd type="triangle"/>
          </a:ln>
        </p:spPr>
      </p:sp>
      <p:sp>
        <p:nvSpPr>
          <p:cNvPr id="18" name="Shape 15"/>
          <p:cNvSpPr/>
          <p:nvPr/>
        </p:nvSpPr>
        <p:spPr>
          <a:xfrm>
            <a:off x="3611880" y="2423160"/>
            <a:ext cx="960120" cy="320040"/>
          </a:xfrm>
          <a:prstGeom prst="line">
            <a:avLst/>
          </a:prstGeom>
          <a:noFill/>
          <a:ln w="25400">
            <a:solidFill>
              <a:schemeClr val="accent1"/>
            </a:solidFill>
            <a:prstDash val="solid"/>
            <a:tailEnd type="triangle"/>
          </a:ln>
        </p:spPr>
      </p:sp>
      <p:sp>
        <p:nvSpPr>
          <p:cNvPr id="19" name="Shape 16"/>
          <p:cNvSpPr/>
          <p:nvPr/>
        </p:nvSpPr>
        <p:spPr>
          <a:xfrm>
            <a:off x="4617720" y="1645920"/>
            <a:ext cx="1554480" cy="548640"/>
          </a:xfrm>
          <a:prstGeom prst="roundRect">
            <a:avLst>
              <a:gd name="adj" fmla="val 13333"/>
            </a:avLst>
          </a:prstGeom>
          <a:solidFill>
            <a:schemeClr val="bg2"/>
          </a:solidFill>
          <a:ln w="12700">
            <a:solidFill>
              <a:schemeClr val="bg2">
                <a:alpha val="0"/>
              </a:schemeClr>
            </a:solidFill>
            <a:prstDash val="solid"/>
          </a:ln>
        </p:spPr>
      </p:sp>
      <p:sp>
        <p:nvSpPr>
          <p:cNvPr id="20" name="Text 17"/>
          <p:cNvSpPr txBox="1"/>
          <p:nvPr/>
        </p:nvSpPr>
        <p:spPr>
          <a:xfrm>
            <a:off x="4617720" y="1645920"/>
            <a:ext cx="1554480" cy="548640"/>
          </a:xfrm>
          <a:prstGeom prst="rect">
            <a:avLst/>
          </a:prstGeom>
          <a:noFill/>
          <a:ln/>
        </p:spPr>
        <p:txBody>
          <a:bodyPr wrap="square" lIns="0" tIns="0" rIns="0" bIns="0" rtlCol="0" anchor="ctr"/>
          <a:lstStyle/>
          <a:p>
            <a:pPr algn="ctr" indent="0" marL="0">
              <a:lnSpc>
                <a:spcPct val="105000"/>
              </a:lnSpc>
              <a:buNone/>
            </a:pPr>
            <a:r>
              <a:rPr lang="en-US" sz="1300" dirty="0">
                <a:solidFill>
                  <a:schemeClr val="tx1"/>
                </a:solidFill>
              </a:rPr>
              <a:t>收款地址</a:t>
            </a:r>
            <a:endParaRPr lang="en-US" sz="1300" dirty="0"/>
          </a:p>
        </p:txBody>
      </p:sp>
      <p:sp>
        <p:nvSpPr>
          <p:cNvPr id="21" name="Shape 18"/>
          <p:cNvSpPr/>
          <p:nvPr/>
        </p:nvSpPr>
        <p:spPr>
          <a:xfrm>
            <a:off x="4617720" y="2468880"/>
            <a:ext cx="1554480" cy="548640"/>
          </a:xfrm>
          <a:prstGeom prst="roundRect">
            <a:avLst>
              <a:gd name="adj" fmla="val 13333"/>
            </a:avLst>
          </a:prstGeom>
          <a:solidFill>
            <a:schemeClr val="bg2"/>
          </a:solidFill>
          <a:ln w="12700">
            <a:solidFill>
              <a:schemeClr val="bg2">
                <a:alpha val="0"/>
              </a:schemeClr>
            </a:solidFill>
            <a:prstDash val="solid"/>
          </a:ln>
        </p:spPr>
      </p:sp>
      <p:sp>
        <p:nvSpPr>
          <p:cNvPr id="22" name="Text 19"/>
          <p:cNvSpPr txBox="1"/>
          <p:nvPr/>
        </p:nvSpPr>
        <p:spPr>
          <a:xfrm>
            <a:off x="4617720" y="2468880"/>
            <a:ext cx="1554480" cy="548640"/>
          </a:xfrm>
          <a:prstGeom prst="rect">
            <a:avLst/>
          </a:prstGeom>
          <a:noFill/>
          <a:ln/>
        </p:spPr>
        <p:txBody>
          <a:bodyPr wrap="square" lIns="0" tIns="0" rIns="0" bIns="0" rtlCol="0" anchor="ctr"/>
          <a:lstStyle/>
          <a:p>
            <a:pPr algn="ctr" indent="0" marL="0">
              <a:lnSpc>
                <a:spcPct val="105000"/>
              </a:lnSpc>
              <a:buNone/>
            </a:pPr>
            <a:r>
              <a:rPr lang="en-US" sz="1300" dirty="0">
                <a:solidFill>
                  <a:schemeClr val="tx1"/>
                </a:solidFill>
              </a:rPr>
              <a:t>找零地址</a:t>
            </a:r>
            <a:endParaRPr lang="en-US" sz="1300" dirty="0"/>
          </a:p>
        </p:txBody>
      </p:sp>
      <p:sp>
        <p:nvSpPr>
          <p:cNvPr id="23" name="Shape 20"/>
          <p:cNvSpPr/>
          <p:nvPr/>
        </p:nvSpPr>
        <p:spPr>
          <a:xfrm>
            <a:off x="457200" y="3840480"/>
            <a:ext cx="3108960" cy="384048"/>
          </a:xfrm>
          <a:prstGeom prst="roundRect">
            <a:avLst>
              <a:gd name="adj" fmla="val 50000"/>
            </a:avLst>
          </a:prstGeom>
          <a:solidFill>
            <a:schemeClr val="accent6"/>
          </a:solidFill>
          <a:ln w="12700">
            <a:solidFill>
              <a:schemeClr val="accent6">
                <a:alpha val="0"/>
              </a:schemeClr>
            </a:solidFill>
            <a:prstDash val="solid"/>
          </a:ln>
        </p:spPr>
      </p:sp>
      <p:sp>
        <p:nvSpPr>
          <p:cNvPr id="24" name="Text 21"/>
          <p:cNvSpPr txBox="1"/>
          <p:nvPr/>
        </p:nvSpPr>
        <p:spPr>
          <a:xfrm>
            <a:off x="457200" y="3840480"/>
            <a:ext cx="3108960" cy="384048"/>
          </a:xfrm>
          <a:prstGeom prst="rect">
            <a:avLst/>
          </a:prstGeom>
          <a:noFill/>
          <a:ln/>
        </p:spPr>
        <p:txBody>
          <a:bodyPr wrap="square" lIns="0" tIns="0" rIns="0" bIns="0" rtlCol="0" anchor="ctr"/>
          <a:lstStyle/>
          <a:p>
            <a:pPr algn="ctr" indent="0" marL="0">
              <a:buNone/>
            </a:pPr>
            <a:r>
              <a:rPr lang="en-US" sz="1200" b="1" dirty="0">
                <a:solidFill>
                  <a:schemeClr val="bg1"/>
                </a:solidFill>
              </a:rPr>
              <a:t>同时花费 ⇒ 很可能同一钱包</a:t>
            </a:r>
            <a:endParaRPr lang="en-US" sz="1200" dirty="0"/>
          </a:p>
        </p:txBody>
      </p:sp>
      <p:sp>
        <p:nvSpPr>
          <p:cNvPr id="25" name="Text 22"/>
          <p:cNvSpPr txBox="1"/>
          <p:nvPr/>
        </p:nvSpPr>
        <p:spPr>
          <a:xfrm>
            <a:off x="6400800" y="1417320"/>
            <a:ext cx="2286000" cy="420624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400" b="1" dirty="0">
                <a:solidFill>
                  <a:schemeClr val="tx1"/>
                </a:solidFill>
              </a:rPr>
              <a:t>账本公开</a:t>
            </a:r>
            <a:pPr algn="l" marL="254000" indent="-254000">
              <a:lnSpc>
                <a:spcPct val="105000"/>
              </a:lnSpc>
              <a:spcAft>
                <a:spcPts val="800"/>
              </a:spcAft>
              <a:buSzPct val="100000"/>
              <a:buChar char="•"/>
            </a:pPr>
            <a:r>
              <a:rPr lang="en-US" sz="1400" dirty="0">
                <a:solidFill>
                  <a:schemeClr val="tx1"/>
                </a:solidFill>
              </a:rPr>
              <a:t>：任何人都能查询地址与历史</a:t>
            </a:r>
            <a:endParaRPr lang="en-US" sz="1400" dirty="0"/>
          </a:p>
          <a:p>
            <a:pPr algn="l" marL="254000" indent="-254000">
              <a:lnSpc>
                <a:spcPct val="105000"/>
              </a:lnSpc>
              <a:spcAft>
                <a:spcPts val="800"/>
              </a:spcAft>
              <a:buSzPct val="100000"/>
              <a:buChar char="•"/>
            </a:pPr>
            <a:r>
              <a:rPr lang="en-US" sz="1400" dirty="0">
                <a:solidFill>
                  <a:schemeClr val="tx1"/>
                </a:solidFill>
              </a:rPr>
              <a:t>地址与现实身份</a:t>
            </a:r>
            <a:pPr algn="l" marL="254000" indent="-254000">
              <a:lnSpc>
                <a:spcPct val="105000"/>
              </a:lnSpc>
              <a:spcAft>
                <a:spcPts val="800"/>
              </a:spcAft>
              <a:buSzPct val="100000"/>
              <a:buChar char="•"/>
            </a:pPr>
            <a:r>
              <a:rPr lang="en-US" sz="1400" b="1" dirty="0">
                <a:solidFill>
                  <a:schemeClr val="tx1"/>
                </a:solidFill>
              </a:rPr>
              <a:t>一旦关联</a:t>
            </a:r>
            <a:pPr algn="l" marL="254000" indent="-254000">
              <a:lnSpc>
                <a:spcPct val="105000"/>
              </a:lnSpc>
              <a:spcAft>
                <a:spcPts val="800"/>
              </a:spcAft>
              <a:buSzPct val="100000"/>
              <a:buChar char="•"/>
            </a:pPr>
            <a:r>
              <a:rPr lang="en-US" sz="1400" dirty="0">
                <a:solidFill>
                  <a:schemeClr val="tx1"/>
                </a:solidFill>
              </a:rPr>
              <a:t>（交易所实名、收货地址），历史全部暴露</a:t>
            </a:r>
            <a:endParaRPr lang="en-US" sz="1400" dirty="0"/>
          </a:p>
          <a:p>
            <a:pPr algn="l" marL="254000" indent="-254000">
              <a:lnSpc>
                <a:spcPct val="105000"/>
              </a:lnSpc>
              <a:buSzPct val="100000"/>
              <a:buChar char="•"/>
            </a:pPr>
            <a:r>
              <a:rPr lang="en-US" sz="1400" dirty="0">
                <a:solidFill>
                  <a:schemeClr val="tx1"/>
                </a:solidFill>
              </a:rPr>
              <a:t>防护：</a:t>
            </a:r>
            <a:pPr algn="l" marL="254000" indent="-254000">
              <a:lnSpc>
                <a:spcPct val="105000"/>
              </a:lnSpc>
              <a:buSzPct val="100000"/>
              <a:buChar char="•"/>
            </a:pPr>
            <a:r>
              <a:rPr lang="en-US" sz="1400" b="1" dirty="0">
                <a:solidFill>
                  <a:schemeClr val="tx1"/>
                </a:solidFill>
              </a:rPr>
              <a:t>每次新地址</a:t>
            </a:r>
            <a:pPr algn="l" marL="254000" indent="-254000">
              <a:lnSpc>
                <a:spcPct val="105000"/>
              </a:lnSpc>
              <a:buSzPct val="100000"/>
              <a:buChar char="•"/>
            </a:pPr>
            <a:r>
              <a:rPr lang="en-US" sz="1400" dirty="0">
                <a:solidFill>
                  <a:schemeClr val="tx1"/>
                </a:solidFill>
              </a:rPr>
              <a:t>、不同用途不同钱包</a:t>
            </a:r>
            <a:endParaRPr lang="en-US" sz="1400" dirty="0"/>
          </a:p>
        </p:txBody>
      </p:sp>
      <p:sp>
        <p:nvSpPr>
          <p:cNvPr id="26" name="Shape 23"/>
          <p:cNvSpPr/>
          <p:nvPr/>
        </p:nvSpPr>
        <p:spPr>
          <a:xfrm>
            <a:off x="457200" y="4663440"/>
            <a:ext cx="5669280" cy="868680"/>
          </a:xfrm>
          <a:prstGeom prst="roundRect">
            <a:avLst>
              <a:gd name="adj" fmla="val 8421"/>
            </a:avLst>
          </a:prstGeom>
          <a:solidFill>
            <a:schemeClr val="accent1">
              <a:alpha val="12000"/>
            </a:schemeClr>
          </a:solidFill>
          <a:ln w="12700">
            <a:solidFill>
              <a:schemeClr val="accent1">
                <a:alpha val="0"/>
              </a:schemeClr>
            </a:solidFill>
            <a:prstDash val="solid"/>
          </a:ln>
        </p:spPr>
      </p:sp>
      <p:pic>
        <p:nvPicPr>
          <p:cNvPr id="27" name="Image 0" descr="key">    </p:cNvPr>
          <p:cNvPicPr>
            <a:picLocks noChangeAspect="1"/>
          </p:cNvPicPr>
          <p:nvPr/>
        </p:nvPicPr>
        <p:blipFill>
          <a:blip r:embed="rId1"/>
          <a:stretch>
            <a:fillRect/>
          </a:stretch>
        </p:blipFill>
        <p:spPr>
          <a:xfrm>
            <a:off x="640080" y="4905756"/>
            <a:ext cx="384048" cy="384048"/>
          </a:xfrm>
          <a:prstGeom prst="rect">
            <a:avLst/>
          </a:prstGeom>
        </p:spPr>
      </p:pic>
      <p:sp>
        <p:nvSpPr>
          <p:cNvPr id="28" name="Text 24"/>
          <p:cNvSpPr txBox="1"/>
          <p:nvPr/>
        </p:nvSpPr>
        <p:spPr>
          <a:xfrm>
            <a:off x="1188720" y="4736592"/>
            <a:ext cx="4754880" cy="722376"/>
          </a:xfrm>
          <a:prstGeom prst="rect">
            <a:avLst/>
          </a:prstGeom>
          <a:noFill/>
          <a:ln/>
        </p:spPr>
        <p:txBody>
          <a:bodyPr wrap="square" lIns="0" tIns="0" rIns="0" bIns="0" rtlCol="0" anchor="ctr"/>
          <a:lstStyle/>
          <a:p>
            <a:pPr algn="l" indent="0" marL="0">
              <a:lnSpc>
                <a:spcPct val="105000"/>
              </a:lnSpc>
              <a:buNone/>
            </a:pPr>
            <a:r>
              <a:rPr lang="en-US" sz="1500" dirty="0">
                <a:solidFill>
                  <a:schemeClr val="tx1"/>
                </a:solidFill>
              </a:rPr>
              <a:t>区块链是</a:t>
            </a:r>
            <a:pPr algn="l" indent="0" marL="0">
              <a:lnSpc>
                <a:spcPct val="105000"/>
              </a:lnSpc>
              <a:buNone/>
            </a:pPr>
            <a:r>
              <a:rPr lang="en-US" sz="1500" b="1" dirty="0">
                <a:solidFill>
                  <a:schemeClr val="tx1"/>
                </a:solidFill>
              </a:rPr>
              <a:t>永久</a:t>
            </a:r>
            <a:pPr algn="l" indent="0" marL="0">
              <a:lnSpc>
                <a:spcPct val="105000"/>
              </a:lnSpc>
              <a:buNone/>
            </a:pPr>
            <a:r>
              <a:rPr lang="en-US" sz="1500" dirty="0">
                <a:solidFill>
                  <a:schemeClr val="tx1"/>
                </a:solidFill>
              </a:rPr>
              <a:t>的：今天看似不可追踪的，未来可能轻易被追踪。</a:t>
            </a:r>
            <a:endParaRPr lang="en-US" sz="15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三个案例：追踪比特币的人比你想象的多</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隐私</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来源：美国司法部公告；Chainalysis；公开报道</a:t>
            </a:r>
            <a:endParaRPr lang="en-US" sz="1000" dirty="0"/>
          </a:p>
        </p:txBody>
      </p:sp>
      <p:sp>
        <p:nvSpPr>
          <p:cNvPr id="6" name="Shape 3"/>
          <p:cNvSpPr/>
          <p:nvPr/>
        </p:nvSpPr>
        <p:spPr>
          <a:xfrm>
            <a:off x="438912" y="1531161"/>
            <a:ext cx="3054096" cy="1783998"/>
          </a:xfrm>
          <a:prstGeom prst="rect">
            <a:avLst/>
          </a:prstGeom>
          <a:solidFill>
            <a:schemeClr val="bg1"/>
          </a:solidFill>
          <a:ln w="9525">
            <a:solidFill>
              <a:schemeClr val="accent5"/>
            </a:solidFill>
            <a:prstDash val="solid"/>
          </a:ln>
        </p:spPr>
      </p:sp>
      <p:pic>
        <p:nvPicPr>
          <p:cNvPr id="7" name="Image 0" descr="2020 年被盗推特账号发布的比特币诈骗推文">    </p:cNvPr>
          <p:cNvPicPr>
            <a:picLocks noChangeAspect="1"/>
          </p:cNvPicPr>
          <p:nvPr/>
        </p:nvPicPr>
        <p:blipFill>
          <a:blip r:embed="rId1"/>
          <a:stretch>
            <a:fillRect/>
          </a:stretch>
        </p:blipFill>
        <p:spPr>
          <a:xfrm>
            <a:off x="457200" y="1549449"/>
            <a:ext cx="3017520" cy="1747422"/>
          </a:xfrm>
          <a:prstGeom prst="rect">
            <a:avLst/>
          </a:prstGeom>
        </p:spPr>
      </p:pic>
      <p:sp>
        <p:nvSpPr>
          <p:cNvPr id="8" name="Text 4"/>
          <p:cNvSpPr txBox="1"/>
          <p:nvPr/>
        </p:nvSpPr>
        <p:spPr>
          <a:xfrm>
            <a:off x="3657600" y="1417320"/>
            <a:ext cx="5029200" cy="2103120"/>
          </a:xfrm>
          <a:prstGeom prst="rect">
            <a:avLst/>
          </a:prstGeom>
          <a:noFill/>
          <a:ln/>
        </p:spPr>
        <p:txBody>
          <a:bodyPr wrap="square" lIns="0" tIns="0" rIns="0" bIns="0" rtlCol="0" anchor="ctr"/>
          <a:lstStyle/>
          <a:p>
            <a:pPr algn="l" indent="0" marL="0">
              <a:lnSpc>
                <a:spcPct val="105000"/>
              </a:lnSpc>
              <a:spcAft>
                <a:spcPts val="400"/>
              </a:spcAft>
              <a:buNone/>
            </a:pPr>
            <a:r>
              <a:rPr lang="en-US" sz="1700" b="1" dirty="0">
                <a:solidFill>
                  <a:schemeClr val="tx1"/>
                </a:solidFill>
              </a:rPr>
              <a:t>2020-07 推特大劫案</a:t>
            </a:r>
            <a:endParaRPr lang="en-US" sz="1400" dirty="0"/>
          </a:p>
          <a:p>
            <a:pPr algn="l" indent="0" marL="0">
              <a:lnSpc>
                <a:spcPct val="105000"/>
              </a:lnSpc>
              <a:buNone/>
            </a:pPr>
            <a:r>
              <a:rPr lang="en-US" sz="1400" dirty="0">
                <a:solidFill>
                  <a:schemeClr val="accent4"/>
                </a:solidFill>
              </a:rPr>
              <a:t>17 岁的主谋 Graham Clark 要受害者向比特币地址转账，看中的正是“匿名性”。联邦调查人员把资金流向与他的真实身份联系起来，约两周后被捕。</a:t>
            </a:r>
            <a:endParaRPr lang="en-US" sz="1400" dirty="0"/>
          </a:p>
        </p:txBody>
      </p:sp>
      <p:sp>
        <p:nvSpPr>
          <p:cNvPr id="9" name="Shape 5"/>
          <p:cNvSpPr/>
          <p:nvPr/>
        </p:nvSpPr>
        <p:spPr>
          <a:xfrm>
            <a:off x="457200" y="3657600"/>
            <a:ext cx="4023360" cy="2423160"/>
          </a:xfrm>
          <a:prstGeom prst="roundRect">
            <a:avLst>
              <a:gd name="adj" fmla="val 3019"/>
            </a:avLst>
          </a:prstGeom>
          <a:solidFill>
            <a:schemeClr val="bg2"/>
          </a:solidFill>
          <a:ln w="12700">
            <a:solidFill>
              <a:schemeClr val="bg2">
                <a:alpha val="0"/>
              </a:schemeClr>
            </a:solidFill>
            <a:prstDash val="solid"/>
          </a:ln>
        </p:spPr>
      </p:sp>
      <p:sp>
        <p:nvSpPr>
          <p:cNvPr id="10" name="Shape 6"/>
          <p:cNvSpPr/>
          <p:nvPr/>
        </p:nvSpPr>
        <p:spPr>
          <a:xfrm>
            <a:off x="640080" y="3822192"/>
            <a:ext cx="502920" cy="502920"/>
          </a:xfrm>
          <a:prstGeom prst="ellipse">
            <a:avLst/>
          </a:prstGeom>
          <a:solidFill>
            <a:schemeClr val="accent1"/>
          </a:solidFill>
          <a:ln w="12700">
            <a:solidFill>
              <a:schemeClr val="accent1">
                <a:alpha val="0"/>
              </a:schemeClr>
            </a:solidFill>
            <a:prstDash val="solid"/>
          </a:ln>
        </p:spPr>
      </p:sp>
      <p:pic>
        <p:nvPicPr>
          <p:cNvPr id="11" name="Image 1" descr="FaFire">    </p:cNvPr>
          <p:cNvPicPr>
            <a:picLocks noChangeAspect="1"/>
          </p:cNvPicPr>
          <p:nvPr/>
        </p:nvPicPr>
        <p:blipFill>
          <a:blip r:embed="rId2"/>
          <a:stretch>
            <a:fillRect/>
          </a:stretch>
        </p:blipFill>
        <p:spPr>
          <a:xfrm>
            <a:off x="750722" y="3932834"/>
            <a:ext cx="281635" cy="281635"/>
          </a:xfrm>
          <a:prstGeom prst="rect">
            <a:avLst/>
          </a:prstGeom>
        </p:spPr>
      </p:pic>
      <p:sp>
        <p:nvSpPr>
          <p:cNvPr id="12" name="Text 7"/>
          <p:cNvSpPr txBox="1"/>
          <p:nvPr/>
        </p:nvSpPr>
        <p:spPr>
          <a:xfrm>
            <a:off x="640080" y="444398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2021 Colonial Pipeline</a:t>
            </a:r>
            <a:endParaRPr lang="en-US" sz="1700" dirty="0"/>
          </a:p>
        </p:txBody>
      </p:sp>
      <p:sp>
        <p:nvSpPr>
          <p:cNvPr id="13" name="Text 8"/>
          <p:cNvSpPr txBox="1"/>
          <p:nvPr/>
        </p:nvSpPr>
        <p:spPr>
          <a:xfrm>
            <a:off x="640080" y="4802124"/>
            <a:ext cx="3657600" cy="116890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勒索 75 枚比特币；FBI 取得钱包私钥，追回 63.7 枚（2021-06）。</a:t>
            </a:r>
            <a:endParaRPr lang="en-US" sz="1400" dirty="0"/>
          </a:p>
        </p:txBody>
      </p:sp>
      <p:sp>
        <p:nvSpPr>
          <p:cNvPr id="14" name="Shape 9"/>
          <p:cNvSpPr/>
          <p:nvPr/>
        </p:nvSpPr>
        <p:spPr>
          <a:xfrm>
            <a:off x="4663440" y="3657600"/>
            <a:ext cx="4023360" cy="2423160"/>
          </a:xfrm>
          <a:prstGeom prst="roundRect">
            <a:avLst>
              <a:gd name="adj" fmla="val 3019"/>
            </a:avLst>
          </a:prstGeom>
          <a:solidFill>
            <a:schemeClr val="bg2"/>
          </a:solidFill>
          <a:ln w="12700">
            <a:solidFill>
              <a:schemeClr val="bg2">
                <a:alpha val="0"/>
              </a:schemeClr>
            </a:solidFill>
            <a:prstDash val="solid"/>
          </a:ln>
        </p:spPr>
      </p:sp>
      <p:sp>
        <p:nvSpPr>
          <p:cNvPr id="15" name="Shape 10"/>
          <p:cNvSpPr/>
          <p:nvPr/>
        </p:nvSpPr>
        <p:spPr>
          <a:xfrm>
            <a:off x="4846320" y="3822192"/>
            <a:ext cx="502920" cy="502920"/>
          </a:xfrm>
          <a:prstGeom prst="ellipse">
            <a:avLst/>
          </a:prstGeom>
          <a:solidFill>
            <a:schemeClr val="accent1"/>
          </a:solidFill>
          <a:ln w="12700">
            <a:solidFill>
              <a:schemeClr val="accent1">
                <a:alpha val="0"/>
              </a:schemeClr>
            </a:solidFill>
            <a:prstDash val="solid"/>
          </a:ln>
        </p:spPr>
      </p:sp>
      <p:pic>
        <p:nvPicPr>
          <p:cNvPr id="16" name="Image 2" descr="FaGavel">    </p:cNvPr>
          <p:cNvPicPr>
            <a:picLocks noChangeAspect="1"/>
          </p:cNvPicPr>
          <p:nvPr/>
        </p:nvPicPr>
        <p:blipFill>
          <a:blip r:embed="rId3"/>
          <a:stretch>
            <a:fillRect/>
          </a:stretch>
        </p:blipFill>
        <p:spPr>
          <a:xfrm>
            <a:off x="4956962" y="3932834"/>
            <a:ext cx="281635" cy="281635"/>
          </a:xfrm>
          <a:prstGeom prst="rect">
            <a:avLst/>
          </a:prstGeom>
        </p:spPr>
      </p:pic>
      <p:sp>
        <p:nvSpPr>
          <p:cNvPr id="17" name="Text 11"/>
          <p:cNvSpPr txBox="1"/>
          <p:nvPr/>
        </p:nvSpPr>
        <p:spPr>
          <a:xfrm>
            <a:off x="4846320" y="444398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2025 Prince Group</a:t>
            </a:r>
            <a:endParaRPr lang="en-US" sz="1700" dirty="0"/>
          </a:p>
        </p:txBody>
      </p:sp>
      <p:sp>
        <p:nvSpPr>
          <p:cNvPr id="18" name="Text 12"/>
          <p:cNvSpPr txBox="1"/>
          <p:nvPr/>
        </p:nvSpPr>
        <p:spPr>
          <a:xfrm>
            <a:off x="4846320" y="4802124"/>
            <a:ext cx="3657600" cy="116890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美国司法部提起没收 127,271 枚比特币（约 150 亿美元），史上最大一宗（指控，案件进行中）。</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阴暗面：从丝绸之路到 2025 年的特赦</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阴暗面</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来源：Foley, Karlsen &amp; Putniņš (2019, RFS)；美国司法部；公开报道；Chainalysis</a:t>
            </a:r>
            <a:endParaRPr lang="en-US" sz="1000" dirty="0"/>
          </a:p>
        </p:txBody>
      </p:sp>
      <p:sp>
        <p:nvSpPr>
          <p:cNvPr id="6" name="Shape 3"/>
          <p:cNvSpPr/>
          <p:nvPr/>
        </p:nvSpPr>
        <p:spPr>
          <a:xfrm>
            <a:off x="461063" y="1399032"/>
            <a:ext cx="3558433" cy="2779776"/>
          </a:xfrm>
          <a:prstGeom prst="rect">
            <a:avLst/>
          </a:prstGeom>
          <a:solidFill>
            <a:schemeClr val="bg1"/>
          </a:solidFill>
          <a:ln w="9525">
            <a:solidFill>
              <a:schemeClr val="accent5"/>
            </a:solidFill>
            <a:prstDash val="solid"/>
          </a:ln>
        </p:spPr>
      </p:sp>
      <p:pic>
        <p:nvPicPr>
          <p:cNvPr id="7" name="Image 0" descr="丝绸之路网站页面截图">    </p:cNvPr>
          <p:cNvPicPr>
            <a:picLocks noChangeAspect="1"/>
          </p:cNvPicPr>
          <p:nvPr/>
        </p:nvPicPr>
        <p:blipFill>
          <a:blip r:embed="rId1"/>
          <a:stretch>
            <a:fillRect/>
          </a:stretch>
        </p:blipFill>
        <p:spPr>
          <a:xfrm>
            <a:off x="479351" y="1417320"/>
            <a:ext cx="3521857" cy="2743200"/>
          </a:xfrm>
          <a:prstGeom prst="rect">
            <a:avLst/>
          </a:prstGeom>
        </p:spPr>
      </p:pic>
      <p:sp>
        <p:nvSpPr>
          <p:cNvPr id="8" name="Shape 4"/>
          <p:cNvSpPr/>
          <p:nvPr/>
        </p:nvSpPr>
        <p:spPr>
          <a:xfrm>
            <a:off x="5641848" y="1771650"/>
            <a:ext cx="0" cy="2125980"/>
          </a:xfrm>
          <a:prstGeom prst="line">
            <a:avLst/>
          </a:prstGeom>
          <a:noFill/>
          <a:ln w="19050">
            <a:solidFill>
              <a:schemeClr val="accent5"/>
            </a:solidFill>
            <a:prstDash val="solid"/>
          </a:ln>
        </p:spPr>
      </p:sp>
      <p:sp>
        <p:nvSpPr>
          <p:cNvPr id="9" name="Shape 5"/>
          <p:cNvSpPr/>
          <p:nvPr/>
        </p:nvSpPr>
        <p:spPr>
          <a:xfrm>
            <a:off x="4206240" y="1616202"/>
            <a:ext cx="1234440" cy="310896"/>
          </a:xfrm>
          <a:prstGeom prst="roundRect">
            <a:avLst>
              <a:gd name="adj" fmla="val 50000"/>
            </a:avLst>
          </a:prstGeom>
          <a:solidFill>
            <a:schemeClr val="tx1"/>
          </a:solidFill>
          <a:ln w="12700">
            <a:solidFill>
              <a:schemeClr val="tx1">
                <a:alpha val="0"/>
              </a:schemeClr>
            </a:solidFill>
            <a:prstDash val="solid"/>
          </a:ln>
        </p:spPr>
      </p:sp>
      <p:sp>
        <p:nvSpPr>
          <p:cNvPr id="10" name="Text 6"/>
          <p:cNvSpPr txBox="1"/>
          <p:nvPr/>
        </p:nvSpPr>
        <p:spPr>
          <a:xfrm>
            <a:off x="4206240" y="1616202"/>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2011</a:t>
            </a:r>
            <a:endParaRPr lang="en-US" sz="1200" dirty="0"/>
          </a:p>
        </p:txBody>
      </p:sp>
      <p:sp>
        <p:nvSpPr>
          <p:cNvPr id="11" name="Shape 7"/>
          <p:cNvSpPr/>
          <p:nvPr/>
        </p:nvSpPr>
        <p:spPr>
          <a:xfrm>
            <a:off x="5568696" y="1698498"/>
            <a:ext cx="146304" cy="146304"/>
          </a:xfrm>
          <a:prstGeom prst="ellipse">
            <a:avLst/>
          </a:prstGeom>
          <a:solidFill>
            <a:schemeClr val="accent4"/>
          </a:solidFill>
          <a:ln w="12700">
            <a:solidFill>
              <a:schemeClr val="accent4">
                <a:alpha val="0"/>
              </a:schemeClr>
            </a:solidFill>
            <a:prstDash val="solid"/>
          </a:ln>
        </p:spPr>
      </p:sp>
      <p:sp>
        <p:nvSpPr>
          <p:cNvPr id="12" name="Text 8"/>
          <p:cNvSpPr txBox="1"/>
          <p:nvPr/>
        </p:nvSpPr>
        <p:spPr>
          <a:xfrm>
            <a:off x="5897880" y="1435608"/>
            <a:ext cx="2788920" cy="672084"/>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丝绸之路上线</a:t>
            </a:r>
            <a:endParaRPr lang="en-US" sz="1200" dirty="0"/>
          </a:p>
          <a:p>
            <a:pPr algn="l" indent="0" marL="0">
              <a:lnSpc>
                <a:spcPct val="105000"/>
              </a:lnSpc>
              <a:buNone/>
            </a:pPr>
            <a:r>
              <a:rPr lang="en-US" sz="1200" dirty="0">
                <a:solidFill>
                  <a:schemeClr val="accent4"/>
                </a:solidFill>
              </a:rPr>
              <a:t>只收比特币；Tor 隐藏身份</a:t>
            </a:r>
            <a:endParaRPr lang="en-US" sz="1200" dirty="0"/>
          </a:p>
        </p:txBody>
      </p:sp>
      <p:sp>
        <p:nvSpPr>
          <p:cNvPr id="13" name="Shape 9"/>
          <p:cNvSpPr/>
          <p:nvPr/>
        </p:nvSpPr>
        <p:spPr>
          <a:xfrm>
            <a:off x="4206240" y="2324862"/>
            <a:ext cx="1234440" cy="310896"/>
          </a:xfrm>
          <a:prstGeom prst="roundRect">
            <a:avLst>
              <a:gd name="adj" fmla="val 50000"/>
            </a:avLst>
          </a:prstGeom>
          <a:solidFill>
            <a:schemeClr val="tx1"/>
          </a:solidFill>
          <a:ln w="12700">
            <a:solidFill>
              <a:schemeClr val="tx1">
                <a:alpha val="0"/>
              </a:schemeClr>
            </a:solidFill>
            <a:prstDash val="solid"/>
          </a:ln>
        </p:spPr>
      </p:sp>
      <p:sp>
        <p:nvSpPr>
          <p:cNvPr id="14" name="Text 10"/>
          <p:cNvSpPr txBox="1"/>
          <p:nvPr/>
        </p:nvSpPr>
        <p:spPr>
          <a:xfrm>
            <a:off x="4206240" y="2324862"/>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2013-10</a:t>
            </a:r>
            <a:endParaRPr lang="en-US" sz="1200" dirty="0"/>
          </a:p>
        </p:txBody>
      </p:sp>
      <p:sp>
        <p:nvSpPr>
          <p:cNvPr id="15" name="Shape 11"/>
          <p:cNvSpPr/>
          <p:nvPr/>
        </p:nvSpPr>
        <p:spPr>
          <a:xfrm>
            <a:off x="5568696" y="2407158"/>
            <a:ext cx="146304" cy="146304"/>
          </a:xfrm>
          <a:prstGeom prst="ellipse">
            <a:avLst/>
          </a:prstGeom>
          <a:solidFill>
            <a:schemeClr val="accent4"/>
          </a:solidFill>
          <a:ln w="12700">
            <a:solidFill>
              <a:schemeClr val="accent4">
                <a:alpha val="0"/>
              </a:schemeClr>
            </a:solidFill>
            <a:prstDash val="solid"/>
          </a:ln>
        </p:spPr>
      </p:sp>
      <p:sp>
        <p:nvSpPr>
          <p:cNvPr id="16" name="Text 12"/>
          <p:cNvSpPr txBox="1"/>
          <p:nvPr/>
        </p:nvSpPr>
        <p:spPr>
          <a:xfrm>
            <a:off x="5897880" y="2144268"/>
            <a:ext cx="2788920" cy="672084"/>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FBI 关站并逮捕创建者</a:t>
            </a:r>
            <a:endParaRPr lang="en-US" sz="1200" dirty="0"/>
          </a:p>
        </p:txBody>
      </p:sp>
      <p:sp>
        <p:nvSpPr>
          <p:cNvPr id="17" name="Shape 13"/>
          <p:cNvSpPr/>
          <p:nvPr/>
        </p:nvSpPr>
        <p:spPr>
          <a:xfrm>
            <a:off x="4206240" y="3033522"/>
            <a:ext cx="1234440" cy="310896"/>
          </a:xfrm>
          <a:prstGeom prst="roundRect">
            <a:avLst>
              <a:gd name="adj" fmla="val 50000"/>
            </a:avLst>
          </a:prstGeom>
          <a:solidFill>
            <a:schemeClr val="tx1"/>
          </a:solidFill>
          <a:ln w="12700">
            <a:solidFill>
              <a:schemeClr val="tx1">
                <a:alpha val="0"/>
              </a:schemeClr>
            </a:solidFill>
            <a:prstDash val="solid"/>
          </a:ln>
        </p:spPr>
      </p:sp>
      <p:sp>
        <p:nvSpPr>
          <p:cNvPr id="18" name="Text 14"/>
          <p:cNvSpPr txBox="1"/>
          <p:nvPr/>
        </p:nvSpPr>
        <p:spPr>
          <a:xfrm>
            <a:off x="4206240" y="3033522"/>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2015-05</a:t>
            </a:r>
            <a:endParaRPr lang="en-US" sz="1200" dirty="0"/>
          </a:p>
        </p:txBody>
      </p:sp>
      <p:sp>
        <p:nvSpPr>
          <p:cNvPr id="19" name="Shape 15"/>
          <p:cNvSpPr/>
          <p:nvPr/>
        </p:nvSpPr>
        <p:spPr>
          <a:xfrm>
            <a:off x="5568696" y="3115818"/>
            <a:ext cx="146304" cy="146304"/>
          </a:xfrm>
          <a:prstGeom prst="ellipse">
            <a:avLst/>
          </a:prstGeom>
          <a:solidFill>
            <a:schemeClr val="accent4"/>
          </a:solidFill>
          <a:ln w="12700">
            <a:solidFill>
              <a:schemeClr val="accent4">
                <a:alpha val="0"/>
              </a:schemeClr>
            </a:solidFill>
            <a:prstDash val="solid"/>
          </a:ln>
        </p:spPr>
      </p:sp>
      <p:sp>
        <p:nvSpPr>
          <p:cNvPr id="20" name="Text 16"/>
          <p:cNvSpPr txBox="1"/>
          <p:nvPr/>
        </p:nvSpPr>
        <p:spPr>
          <a:xfrm>
            <a:off x="5897880" y="2852928"/>
            <a:ext cx="2788920" cy="672084"/>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创建者被判终身监禁</a:t>
            </a:r>
            <a:endParaRPr lang="en-US" sz="1200" dirty="0"/>
          </a:p>
        </p:txBody>
      </p:sp>
      <p:sp>
        <p:nvSpPr>
          <p:cNvPr id="21" name="Shape 17"/>
          <p:cNvSpPr/>
          <p:nvPr/>
        </p:nvSpPr>
        <p:spPr>
          <a:xfrm>
            <a:off x="4206240" y="3742182"/>
            <a:ext cx="1234440" cy="310896"/>
          </a:xfrm>
          <a:prstGeom prst="roundRect">
            <a:avLst>
              <a:gd name="adj" fmla="val 50000"/>
            </a:avLst>
          </a:prstGeom>
          <a:solidFill>
            <a:schemeClr val="accent1"/>
          </a:solidFill>
          <a:ln w="12700">
            <a:solidFill>
              <a:schemeClr val="accent1">
                <a:alpha val="0"/>
              </a:schemeClr>
            </a:solidFill>
            <a:prstDash val="solid"/>
          </a:ln>
        </p:spPr>
      </p:sp>
      <p:sp>
        <p:nvSpPr>
          <p:cNvPr id="22" name="Text 18"/>
          <p:cNvSpPr txBox="1"/>
          <p:nvPr/>
        </p:nvSpPr>
        <p:spPr>
          <a:xfrm>
            <a:off x="4206240" y="3742182"/>
            <a:ext cx="1234440" cy="310896"/>
          </a:xfrm>
          <a:prstGeom prst="rect">
            <a:avLst/>
          </a:prstGeom>
          <a:noFill/>
          <a:ln/>
        </p:spPr>
        <p:txBody>
          <a:bodyPr wrap="square" lIns="0" tIns="0" rIns="0" bIns="0" rtlCol="0" anchor="ctr"/>
          <a:lstStyle/>
          <a:p>
            <a:pPr algn="ctr" indent="0" marL="0">
              <a:buNone/>
            </a:pPr>
            <a:r>
              <a:rPr lang="en-US" sz="1200" b="1" dirty="0">
                <a:solidFill>
                  <a:schemeClr val="tx1"/>
                </a:solidFill>
              </a:rPr>
              <a:t>2025-01-21</a:t>
            </a:r>
            <a:endParaRPr lang="en-US" sz="1200" dirty="0"/>
          </a:p>
        </p:txBody>
      </p:sp>
      <p:sp>
        <p:nvSpPr>
          <p:cNvPr id="23" name="Shape 19"/>
          <p:cNvSpPr/>
          <p:nvPr/>
        </p:nvSpPr>
        <p:spPr>
          <a:xfrm>
            <a:off x="5568696" y="3824478"/>
            <a:ext cx="146304" cy="146304"/>
          </a:xfrm>
          <a:prstGeom prst="ellipse">
            <a:avLst/>
          </a:prstGeom>
          <a:solidFill>
            <a:schemeClr val="accent1"/>
          </a:solidFill>
          <a:ln w="12700">
            <a:solidFill>
              <a:schemeClr val="accent1">
                <a:alpha val="0"/>
              </a:schemeClr>
            </a:solidFill>
            <a:prstDash val="solid"/>
          </a:ln>
        </p:spPr>
      </p:sp>
      <p:sp>
        <p:nvSpPr>
          <p:cNvPr id="24" name="Text 20"/>
          <p:cNvSpPr txBox="1"/>
          <p:nvPr/>
        </p:nvSpPr>
        <p:spPr>
          <a:xfrm>
            <a:off x="5897880" y="3561588"/>
            <a:ext cx="2788920" cy="672084"/>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获特朗普赦免</a:t>
            </a:r>
            <a:endParaRPr lang="en-US" sz="1200" dirty="0"/>
          </a:p>
        </p:txBody>
      </p:sp>
      <p:sp>
        <p:nvSpPr>
          <p:cNvPr id="25" name="Shape 21"/>
          <p:cNvSpPr/>
          <p:nvPr/>
        </p:nvSpPr>
        <p:spPr>
          <a:xfrm>
            <a:off x="457200" y="4434840"/>
            <a:ext cx="4023360" cy="1645920"/>
          </a:xfrm>
          <a:prstGeom prst="roundRect">
            <a:avLst>
              <a:gd name="adj" fmla="val 4444"/>
            </a:avLst>
          </a:prstGeom>
          <a:solidFill>
            <a:schemeClr val="bg2"/>
          </a:solidFill>
          <a:ln w="12700">
            <a:solidFill>
              <a:schemeClr val="bg2">
                <a:alpha val="0"/>
              </a:schemeClr>
            </a:solidFill>
            <a:prstDash val="solid"/>
          </a:ln>
        </p:spPr>
      </p:sp>
      <p:sp>
        <p:nvSpPr>
          <p:cNvPr id="26" name="Text 22"/>
          <p:cNvSpPr txBox="1"/>
          <p:nvPr/>
        </p:nvSpPr>
        <p:spPr>
          <a:xfrm>
            <a:off x="594360" y="4544568"/>
            <a:ext cx="3749040" cy="822960"/>
          </a:xfrm>
          <a:prstGeom prst="rect">
            <a:avLst/>
          </a:prstGeom>
          <a:noFill/>
          <a:ln/>
        </p:spPr>
        <p:txBody>
          <a:bodyPr wrap="square" lIns="0" tIns="0" rIns="0" bIns="0" rtlCol="0" anchor="ctr"/>
          <a:lstStyle/>
          <a:p>
            <a:pPr algn="ctr" indent="0" marL="0">
              <a:lnSpc>
                <a:spcPct val="105000"/>
              </a:lnSpc>
              <a:buNone/>
            </a:pPr>
            <a:r>
              <a:rPr lang="en-US" sz="2400" b="1" dirty="0">
                <a:solidFill>
                  <a:schemeClr val="accent6"/>
                </a:solidFill>
              </a:rPr>
              <a:t>≈ 25% / 46%</a:t>
            </a:r>
            <a:endParaRPr lang="en-US" sz="2400" dirty="0"/>
          </a:p>
        </p:txBody>
      </p:sp>
      <p:sp>
        <p:nvSpPr>
          <p:cNvPr id="27" name="Text 23"/>
          <p:cNvSpPr txBox="1"/>
          <p:nvPr/>
        </p:nvSpPr>
        <p:spPr>
          <a:xfrm>
            <a:off x="594360" y="5389474"/>
            <a:ext cx="3749040" cy="625450"/>
          </a:xfrm>
          <a:prstGeom prst="rect">
            <a:avLst/>
          </a:prstGeom>
          <a:noFill/>
          <a:ln/>
        </p:spPr>
        <p:txBody>
          <a:bodyPr wrap="square" lIns="0" tIns="0" rIns="0" bIns="0" rtlCol="0" anchor="t"/>
          <a:lstStyle/>
          <a:p>
            <a:pPr algn="ctr" indent="0" marL="0">
              <a:lnSpc>
                <a:spcPct val="105000"/>
              </a:lnSpc>
              <a:buNone/>
            </a:pPr>
            <a:r>
              <a:rPr lang="en-US" sz="1200" dirty="0">
                <a:solidFill>
                  <a:schemeClr val="accent4"/>
                </a:solidFill>
              </a:rPr>
              <a:t>2013–2017 样本期：与非法活动相关的用户 / 交易占比（Foley 等）</a:t>
            </a:r>
            <a:endParaRPr lang="en-US" sz="1200" dirty="0"/>
          </a:p>
        </p:txBody>
      </p:sp>
      <p:sp>
        <p:nvSpPr>
          <p:cNvPr id="28" name="Shape 24"/>
          <p:cNvSpPr/>
          <p:nvPr/>
        </p:nvSpPr>
        <p:spPr>
          <a:xfrm>
            <a:off x="4663440" y="4434840"/>
            <a:ext cx="4023360" cy="1645920"/>
          </a:xfrm>
          <a:prstGeom prst="roundRect">
            <a:avLst>
              <a:gd name="adj" fmla="val 4444"/>
            </a:avLst>
          </a:prstGeom>
          <a:solidFill>
            <a:schemeClr val="accent1">
              <a:alpha val="12000"/>
            </a:schemeClr>
          </a:solidFill>
          <a:ln w="12700">
            <a:solidFill>
              <a:schemeClr val="accent1">
                <a:alpha val="0"/>
              </a:schemeClr>
            </a:solidFill>
            <a:prstDash val="solid"/>
          </a:ln>
        </p:spPr>
      </p:sp>
      <p:pic>
        <p:nvPicPr>
          <p:cNvPr id="29" name="Image 1" descr="key">    </p:cNvPr>
          <p:cNvPicPr>
            <a:picLocks noChangeAspect="1"/>
          </p:cNvPicPr>
          <p:nvPr/>
        </p:nvPicPr>
        <p:blipFill>
          <a:blip r:embed="rId2"/>
          <a:stretch>
            <a:fillRect/>
          </a:stretch>
        </p:blipFill>
        <p:spPr>
          <a:xfrm>
            <a:off x="4846320" y="5065776"/>
            <a:ext cx="384048" cy="384048"/>
          </a:xfrm>
          <a:prstGeom prst="rect">
            <a:avLst/>
          </a:prstGeom>
        </p:spPr>
      </p:pic>
      <p:sp>
        <p:nvSpPr>
          <p:cNvPr id="30" name="Text 25"/>
          <p:cNvSpPr txBox="1"/>
          <p:nvPr/>
        </p:nvSpPr>
        <p:spPr>
          <a:xfrm>
            <a:off x="5394960" y="4507992"/>
            <a:ext cx="3108960" cy="1499616"/>
          </a:xfrm>
          <a:prstGeom prst="rect">
            <a:avLst/>
          </a:prstGeom>
          <a:noFill/>
          <a:ln/>
        </p:spPr>
        <p:txBody>
          <a:bodyPr wrap="square" lIns="0" tIns="0" rIns="0" bIns="0" rtlCol="0" anchor="ctr"/>
          <a:lstStyle/>
          <a:p>
            <a:pPr algn="l" indent="0" marL="0">
              <a:lnSpc>
                <a:spcPct val="105000"/>
              </a:lnSpc>
              <a:buNone/>
            </a:pPr>
            <a:r>
              <a:rPr lang="en-US" sz="1300" dirty="0">
                <a:solidFill>
                  <a:schemeClr val="tx1"/>
                </a:solidFill>
              </a:rPr>
              <a:t>近年估算：非法地址收款占链上总量 </a:t>
            </a:r>
            <a:pPr algn="l" indent="0" marL="0">
              <a:lnSpc>
                <a:spcPct val="105000"/>
              </a:lnSpc>
              <a:buNone/>
            </a:pPr>
            <a:r>
              <a:rPr lang="en-US" sz="1300" b="1" dirty="0">
                <a:solidFill>
                  <a:schemeClr val="tx1"/>
                </a:solidFill>
              </a:rPr>
              <a:t>&lt; 1%</a:t>
            </a:r>
            <a:pPr algn="l" indent="0" marL="0">
              <a:lnSpc>
                <a:spcPct val="105000"/>
              </a:lnSpc>
              <a:buNone/>
            </a:pPr>
            <a:r>
              <a:rPr lang="en-US" sz="1300" dirty="0">
                <a:solidFill>
                  <a:schemeClr val="tx1"/>
                </a:solidFill>
              </a:rPr>
              <a:t>（口径各异），但绝对金额仍大，且越来越多转向稳定币。</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容错率为零：丢了私钥，没有任何人能帮你</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容错率</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来源：Chainalysis（2020）；纽约时报（2021-01，Stefan Thomas）；威尔士高等法院（2025-01，James Howells）</a:t>
            </a:r>
            <a:endParaRPr lang="en-US" sz="1000" dirty="0"/>
          </a:p>
        </p:txBody>
      </p:sp>
      <p:sp>
        <p:nvSpPr>
          <p:cNvPr id="6" name="Shape 3"/>
          <p:cNvSpPr/>
          <p:nvPr/>
        </p:nvSpPr>
        <p:spPr>
          <a:xfrm>
            <a:off x="457200" y="1417320"/>
            <a:ext cx="2621280" cy="2926080"/>
          </a:xfrm>
          <a:prstGeom prst="roundRect">
            <a:avLst>
              <a:gd name="adj" fmla="val 2791"/>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8" name="Image 0" descr="FaLock">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Stefan Thomas</a:t>
            </a:r>
            <a:endParaRPr lang="en-US" sz="1800" dirty="0"/>
          </a:p>
        </p:txBody>
      </p:sp>
      <p:sp>
        <p:nvSpPr>
          <p:cNvPr id="10" name="Text 6"/>
          <p:cNvSpPr txBox="1"/>
          <p:nvPr/>
        </p:nvSpPr>
        <p:spPr>
          <a:xfrm>
            <a:off x="640080" y="2578608"/>
            <a:ext cx="2255520" cy="16550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7,002 枚比特币存在加密硬盘里，密码忘了，10 次机会已用 8 次（2021 年报道）。</a:t>
            </a:r>
            <a:endParaRPr lang="en-US" sz="1400" dirty="0"/>
          </a:p>
        </p:txBody>
      </p:sp>
      <p:sp>
        <p:nvSpPr>
          <p:cNvPr id="11" name="Shape 7"/>
          <p:cNvSpPr/>
          <p:nvPr/>
        </p:nvSpPr>
        <p:spPr>
          <a:xfrm>
            <a:off x="3261360" y="1417320"/>
            <a:ext cx="2621280" cy="2926080"/>
          </a:xfrm>
          <a:prstGeom prst="roundRect">
            <a:avLst>
              <a:gd name="adj" fmla="val 2791"/>
            </a:avLst>
          </a:prstGeom>
          <a:solidFill>
            <a:schemeClr val="bg2"/>
          </a:solidFill>
          <a:ln w="12700">
            <a:solidFill>
              <a:schemeClr val="bg2">
                <a:alpha val="0"/>
              </a:schemeClr>
            </a:solidFill>
            <a:prstDash val="solid"/>
          </a:ln>
        </p:spPr>
      </p:sp>
      <p:sp>
        <p:nvSpPr>
          <p:cNvPr id="12" name="Shape 8"/>
          <p:cNvSpPr/>
          <p:nvPr/>
        </p:nvSpPr>
        <p:spPr>
          <a:xfrm>
            <a:off x="3444240" y="1581912"/>
            <a:ext cx="502920" cy="502920"/>
          </a:xfrm>
          <a:prstGeom prst="ellipse">
            <a:avLst/>
          </a:prstGeom>
          <a:solidFill>
            <a:schemeClr val="accent1"/>
          </a:solidFill>
          <a:ln w="12700">
            <a:solidFill>
              <a:schemeClr val="accent1">
                <a:alpha val="0"/>
              </a:schemeClr>
            </a:solidFill>
            <a:prstDash val="solid"/>
          </a:ln>
        </p:spPr>
      </p:sp>
      <p:pic>
        <p:nvPicPr>
          <p:cNvPr id="13" name="Image 1" descr="FaDatabase">    </p:cNvPr>
          <p:cNvPicPr>
            <a:picLocks noChangeAspect="1"/>
          </p:cNvPicPr>
          <p:nvPr/>
        </p:nvPicPr>
        <p:blipFill>
          <a:blip r:embed="rId2"/>
          <a:stretch>
            <a:fillRect/>
          </a:stretch>
        </p:blipFill>
        <p:spPr>
          <a:xfrm>
            <a:off x="3554882" y="1692554"/>
            <a:ext cx="281635" cy="281635"/>
          </a:xfrm>
          <a:prstGeom prst="rect">
            <a:avLst/>
          </a:prstGeom>
        </p:spPr>
      </p:pic>
      <p:sp>
        <p:nvSpPr>
          <p:cNvPr id="14" name="Text 9"/>
          <p:cNvSpPr txBox="1"/>
          <p:nvPr/>
        </p:nvSpPr>
        <p:spPr>
          <a:xfrm>
            <a:off x="344424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James Howells</a:t>
            </a:r>
            <a:endParaRPr lang="en-US" sz="1800" dirty="0"/>
          </a:p>
        </p:txBody>
      </p:sp>
      <p:sp>
        <p:nvSpPr>
          <p:cNvPr id="15" name="Text 10"/>
          <p:cNvSpPr txBox="1"/>
          <p:nvPr/>
        </p:nvSpPr>
        <p:spPr>
          <a:xfrm>
            <a:off x="3444240" y="2578608"/>
            <a:ext cx="2255520" cy="16550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2013 年把存有约 8,000 枚的旧硬盘当垃圾扔掉；2025-01 法院驳回其挖掘填埋场的诉求。</a:t>
            </a:r>
            <a:endParaRPr lang="en-US" sz="1400" dirty="0"/>
          </a:p>
        </p:txBody>
      </p:sp>
      <p:sp>
        <p:nvSpPr>
          <p:cNvPr id="16" name="Shape 11"/>
          <p:cNvSpPr/>
          <p:nvPr/>
        </p:nvSpPr>
        <p:spPr>
          <a:xfrm>
            <a:off x="6065520" y="1417320"/>
            <a:ext cx="2621280" cy="2926080"/>
          </a:xfrm>
          <a:prstGeom prst="roundRect">
            <a:avLst>
              <a:gd name="adj" fmla="val 2791"/>
            </a:avLst>
          </a:prstGeom>
          <a:solidFill>
            <a:schemeClr val="bg2"/>
          </a:solidFill>
          <a:ln w="12700">
            <a:solidFill>
              <a:schemeClr val="bg2">
                <a:alpha val="0"/>
              </a:schemeClr>
            </a:solidFill>
            <a:prstDash val="solid"/>
          </a:ln>
        </p:spPr>
      </p:sp>
      <p:sp>
        <p:nvSpPr>
          <p:cNvPr id="17" name="Shape 12"/>
          <p:cNvSpPr/>
          <p:nvPr/>
        </p:nvSpPr>
        <p:spPr>
          <a:xfrm>
            <a:off x="6248400" y="1581912"/>
            <a:ext cx="502920" cy="502920"/>
          </a:xfrm>
          <a:prstGeom prst="ellipse">
            <a:avLst/>
          </a:prstGeom>
          <a:solidFill>
            <a:schemeClr val="accent1"/>
          </a:solidFill>
          <a:ln w="12700">
            <a:solidFill>
              <a:schemeClr val="accent1">
                <a:alpha val="0"/>
              </a:schemeClr>
            </a:solidFill>
            <a:prstDash val="solid"/>
          </a:ln>
        </p:spPr>
      </p:sp>
      <p:pic>
        <p:nvPicPr>
          <p:cNvPr id="18" name="Image 2" descr="FaFileAlt">    </p:cNvPr>
          <p:cNvPicPr>
            <a:picLocks noChangeAspect="1"/>
          </p:cNvPicPr>
          <p:nvPr/>
        </p:nvPicPr>
        <p:blipFill>
          <a:blip r:embed="rId3"/>
          <a:stretch>
            <a:fillRect/>
          </a:stretch>
        </p:blipFill>
        <p:spPr>
          <a:xfrm>
            <a:off x="6359042" y="1692554"/>
            <a:ext cx="281635" cy="281635"/>
          </a:xfrm>
          <a:prstGeom prst="rect">
            <a:avLst/>
          </a:prstGeom>
        </p:spPr>
      </p:pic>
      <p:sp>
        <p:nvSpPr>
          <p:cNvPr id="19" name="Text 13"/>
          <p:cNvSpPr txBox="1"/>
          <p:nvPr/>
        </p:nvSpPr>
        <p:spPr>
          <a:xfrm>
            <a:off x="624840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爱尔兰案例</a:t>
            </a:r>
            <a:endParaRPr lang="en-US" sz="1800" dirty="0"/>
          </a:p>
        </p:txBody>
      </p:sp>
      <p:sp>
        <p:nvSpPr>
          <p:cNvPr id="20" name="Text 14"/>
          <p:cNvSpPr txBox="1"/>
          <p:nvPr/>
        </p:nvSpPr>
        <p:spPr>
          <a:xfrm>
            <a:off x="6248400" y="2578608"/>
            <a:ext cx="2255520" cy="16550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私钥写在纸上，被房东当垃圾扔掉，损失近 6,000 万美元。</a:t>
            </a:r>
            <a:endParaRPr lang="en-US" sz="1400" dirty="0"/>
          </a:p>
        </p:txBody>
      </p:sp>
      <p:sp>
        <p:nvSpPr>
          <p:cNvPr id="21" name="Shape 15"/>
          <p:cNvSpPr/>
          <p:nvPr/>
        </p:nvSpPr>
        <p:spPr>
          <a:xfrm>
            <a:off x="457200" y="4526280"/>
            <a:ext cx="4572000" cy="1554480"/>
          </a:xfrm>
          <a:prstGeom prst="roundRect">
            <a:avLst>
              <a:gd name="adj" fmla="val 4706"/>
            </a:avLst>
          </a:prstGeom>
          <a:solidFill>
            <a:schemeClr val="bg2"/>
          </a:solidFill>
          <a:ln w="12700">
            <a:solidFill>
              <a:schemeClr val="bg2">
                <a:alpha val="0"/>
              </a:schemeClr>
            </a:solidFill>
            <a:prstDash val="solid"/>
          </a:ln>
        </p:spPr>
      </p:sp>
      <p:sp>
        <p:nvSpPr>
          <p:cNvPr id="22" name="Text 16"/>
          <p:cNvSpPr txBox="1"/>
          <p:nvPr/>
        </p:nvSpPr>
        <p:spPr>
          <a:xfrm>
            <a:off x="594360" y="4636008"/>
            <a:ext cx="4297680" cy="777240"/>
          </a:xfrm>
          <a:prstGeom prst="rect">
            <a:avLst/>
          </a:prstGeom>
          <a:noFill/>
          <a:ln/>
        </p:spPr>
        <p:txBody>
          <a:bodyPr wrap="square" lIns="0" tIns="0" rIns="0" bIns="0" rtlCol="0" anchor="ctr"/>
          <a:lstStyle/>
          <a:p>
            <a:pPr algn="ctr" indent="0" marL="0">
              <a:lnSpc>
                <a:spcPct val="105000"/>
              </a:lnSpc>
              <a:buNone/>
            </a:pPr>
            <a:r>
              <a:rPr lang="en-US" sz="2600" b="1" dirty="0">
                <a:solidFill>
                  <a:schemeClr val="accent6"/>
                </a:solidFill>
              </a:rPr>
              <a:t>230–370 万枚</a:t>
            </a:r>
            <a:endParaRPr lang="en-US" sz="2600" dirty="0"/>
          </a:p>
        </p:txBody>
      </p:sp>
      <p:sp>
        <p:nvSpPr>
          <p:cNvPr id="23" name="Text 17"/>
          <p:cNvSpPr txBox="1"/>
          <p:nvPr/>
        </p:nvSpPr>
        <p:spPr>
          <a:xfrm>
            <a:off x="594360" y="5427878"/>
            <a:ext cx="4297680" cy="590702"/>
          </a:xfrm>
          <a:prstGeom prst="rect">
            <a:avLst/>
          </a:prstGeom>
          <a:noFill/>
          <a:ln/>
        </p:spPr>
        <p:txBody>
          <a:bodyPr wrap="square" lIns="0" tIns="0" rIns="0" bIns="0" rtlCol="0" anchor="t"/>
          <a:lstStyle/>
          <a:p>
            <a:pPr algn="ctr" indent="0" marL="0">
              <a:lnSpc>
                <a:spcPct val="105000"/>
              </a:lnSpc>
              <a:buNone/>
            </a:pPr>
            <a:r>
              <a:rPr lang="en-US" sz="1300" dirty="0">
                <a:solidFill>
                  <a:schemeClr val="accent4"/>
                </a:solidFill>
              </a:rPr>
              <a:t>估计已永久丢失的比特币（约占上限的 11%～18%）</a:t>
            </a:r>
            <a:endParaRPr lang="en-US" sz="1300" dirty="0"/>
          </a:p>
        </p:txBody>
      </p:sp>
      <p:sp>
        <p:nvSpPr>
          <p:cNvPr id="24" name="Shape 18"/>
          <p:cNvSpPr/>
          <p:nvPr/>
        </p:nvSpPr>
        <p:spPr>
          <a:xfrm>
            <a:off x="5212080" y="4526280"/>
            <a:ext cx="3474720" cy="1554480"/>
          </a:xfrm>
          <a:prstGeom prst="roundRect">
            <a:avLst>
              <a:gd name="adj" fmla="val 4706"/>
            </a:avLst>
          </a:prstGeom>
          <a:solidFill>
            <a:schemeClr val="accent2">
              <a:alpha val="12000"/>
            </a:schemeClr>
          </a:solidFill>
          <a:ln w="12700">
            <a:solidFill>
              <a:schemeClr val="accent2">
                <a:alpha val="0"/>
              </a:schemeClr>
            </a:solidFill>
            <a:prstDash val="solid"/>
          </a:ln>
        </p:spPr>
      </p:sp>
      <p:pic>
        <p:nvPicPr>
          <p:cNvPr id="25" name="Image 3" descr="warn">    </p:cNvPr>
          <p:cNvPicPr>
            <a:picLocks noChangeAspect="1"/>
          </p:cNvPicPr>
          <p:nvPr/>
        </p:nvPicPr>
        <p:blipFill>
          <a:blip r:embed="rId4"/>
          <a:stretch>
            <a:fillRect/>
          </a:stretch>
        </p:blipFill>
        <p:spPr>
          <a:xfrm>
            <a:off x="5394960" y="5111496"/>
            <a:ext cx="384048" cy="384048"/>
          </a:xfrm>
          <a:prstGeom prst="rect">
            <a:avLst/>
          </a:prstGeom>
        </p:spPr>
      </p:pic>
      <p:sp>
        <p:nvSpPr>
          <p:cNvPr id="26" name="Text 19"/>
          <p:cNvSpPr txBox="1"/>
          <p:nvPr/>
        </p:nvSpPr>
        <p:spPr>
          <a:xfrm>
            <a:off x="5943600" y="4599432"/>
            <a:ext cx="2560320" cy="140817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没有客服、没有“忘记密码”。保管不仅是</a:t>
            </a:r>
            <a:pPr algn="l" indent="0" marL="0">
              <a:lnSpc>
                <a:spcPct val="105000"/>
              </a:lnSpc>
              <a:buNone/>
            </a:pPr>
            <a:r>
              <a:rPr lang="en-US" sz="1400" b="1" dirty="0">
                <a:solidFill>
                  <a:schemeClr val="tx1"/>
                </a:solidFill>
              </a:rPr>
              <a:t>技术</a:t>
            </a:r>
            <a:pPr algn="l" indent="0" marL="0">
              <a:lnSpc>
                <a:spcPct val="105000"/>
              </a:lnSpc>
              <a:buNone/>
            </a:pPr>
            <a:r>
              <a:rPr lang="en-US" sz="1400" dirty="0">
                <a:solidFill>
                  <a:schemeClr val="tx1"/>
                </a:solidFill>
              </a:rPr>
              <a:t>问题，也是</a:t>
            </a:r>
            <a:pPr algn="l" indent="0" marL="0">
              <a:lnSpc>
                <a:spcPct val="105000"/>
              </a:lnSpc>
              <a:buNone/>
            </a:pPr>
            <a:r>
              <a:rPr lang="en-US" sz="1400" b="1" dirty="0">
                <a:solidFill>
                  <a:schemeClr val="tx1"/>
                </a:solidFill>
              </a:rPr>
              <a:t>人身安全</a:t>
            </a:r>
            <a:pPr algn="l" indent="0" marL="0">
              <a:lnSpc>
                <a:spcPct val="105000"/>
              </a:lnSpc>
              <a:buNone/>
            </a:pPr>
            <a:r>
              <a:rPr lang="en-US" sz="1400" dirty="0">
                <a:solidFill>
                  <a:schemeClr val="tx1"/>
                </a:solidFill>
              </a:rPr>
              <a:t>问题。</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挖矿耗电：约占全球用电的 0.5%</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能耗</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来源：Cambridge CCAF《Digital Mining Industry Report》（2025-04）；CBECI；图：原课件（俄罗斯 Bratsk 矿场）</a:t>
            </a:r>
            <a:endParaRPr lang="en-US" sz="1000" dirty="0"/>
          </a:p>
        </p:txBody>
      </p:sp>
      <p:sp>
        <p:nvSpPr>
          <p:cNvPr id="6" name="Shape 3"/>
          <p:cNvSpPr/>
          <p:nvPr/>
        </p:nvSpPr>
        <p:spPr>
          <a:xfrm>
            <a:off x="438912" y="1399032"/>
            <a:ext cx="4059936" cy="2775136"/>
          </a:xfrm>
          <a:prstGeom prst="rect">
            <a:avLst/>
          </a:prstGeom>
          <a:solidFill>
            <a:schemeClr val="bg1"/>
          </a:solidFill>
          <a:ln w="9525">
            <a:solidFill>
              <a:schemeClr val="accent5"/>
            </a:solidFill>
            <a:prstDash val="solid"/>
          </a:ln>
        </p:spPr>
      </p:sp>
      <p:pic>
        <p:nvPicPr>
          <p:cNvPr id="7" name="Image 0" descr="俄罗斯 Bratsk 的加密货币矿场">    </p:cNvPr>
          <p:cNvPicPr>
            <a:picLocks noChangeAspect="1"/>
          </p:cNvPicPr>
          <p:nvPr/>
        </p:nvPicPr>
        <p:blipFill>
          <a:blip r:embed="rId1"/>
          <a:stretch>
            <a:fillRect/>
          </a:stretch>
        </p:blipFill>
        <p:spPr>
          <a:xfrm>
            <a:off x="457200" y="1417320"/>
            <a:ext cx="4023360" cy="2738560"/>
          </a:xfrm>
          <a:prstGeom prst="rect">
            <a:avLst/>
          </a:prstGeom>
        </p:spPr>
      </p:pic>
      <p:sp>
        <p:nvSpPr>
          <p:cNvPr id="8" name="Text 4"/>
          <p:cNvSpPr txBox="1"/>
          <p:nvPr/>
        </p:nvSpPr>
        <p:spPr>
          <a:xfrm>
            <a:off x="457200" y="4210744"/>
            <a:ext cx="4023360" cy="27432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俄罗斯 Bratsk 的加密货币矿场</a:t>
            </a:r>
            <a:endParaRPr lang="en-US" sz="1100" dirty="0"/>
          </a:p>
        </p:txBody>
      </p:sp>
      <p:sp>
        <p:nvSpPr>
          <p:cNvPr id="9" name="Text 5"/>
          <p:cNvSpPr txBox="1"/>
          <p:nvPr/>
        </p:nvSpPr>
        <p:spPr>
          <a:xfrm>
            <a:off x="4754880" y="1463040"/>
            <a:ext cx="3931920" cy="3108960"/>
          </a:xfrm>
          <a:prstGeom prst="rect">
            <a:avLst/>
          </a:prstGeom>
          <a:noFill/>
          <a:ln/>
        </p:spPr>
        <p:txBody>
          <a:bodyPr wrap="square" lIns="0" tIns="0" rIns="0" bIns="0" rtlCol="0" anchor="t"/>
          <a:lstStyle/>
          <a:p>
            <a:pPr algn="l" marL="254000" indent="-254000">
              <a:lnSpc>
                <a:spcPct val="105000"/>
              </a:lnSpc>
              <a:spcAft>
                <a:spcPts val="900"/>
              </a:spcAft>
              <a:buSzPct val="100000"/>
              <a:buChar char="•"/>
            </a:pPr>
            <a:r>
              <a:rPr lang="en-US" sz="1500" b="1" dirty="0">
                <a:solidFill>
                  <a:schemeClr val="tx1"/>
                </a:solidFill>
              </a:rPr>
              <a:t>安全 = 成本</a:t>
            </a:r>
            <a:pPr algn="l" marL="254000" indent="-254000">
              <a:lnSpc>
                <a:spcPct val="105000"/>
              </a:lnSpc>
              <a:spcAft>
                <a:spcPts val="900"/>
              </a:spcAft>
              <a:buSzPct val="100000"/>
              <a:buChar char="•"/>
            </a:pPr>
            <a:r>
              <a:rPr lang="en-US" sz="1500" dirty="0">
                <a:solidFill>
                  <a:schemeClr val="tx1"/>
                </a:solidFill>
              </a:rPr>
              <a:t>：攻击者要付出同样的电费与硬件代价</a:t>
            </a:r>
            <a:endParaRPr lang="en-US" sz="1500" dirty="0"/>
          </a:p>
          <a:p>
            <a:pPr algn="l" marL="254000" indent="-254000">
              <a:lnSpc>
                <a:spcPct val="105000"/>
              </a:lnSpc>
              <a:spcAft>
                <a:spcPts val="900"/>
              </a:spcAft>
              <a:buSzPct val="100000"/>
              <a:buChar char="•"/>
            </a:pPr>
            <a:r>
              <a:rPr lang="en-US" sz="1500" dirty="0">
                <a:solidFill>
                  <a:schemeClr val="tx1"/>
                </a:solidFill>
              </a:rPr>
              <a:t>剑桥 2025：约 </a:t>
            </a:r>
            <a:pPr algn="l" marL="254000" indent="-254000">
              <a:lnSpc>
                <a:spcPct val="105000"/>
              </a:lnSpc>
              <a:spcAft>
                <a:spcPts val="900"/>
              </a:spcAft>
              <a:buSzPct val="100000"/>
              <a:buChar char="•"/>
            </a:pPr>
            <a:r>
              <a:rPr lang="en-US" sz="1500" b="1" dirty="0">
                <a:solidFill>
                  <a:schemeClr val="tx1"/>
                </a:solidFill>
              </a:rPr>
              <a:t>138 TWh/年</a:t>
            </a:r>
            <a:pPr algn="l" marL="254000" indent="-254000">
              <a:lnSpc>
                <a:spcPct val="105000"/>
              </a:lnSpc>
              <a:spcAft>
                <a:spcPts val="900"/>
              </a:spcAft>
              <a:buSzPct val="100000"/>
              <a:buChar char="•"/>
            </a:pPr>
            <a:r>
              <a:rPr lang="en-US" sz="1500" dirty="0">
                <a:solidFill>
                  <a:schemeClr val="tx1"/>
                </a:solidFill>
              </a:rPr>
              <a:t>，约占全球用电的 </a:t>
            </a:r>
            <a:pPr algn="l" marL="254000" indent="-254000">
              <a:lnSpc>
                <a:spcPct val="105000"/>
              </a:lnSpc>
              <a:spcAft>
                <a:spcPts val="900"/>
              </a:spcAft>
              <a:buSzPct val="100000"/>
              <a:buChar char="•"/>
            </a:pPr>
            <a:r>
              <a:rPr lang="en-US" sz="1500" b="1" dirty="0">
                <a:solidFill>
                  <a:schemeClr val="tx1"/>
                </a:solidFill>
              </a:rPr>
              <a:t>0.54%</a:t>
            </a:r>
            <a:endParaRPr lang="en-US" sz="1500" dirty="0"/>
          </a:p>
          <a:p>
            <a:pPr algn="l" marL="254000" indent="-254000">
              <a:lnSpc>
                <a:spcPct val="105000"/>
              </a:lnSpc>
              <a:spcAft>
                <a:spcPts val="900"/>
              </a:spcAft>
              <a:buSzPct val="100000"/>
              <a:buChar char="•"/>
            </a:pPr>
            <a:r>
              <a:rPr lang="en-US" sz="1500" dirty="0">
                <a:solidFill>
                  <a:schemeClr val="tx1"/>
                </a:solidFill>
              </a:rPr>
              <a:t>各机构估算差异大（约 100～190 TWh），取决于方法</a:t>
            </a:r>
            <a:endParaRPr lang="en-US" sz="1500" dirty="0"/>
          </a:p>
          <a:p>
            <a:pPr algn="l" marL="254000" indent="-254000">
              <a:lnSpc>
                <a:spcPct val="105000"/>
              </a:lnSpc>
              <a:buSzPct val="100000"/>
              <a:buChar char="•"/>
            </a:pPr>
            <a:r>
              <a:rPr lang="en-US" sz="1500" dirty="0">
                <a:solidFill>
                  <a:schemeClr val="tx1"/>
                </a:solidFill>
              </a:rPr>
              <a:t>CPU → GPU → ASIC：通用性降低，性能提高</a:t>
            </a:r>
            <a:endParaRPr lang="en-US" sz="1500" dirty="0"/>
          </a:p>
        </p:txBody>
      </p:sp>
      <p:sp>
        <p:nvSpPr>
          <p:cNvPr id="10" name="Shape 6"/>
          <p:cNvSpPr/>
          <p:nvPr/>
        </p:nvSpPr>
        <p:spPr>
          <a:xfrm>
            <a:off x="457200" y="4754880"/>
            <a:ext cx="8229600" cy="1188720"/>
          </a:xfrm>
          <a:prstGeom prst="roundRect">
            <a:avLst>
              <a:gd name="adj" fmla="val 6154"/>
            </a:avLst>
          </a:prstGeom>
          <a:solidFill>
            <a:schemeClr val="accent1">
              <a:alpha val="12000"/>
            </a:schemeClr>
          </a:solidFill>
          <a:ln w="12700">
            <a:solidFill>
              <a:schemeClr val="accent1">
                <a:alpha val="0"/>
              </a:schemeClr>
            </a:solidFill>
            <a:prstDash val="solid"/>
          </a:ln>
        </p:spPr>
      </p:sp>
      <p:pic>
        <p:nvPicPr>
          <p:cNvPr id="11" name="Image 1" descr="key">    </p:cNvPr>
          <p:cNvPicPr>
            <a:picLocks noChangeAspect="1"/>
          </p:cNvPicPr>
          <p:nvPr/>
        </p:nvPicPr>
        <p:blipFill>
          <a:blip r:embed="rId2"/>
          <a:stretch>
            <a:fillRect/>
          </a:stretch>
        </p:blipFill>
        <p:spPr>
          <a:xfrm>
            <a:off x="640080" y="5157216"/>
            <a:ext cx="384048" cy="384048"/>
          </a:xfrm>
          <a:prstGeom prst="rect">
            <a:avLst/>
          </a:prstGeom>
        </p:spPr>
      </p:pic>
      <p:sp>
        <p:nvSpPr>
          <p:cNvPr id="12" name="Text 7"/>
          <p:cNvSpPr txBox="1"/>
          <p:nvPr/>
        </p:nvSpPr>
        <p:spPr>
          <a:xfrm>
            <a:off x="1188720" y="4828032"/>
            <a:ext cx="7315200" cy="104241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“每笔交易耗电”这个指标</a:t>
            </a:r>
            <a:pPr algn="l" indent="0" marL="0">
              <a:lnSpc>
                <a:spcPct val="105000"/>
              </a:lnSpc>
              <a:buNone/>
            </a:pPr>
            <a:r>
              <a:rPr lang="en-US" sz="1600" b="1" dirty="0">
                <a:solidFill>
                  <a:schemeClr val="tx1"/>
                </a:solidFill>
              </a:rPr>
              <a:t>有误导性</a:t>
            </a:r>
            <a:pPr algn="l" indent="0" marL="0">
              <a:lnSpc>
                <a:spcPct val="105000"/>
              </a:lnSpc>
              <a:buNone/>
            </a:pPr>
            <a:r>
              <a:rPr lang="en-US" sz="1600" dirty="0">
                <a:solidFill>
                  <a:schemeClr val="tx1"/>
                </a:solidFill>
              </a:rPr>
              <a:t>：能耗取决于哈希竞赛的规模，几乎与交易笔数无关。</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电从哪里来：清洁能源占比已过半（行业调查口径）</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能耗</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来源：Cambridge CCAF《Digital Mining Industry Report》（2025-04），样本：49 家矿企，约 48% 算力；美国占样本 75.4%</a:t>
            </a:r>
            <a:endParaRPr lang="en-US" sz="1000" dirty="0"/>
          </a:p>
        </p:txBody>
      </p:sp>
      <p:graphicFrame>
        <p:nvGraphicFramePr>
          <p:cNvPr id="6" name="Chart 0" descr=""/>
          <p:cNvGraphicFramePr/>
          <p:nvPr/>
        </p:nvGraphicFramePr>
        <p:xfrm>
          <a:off x="457200" y="1417320"/>
          <a:ext cx="4572000" cy="44805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212080" y="1463040"/>
            <a:ext cx="3474720" cy="4480560"/>
          </a:xfrm>
          <a:prstGeom prst="rect">
            <a:avLst/>
          </a:prstGeom>
          <a:noFill/>
          <a:ln/>
        </p:spPr>
        <p:txBody>
          <a:bodyPr wrap="square" lIns="0" tIns="0" rIns="0" bIns="0" rtlCol="0" anchor="t"/>
          <a:lstStyle/>
          <a:p>
            <a:pPr algn="l" marL="254000" indent="-254000">
              <a:lnSpc>
                <a:spcPct val="105000"/>
              </a:lnSpc>
              <a:spcAft>
                <a:spcPts val="1000"/>
              </a:spcAft>
              <a:buSzPct val="100000"/>
              <a:buChar char="•"/>
            </a:pPr>
            <a:r>
              <a:rPr lang="en-US" sz="1400" dirty="0">
                <a:solidFill>
                  <a:schemeClr val="tx1"/>
                </a:solidFill>
              </a:rPr>
              <a:t>“可持续”（可再生 + 核电）：</a:t>
            </a:r>
            <a:pPr algn="l" marL="254000" indent="-254000">
              <a:lnSpc>
                <a:spcPct val="105000"/>
              </a:lnSpc>
              <a:spcAft>
                <a:spcPts val="1000"/>
              </a:spcAft>
              <a:buSzPct val="100000"/>
              <a:buChar char="•"/>
            </a:pPr>
            <a:r>
              <a:rPr lang="en-US" sz="1400" b="1" dirty="0">
                <a:solidFill>
                  <a:schemeClr val="tx1"/>
                </a:solidFill>
              </a:rPr>
              <a:t>52.4%</a:t>
            </a:r>
            <a:pPr algn="l" marL="254000" indent="-254000">
              <a:lnSpc>
                <a:spcPct val="105000"/>
              </a:lnSpc>
              <a:spcAft>
                <a:spcPts val="1000"/>
              </a:spcAft>
              <a:buSzPct val="100000"/>
              <a:buChar char="•"/>
            </a:pPr>
            <a:r>
              <a:rPr lang="en-US" sz="1400" dirty="0">
                <a:solidFill>
                  <a:schemeClr val="tx1"/>
                </a:solidFill>
              </a:rPr>
              <a:t>（2022 年为 37.6%）</a:t>
            </a:r>
            <a:endParaRPr lang="en-US" sz="1400" dirty="0"/>
          </a:p>
          <a:p>
            <a:pPr algn="l" marL="254000" indent="-254000">
              <a:lnSpc>
                <a:spcPct val="105000"/>
              </a:lnSpc>
              <a:spcAft>
                <a:spcPts val="1000"/>
              </a:spcAft>
              <a:buSzPct val="100000"/>
              <a:buChar char="•"/>
            </a:pPr>
            <a:r>
              <a:rPr lang="en-US" sz="1400" dirty="0">
                <a:solidFill>
                  <a:schemeClr val="tx1"/>
                </a:solidFill>
              </a:rPr>
              <a:t>煤炭：36.6% → </a:t>
            </a:r>
            <a:pPr algn="l" marL="254000" indent="-254000">
              <a:lnSpc>
                <a:spcPct val="105000"/>
              </a:lnSpc>
              <a:spcAft>
                <a:spcPts val="1000"/>
              </a:spcAft>
              <a:buSzPct val="100000"/>
              <a:buChar char="•"/>
            </a:pPr>
            <a:r>
              <a:rPr lang="en-US" sz="1400" b="1" dirty="0">
                <a:solidFill>
                  <a:schemeClr val="tx1"/>
                </a:solidFill>
              </a:rPr>
              <a:t>8.9%</a:t>
            </a:r>
            <a:pPr algn="l" marL="254000" indent="-254000">
              <a:lnSpc>
                <a:spcPct val="105000"/>
              </a:lnSpc>
              <a:spcAft>
                <a:spcPts val="1000"/>
              </a:spcAft>
              <a:buSzPct val="100000"/>
              <a:buChar char="•"/>
            </a:pPr>
            <a:r>
              <a:rPr lang="en-US" sz="1400" dirty="0">
                <a:solidFill>
                  <a:schemeClr val="tx1"/>
                </a:solidFill>
              </a:rPr>
              <a:t>；天然气：25.0% → 38.2%</a:t>
            </a:r>
            <a:endParaRPr lang="en-US" sz="1400" dirty="0"/>
          </a:p>
          <a:p>
            <a:pPr algn="l" marL="254000" indent="-254000">
              <a:lnSpc>
                <a:spcPct val="105000"/>
              </a:lnSpc>
              <a:spcAft>
                <a:spcPts val="1000"/>
              </a:spcAft>
              <a:buSzPct val="100000"/>
              <a:buChar char="•"/>
            </a:pPr>
            <a:r>
              <a:rPr lang="en-US" sz="1400" dirty="0">
                <a:solidFill>
                  <a:schemeClr val="tx1"/>
                </a:solidFill>
              </a:rPr>
              <a:t>局限：样本为 49 家矿企（约 48% 算力），</a:t>
            </a:r>
            <a:pPr algn="l" marL="254000" indent="-254000">
              <a:lnSpc>
                <a:spcPct val="105000"/>
              </a:lnSpc>
              <a:spcAft>
                <a:spcPts val="1000"/>
              </a:spcAft>
              <a:buSzPct val="100000"/>
              <a:buChar char="•"/>
            </a:pPr>
            <a:r>
              <a:rPr lang="en-US" sz="1400" b="1" dirty="0">
                <a:solidFill>
                  <a:schemeClr val="tx1"/>
                </a:solidFill>
              </a:rPr>
              <a:t>美国占样本 75.4%</a:t>
            </a:r>
            <a:endParaRPr lang="en-US" sz="1400" dirty="0"/>
          </a:p>
          <a:p>
            <a:pPr algn="l" marL="254000" indent="-254000">
              <a:lnSpc>
                <a:spcPct val="105000"/>
              </a:lnSpc>
              <a:buSzPct val="100000"/>
              <a:buChar char="•"/>
            </a:pPr>
            <a:r>
              <a:rPr lang="en-US" sz="1400" dirty="0">
                <a:solidFill>
                  <a:schemeClr val="tx1"/>
                </a:solidFill>
              </a:rPr>
              <a:t>矿场可作“可中断负荷”，在用电高峰让电</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从中国到美国：一次“算力大迁徙”</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能耗</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来源：Cambridge CCAF / CBECI；国家发展改革委等《关于整治虚拟货币“挖矿”活动的通知》（发改运行〔2021〕1283号）</a:t>
            </a:r>
            <a:endParaRPr lang="en-US" sz="1000" dirty="0"/>
          </a:p>
        </p:txBody>
      </p:sp>
      <p:graphicFrame>
        <p:nvGraphicFramePr>
          <p:cNvPr id="6" name="Chart 0" descr=""/>
          <p:cNvGraphicFramePr/>
          <p:nvPr/>
        </p:nvGraphicFramePr>
        <p:xfrm>
          <a:off x="457200" y="1417320"/>
          <a:ext cx="4023360" cy="28346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077745" y="1399032"/>
            <a:ext cx="3286190" cy="2871216"/>
          </a:xfrm>
          <a:prstGeom prst="rect">
            <a:avLst/>
          </a:prstGeom>
          <a:solidFill>
            <a:schemeClr val="bg1"/>
          </a:solidFill>
          <a:ln w="9525">
            <a:solidFill>
              <a:schemeClr val="accent5"/>
            </a:solidFill>
            <a:prstDash val="solid"/>
          </a:ln>
        </p:spPr>
      </p:sp>
      <p:pic>
        <p:nvPicPr>
          <p:cNvPr id="8" name="Image 0" descr="国家发改委等《关于整治虚拟货币“挖矿”活动的通知》">    </p:cNvPr>
          <p:cNvPicPr>
            <a:picLocks noChangeAspect="1"/>
          </p:cNvPicPr>
          <p:nvPr/>
        </p:nvPicPr>
        <p:blipFill>
          <a:blip r:embed="rId2"/>
          <a:stretch>
            <a:fillRect/>
          </a:stretch>
        </p:blipFill>
        <p:spPr>
          <a:xfrm>
            <a:off x="5096033" y="1417320"/>
            <a:ext cx="3249614" cy="2834640"/>
          </a:xfrm>
          <a:prstGeom prst="rect">
            <a:avLst/>
          </a:prstGeom>
        </p:spPr>
      </p:pic>
      <p:sp>
        <p:nvSpPr>
          <p:cNvPr id="9" name="Text 4"/>
          <p:cNvSpPr txBox="1"/>
          <p:nvPr/>
        </p:nvSpPr>
        <p:spPr>
          <a:xfrm>
            <a:off x="4754880" y="4306824"/>
            <a:ext cx="3931920" cy="27432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2021-09《关于整治虚拟货币“挖矿”活动的通知》</a:t>
            </a:r>
            <a:endParaRPr lang="en-US" sz="1100" dirty="0"/>
          </a:p>
        </p:txBody>
      </p:sp>
      <p:sp>
        <p:nvSpPr>
          <p:cNvPr id="10" name="Shape 5"/>
          <p:cNvSpPr/>
          <p:nvPr/>
        </p:nvSpPr>
        <p:spPr>
          <a:xfrm>
            <a:off x="457200" y="4572000"/>
            <a:ext cx="1885950" cy="1051560"/>
          </a:xfrm>
          <a:prstGeom prst="roundRect">
            <a:avLst>
              <a:gd name="adj" fmla="val 6957"/>
            </a:avLst>
          </a:prstGeom>
          <a:solidFill>
            <a:schemeClr val="bg2"/>
          </a:solidFill>
          <a:ln w="12700">
            <a:solidFill>
              <a:schemeClr val="bg2">
                <a:alpha val="0"/>
              </a:schemeClr>
            </a:solidFill>
            <a:prstDash val="solid"/>
          </a:ln>
        </p:spPr>
      </p:sp>
      <p:sp>
        <p:nvSpPr>
          <p:cNvPr id="11" name="Text 6"/>
          <p:cNvSpPr txBox="1"/>
          <p:nvPr/>
        </p:nvSpPr>
        <p:spPr>
          <a:xfrm>
            <a:off x="530352" y="4626864"/>
            <a:ext cx="1739646" cy="941832"/>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2019-10</a:t>
            </a:r>
            <a:endParaRPr lang="en-US" sz="1200" dirty="0"/>
          </a:p>
          <a:p>
            <a:pPr algn="ctr" indent="0" marL="0">
              <a:lnSpc>
                <a:spcPct val="105000"/>
              </a:lnSpc>
              <a:buNone/>
            </a:pPr>
            <a:r>
              <a:rPr lang="en-US" sz="1200" dirty="0">
                <a:solidFill>
                  <a:schemeClr val="accent4"/>
                </a:solidFill>
              </a:rPr>
              <a:t>挖矿移出“淘汰类”清单</a:t>
            </a:r>
            <a:endParaRPr lang="en-US" sz="1200" dirty="0"/>
          </a:p>
        </p:txBody>
      </p:sp>
      <p:sp>
        <p:nvSpPr>
          <p:cNvPr id="12" name="Shape 7"/>
          <p:cNvSpPr/>
          <p:nvPr/>
        </p:nvSpPr>
        <p:spPr>
          <a:xfrm>
            <a:off x="2379726" y="4997196"/>
            <a:ext cx="155448" cy="201168"/>
          </a:xfrm>
          <a:prstGeom prst="rightArrow">
            <a:avLst/>
          </a:prstGeom>
          <a:solidFill>
            <a:schemeClr val="accent1"/>
          </a:solidFill>
          <a:ln w="12700">
            <a:solidFill>
              <a:schemeClr val="accent1">
                <a:alpha val="0"/>
              </a:schemeClr>
            </a:solidFill>
            <a:prstDash val="solid"/>
          </a:ln>
        </p:spPr>
      </p:sp>
      <p:sp>
        <p:nvSpPr>
          <p:cNvPr id="13" name="Shape 8"/>
          <p:cNvSpPr/>
          <p:nvPr/>
        </p:nvSpPr>
        <p:spPr>
          <a:xfrm>
            <a:off x="2571750" y="4572000"/>
            <a:ext cx="1885950" cy="1051560"/>
          </a:xfrm>
          <a:prstGeom prst="roundRect">
            <a:avLst>
              <a:gd name="adj" fmla="val 6957"/>
            </a:avLst>
          </a:prstGeom>
          <a:solidFill>
            <a:schemeClr val="bg2"/>
          </a:solidFill>
          <a:ln w="12700">
            <a:solidFill>
              <a:schemeClr val="bg2">
                <a:alpha val="0"/>
              </a:schemeClr>
            </a:solidFill>
            <a:prstDash val="solid"/>
          </a:ln>
        </p:spPr>
      </p:sp>
      <p:sp>
        <p:nvSpPr>
          <p:cNvPr id="14" name="Text 9"/>
          <p:cNvSpPr txBox="1"/>
          <p:nvPr/>
        </p:nvSpPr>
        <p:spPr>
          <a:xfrm>
            <a:off x="2644902" y="4626864"/>
            <a:ext cx="1739646" cy="941832"/>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2021-05</a:t>
            </a:r>
            <a:endParaRPr lang="en-US" sz="1200" dirty="0"/>
          </a:p>
          <a:p>
            <a:pPr algn="ctr" indent="0" marL="0">
              <a:lnSpc>
                <a:spcPct val="105000"/>
              </a:lnSpc>
              <a:buNone/>
            </a:pPr>
            <a:r>
              <a:rPr lang="en-US" sz="1200" dirty="0">
                <a:solidFill>
                  <a:schemeClr val="accent4"/>
                </a:solidFill>
              </a:rPr>
              <a:t>金融委：打击挖矿和交易</a:t>
            </a:r>
            <a:endParaRPr lang="en-US" sz="1200" dirty="0"/>
          </a:p>
        </p:txBody>
      </p:sp>
      <p:sp>
        <p:nvSpPr>
          <p:cNvPr id="15" name="Shape 10"/>
          <p:cNvSpPr/>
          <p:nvPr/>
        </p:nvSpPr>
        <p:spPr>
          <a:xfrm>
            <a:off x="4494276" y="4997196"/>
            <a:ext cx="155448" cy="201168"/>
          </a:xfrm>
          <a:prstGeom prst="rightArrow">
            <a:avLst/>
          </a:prstGeom>
          <a:solidFill>
            <a:schemeClr val="accent1"/>
          </a:solidFill>
          <a:ln w="12700">
            <a:solidFill>
              <a:schemeClr val="accent1">
                <a:alpha val="0"/>
              </a:schemeClr>
            </a:solidFill>
            <a:prstDash val="solid"/>
          </a:ln>
        </p:spPr>
      </p:sp>
      <p:sp>
        <p:nvSpPr>
          <p:cNvPr id="16" name="Shape 11"/>
          <p:cNvSpPr/>
          <p:nvPr/>
        </p:nvSpPr>
        <p:spPr>
          <a:xfrm>
            <a:off x="4686300" y="4572000"/>
            <a:ext cx="1885950" cy="1051560"/>
          </a:xfrm>
          <a:prstGeom prst="roundRect">
            <a:avLst>
              <a:gd name="adj" fmla="val 6957"/>
            </a:avLst>
          </a:prstGeom>
          <a:solidFill>
            <a:schemeClr val="bg2"/>
          </a:solidFill>
          <a:ln w="12700">
            <a:solidFill>
              <a:schemeClr val="bg2">
                <a:alpha val="0"/>
              </a:schemeClr>
            </a:solidFill>
            <a:prstDash val="solid"/>
          </a:ln>
        </p:spPr>
      </p:sp>
      <p:sp>
        <p:nvSpPr>
          <p:cNvPr id="17" name="Text 12"/>
          <p:cNvSpPr txBox="1"/>
          <p:nvPr/>
        </p:nvSpPr>
        <p:spPr>
          <a:xfrm>
            <a:off x="4759452" y="4626864"/>
            <a:ext cx="1739646" cy="941832"/>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2021-06</a:t>
            </a:r>
            <a:endParaRPr lang="en-US" sz="1200" dirty="0"/>
          </a:p>
          <a:p>
            <a:pPr algn="ctr" indent="0" marL="0">
              <a:lnSpc>
                <a:spcPct val="105000"/>
              </a:lnSpc>
              <a:buNone/>
            </a:pPr>
            <a:r>
              <a:rPr lang="en-US" sz="1200" dirty="0">
                <a:solidFill>
                  <a:schemeClr val="accent4"/>
                </a:solidFill>
              </a:rPr>
              <a:t>四川等地清退矿场</a:t>
            </a:r>
            <a:endParaRPr lang="en-US" sz="1200" dirty="0"/>
          </a:p>
        </p:txBody>
      </p:sp>
      <p:sp>
        <p:nvSpPr>
          <p:cNvPr id="18" name="Shape 13"/>
          <p:cNvSpPr/>
          <p:nvPr/>
        </p:nvSpPr>
        <p:spPr>
          <a:xfrm>
            <a:off x="6608826" y="4997196"/>
            <a:ext cx="155448" cy="201168"/>
          </a:xfrm>
          <a:prstGeom prst="rightArrow">
            <a:avLst/>
          </a:prstGeom>
          <a:solidFill>
            <a:schemeClr val="accent1"/>
          </a:solidFill>
          <a:ln w="12700">
            <a:solidFill>
              <a:schemeClr val="accent1">
                <a:alpha val="0"/>
              </a:schemeClr>
            </a:solidFill>
            <a:prstDash val="solid"/>
          </a:ln>
        </p:spPr>
      </p:sp>
      <p:sp>
        <p:nvSpPr>
          <p:cNvPr id="19" name="Shape 14"/>
          <p:cNvSpPr/>
          <p:nvPr/>
        </p:nvSpPr>
        <p:spPr>
          <a:xfrm>
            <a:off x="6800850" y="4572000"/>
            <a:ext cx="1885950" cy="1051560"/>
          </a:xfrm>
          <a:prstGeom prst="roundRect">
            <a:avLst>
              <a:gd name="adj" fmla="val 6957"/>
            </a:avLst>
          </a:prstGeom>
          <a:solidFill>
            <a:schemeClr val="accent1"/>
          </a:solidFill>
          <a:ln w="12700">
            <a:solidFill>
              <a:schemeClr val="accent1">
                <a:alpha val="0"/>
              </a:schemeClr>
            </a:solidFill>
            <a:prstDash val="solid"/>
          </a:ln>
        </p:spPr>
      </p:sp>
      <p:sp>
        <p:nvSpPr>
          <p:cNvPr id="20" name="Text 15"/>
          <p:cNvSpPr txBox="1"/>
          <p:nvPr/>
        </p:nvSpPr>
        <p:spPr>
          <a:xfrm>
            <a:off x="6874002" y="4626864"/>
            <a:ext cx="1739646" cy="941832"/>
          </a:xfrm>
          <a:prstGeom prst="rect">
            <a:avLst/>
          </a:prstGeom>
          <a:noFill/>
          <a:ln/>
        </p:spPr>
        <p:txBody>
          <a:bodyPr wrap="square" lIns="0" tIns="0" rIns="0" bIns="0" rtlCol="0" anchor="ctr"/>
          <a:lstStyle/>
          <a:p>
            <a:pPr algn="ctr" indent="0" marL="0">
              <a:lnSpc>
                <a:spcPct val="105000"/>
              </a:lnSpc>
              <a:spcAft>
                <a:spcPts val="200"/>
              </a:spcAft>
              <a:buNone/>
            </a:pPr>
            <a:r>
              <a:rPr lang="en-US" sz="1500" b="1" dirty="0">
                <a:solidFill>
                  <a:schemeClr val="tx1"/>
                </a:solidFill>
              </a:rPr>
              <a:t>2021-09</a:t>
            </a:r>
            <a:endParaRPr lang="en-US" sz="1200" dirty="0"/>
          </a:p>
          <a:p>
            <a:pPr algn="ctr" indent="0" marL="0">
              <a:lnSpc>
                <a:spcPct val="105000"/>
              </a:lnSpc>
              <a:buNone/>
            </a:pPr>
            <a:r>
              <a:rPr lang="en-US" sz="1200" dirty="0">
                <a:solidFill>
                  <a:schemeClr val="accent4"/>
                </a:solidFill>
              </a:rPr>
              <a:t>发改委等发布整治通知</a:t>
            </a:r>
            <a:endParaRPr lang="en-US" sz="1200" dirty="0"/>
          </a:p>
        </p:txBody>
      </p:sp>
      <p:sp>
        <p:nvSpPr>
          <p:cNvPr id="21" name="Shape 16"/>
          <p:cNvSpPr/>
          <p:nvPr/>
        </p:nvSpPr>
        <p:spPr>
          <a:xfrm>
            <a:off x="457200" y="5715000"/>
            <a:ext cx="8229600" cy="457200"/>
          </a:xfrm>
          <a:prstGeom prst="roundRect">
            <a:avLst>
              <a:gd name="adj" fmla="val 16000"/>
            </a:avLst>
          </a:prstGeom>
          <a:solidFill>
            <a:schemeClr val="accent1">
              <a:alpha val="12000"/>
            </a:schemeClr>
          </a:solidFill>
          <a:ln w="12700">
            <a:solidFill>
              <a:schemeClr val="accent1">
                <a:alpha val="0"/>
              </a:schemeClr>
            </a:solidFill>
            <a:prstDash val="solid"/>
          </a:ln>
        </p:spPr>
      </p:sp>
      <p:pic>
        <p:nvPicPr>
          <p:cNvPr id="22" name="Image 1" descr="key">    </p:cNvPr>
          <p:cNvPicPr>
            <a:picLocks noChangeAspect="1"/>
          </p:cNvPicPr>
          <p:nvPr/>
        </p:nvPicPr>
        <p:blipFill>
          <a:blip r:embed="rId3"/>
          <a:stretch>
            <a:fillRect/>
          </a:stretch>
        </p:blipFill>
        <p:spPr>
          <a:xfrm>
            <a:off x="640080" y="5751576"/>
            <a:ext cx="384048" cy="384048"/>
          </a:xfrm>
          <a:prstGeom prst="rect">
            <a:avLst/>
          </a:prstGeom>
        </p:spPr>
      </p:pic>
      <p:sp>
        <p:nvSpPr>
          <p:cNvPr id="23" name="Text 17"/>
          <p:cNvSpPr txBox="1"/>
          <p:nvPr/>
        </p:nvSpPr>
        <p:spPr>
          <a:xfrm>
            <a:off x="1188720" y="5788152"/>
            <a:ext cx="7315200" cy="310896"/>
          </a:xfrm>
          <a:prstGeom prst="rect">
            <a:avLst/>
          </a:prstGeom>
          <a:noFill/>
          <a:ln/>
        </p:spPr>
        <p:txBody>
          <a:bodyPr wrap="square" lIns="0" tIns="0" rIns="0" bIns="0" rtlCol="0" anchor="ctr"/>
          <a:lstStyle/>
          <a:p>
            <a:pPr algn="l" indent="0" marL="0">
              <a:lnSpc>
                <a:spcPct val="105000"/>
              </a:lnSpc>
              <a:buNone/>
            </a:pPr>
            <a:r>
              <a:rPr lang="en-US" sz="1200" dirty="0">
                <a:solidFill>
                  <a:schemeClr val="tx1"/>
                </a:solidFill>
              </a:rPr>
              <a:t>2021-08：美国成为最大算力所在国（约 35%）；部分矿工转入“地下”，数据不确定。</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趣闻：挖矿让人做出的“奇葩”事</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拓展</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来源：Prasad (2021)；2018 年媒体报道</a:t>
            </a:r>
            <a:endParaRPr lang="en-US" sz="1000" dirty="0"/>
          </a:p>
        </p:txBody>
      </p:sp>
      <p:sp>
        <p:nvSpPr>
          <p:cNvPr id="6" name="Shape 3"/>
          <p:cNvSpPr/>
          <p:nvPr/>
        </p:nvSpPr>
        <p:spPr>
          <a:xfrm>
            <a:off x="457200" y="1463040"/>
            <a:ext cx="4023360" cy="3200400"/>
          </a:xfrm>
          <a:prstGeom prst="roundRect">
            <a:avLst>
              <a:gd name="adj" fmla="val 2286"/>
            </a:avLst>
          </a:prstGeom>
          <a:solidFill>
            <a:schemeClr val="bg2"/>
          </a:solidFill>
          <a:ln w="12700">
            <a:solidFill>
              <a:schemeClr val="bg2">
                <a:alpha val="0"/>
              </a:schemeClr>
            </a:solidFill>
            <a:prstDash val="solid"/>
          </a:ln>
        </p:spPr>
      </p:sp>
      <p:sp>
        <p:nvSpPr>
          <p:cNvPr id="7" name="Shape 4"/>
          <p:cNvSpPr/>
          <p:nvPr/>
        </p:nvSpPr>
        <p:spPr>
          <a:xfrm>
            <a:off x="640080" y="1627632"/>
            <a:ext cx="502920" cy="502920"/>
          </a:xfrm>
          <a:prstGeom prst="ellipse">
            <a:avLst/>
          </a:prstGeom>
          <a:solidFill>
            <a:schemeClr val="accent1"/>
          </a:solidFill>
          <a:ln w="12700">
            <a:solidFill>
              <a:schemeClr val="accent1">
                <a:alpha val="0"/>
              </a:schemeClr>
            </a:solidFill>
            <a:prstDash val="solid"/>
          </a:ln>
        </p:spPr>
      </p:sp>
      <p:pic>
        <p:nvPicPr>
          <p:cNvPr id="8" name="Image 0" descr="FaIndustry">    </p:cNvPr>
          <p:cNvPicPr>
            <a:picLocks noChangeAspect="1"/>
          </p:cNvPicPr>
          <p:nvPr/>
        </p:nvPicPr>
        <p:blipFill>
          <a:blip r:embed="rId1"/>
          <a:stretch>
            <a:fillRect/>
          </a:stretch>
        </p:blipFill>
        <p:spPr>
          <a:xfrm>
            <a:off x="750722" y="1738274"/>
            <a:ext cx="281635" cy="281635"/>
          </a:xfrm>
          <a:prstGeom prst="rect">
            <a:avLst/>
          </a:prstGeom>
        </p:spPr>
      </p:pic>
      <p:sp>
        <p:nvSpPr>
          <p:cNvPr id="9" name="Text 5"/>
          <p:cNvSpPr txBox="1"/>
          <p:nvPr/>
        </p:nvSpPr>
        <p:spPr>
          <a:xfrm>
            <a:off x="640080" y="224942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核研究中心里的“矿工”</a:t>
            </a:r>
            <a:endParaRPr lang="en-US" sz="1800" dirty="0"/>
          </a:p>
        </p:txBody>
      </p:sp>
      <p:sp>
        <p:nvSpPr>
          <p:cNvPr id="10" name="Text 6"/>
          <p:cNvSpPr txBox="1"/>
          <p:nvPr/>
        </p:nvSpPr>
        <p:spPr>
          <a:xfrm>
            <a:off x="640080" y="2624328"/>
            <a:ext cx="3657600" cy="19293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2018 年 2 月，俄罗斯萨罗夫核武器研究中心的科学家想用超级计算机挖比特币；一连上互联网，就触发了安全警报，被逮捕。</a:t>
            </a:r>
            <a:endParaRPr lang="en-US" sz="1500" dirty="0"/>
          </a:p>
        </p:txBody>
      </p:sp>
      <p:sp>
        <p:nvSpPr>
          <p:cNvPr id="11" name="Shape 7"/>
          <p:cNvSpPr/>
          <p:nvPr/>
        </p:nvSpPr>
        <p:spPr>
          <a:xfrm>
            <a:off x="4663440" y="1463040"/>
            <a:ext cx="4023360" cy="3200400"/>
          </a:xfrm>
          <a:prstGeom prst="roundRect">
            <a:avLst>
              <a:gd name="adj" fmla="val 2286"/>
            </a:avLst>
          </a:prstGeom>
          <a:solidFill>
            <a:schemeClr val="bg2"/>
          </a:solidFill>
          <a:ln w="12700">
            <a:solidFill>
              <a:schemeClr val="bg2">
                <a:alpha val="0"/>
              </a:schemeClr>
            </a:solidFill>
            <a:prstDash val="solid"/>
          </a:ln>
        </p:spPr>
      </p:sp>
      <p:sp>
        <p:nvSpPr>
          <p:cNvPr id="12" name="Shape 8"/>
          <p:cNvSpPr/>
          <p:nvPr/>
        </p:nvSpPr>
        <p:spPr>
          <a:xfrm>
            <a:off x="4846320" y="1627632"/>
            <a:ext cx="502920" cy="502920"/>
          </a:xfrm>
          <a:prstGeom prst="ellipse">
            <a:avLst/>
          </a:prstGeom>
          <a:solidFill>
            <a:schemeClr val="accent1"/>
          </a:solidFill>
          <a:ln w="12700">
            <a:solidFill>
              <a:schemeClr val="accent1">
                <a:alpha val="0"/>
              </a:schemeClr>
            </a:solidFill>
            <a:prstDash val="solid"/>
          </a:ln>
        </p:spPr>
      </p:sp>
      <p:pic>
        <p:nvPicPr>
          <p:cNvPr id="13" name="Image 1" descr="FaBolt">    </p:cNvPr>
          <p:cNvPicPr>
            <a:picLocks noChangeAspect="1"/>
          </p:cNvPicPr>
          <p:nvPr/>
        </p:nvPicPr>
        <p:blipFill>
          <a:blip r:embed="rId2"/>
          <a:stretch>
            <a:fillRect/>
          </a:stretch>
        </p:blipFill>
        <p:spPr>
          <a:xfrm>
            <a:off x="4956962" y="1738274"/>
            <a:ext cx="281635" cy="281635"/>
          </a:xfrm>
          <a:prstGeom prst="rect">
            <a:avLst/>
          </a:prstGeom>
        </p:spPr>
      </p:pic>
      <p:sp>
        <p:nvSpPr>
          <p:cNvPr id="14" name="Text 9"/>
          <p:cNvSpPr txBox="1"/>
          <p:nvPr/>
        </p:nvSpPr>
        <p:spPr>
          <a:xfrm>
            <a:off x="4846320" y="2249424"/>
            <a:ext cx="365760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教会的电费官司</a:t>
            </a:r>
            <a:endParaRPr lang="en-US" sz="1800" dirty="0"/>
          </a:p>
        </p:txBody>
      </p:sp>
      <p:sp>
        <p:nvSpPr>
          <p:cNvPr id="15" name="Text 10"/>
          <p:cNvSpPr txBox="1"/>
          <p:nvPr/>
        </p:nvSpPr>
        <p:spPr>
          <a:xfrm>
            <a:off x="4846320" y="2624328"/>
            <a:ext cx="3657600" cy="192938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2018 年，伊尔库茨克一家教会因挖矿高额电费败诉；辩称夏季用电激增是“供暖”，法院不信。</a:t>
            </a:r>
            <a:endParaRPr lang="en-US" sz="1500" dirty="0"/>
          </a:p>
        </p:txBody>
      </p:sp>
      <p:sp>
        <p:nvSpPr>
          <p:cNvPr id="16" name="Shape 11"/>
          <p:cNvSpPr/>
          <p:nvPr/>
        </p:nvSpPr>
        <p:spPr>
          <a:xfrm>
            <a:off x="457200" y="4937760"/>
            <a:ext cx="8229600" cy="914400"/>
          </a:xfrm>
          <a:prstGeom prst="roundRect">
            <a:avLst>
              <a:gd name="adj" fmla="val 8000"/>
            </a:avLst>
          </a:prstGeom>
          <a:solidFill>
            <a:schemeClr val="accent1">
              <a:alpha val="12000"/>
            </a:schemeClr>
          </a:solidFill>
          <a:ln w="12700">
            <a:solidFill>
              <a:schemeClr val="accent1">
                <a:alpha val="0"/>
              </a:schemeClr>
            </a:solidFill>
            <a:prstDash val="solid"/>
          </a:ln>
        </p:spPr>
      </p:sp>
      <p:pic>
        <p:nvPicPr>
          <p:cNvPr id="17" name="Image 2" descr="key">    </p:cNvPr>
          <p:cNvPicPr>
            <a:picLocks noChangeAspect="1"/>
          </p:cNvPicPr>
          <p:nvPr/>
        </p:nvPicPr>
        <p:blipFill>
          <a:blip r:embed="rId3"/>
          <a:stretch>
            <a:fillRect/>
          </a:stretch>
        </p:blipFill>
        <p:spPr>
          <a:xfrm>
            <a:off x="640080" y="5202936"/>
            <a:ext cx="384048" cy="384048"/>
          </a:xfrm>
          <a:prstGeom prst="rect">
            <a:avLst/>
          </a:prstGeom>
        </p:spPr>
      </p:pic>
      <p:sp>
        <p:nvSpPr>
          <p:cNvPr id="18" name="Text 12"/>
          <p:cNvSpPr txBox="1"/>
          <p:nvPr/>
        </p:nvSpPr>
        <p:spPr>
          <a:xfrm>
            <a:off x="1188720" y="5010912"/>
            <a:ext cx="7315200" cy="76809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共同点：</a:t>
            </a:r>
            <a:pPr algn="l" indent="0" marL="0">
              <a:lnSpc>
                <a:spcPct val="105000"/>
              </a:lnSpc>
              <a:buNone/>
            </a:pPr>
            <a:r>
              <a:rPr lang="en-US" sz="1700" b="1" dirty="0">
                <a:solidFill>
                  <a:schemeClr val="tx1"/>
                </a:solidFill>
              </a:rPr>
              <a:t>挖矿 = 把电力变成钱</a:t>
            </a:r>
            <a:pPr algn="l" indent="0" marL="0">
              <a:lnSpc>
                <a:spcPct val="105000"/>
              </a:lnSpc>
              <a:buNone/>
            </a:pPr>
            <a:r>
              <a:rPr lang="en-US" sz="1700" dirty="0">
                <a:solidFill>
                  <a:schemeClr val="tx1"/>
                </a:solidFill>
              </a:rPr>
              <a:t>——哪里有廉价电力，哪里就有矿机。</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价值之问：是什么赋予资产价值？</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价值之问</a:t>
            </a:r>
            <a:endParaRPr lang="en-US" sz="1200" dirty="0"/>
          </a:p>
        </p:txBody>
      </p:sp>
      <p:sp>
        <p:nvSpPr>
          <p:cNvPr id="5" name="Shape 2"/>
          <p:cNvSpPr/>
          <p:nvPr/>
        </p:nvSpPr>
        <p:spPr>
          <a:xfrm>
            <a:off x="457200" y="1417320"/>
            <a:ext cx="2621280" cy="3017520"/>
          </a:xfrm>
          <a:prstGeom prst="roundRect">
            <a:avLst>
              <a:gd name="adj" fmla="val 2791"/>
            </a:avLst>
          </a:prstGeom>
          <a:solidFill>
            <a:schemeClr val="bg2"/>
          </a:solidFill>
          <a:ln w="12700">
            <a:solidFill>
              <a:schemeClr val="bg2">
                <a:alpha val="0"/>
              </a:schemeClr>
            </a:solidFill>
            <a:prstDash val="solid"/>
          </a:ln>
        </p:spPr>
      </p:sp>
      <p:sp>
        <p:nvSpPr>
          <p:cNvPr id="6" name="Shape 3"/>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7" name="Image 0" descr="FaMoneyBillWave">    </p:cNvPr>
          <p:cNvPicPr>
            <a:picLocks noChangeAspect="1"/>
          </p:cNvPicPr>
          <p:nvPr/>
        </p:nvPicPr>
        <p:blipFill>
          <a:blip r:embed="rId1"/>
          <a:stretch>
            <a:fillRect/>
          </a:stretch>
        </p:blipFill>
        <p:spPr>
          <a:xfrm>
            <a:off x="750722" y="1692554"/>
            <a:ext cx="281635" cy="281635"/>
          </a:xfrm>
          <a:prstGeom prst="rect">
            <a:avLst/>
          </a:prstGeom>
        </p:spPr>
      </p:pic>
      <p:sp>
        <p:nvSpPr>
          <p:cNvPr id="8" name="Text 4"/>
          <p:cNvSpPr txBox="1"/>
          <p:nvPr/>
        </p:nvSpPr>
        <p:spPr>
          <a:xfrm>
            <a:off x="64008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现金流型</a:t>
            </a:r>
            <a:endParaRPr lang="en-US" sz="1800" dirty="0"/>
          </a:p>
        </p:txBody>
      </p:sp>
      <p:sp>
        <p:nvSpPr>
          <p:cNvPr id="9" name="Text 5"/>
          <p:cNvSpPr txBox="1"/>
          <p:nvPr/>
        </p:nvSpPr>
        <p:spPr>
          <a:xfrm>
            <a:off x="640080" y="2578608"/>
            <a:ext cx="2255520" cy="17465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股票、债券、房产：对未来收入的索取权，可折现估值。</a:t>
            </a:r>
            <a:endParaRPr lang="en-US" sz="1500" dirty="0"/>
          </a:p>
        </p:txBody>
      </p:sp>
      <p:sp>
        <p:nvSpPr>
          <p:cNvPr id="10" name="Shape 6"/>
          <p:cNvSpPr/>
          <p:nvPr/>
        </p:nvSpPr>
        <p:spPr>
          <a:xfrm>
            <a:off x="3261360" y="1417320"/>
            <a:ext cx="2621280" cy="3017520"/>
          </a:xfrm>
          <a:prstGeom prst="roundRect">
            <a:avLst>
              <a:gd name="adj" fmla="val 2791"/>
            </a:avLst>
          </a:prstGeom>
          <a:solidFill>
            <a:schemeClr val="bg2"/>
          </a:solidFill>
          <a:ln w="12700">
            <a:solidFill>
              <a:schemeClr val="bg2">
                <a:alpha val="0"/>
              </a:schemeClr>
            </a:solidFill>
            <a:prstDash val="solid"/>
          </a:ln>
        </p:spPr>
      </p:sp>
      <p:sp>
        <p:nvSpPr>
          <p:cNvPr id="11" name="Shape 7"/>
          <p:cNvSpPr/>
          <p:nvPr/>
        </p:nvSpPr>
        <p:spPr>
          <a:xfrm>
            <a:off x="3444240" y="1581912"/>
            <a:ext cx="502920" cy="502920"/>
          </a:xfrm>
          <a:prstGeom prst="ellipse">
            <a:avLst/>
          </a:prstGeom>
          <a:solidFill>
            <a:schemeClr val="accent1"/>
          </a:solidFill>
          <a:ln w="12700">
            <a:solidFill>
              <a:schemeClr val="accent1">
                <a:alpha val="0"/>
              </a:schemeClr>
            </a:solidFill>
            <a:prstDash val="solid"/>
          </a:ln>
        </p:spPr>
      </p:sp>
      <p:pic>
        <p:nvPicPr>
          <p:cNvPr id="12" name="Image 1" descr="FaCoins">    </p:cNvPr>
          <p:cNvPicPr>
            <a:picLocks noChangeAspect="1"/>
          </p:cNvPicPr>
          <p:nvPr/>
        </p:nvPicPr>
        <p:blipFill>
          <a:blip r:embed="rId2"/>
          <a:stretch>
            <a:fillRect/>
          </a:stretch>
        </p:blipFill>
        <p:spPr>
          <a:xfrm>
            <a:off x="3554882" y="1692554"/>
            <a:ext cx="281635" cy="281635"/>
          </a:xfrm>
          <a:prstGeom prst="rect">
            <a:avLst/>
          </a:prstGeom>
        </p:spPr>
      </p:pic>
      <p:sp>
        <p:nvSpPr>
          <p:cNvPr id="13" name="Text 8"/>
          <p:cNvSpPr txBox="1"/>
          <p:nvPr/>
        </p:nvSpPr>
        <p:spPr>
          <a:xfrm>
            <a:off x="344424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稀缺 + 共识型</a:t>
            </a:r>
            <a:endParaRPr lang="en-US" sz="1800" dirty="0"/>
          </a:p>
        </p:txBody>
      </p:sp>
      <p:sp>
        <p:nvSpPr>
          <p:cNvPr id="14" name="Text 9"/>
          <p:cNvSpPr txBox="1"/>
          <p:nvPr/>
        </p:nvSpPr>
        <p:spPr>
          <a:xfrm>
            <a:off x="3444240" y="2578608"/>
            <a:ext cx="2255520" cy="17465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黄金、艺术品：稀缺，加上“大家都认可”的集体信念；没有现金流。</a:t>
            </a:r>
            <a:endParaRPr lang="en-US" sz="1500" dirty="0"/>
          </a:p>
        </p:txBody>
      </p:sp>
      <p:sp>
        <p:nvSpPr>
          <p:cNvPr id="15" name="Shape 10"/>
          <p:cNvSpPr/>
          <p:nvPr/>
        </p:nvSpPr>
        <p:spPr>
          <a:xfrm>
            <a:off x="6065520" y="1417320"/>
            <a:ext cx="2621280" cy="3017520"/>
          </a:xfrm>
          <a:prstGeom prst="roundRect">
            <a:avLst>
              <a:gd name="adj" fmla="val 2791"/>
            </a:avLst>
          </a:prstGeom>
          <a:solidFill>
            <a:schemeClr val="bg2"/>
          </a:solidFill>
          <a:ln w="12700">
            <a:solidFill>
              <a:schemeClr val="bg2">
                <a:alpha val="0"/>
              </a:schemeClr>
            </a:solidFill>
            <a:prstDash val="solid"/>
          </a:ln>
        </p:spPr>
      </p:sp>
      <p:sp>
        <p:nvSpPr>
          <p:cNvPr id="16" name="Shape 11"/>
          <p:cNvSpPr/>
          <p:nvPr/>
        </p:nvSpPr>
        <p:spPr>
          <a:xfrm>
            <a:off x="6248400" y="1581912"/>
            <a:ext cx="502920" cy="502920"/>
          </a:xfrm>
          <a:prstGeom prst="ellipse">
            <a:avLst/>
          </a:prstGeom>
          <a:solidFill>
            <a:schemeClr val="accent1"/>
          </a:solidFill>
          <a:ln w="12700">
            <a:solidFill>
              <a:schemeClr val="accent1">
                <a:alpha val="0"/>
              </a:schemeClr>
            </a:solidFill>
            <a:prstDash val="solid"/>
          </a:ln>
        </p:spPr>
      </p:sp>
      <p:pic>
        <p:nvPicPr>
          <p:cNvPr id="17" name="Image 2" descr="FaNetworkWired">    </p:cNvPr>
          <p:cNvPicPr>
            <a:picLocks noChangeAspect="1"/>
          </p:cNvPicPr>
          <p:nvPr/>
        </p:nvPicPr>
        <p:blipFill>
          <a:blip r:embed="rId3"/>
          <a:stretch>
            <a:fillRect/>
          </a:stretch>
        </p:blipFill>
        <p:spPr>
          <a:xfrm>
            <a:off x="6359042" y="1692554"/>
            <a:ext cx="281635" cy="281635"/>
          </a:xfrm>
          <a:prstGeom prst="rect">
            <a:avLst/>
          </a:prstGeom>
        </p:spPr>
      </p:pic>
      <p:sp>
        <p:nvSpPr>
          <p:cNvPr id="18" name="Text 12"/>
          <p:cNvSpPr txBox="1"/>
          <p:nvPr/>
        </p:nvSpPr>
        <p:spPr>
          <a:xfrm>
            <a:off x="6248400" y="2203704"/>
            <a:ext cx="2255520" cy="320040"/>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工具 / 网络型</a:t>
            </a:r>
            <a:endParaRPr lang="en-US" sz="1800" dirty="0"/>
          </a:p>
        </p:txBody>
      </p:sp>
      <p:sp>
        <p:nvSpPr>
          <p:cNvPr id="19" name="Text 13"/>
          <p:cNvSpPr txBox="1"/>
          <p:nvPr/>
        </p:nvSpPr>
        <p:spPr>
          <a:xfrm>
            <a:off x="6248400" y="2578608"/>
            <a:ext cx="2255520" cy="1746504"/>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支付网络、平台：价值取决于被使用的程度（网络效应）。</a:t>
            </a:r>
            <a:endParaRPr lang="en-US" sz="1500" dirty="0"/>
          </a:p>
        </p:txBody>
      </p:sp>
      <p:sp>
        <p:nvSpPr>
          <p:cNvPr id="20" name="Shape 14"/>
          <p:cNvSpPr/>
          <p:nvPr/>
        </p:nvSpPr>
        <p:spPr>
          <a:xfrm>
            <a:off x="457200" y="4709160"/>
            <a:ext cx="8229600" cy="1280160"/>
          </a:xfrm>
          <a:prstGeom prst="roundRect">
            <a:avLst>
              <a:gd name="adj" fmla="val 5714"/>
            </a:avLst>
          </a:prstGeom>
          <a:solidFill>
            <a:schemeClr val="accent1">
              <a:alpha val="12000"/>
            </a:schemeClr>
          </a:solidFill>
          <a:ln w="12700">
            <a:solidFill>
              <a:schemeClr val="accent1">
                <a:alpha val="0"/>
              </a:schemeClr>
            </a:solidFill>
            <a:prstDash val="solid"/>
          </a:ln>
        </p:spPr>
      </p:sp>
      <p:pic>
        <p:nvPicPr>
          <p:cNvPr id="21" name="Image 3" descr="key">    </p:cNvPr>
          <p:cNvPicPr>
            <a:picLocks noChangeAspect="1"/>
          </p:cNvPicPr>
          <p:nvPr/>
        </p:nvPicPr>
        <p:blipFill>
          <a:blip r:embed="rId4"/>
          <a:stretch>
            <a:fillRect/>
          </a:stretch>
        </p:blipFill>
        <p:spPr>
          <a:xfrm>
            <a:off x="640080" y="5157216"/>
            <a:ext cx="384048" cy="384048"/>
          </a:xfrm>
          <a:prstGeom prst="rect">
            <a:avLst/>
          </a:prstGeom>
        </p:spPr>
      </p:pic>
      <p:sp>
        <p:nvSpPr>
          <p:cNvPr id="22" name="Text 15"/>
          <p:cNvSpPr txBox="1"/>
          <p:nvPr/>
        </p:nvSpPr>
        <p:spPr>
          <a:xfrm>
            <a:off x="1188720" y="4782312"/>
            <a:ext cx="7315200" cy="113385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比特币今天主要是</a:t>
            </a:r>
            <a:pPr algn="l" indent="0" marL="0">
              <a:lnSpc>
                <a:spcPct val="105000"/>
              </a:lnSpc>
              <a:buNone/>
            </a:pPr>
            <a:r>
              <a:rPr lang="en-US" sz="1700" b="1" dirty="0">
                <a:solidFill>
                  <a:schemeClr val="tx1"/>
                </a:solidFill>
              </a:rPr>
              <a:t>“稀缺 + 共识”</a:t>
            </a:r>
            <a:pPr algn="l" indent="0" marL="0">
              <a:lnSpc>
                <a:spcPct val="105000"/>
              </a:lnSpc>
              <a:buNone/>
            </a:pPr>
            <a:r>
              <a:rPr lang="en-US" sz="1700" dirty="0">
                <a:solidFill>
                  <a:schemeClr val="tx1"/>
                </a:solidFill>
              </a:rPr>
              <a:t>型，叠加投机需求；作为支付工具的用途有限。稀缺性本身不够，</a:t>
            </a:r>
            <a:pPr algn="l" indent="0" marL="0">
              <a:lnSpc>
                <a:spcPct val="105000"/>
              </a:lnSpc>
              <a:buNone/>
            </a:pPr>
            <a:r>
              <a:rPr lang="en-US" sz="1700" b="1" dirty="0">
                <a:solidFill>
                  <a:schemeClr val="tx1"/>
                </a:solidFill>
              </a:rPr>
              <a:t>还要有需求</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怀疑派与支持者：各自怎么说？</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价值之问</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来源：Mark Carney（2018 年演讲）；Agustín Carstens（2018）；Warren Buffett（2018 年股东大会）；SEC；美国白宫</a:t>
            </a:r>
            <a:endParaRPr lang="en-US" sz="1000" dirty="0"/>
          </a:p>
        </p:txBody>
      </p:sp>
      <p:sp>
        <p:nvSpPr>
          <p:cNvPr id="6" name="Shape 3"/>
          <p:cNvSpPr/>
          <p:nvPr/>
        </p:nvSpPr>
        <p:spPr>
          <a:xfrm>
            <a:off x="457200" y="1417320"/>
            <a:ext cx="4937760" cy="1463040"/>
          </a:xfrm>
          <a:prstGeom prst="roundRect">
            <a:avLst>
              <a:gd name="adj" fmla="val 5000"/>
            </a:avLst>
          </a:prstGeom>
          <a:solidFill>
            <a:schemeClr val="bg2"/>
          </a:solidFill>
          <a:ln w="12700">
            <a:solidFill>
              <a:schemeClr val="bg2">
                <a:alpha val="0"/>
              </a:schemeClr>
            </a:solidFill>
            <a:prstDash val="solid"/>
          </a:ln>
        </p:spPr>
      </p:sp>
      <p:pic>
        <p:nvPicPr>
          <p:cNvPr id="7" name="Image 0" descr="马克·卡尼肖像">    </p:cNvPr>
          <p:cNvPicPr>
            <a:picLocks noChangeAspect="1"/>
          </p:cNvPicPr>
          <p:nvPr/>
        </p:nvPicPr>
        <p:blipFill>
          <a:blip r:embed="rId1"/>
          <a:stretch>
            <a:fillRect/>
          </a:stretch>
        </p:blipFill>
        <p:spPr>
          <a:xfrm>
            <a:off x="606669" y="1508760"/>
            <a:ext cx="981222" cy="1280160"/>
          </a:xfrm>
          <a:prstGeom prst="rect">
            <a:avLst/>
          </a:prstGeom>
        </p:spPr>
      </p:pic>
      <p:sp>
        <p:nvSpPr>
          <p:cNvPr id="8" name="Text 4"/>
          <p:cNvSpPr txBox="1"/>
          <p:nvPr/>
        </p:nvSpPr>
        <p:spPr>
          <a:xfrm>
            <a:off x="1783080" y="1463040"/>
            <a:ext cx="3520440" cy="1371600"/>
          </a:xfrm>
          <a:prstGeom prst="rect">
            <a:avLst/>
          </a:prstGeom>
          <a:noFill/>
          <a:ln/>
        </p:spPr>
        <p:txBody>
          <a:bodyPr wrap="square" lIns="0" tIns="0" rIns="0" bIns="0" rtlCol="0" anchor="ctr"/>
          <a:lstStyle/>
          <a:p>
            <a:pPr algn="l" indent="0" marL="0">
              <a:lnSpc>
                <a:spcPct val="105000"/>
              </a:lnSpc>
              <a:spcAft>
                <a:spcPts val="400"/>
              </a:spcAft>
              <a:buNone/>
            </a:pPr>
            <a:r>
              <a:rPr lang="en-US" sz="1400" dirty="0">
                <a:solidFill>
                  <a:schemeClr val="tx1"/>
                </a:solidFill>
              </a:rPr>
              <a:t>“典型的泡沫特征：‘新范式’式的自我辩护、零售投资者的狂热，以及依赖“更大的傻瓜”的价格预期。”</a:t>
            </a:r>
            <a:endParaRPr lang="en-US" sz="1300" dirty="0"/>
          </a:p>
          <a:p>
            <a:pPr algn="l" indent="0" marL="0">
              <a:lnSpc>
                <a:spcPct val="105000"/>
              </a:lnSpc>
              <a:buNone/>
            </a:pPr>
            <a:r>
              <a:rPr lang="en-US" sz="1200" dirty="0">
                <a:solidFill>
                  <a:schemeClr val="accent4"/>
                </a:solidFill>
              </a:rPr>
              <a:t>— 马克·卡尼，时任英格兰银行行长（2018）</a:t>
            </a:r>
            <a:endParaRPr lang="en-US" sz="1300" dirty="0"/>
          </a:p>
        </p:txBody>
      </p:sp>
      <p:sp>
        <p:nvSpPr>
          <p:cNvPr id="9" name="Shape 5"/>
          <p:cNvSpPr/>
          <p:nvPr/>
        </p:nvSpPr>
        <p:spPr>
          <a:xfrm>
            <a:off x="457200" y="3017520"/>
            <a:ext cx="4937760" cy="1463040"/>
          </a:xfrm>
          <a:prstGeom prst="roundRect">
            <a:avLst>
              <a:gd name="adj" fmla="val 5000"/>
            </a:avLst>
          </a:prstGeom>
          <a:solidFill>
            <a:schemeClr val="bg2"/>
          </a:solidFill>
          <a:ln w="12700">
            <a:solidFill>
              <a:schemeClr val="bg2">
                <a:alpha val="0"/>
              </a:schemeClr>
            </a:solidFill>
            <a:prstDash val="solid"/>
          </a:ln>
        </p:spPr>
      </p:sp>
      <p:pic>
        <p:nvPicPr>
          <p:cNvPr id="10" name="Image 1" descr="阿古斯丁·卡斯滕斯肖像">    </p:cNvPr>
          <p:cNvPicPr>
            <a:picLocks noChangeAspect="1"/>
          </p:cNvPicPr>
          <p:nvPr/>
        </p:nvPicPr>
        <p:blipFill>
          <a:blip r:embed="rId2"/>
          <a:stretch>
            <a:fillRect/>
          </a:stretch>
        </p:blipFill>
        <p:spPr>
          <a:xfrm>
            <a:off x="548640" y="3200400"/>
            <a:ext cx="1097280" cy="1097280"/>
          </a:xfrm>
          <a:prstGeom prst="rect">
            <a:avLst/>
          </a:prstGeom>
        </p:spPr>
      </p:pic>
      <p:sp>
        <p:nvSpPr>
          <p:cNvPr id="11" name="Text 6"/>
          <p:cNvSpPr txBox="1"/>
          <p:nvPr/>
        </p:nvSpPr>
        <p:spPr>
          <a:xfrm>
            <a:off x="1783080" y="3063240"/>
            <a:ext cx="3520440" cy="1371600"/>
          </a:xfrm>
          <a:prstGeom prst="rect">
            <a:avLst/>
          </a:prstGeom>
          <a:noFill/>
          <a:ln/>
        </p:spPr>
        <p:txBody>
          <a:bodyPr wrap="square" lIns="0" tIns="0" rIns="0" bIns="0" rtlCol="0" anchor="ctr"/>
          <a:lstStyle/>
          <a:p>
            <a:pPr algn="l" indent="0" marL="0">
              <a:lnSpc>
                <a:spcPct val="105000"/>
              </a:lnSpc>
              <a:spcAft>
                <a:spcPts val="400"/>
              </a:spcAft>
              <a:buNone/>
            </a:pPr>
            <a:r>
              <a:rPr lang="en-US" sz="1400" dirty="0">
                <a:solidFill>
                  <a:schemeClr val="tx1"/>
                </a:solidFill>
              </a:rPr>
              <a:t>“泡沫、庞氏骗局与环境灾难的结合体。”</a:t>
            </a:r>
            <a:endParaRPr lang="en-US" sz="1300" dirty="0"/>
          </a:p>
          <a:p>
            <a:pPr algn="l" indent="0" marL="0">
              <a:lnSpc>
                <a:spcPct val="105000"/>
              </a:lnSpc>
              <a:buNone/>
            </a:pPr>
            <a:r>
              <a:rPr lang="en-US" sz="1200" dirty="0">
                <a:solidFill>
                  <a:schemeClr val="accent4"/>
                </a:solidFill>
              </a:rPr>
              <a:t>— 阿古斯丁·卡斯滕斯，时任 BIS 总经理（2018）</a:t>
            </a:r>
            <a:endParaRPr lang="en-US" sz="1300" dirty="0"/>
          </a:p>
        </p:txBody>
      </p:sp>
      <p:sp>
        <p:nvSpPr>
          <p:cNvPr id="12" name="Shape 7"/>
          <p:cNvSpPr/>
          <p:nvPr/>
        </p:nvSpPr>
        <p:spPr>
          <a:xfrm>
            <a:off x="457200" y="4617720"/>
            <a:ext cx="4937760" cy="685800"/>
          </a:xfrm>
          <a:prstGeom prst="roundRect">
            <a:avLst>
              <a:gd name="adj" fmla="val 10667"/>
            </a:avLst>
          </a:prstGeom>
          <a:solidFill>
            <a:schemeClr val="bg2"/>
          </a:solidFill>
          <a:ln w="12700">
            <a:solidFill>
              <a:schemeClr val="bg2">
                <a:alpha val="0"/>
              </a:schemeClr>
            </a:solidFill>
            <a:prstDash val="solid"/>
          </a:ln>
        </p:spPr>
      </p:sp>
      <p:sp>
        <p:nvSpPr>
          <p:cNvPr id="13" name="Text 8"/>
          <p:cNvSpPr txBox="1"/>
          <p:nvPr/>
        </p:nvSpPr>
        <p:spPr>
          <a:xfrm>
            <a:off x="640080" y="4645152"/>
            <a:ext cx="4572000" cy="640080"/>
          </a:xfrm>
          <a:prstGeom prst="rect">
            <a:avLst/>
          </a:prstGeom>
          <a:noFill/>
          <a:ln/>
        </p:spPr>
        <p:txBody>
          <a:bodyPr wrap="square" lIns="0" tIns="0" rIns="0" bIns="0" rtlCol="0" anchor="ctr"/>
          <a:lstStyle/>
          <a:p>
            <a:pPr algn="l" indent="0" marL="0">
              <a:lnSpc>
                <a:spcPct val="105000"/>
              </a:lnSpc>
              <a:spcAft>
                <a:spcPts val="200"/>
              </a:spcAft>
              <a:buNone/>
            </a:pPr>
            <a:r>
              <a:rPr lang="en-US" sz="1400" dirty="0">
                <a:solidFill>
                  <a:schemeClr val="tx1"/>
                </a:solidFill>
              </a:rPr>
              <a:t>“大概是老鼠药的平方。”</a:t>
            </a:r>
            <a:endParaRPr lang="en-US" sz="1400" dirty="0"/>
          </a:p>
          <a:p>
            <a:pPr algn="l" indent="0" marL="0">
              <a:lnSpc>
                <a:spcPct val="105000"/>
              </a:lnSpc>
              <a:buNone/>
            </a:pPr>
            <a:r>
              <a:rPr lang="en-US" sz="1200" dirty="0">
                <a:solidFill>
                  <a:schemeClr val="accent4"/>
                </a:solidFill>
              </a:rPr>
              <a:t>— 沃伦·巴菲特（2018）</a:t>
            </a:r>
            <a:endParaRPr lang="en-US" sz="1400" dirty="0"/>
          </a:p>
        </p:txBody>
      </p:sp>
      <p:sp>
        <p:nvSpPr>
          <p:cNvPr id="14" name="Shape 9"/>
          <p:cNvSpPr/>
          <p:nvPr/>
        </p:nvSpPr>
        <p:spPr>
          <a:xfrm>
            <a:off x="5577840" y="1417320"/>
            <a:ext cx="3108960" cy="3886200"/>
          </a:xfrm>
          <a:prstGeom prst="roundRect">
            <a:avLst>
              <a:gd name="adj" fmla="val 2353"/>
            </a:avLst>
          </a:prstGeom>
          <a:solidFill>
            <a:schemeClr val="bg2"/>
          </a:solidFill>
          <a:ln w="12700">
            <a:solidFill>
              <a:schemeClr val="bg2">
                <a:alpha val="0"/>
              </a:schemeClr>
            </a:solidFill>
            <a:prstDash val="solid"/>
          </a:ln>
        </p:spPr>
      </p:sp>
      <p:sp>
        <p:nvSpPr>
          <p:cNvPr id="15" name="Shape 10"/>
          <p:cNvSpPr/>
          <p:nvPr/>
        </p:nvSpPr>
        <p:spPr>
          <a:xfrm>
            <a:off x="5760720" y="1581912"/>
            <a:ext cx="502920" cy="502920"/>
          </a:xfrm>
          <a:prstGeom prst="ellipse">
            <a:avLst/>
          </a:prstGeom>
          <a:solidFill>
            <a:schemeClr val="accent3"/>
          </a:solidFill>
          <a:ln w="12700">
            <a:solidFill>
              <a:schemeClr val="accent3">
                <a:alpha val="0"/>
              </a:schemeClr>
            </a:solidFill>
            <a:prstDash val="solid"/>
          </a:ln>
        </p:spPr>
      </p:sp>
      <p:pic>
        <p:nvPicPr>
          <p:cNvPr id="16" name="Image 2" descr="FaThumbsUp">    </p:cNvPr>
          <p:cNvPicPr>
            <a:picLocks noChangeAspect="1"/>
          </p:cNvPicPr>
          <p:nvPr/>
        </p:nvPicPr>
        <p:blipFill>
          <a:blip r:embed="rId3"/>
          <a:stretch>
            <a:fillRect/>
          </a:stretch>
        </p:blipFill>
        <p:spPr>
          <a:xfrm>
            <a:off x="5871362" y="1692554"/>
            <a:ext cx="281635" cy="281635"/>
          </a:xfrm>
          <a:prstGeom prst="rect">
            <a:avLst/>
          </a:prstGeom>
        </p:spPr>
      </p:pic>
      <p:sp>
        <p:nvSpPr>
          <p:cNvPr id="17" name="Text 11"/>
          <p:cNvSpPr txBox="1"/>
          <p:nvPr/>
        </p:nvSpPr>
        <p:spPr>
          <a:xfrm>
            <a:off x="5760720" y="2203704"/>
            <a:ext cx="274320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支持者与新变化</a:t>
            </a:r>
            <a:endParaRPr lang="en-US" sz="1600" dirty="0"/>
          </a:p>
        </p:txBody>
      </p:sp>
      <p:sp>
        <p:nvSpPr>
          <p:cNvPr id="18" name="Text 12"/>
          <p:cNvSpPr txBox="1"/>
          <p:nvPr/>
        </p:nvSpPr>
        <p:spPr>
          <a:xfrm>
            <a:off x="5760720" y="2545080"/>
            <a:ext cx="2743200" cy="2648712"/>
          </a:xfrm>
          <a:prstGeom prst="rect">
            <a:avLst/>
          </a:prstGeom>
          <a:noFill/>
          <a:ln/>
        </p:spPr>
        <p:txBody>
          <a:bodyPr wrap="square" lIns="0" tIns="0" rIns="0" bIns="0" rtlCol="0" anchor="t"/>
          <a:lstStyle/>
          <a:p>
            <a:pPr algn="l" indent="0" marL="0">
              <a:lnSpc>
                <a:spcPct val="105000"/>
              </a:lnSpc>
              <a:spcAft>
                <a:spcPts val="400"/>
              </a:spcAft>
              <a:buNone/>
            </a:pPr>
            <a:r>
              <a:rPr lang="en-US" sz="1400" dirty="0">
                <a:solidFill>
                  <a:schemeClr val="accent4"/>
                </a:solidFill>
              </a:rPr>
              <a:t>稀缺、不依赖任何国家的“数字黄金”</a:t>
            </a:r>
            <a:endParaRPr lang="en-US" sz="1400" dirty="0"/>
          </a:p>
          <a:p>
            <a:pPr algn="l" indent="0" marL="0">
              <a:lnSpc>
                <a:spcPct val="105000"/>
              </a:lnSpc>
              <a:spcAft>
                <a:spcPts val="400"/>
              </a:spcAft>
              <a:buNone/>
            </a:pPr>
            <a:r>
              <a:rPr lang="en-US" sz="1400" dirty="0">
                <a:solidFill>
                  <a:schemeClr val="accent4"/>
                </a:solidFill>
              </a:rPr>
              <a:t>2024：现货 ETF 获批</a:t>
            </a:r>
            <a:endParaRPr lang="en-US" sz="1400" dirty="0"/>
          </a:p>
          <a:p>
            <a:pPr algn="l" indent="0" marL="0">
              <a:lnSpc>
                <a:spcPct val="105000"/>
              </a:lnSpc>
              <a:buNone/>
            </a:pPr>
            <a:r>
              <a:rPr lang="en-US" sz="1400" dirty="0">
                <a:solidFill>
                  <a:schemeClr val="accent4"/>
                </a:solidFill>
              </a:rPr>
              <a:t>2025：美国战略比特币储备</a:t>
            </a:r>
            <a:endParaRPr lang="en-US" sz="1400" dirty="0"/>
          </a:p>
        </p:txBody>
      </p:sp>
      <p:sp>
        <p:nvSpPr>
          <p:cNvPr id="19" name="Shape 13"/>
          <p:cNvSpPr/>
          <p:nvPr/>
        </p:nvSpPr>
        <p:spPr>
          <a:xfrm>
            <a:off x="457200" y="5440680"/>
            <a:ext cx="8229600" cy="685800"/>
          </a:xfrm>
          <a:prstGeom prst="roundRect">
            <a:avLst>
              <a:gd name="adj" fmla="val 10667"/>
            </a:avLst>
          </a:prstGeom>
          <a:solidFill>
            <a:schemeClr val="accent1">
              <a:alpha val="12000"/>
            </a:schemeClr>
          </a:solidFill>
          <a:ln w="12700">
            <a:solidFill>
              <a:schemeClr val="accent1">
                <a:alpha val="0"/>
              </a:schemeClr>
            </a:solidFill>
            <a:prstDash val="solid"/>
          </a:ln>
        </p:spPr>
      </p:sp>
      <p:pic>
        <p:nvPicPr>
          <p:cNvPr id="20" name="Image 3" descr="key">    </p:cNvPr>
          <p:cNvPicPr>
            <a:picLocks noChangeAspect="1"/>
          </p:cNvPicPr>
          <p:nvPr/>
        </p:nvPicPr>
        <p:blipFill>
          <a:blip r:embed="rId4"/>
          <a:stretch>
            <a:fillRect/>
          </a:stretch>
        </p:blipFill>
        <p:spPr>
          <a:xfrm>
            <a:off x="640080" y="5591556"/>
            <a:ext cx="384048" cy="384048"/>
          </a:xfrm>
          <a:prstGeom prst="rect">
            <a:avLst/>
          </a:prstGeom>
        </p:spPr>
      </p:pic>
      <p:sp>
        <p:nvSpPr>
          <p:cNvPr id="21" name="Text 14"/>
          <p:cNvSpPr txBox="1"/>
          <p:nvPr/>
        </p:nvSpPr>
        <p:spPr>
          <a:xfrm>
            <a:off x="1188720" y="5513832"/>
            <a:ext cx="7315200" cy="539496"/>
          </a:xfrm>
          <a:prstGeom prst="rect">
            <a:avLst/>
          </a:prstGeom>
          <a:noFill/>
          <a:ln/>
        </p:spPr>
        <p:txBody>
          <a:bodyPr wrap="square" lIns="0" tIns="0" rIns="0" bIns="0" rtlCol="0" anchor="ctr"/>
          <a:lstStyle/>
          <a:p>
            <a:pPr algn="l" indent="0" marL="0">
              <a:lnSpc>
                <a:spcPct val="105000"/>
              </a:lnSpc>
              <a:buNone/>
            </a:pPr>
            <a:r>
              <a:rPr lang="en-US" sz="1300" dirty="0">
                <a:solidFill>
                  <a:schemeClr val="tx1"/>
                </a:solidFill>
              </a:rPr>
              <a:t>这些话是 </a:t>
            </a:r>
            <a:pPr algn="l" indent="0" marL="0">
              <a:lnSpc>
                <a:spcPct val="105000"/>
              </a:lnSpc>
              <a:buNone/>
            </a:pPr>
            <a:r>
              <a:rPr lang="en-US" sz="1300" b="1" dirty="0">
                <a:solidFill>
                  <a:schemeClr val="tx1"/>
                </a:solidFill>
              </a:rPr>
              <a:t>2018 年</a:t>
            </a:r>
            <a:pPr algn="l" indent="0" marL="0">
              <a:lnSpc>
                <a:spcPct val="105000"/>
              </a:lnSpc>
              <a:buNone/>
            </a:pPr>
            <a:r>
              <a:rPr lang="en-US" sz="1300" dirty="0">
                <a:solidFill>
                  <a:schemeClr val="tx1"/>
                </a:solidFill>
              </a:rPr>
              <a:t>说的；卡尼现为加拿大总理，卡斯滕斯已于 2025-06 卸任。分清</a:t>
            </a:r>
            <a:pPr algn="l" indent="0" marL="0">
              <a:lnSpc>
                <a:spcPct val="105000"/>
              </a:lnSpc>
              <a:buNone/>
            </a:pPr>
            <a:r>
              <a:rPr lang="en-US" sz="1300" b="1" dirty="0">
                <a:solidFill>
                  <a:schemeClr val="tx1"/>
                </a:solidFill>
              </a:rPr>
              <a:t>事实</a:t>
            </a:r>
            <a:pPr algn="l" indent="0" marL="0">
              <a:lnSpc>
                <a:spcPct val="105000"/>
              </a:lnSpc>
              <a:buNone/>
            </a:pPr>
            <a:r>
              <a:rPr lang="en-US" sz="1300" dirty="0">
                <a:solidFill>
                  <a:schemeClr val="tx1"/>
                </a:solidFill>
              </a:rPr>
              <a:t>与</a:t>
            </a:r>
            <a:pPr algn="l" indent="0" marL="0">
              <a:lnSpc>
                <a:spcPct val="105000"/>
              </a:lnSpc>
              <a:buNone/>
            </a:pPr>
            <a:r>
              <a:rPr lang="en-US" sz="1300" b="1" dirty="0">
                <a:solidFill>
                  <a:schemeClr val="tx1"/>
                </a:solidFill>
              </a:rPr>
              <a:t>立场</a:t>
            </a:r>
            <a:pPr algn="l" indent="0" marL="0">
              <a:lnSpc>
                <a:spcPct val="105000"/>
              </a:lnSpc>
              <a:buNone/>
            </a:pP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“挖矿成本是价格底线”？恰恰相反</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价值之问</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来源：2018 年行业研究估算（引自 Prasad, 2021）；比特币价格数据</a:t>
            </a:r>
            <a:endParaRPr lang="en-US" sz="1000" dirty="0"/>
          </a:p>
        </p:txBody>
      </p:sp>
      <p:sp>
        <p:nvSpPr>
          <p:cNvPr id="6" name="Shape 3"/>
          <p:cNvSpPr/>
          <p:nvPr/>
        </p:nvSpPr>
        <p:spPr>
          <a:xfrm>
            <a:off x="457200" y="1463040"/>
            <a:ext cx="1441094" cy="1005840"/>
          </a:xfrm>
          <a:prstGeom prst="roundRect">
            <a:avLst>
              <a:gd name="adj" fmla="val 7273"/>
            </a:avLst>
          </a:prstGeom>
          <a:solidFill>
            <a:schemeClr val="bg2"/>
          </a:solidFill>
          <a:ln w="12700">
            <a:solidFill>
              <a:schemeClr val="bg2">
                <a:alpha val="0"/>
              </a:schemeClr>
            </a:solidFill>
            <a:prstDash val="solid"/>
          </a:ln>
        </p:spPr>
      </p:sp>
      <p:sp>
        <p:nvSpPr>
          <p:cNvPr id="7" name="Text 4"/>
          <p:cNvSpPr txBox="1"/>
          <p:nvPr/>
        </p:nvSpPr>
        <p:spPr>
          <a:xfrm>
            <a:off x="530352" y="1517904"/>
            <a:ext cx="1294790" cy="896112"/>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价格上涨</a:t>
            </a:r>
            <a:endParaRPr lang="en-US" sz="1200" dirty="0"/>
          </a:p>
        </p:txBody>
      </p:sp>
      <p:sp>
        <p:nvSpPr>
          <p:cNvPr id="8" name="Shape 5"/>
          <p:cNvSpPr/>
          <p:nvPr/>
        </p:nvSpPr>
        <p:spPr>
          <a:xfrm>
            <a:off x="1934870" y="1865376"/>
            <a:ext cx="182880" cy="201168"/>
          </a:xfrm>
          <a:prstGeom prst="rightArrow">
            <a:avLst/>
          </a:prstGeom>
          <a:solidFill>
            <a:schemeClr val="accent1"/>
          </a:solidFill>
          <a:ln w="12700">
            <a:solidFill>
              <a:schemeClr val="accent1">
                <a:alpha val="0"/>
              </a:schemeClr>
            </a:solidFill>
            <a:prstDash val="solid"/>
          </a:ln>
        </p:spPr>
      </p:sp>
      <p:sp>
        <p:nvSpPr>
          <p:cNvPr id="9" name="Shape 6"/>
          <p:cNvSpPr/>
          <p:nvPr/>
        </p:nvSpPr>
        <p:spPr>
          <a:xfrm>
            <a:off x="2154326" y="1463040"/>
            <a:ext cx="1441094" cy="1005840"/>
          </a:xfrm>
          <a:prstGeom prst="roundRect">
            <a:avLst>
              <a:gd name="adj" fmla="val 7273"/>
            </a:avLst>
          </a:prstGeom>
          <a:solidFill>
            <a:schemeClr val="bg2"/>
          </a:solidFill>
          <a:ln w="12700">
            <a:solidFill>
              <a:schemeClr val="bg2">
                <a:alpha val="0"/>
              </a:schemeClr>
            </a:solidFill>
            <a:prstDash val="solid"/>
          </a:ln>
        </p:spPr>
      </p:sp>
      <p:sp>
        <p:nvSpPr>
          <p:cNvPr id="10" name="Text 7"/>
          <p:cNvSpPr txBox="1"/>
          <p:nvPr/>
        </p:nvSpPr>
        <p:spPr>
          <a:xfrm>
            <a:off x="2227478" y="1517904"/>
            <a:ext cx="1294790" cy="896112"/>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利润上升</a:t>
            </a:r>
            <a:endParaRPr lang="en-US" sz="1200" dirty="0"/>
          </a:p>
        </p:txBody>
      </p:sp>
      <p:sp>
        <p:nvSpPr>
          <p:cNvPr id="11" name="Shape 8"/>
          <p:cNvSpPr/>
          <p:nvPr/>
        </p:nvSpPr>
        <p:spPr>
          <a:xfrm>
            <a:off x="3631997" y="1865376"/>
            <a:ext cx="182880" cy="201168"/>
          </a:xfrm>
          <a:prstGeom prst="rightArrow">
            <a:avLst/>
          </a:prstGeom>
          <a:solidFill>
            <a:schemeClr val="accent1"/>
          </a:solidFill>
          <a:ln w="12700">
            <a:solidFill>
              <a:schemeClr val="accent1">
                <a:alpha val="0"/>
              </a:schemeClr>
            </a:solidFill>
            <a:prstDash val="solid"/>
          </a:ln>
        </p:spPr>
      </p:sp>
      <p:sp>
        <p:nvSpPr>
          <p:cNvPr id="12" name="Shape 9"/>
          <p:cNvSpPr/>
          <p:nvPr/>
        </p:nvSpPr>
        <p:spPr>
          <a:xfrm>
            <a:off x="3851453" y="1463040"/>
            <a:ext cx="1441094" cy="1005840"/>
          </a:xfrm>
          <a:prstGeom prst="roundRect">
            <a:avLst>
              <a:gd name="adj" fmla="val 7273"/>
            </a:avLst>
          </a:prstGeom>
          <a:solidFill>
            <a:schemeClr val="bg2"/>
          </a:solidFill>
          <a:ln w="12700">
            <a:solidFill>
              <a:schemeClr val="bg2">
                <a:alpha val="0"/>
              </a:schemeClr>
            </a:solidFill>
            <a:prstDash val="solid"/>
          </a:ln>
        </p:spPr>
      </p:sp>
      <p:sp>
        <p:nvSpPr>
          <p:cNvPr id="13" name="Text 10"/>
          <p:cNvSpPr txBox="1"/>
          <p:nvPr/>
        </p:nvSpPr>
        <p:spPr>
          <a:xfrm>
            <a:off x="3924605" y="1517904"/>
            <a:ext cx="1294790" cy="896112"/>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更多矿机入场</a:t>
            </a:r>
            <a:endParaRPr lang="en-US" sz="1200" dirty="0"/>
          </a:p>
        </p:txBody>
      </p:sp>
      <p:sp>
        <p:nvSpPr>
          <p:cNvPr id="14" name="Shape 11"/>
          <p:cNvSpPr/>
          <p:nvPr/>
        </p:nvSpPr>
        <p:spPr>
          <a:xfrm>
            <a:off x="5329123" y="1865376"/>
            <a:ext cx="182880" cy="201168"/>
          </a:xfrm>
          <a:prstGeom prst="rightArrow">
            <a:avLst/>
          </a:prstGeom>
          <a:solidFill>
            <a:schemeClr val="accent1"/>
          </a:solidFill>
          <a:ln w="12700">
            <a:solidFill>
              <a:schemeClr val="accent1">
                <a:alpha val="0"/>
              </a:schemeClr>
            </a:solidFill>
            <a:prstDash val="solid"/>
          </a:ln>
        </p:spPr>
      </p:sp>
      <p:sp>
        <p:nvSpPr>
          <p:cNvPr id="15" name="Shape 12"/>
          <p:cNvSpPr/>
          <p:nvPr/>
        </p:nvSpPr>
        <p:spPr>
          <a:xfrm>
            <a:off x="5548579" y="1463040"/>
            <a:ext cx="1441094" cy="1005840"/>
          </a:xfrm>
          <a:prstGeom prst="roundRect">
            <a:avLst>
              <a:gd name="adj" fmla="val 7273"/>
            </a:avLst>
          </a:prstGeom>
          <a:solidFill>
            <a:schemeClr val="bg2"/>
          </a:solidFill>
          <a:ln w="12700">
            <a:solidFill>
              <a:schemeClr val="bg2">
                <a:alpha val="0"/>
              </a:schemeClr>
            </a:solidFill>
            <a:prstDash val="solid"/>
          </a:ln>
        </p:spPr>
      </p:sp>
      <p:sp>
        <p:nvSpPr>
          <p:cNvPr id="16" name="Text 13"/>
          <p:cNvSpPr txBox="1"/>
          <p:nvPr/>
        </p:nvSpPr>
        <p:spPr>
          <a:xfrm>
            <a:off x="5621731" y="1517904"/>
            <a:ext cx="1294790" cy="896112"/>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算力↑ 难度↑</a:t>
            </a:r>
            <a:endParaRPr lang="en-US" sz="1200" dirty="0"/>
          </a:p>
        </p:txBody>
      </p:sp>
      <p:sp>
        <p:nvSpPr>
          <p:cNvPr id="17" name="Shape 14"/>
          <p:cNvSpPr/>
          <p:nvPr/>
        </p:nvSpPr>
        <p:spPr>
          <a:xfrm>
            <a:off x="7026250" y="1865376"/>
            <a:ext cx="182880" cy="201168"/>
          </a:xfrm>
          <a:prstGeom prst="rightArrow">
            <a:avLst/>
          </a:prstGeom>
          <a:solidFill>
            <a:schemeClr val="accent1"/>
          </a:solidFill>
          <a:ln w="12700">
            <a:solidFill>
              <a:schemeClr val="accent1">
                <a:alpha val="0"/>
              </a:schemeClr>
            </a:solidFill>
            <a:prstDash val="solid"/>
          </a:ln>
        </p:spPr>
      </p:sp>
      <p:sp>
        <p:nvSpPr>
          <p:cNvPr id="18" name="Shape 15"/>
          <p:cNvSpPr/>
          <p:nvPr/>
        </p:nvSpPr>
        <p:spPr>
          <a:xfrm>
            <a:off x="7245706" y="1463040"/>
            <a:ext cx="1441094" cy="1005840"/>
          </a:xfrm>
          <a:prstGeom prst="roundRect">
            <a:avLst>
              <a:gd name="adj" fmla="val 7273"/>
            </a:avLst>
          </a:prstGeom>
          <a:solidFill>
            <a:schemeClr val="accent1"/>
          </a:solidFill>
          <a:ln w="12700">
            <a:solidFill>
              <a:schemeClr val="accent1">
                <a:alpha val="0"/>
              </a:schemeClr>
            </a:solidFill>
            <a:prstDash val="solid"/>
          </a:ln>
        </p:spPr>
      </p:sp>
      <p:sp>
        <p:nvSpPr>
          <p:cNvPr id="19" name="Text 16"/>
          <p:cNvSpPr txBox="1"/>
          <p:nvPr/>
        </p:nvSpPr>
        <p:spPr>
          <a:xfrm>
            <a:off x="7318858" y="1517904"/>
            <a:ext cx="1294790" cy="896112"/>
          </a:xfrm>
          <a:prstGeom prst="rect">
            <a:avLst/>
          </a:prstGeom>
          <a:noFill/>
          <a:ln/>
        </p:spPr>
        <p:txBody>
          <a:bodyPr wrap="square" lIns="0" tIns="0" rIns="0" bIns="0" rtlCol="0" anchor="ctr"/>
          <a:lstStyle/>
          <a:p>
            <a:pPr algn="ctr" indent="0" marL="0">
              <a:lnSpc>
                <a:spcPct val="105000"/>
              </a:lnSpc>
              <a:buNone/>
            </a:pPr>
            <a:r>
              <a:rPr lang="en-US" sz="1400" b="1" dirty="0">
                <a:solidFill>
                  <a:schemeClr val="tx1"/>
                </a:solidFill>
              </a:rPr>
              <a:t>单枚成本上升</a:t>
            </a:r>
            <a:endParaRPr lang="en-US" sz="1200" dirty="0"/>
          </a:p>
        </p:txBody>
      </p:sp>
      <p:sp>
        <p:nvSpPr>
          <p:cNvPr id="20" name="Shape 17"/>
          <p:cNvSpPr/>
          <p:nvPr/>
        </p:nvSpPr>
        <p:spPr>
          <a:xfrm flipH="1">
            <a:off x="1188720" y="2606040"/>
            <a:ext cx="6766560" cy="0"/>
          </a:xfrm>
          <a:prstGeom prst="line">
            <a:avLst/>
          </a:prstGeom>
          <a:noFill/>
          <a:ln w="25400">
            <a:solidFill>
              <a:schemeClr val="accent2"/>
            </a:solidFill>
            <a:prstDash val="dash"/>
            <a:tailEnd type="triangle"/>
          </a:ln>
        </p:spPr>
      </p:sp>
      <p:sp>
        <p:nvSpPr>
          <p:cNvPr id="21" name="Text 18"/>
          <p:cNvSpPr txBox="1"/>
          <p:nvPr/>
        </p:nvSpPr>
        <p:spPr>
          <a:xfrm>
            <a:off x="2286000" y="2651760"/>
            <a:ext cx="5029200" cy="320040"/>
          </a:xfrm>
          <a:prstGeom prst="rect">
            <a:avLst/>
          </a:prstGeom>
          <a:noFill/>
          <a:ln/>
        </p:spPr>
        <p:txBody>
          <a:bodyPr wrap="square" lIns="0" tIns="0" rIns="0" bIns="0" rtlCol="0" anchor="ctr"/>
          <a:lstStyle/>
          <a:p>
            <a:pPr algn="ctr" indent="0" marL="0">
              <a:lnSpc>
                <a:spcPct val="105000"/>
              </a:lnSpc>
              <a:buNone/>
            </a:pPr>
            <a:r>
              <a:rPr lang="en-US" sz="1400" b="1" dirty="0">
                <a:solidFill>
                  <a:schemeClr val="accent2"/>
                </a:solidFill>
              </a:rPr>
              <a:t>利润被竞争吃掉：成本追上价格</a:t>
            </a:r>
            <a:endParaRPr lang="en-US" sz="1400" dirty="0"/>
          </a:p>
        </p:txBody>
      </p:sp>
      <p:sp>
        <p:nvSpPr>
          <p:cNvPr id="22" name="Shape 19"/>
          <p:cNvSpPr/>
          <p:nvPr/>
        </p:nvSpPr>
        <p:spPr>
          <a:xfrm>
            <a:off x="457200" y="3200400"/>
            <a:ext cx="4023360" cy="2148840"/>
          </a:xfrm>
          <a:prstGeom prst="roundRect">
            <a:avLst>
              <a:gd name="adj" fmla="val 3404"/>
            </a:avLst>
          </a:prstGeom>
          <a:solidFill>
            <a:schemeClr val="bg2"/>
          </a:solidFill>
          <a:ln w="12700">
            <a:solidFill>
              <a:schemeClr val="bg2">
                <a:alpha val="0"/>
              </a:schemeClr>
            </a:solidFill>
            <a:prstDash val="solid"/>
          </a:ln>
        </p:spPr>
      </p:sp>
      <p:sp>
        <p:nvSpPr>
          <p:cNvPr id="23" name="Shape 20"/>
          <p:cNvSpPr/>
          <p:nvPr/>
        </p:nvSpPr>
        <p:spPr>
          <a:xfrm>
            <a:off x="640080" y="3364992"/>
            <a:ext cx="502920" cy="502920"/>
          </a:xfrm>
          <a:prstGeom prst="ellipse">
            <a:avLst/>
          </a:prstGeom>
          <a:solidFill>
            <a:schemeClr val="accent1"/>
          </a:solidFill>
          <a:ln w="12700">
            <a:solidFill>
              <a:schemeClr val="accent1">
                <a:alpha val="0"/>
              </a:schemeClr>
            </a:solidFill>
            <a:prstDash val="solid"/>
          </a:ln>
        </p:spPr>
      </p:sp>
      <p:pic>
        <p:nvPicPr>
          <p:cNvPr id="24" name="Image 0" descr="FaCalculator">    </p:cNvPr>
          <p:cNvPicPr>
            <a:picLocks noChangeAspect="1"/>
          </p:cNvPicPr>
          <p:nvPr/>
        </p:nvPicPr>
        <p:blipFill>
          <a:blip r:embed="rId1"/>
          <a:stretch>
            <a:fillRect/>
          </a:stretch>
        </p:blipFill>
        <p:spPr>
          <a:xfrm>
            <a:off x="750722" y="3475634"/>
            <a:ext cx="281635" cy="281635"/>
          </a:xfrm>
          <a:prstGeom prst="rect">
            <a:avLst/>
          </a:prstGeom>
        </p:spPr>
      </p:pic>
      <p:sp>
        <p:nvSpPr>
          <p:cNvPr id="25" name="Text 21"/>
          <p:cNvSpPr txBox="1"/>
          <p:nvPr/>
        </p:nvSpPr>
        <p:spPr>
          <a:xfrm>
            <a:off x="640080" y="398678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2018 年的估算</a:t>
            </a:r>
            <a:endParaRPr lang="en-US" sz="1700" dirty="0"/>
          </a:p>
        </p:txBody>
      </p:sp>
      <p:sp>
        <p:nvSpPr>
          <p:cNvPr id="26" name="Text 22"/>
          <p:cNvSpPr txBox="1"/>
          <p:nvPr/>
        </p:nvSpPr>
        <p:spPr>
          <a:xfrm>
            <a:off x="640080" y="4344924"/>
            <a:ext cx="3657600" cy="89458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美国电力成本约 4,800 美元/枚；综合成本约 8,000 美元/枚。</a:t>
            </a:r>
            <a:endParaRPr lang="en-US" sz="1400" dirty="0"/>
          </a:p>
        </p:txBody>
      </p:sp>
      <p:sp>
        <p:nvSpPr>
          <p:cNvPr id="27" name="Shape 23"/>
          <p:cNvSpPr/>
          <p:nvPr/>
        </p:nvSpPr>
        <p:spPr>
          <a:xfrm>
            <a:off x="4663440" y="3200400"/>
            <a:ext cx="4023360" cy="2148840"/>
          </a:xfrm>
          <a:prstGeom prst="roundRect">
            <a:avLst>
              <a:gd name="adj" fmla="val 3404"/>
            </a:avLst>
          </a:prstGeom>
          <a:solidFill>
            <a:schemeClr val="bg2"/>
          </a:solidFill>
          <a:ln w="12700">
            <a:solidFill>
              <a:schemeClr val="bg2">
                <a:alpha val="0"/>
              </a:schemeClr>
            </a:solidFill>
            <a:prstDash val="solid"/>
          </a:ln>
        </p:spPr>
      </p:sp>
      <p:sp>
        <p:nvSpPr>
          <p:cNvPr id="28" name="Shape 24"/>
          <p:cNvSpPr/>
          <p:nvPr/>
        </p:nvSpPr>
        <p:spPr>
          <a:xfrm>
            <a:off x="4846320" y="3364992"/>
            <a:ext cx="502920" cy="502920"/>
          </a:xfrm>
          <a:prstGeom prst="ellipse">
            <a:avLst/>
          </a:prstGeom>
          <a:solidFill>
            <a:schemeClr val="accent1"/>
          </a:solidFill>
          <a:ln w="12700">
            <a:solidFill>
              <a:schemeClr val="accent1">
                <a:alpha val="0"/>
              </a:schemeClr>
            </a:solidFill>
            <a:prstDash val="solid"/>
          </a:ln>
        </p:spPr>
      </p:sp>
      <p:pic>
        <p:nvPicPr>
          <p:cNvPr id="29" name="Image 1" descr="FaChartLine">    </p:cNvPr>
          <p:cNvPicPr>
            <a:picLocks noChangeAspect="1"/>
          </p:cNvPicPr>
          <p:nvPr/>
        </p:nvPicPr>
        <p:blipFill>
          <a:blip r:embed="rId2"/>
          <a:stretch>
            <a:fillRect/>
          </a:stretch>
        </p:blipFill>
        <p:spPr>
          <a:xfrm>
            <a:off x="4956962" y="3475634"/>
            <a:ext cx="281635" cy="281635"/>
          </a:xfrm>
          <a:prstGeom prst="rect">
            <a:avLst/>
          </a:prstGeom>
        </p:spPr>
      </p:pic>
      <p:sp>
        <p:nvSpPr>
          <p:cNvPr id="30" name="Text 25"/>
          <p:cNvSpPr txBox="1"/>
          <p:nvPr/>
        </p:nvSpPr>
        <p:spPr>
          <a:xfrm>
            <a:off x="4846320" y="3986784"/>
            <a:ext cx="365760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2018-12 的现实</a:t>
            </a:r>
            <a:endParaRPr lang="en-US" sz="1700" dirty="0"/>
          </a:p>
        </p:txBody>
      </p:sp>
      <p:sp>
        <p:nvSpPr>
          <p:cNvPr id="31" name="Text 26"/>
          <p:cNvSpPr txBox="1"/>
          <p:nvPr/>
        </p:nvSpPr>
        <p:spPr>
          <a:xfrm>
            <a:off x="4846320" y="4344924"/>
            <a:ext cx="3657600" cy="894588"/>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价格跌到约 3,200 美元，低于估算成本——并没有“被托住”。</a:t>
            </a:r>
            <a:endParaRPr lang="en-US" sz="1400" dirty="0"/>
          </a:p>
        </p:txBody>
      </p:sp>
      <p:sp>
        <p:nvSpPr>
          <p:cNvPr id="32" name="Shape 27"/>
          <p:cNvSpPr/>
          <p:nvPr/>
        </p:nvSpPr>
        <p:spPr>
          <a:xfrm>
            <a:off x="457200" y="548640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33" name="Image 2" descr="key">    </p:cNvPr>
          <p:cNvPicPr>
            <a:picLocks noChangeAspect="1"/>
          </p:cNvPicPr>
          <p:nvPr/>
        </p:nvPicPr>
        <p:blipFill>
          <a:blip r:embed="rId3"/>
          <a:stretch>
            <a:fillRect/>
          </a:stretch>
        </p:blipFill>
        <p:spPr>
          <a:xfrm>
            <a:off x="640080" y="5614416"/>
            <a:ext cx="384048" cy="384048"/>
          </a:xfrm>
          <a:prstGeom prst="rect">
            <a:avLst/>
          </a:prstGeom>
        </p:spPr>
      </p:pic>
      <p:sp>
        <p:nvSpPr>
          <p:cNvPr id="34" name="Text 28"/>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是</a:t>
            </a:r>
            <a:pPr algn="l" indent="0" marL="0">
              <a:lnSpc>
                <a:spcPct val="105000"/>
              </a:lnSpc>
              <a:buNone/>
            </a:pPr>
            <a:r>
              <a:rPr lang="en-US" sz="1600" b="1" dirty="0">
                <a:solidFill>
                  <a:schemeClr val="tx1"/>
                </a:solidFill>
              </a:rPr>
              <a:t>价格决定成本</a:t>
            </a:r>
            <a:pPr algn="l" indent="0" marL="0">
              <a:lnSpc>
                <a:spcPct val="105000"/>
              </a:lnSpc>
              <a:buNone/>
            </a:pPr>
            <a:r>
              <a:rPr lang="en-US" sz="1600" dirty="0">
                <a:solidFill>
                  <a:schemeClr val="tx1"/>
                </a:solidFill>
              </a:rPr>
              <a:t>，而不是成本托住价格；资源消耗不会自动创造需求。</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S2F 模型的兴衰：一个关于“伪回归”的教训</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价值之问</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来源：图：Bitbo 的 S2F 页面截图（原课件，2025-10）；PlanB (2019)；Buterin 评论（2022）；Granger &amp; Newbold (1974)</a:t>
            </a:r>
            <a:endParaRPr lang="en-US" sz="1000" dirty="0"/>
          </a:p>
        </p:txBody>
      </p:sp>
      <p:sp>
        <p:nvSpPr>
          <p:cNvPr id="6" name="Shape 3"/>
          <p:cNvSpPr/>
          <p:nvPr/>
        </p:nvSpPr>
        <p:spPr>
          <a:xfrm>
            <a:off x="465441" y="1399032"/>
            <a:ext cx="4738398" cy="2596896"/>
          </a:xfrm>
          <a:prstGeom prst="rect">
            <a:avLst/>
          </a:prstGeom>
          <a:solidFill>
            <a:schemeClr val="bg1"/>
          </a:solidFill>
          <a:ln w="9525">
            <a:solidFill>
              <a:schemeClr val="accent5"/>
            </a:solidFill>
            <a:prstDash val="solid"/>
          </a:ln>
        </p:spPr>
      </p:sp>
      <p:pic>
        <p:nvPicPr>
          <p:cNvPr id="7" name="Image 0" descr="存量流量比（S2F）模型价格图">    </p:cNvPr>
          <p:cNvPicPr>
            <a:picLocks noChangeAspect="1"/>
          </p:cNvPicPr>
          <p:nvPr/>
        </p:nvPicPr>
        <p:blipFill>
          <a:blip r:embed="rId1"/>
          <a:stretch>
            <a:fillRect/>
          </a:stretch>
        </p:blipFill>
        <p:spPr>
          <a:xfrm>
            <a:off x="483729" y="1417320"/>
            <a:ext cx="4701822" cy="2560320"/>
          </a:xfrm>
          <a:prstGeom prst="rect">
            <a:avLst/>
          </a:prstGeom>
        </p:spPr>
      </p:pic>
      <p:sp>
        <p:nvSpPr>
          <p:cNvPr id="8" name="Shape 4"/>
          <p:cNvSpPr/>
          <p:nvPr/>
        </p:nvSpPr>
        <p:spPr>
          <a:xfrm>
            <a:off x="518030" y="4050792"/>
            <a:ext cx="4633219" cy="1499616"/>
          </a:xfrm>
          <a:prstGeom prst="rect">
            <a:avLst/>
          </a:prstGeom>
          <a:solidFill>
            <a:schemeClr val="bg1"/>
          </a:solidFill>
          <a:ln w="9525">
            <a:solidFill>
              <a:schemeClr val="accent5"/>
            </a:solidFill>
            <a:prstDash val="solid"/>
          </a:ln>
        </p:spPr>
      </p:sp>
      <p:pic>
        <p:nvPicPr>
          <p:cNvPr id="9" name="Image 1" descr="S2F 模型当前数值面板（2025-10）">    </p:cNvPr>
          <p:cNvPicPr>
            <a:picLocks noChangeAspect="1"/>
          </p:cNvPicPr>
          <p:nvPr/>
        </p:nvPicPr>
        <p:blipFill>
          <a:blip r:embed="rId2"/>
          <a:stretch>
            <a:fillRect/>
          </a:stretch>
        </p:blipFill>
        <p:spPr>
          <a:xfrm>
            <a:off x="536318" y="4069080"/>
            <a:ext cx="4596643" cy="1463040"/>
          </a:xfrm>
          <a:prstGeom prst="rect">
            <a:avLst/>
          </a:prstGeom>
        </p:spPr>
      </p:pic>
      <p:sp>
        <p:nvSpPr>
          <p:cNvPr id="10" name="Text 5"/>
          <p:cNvSpPr txBox="1"/>
          <p:nvPr/>
        </p:nvSpPr>
        <p:spPr>
          <a:xfrm>
            <a:off x="5440680" y="1417320"/>
            <a:ext cx="3246120" cy="4206240"/>
          </a:xfrm>
          <a:prstGeom prst="rect">
            <a:avLst/>
          </a:prstGeom>
          <a:noFill/>
          <a:ln/>
        </p:spPr>
        <p:txBody>
          <a:bodyPr wrap="square" lIns="0" tIns="0" rIns="0" bIns="0" rtlCol="0" anchor="t"/>
          <a:lstStyle/>
          <a:p>
            <a:pPr algn="l" marL="254000" indent="-254000">
              <a:lnSpc>
                <a:spcPct val="105000"/>
              </a:lnSpc>
              <a:spcAft>
                <a:spcPts val="900"/>
              </a:spcAft>
              <a:buSzPct val="100000"/>
              <a:buChar char="•"/>
            </a:pPr>
            <a:r>
              <a:rPr lang="en-US" sz="1400" dirty="0">
                <a:solidFill>
                  <a:schemeClr val="tx1"/>
                </a:solidFill>
              </a:rPr>
              <a:t>主张：稀缺度（存量/流量）越高，价格越高</a:t>
            </a:r>
            <a:endParaRPr lang="en-US" sz="1400" dirty="0"/>
          </a:p>
          <a:p>
            <a:pPr algn="l" marL="254000" indent="-254000">
              <a:lnSpc>
                <a:spcPct val="105000"/>
              </a:lnSpc>
              <a:spcAft>
                <a:spcPts val="900"/>
              </a:spcAft>
              <a:buSzPct val="100000"/>
              <a:buChar char="•"/>
            </a:pPr>
            <a:r>
              <a:rPr lang="en-US" sz="1400" dirty="0">
                <a:solidFill>
                  <a:schemeClr val="tx1"/>
                </a:solidFill>
              </a:rPr>
              <a:t>预测：2021 年底约 </a:t>
            </a:r>
            <a:pPr algn="l" marL="254000" indent="-254000">
              <a:lnSpc>
                <a:spcPct val="105000"/>
              </a:lnSpc>
              <a:spcAft>
                <a:spcPts val="900"/>
              </a:spcAft>
              <a:buSzPct val="100000"/>
              <a:buChar char="•"/>
            </a:pPr>
            <a:r>
              <a:rPr lang="en-US" sz="1400" b="1" dirty="0">
                <a:solidFill>
                  <a:schemeClr val="tx1"/>
                </a:solidFill>
              </a:rPr>
              <a:t>10 万美元</a:t>
            </a:r>
            <a:pPr algn="l" marL="254000" indent="-254000">
              <a:lnSpc>
                <a:spcPct val="105000"/>
              </a:lnSpc>
              <a:spcAft>
                <a:spcPts val="900"/>
              </a:spcAft>
              <a:buSzPct val="100000"/>
              <a:buChar char="•"/>
            </a:pPr>
            <a:r>
              <a:rPr lang="en-US" sz="1400" dirty="0">
                <a:solidFill>
                  <a:schemeClr val="tx1"/>
                </a:solidFill>
              </a:rPr>
              <a:t>；实际约 </a:t>
            </a:r>
            <a:pPr algn="l" marL="254000" indent="-254000">
              <a:lnSpc>
                <a:spcPct val="105000"/>
              </a:lnSpc>
              <a:spcAft>
                <a:spcPts val="900"/>
              </a:spcAft>
              <a:buSzPct val="100000"/>
              <a:buChar char="•"/>
            </a:pPr>
            <a:r>
              <a:rPr lang="en-US" sz="1400" b="1" dirty="0">
                <a:solidFill>
                  <a:schemeClr val="tx1"/>
                </a:solidFill>
              </a:rPr>
              <a:t>4.7 万</a:t>
            </a:r>
            <a:pPr algn="l" marL="254000" indent="-254000">
              <a:lnSpc>
                <a:spcPct val="105000"/>
              </a:lnSpc>
              <a:spcAft>
                <a:spcPts val="900"/>
              </a:spcAft>
              <a:buSzPct val="100000"/>
              <a:buChar char="•"/>
            </a:pPr>
            <a:r>
              <a:rPr lang="en-US" sz="1400" dirty="0">
                <a:solidFill>
                  <a:schemeClr val="tx1"/>
                </a:solidFill>
              </a:rPr>
              <a:t>；2022 年跌破模型下轨</a:t>
            </a:r>
            <a:endParaRPr lang="en-US" sz="1400" dirty="0"/>
          </a:p>
          <a:p>
            <a:pPr algn="l" marL="254000" indent="-254000">
              <a:lnSpc>
                <a:spcPct val="105000"/>
              </a:lnSpc>
              <a:spcAft>
                <a:spcPts val="900"/>
              </a:spcAft>
              <a:buSzPct val="100000"/>
              <a:buChar char="•"/>
            </a:pPr>
            <a:r>
              <a:rPr lang="en-US" sz="1400" dirty="0">
                <a:solidFill>
                  <a:schemeClr val="tx1"/>
                </a:solidFill>
              </a:rPr>
              <a:t>2025-10 截图：模型“当前价”约 </a:t>
            </a:r>
            <a:pPr algn="l" marL="254000" indent="-254000">
              <a:lnSpc>
                <a:spcPct val="105000"/>
              </a:lnSpc>
              <a:spcAft>
                <a:spcPts val="900"/>
              </a:spcAft>
              <a:buSzPct val="100000"/>
              <a:buChar char="•"/>
            </a:pPr>
            <a:r>
              <a:rPr lang="en-US" sz="1400" b="1" dirty="0">
                <a:solidFill>
                  <a:schemeClr val="tx1"/>
                </a:solidFill>
              </a:rPr>
              <a:t>32–36 万美元</a:t>
            </a:r>
            <a:pPr algn="l" marL="254000" indent="-254000">
              <a:lnSpc>
                <a:spcPct val="105000"/>
              </a:lnSpc>
              <a:spcAft>
                <a:spcPts val="900"/>
              </a:spcAft>
              <a:buSzPct val="100000"/>
              <a:buChar char="•"/>
            </a:pPr>
            <a:r>
              <a:rPr lang="en-US" sz="1400" dirty="0">
                <a:solidFill>
                  <a:schemeClr val="tx1"/>
                </a:solidFill>
              </a:rPr>
              <a:t>，市价约 11–12.6 万</a:t>
            </a:r>
            <a:endParaRPr lang="en-US" sz="1400" dirty="0"/>
          </a:p>
          <a:p>
            <a:pPr algn="l" marL="254000" indent="-254000">
              <a:lnSpc>
                <a:spcPct val="105000"/>
              </a:lnSpc>
              <a:buSzPct val="100000"/>
              <a:buChar char="•"/>
            </a:pPr>
            <a:r>
              <a:rPr lang="en-US" sz="1400" dirty="0">
                <a:solidFill>
                  <a:schemeClr val="tx1"/>
                </a:solidFill>
              </a:rPr>
              <a:t>问题：随时间上升的曲线天然“相关”——</a:t>
            </a:r>
            <a:pPr algn="l" marL="254000" indent="-254000">
              <a:lnSpc>
                <a:spcPct val="105000"/>
              </a:lnSpc>
              <a:buSzPct val="100000"/>
              <a:buChar char="•"/>
            </a:pPr>
            <a:r>
              <a:rPr lang="en-US" sz="1400" b="1" dirty="0">
                <a:solidFill>
                  <a:schemeClr val="tx1"/>
                </a:solidFill>
              </a:rPr>
              <a:t>伪回归</a:t>
            </a:r>
            <a:pPr algn="l" marL="254000" indent="-254000">
              <a:lnSpc>
                <a:spcPct val="105000"/>
              </a:lnSpc>
              <a:buSzPct val="100000"/>
              <a:buChar char="•"/>
            </a:pPr>
            <a:r>
              <a:rPr lang="en-US" sz="1400" dirty="0">
                <a:solidFill>
                  <a:schemeClr val="tx1"/>
                </a:solidFill>
              </a:rPr>
              <a:t>；样本极少；难证伪</a:t>
            </a:r>
            <a:endParaRPr lang="en-US" sz="1400" dirty="0"/>
          </a:p>
        </p:txBody>
      </p:sp>
      <p:sp>
        <p:nvSpPr>
          <p:cNvPr id="11" name="Shape 6"/>
          <p:cNvSpPr/>
          <p:nvPr/>
        </p:nvSpPr>
        <p:spPr>
          <a:xfrm>
            <a:off x="457200" y="5623560"/>
            <a:ext cx="8229600" cy="502920"/>
          </a:xfrm>
          <a:prstGeom prst="roundRect">
            <a:avLst>
              <a:gd name="adj" fmla="val 14545"/>
            </a:avLst>
          </a:prstGeom>
          <a:solidFill>
            <a:schemeClr val="accent1">
              <a:alpha val="12000"/>
            </a:schemeClr>
          </a:solidFill>
          <a:ln w="12700">
            <a:solidFill>
              <a:schemeClr val="accent1">
                <a:alpha val="0"/>
              </a:schemeClr>
            </a:solidFill>
            <a:prstDash val="solid"/>
          </a:ln>
        </p:spPr>
      </p:sp>
      <p:pic>
        <p:nvPicPr>
          <p:cNvPr id="12" name="Image 2" descr="key">    </p:cNvPr>
          <p:cNvPicPr>
            <a:picLocks noChangeAspect="1"/>
          </p:cNvPicPr>
          <p:nvPr/>
        </p:nvPicPr>
        <p:blipFill>
          <a:blip r:embed="rId3"/>
          <a:stretch>
            <a:fillRect/>
          </a:stretch>
        </p:blipFill>
        <p:spPr>
          <a:xfrm>
            <a:off x="640080" y="5682996"/>
            <a:ext cx="384048" cy="384048"/>
          </a:xfrm>
          <a:prstGeom prst="rect">
            <a:avLst/>
          </a:prstGeom>
        </p:spPr>
      </p:pic>
      <p:sp>
        <p:nvSpPr>
          <p:cNvPr id="13" name="Text 7"/>
          <p:cNvSpPr txBox="1"/>
          <p:nvPr/>
        </p:nvSpPr>
        <p:spPr>
          <a:xfrm>
            <a:off x="1188720" y="5696712"/>
            <a:ext cx="7315200" cy="35661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教训：好看的拟合 ≠ 因果；</a:t>
            </a:r>
            <a:pPr algn="l" indent="0" marL="0">
              <a:lnSpc>
                <a:spcPct val="105000"/>
              </a:lnSpc>
              <a:buNone/>
            </a:pPr>
            <a:r>
              <a:rPr lang="en-US" sz="1400" b="1" dirty="0">
                <a:solidFill>
                  <a:schemeClr val="tx1"/>
                </a:solidFill>
              </a:rPr>
              <a:t>稀缺性需要“需求”配合</a:t>
            </a:r>
            <a:pPr algn="l" indent="0" marL="0">
              <a:lnSpc>
                <a:spcPct val="105000"/>
              </a:lnSpc>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学术研究怎么看？三篇值得读的论文</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拓展</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来源：Journal of Finance；Review of Financial Studies</a:t>
            </a:r>
            <a:endParaRPr lang="en-US" sz="1000" dirty="0"/>
          </a:p>
        </p:txBody>
      </p:sp>
      <p:sp>
        <p:nvSpPr>
          <p:cNvPr id="6" name="Shape 3"/>
          <p:cNvSpPr/>
          <p:nvPr/>
        </p:nvSpPr>
        <p:spPr>
          <a:xfrm>
            <a:off x="457200" y="1417320"/>
            <a:ext cx="2621280" cy="3566160"/>
          </a:xfrm>
          <a:prstGeom prst="roundRect">
            <a:avLst>
              <a:gd name="adj" fmla="val 2791"/>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8" name="Image 0" descr="FaBook">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225552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Biais 等（2023）</a:t>
            </a:r>
            <a:endParaRPr lang="en-US" sz="1600" dirty="0"/>
          </a:p>
        </p:txBody>
      </p:sp>
      <p:sp>
        <p:nvSpPr>
          <p:cNvPr id="10" name="Text 6"/>
          <p:cNvSpPr txBox="1"/>
          <p:nvPr/>
        </p:nvSpPr>
        <p:spPr>
          <a:xfrm>
            <a:off x="640080" y="2545080"/>
            <a:ext cx="2255520" cy="2328672"/>
          </a:xfrm>
          <a:prstGeom prst="rect">
            <a:avLst/>
          </a:prstGeom>
          <a:noFill/>
          <a:ln/>
        </p:spPr>
        <p:txBody>
          <a:bodyPr wrap="square" lIns="0" tIns="0" rIns="0" bIns="0" rtlCol="0" anchor="t"/>
          <a:lstStyle/>
          <a:p>
            <a:pPr algn="l" indent="0" marL="0">
              <a:lnSpc>
                <a:spcPct val="105000"/>
              </a:lnSpc>
              <a:spcAft>
                <a:spcPts val="400"/>
              </a:spcAft>
              <a:buNone/>
            </a:pPr>
            <a:r>
              <a:rPr lang="en-US" sz="1300" dirty="0">
                <a:solidFill>
                  <a:schemeClr val="accent4"/>
                </a:solidFill>
              </a:rPr>
              <a:t>《Equilibrium Bitcoin Pricing》</a:t>
            </a:r>
            <a:endParaRPr lang="en-US" sz="1300" dirty="0"/>
          </a:p>
          <a:p>
            <a:pPr algn="l" indent="0" marL="0">
              <a:lnSpc>
                <a:spcPct val="105000"/>
              </a:lnSpc>
              <a:spcAft>
                <a:spcPts val="400"/>
              </a:spcAft>
              <a:buNone/>
            </a:pPr>
            <a:r>
              <a:rPr lang="en-US" sz="1300" dirty="0">
                <a:solidFill>
                  <a:schemeClr val="accent4"/>
                </a:solidFill>
              </a:rPr>
              <a:t>Journal of Finance</a:t>
            </a:r>
            <a:endParaRPr lang="en-US" sz="1300" dirty="0"/>
          </a:p>
          <a:p>
            <a:pPr algn="l" indent="0" marL="0">
              <a:lnSpc>
                <a:spcPct val="105000"/>
              </a:lnSpc>
              <a:buNone/>
            </a:pPr>
            <a:r>
              <a:rPr lang="en-US" sz="1300" dirty="0">
                <a:solidFill>
                  <a:schemeClr val="accent4"/>
                </a:solidFill>
              </a:rPr>
              <a:t>把价格建模为“交易便利收益 + 对未来被使用的预期”并检验。</a:t>
            </a:r>
            <a:endParaRPr lang="en-US" sz="1300" dirty="0"/>
          </a:p>
        </p:txBody>
      </p:sp>
      <p:sp>
        <p:nvSpPr>
          <p:cNvPr id="11" name="Shape 7"/>
          <p:cNvSpPr/>
          <p:nvPr/>
        </p:nvSpPr>
        <p:spPr>
          <a:xfrm>
            <a:off x="3261360" y="1417320"/>
            <a:ext cx="2621280" cy="3566160"/>
          </a:xfrm>
          <a:prstGeom prst="roundRect">
            <a:avLst>
              <a:gd name="adj" fmla="val 2791"/>
            </a:avLst>
          </a:prstGeom>
          <a:solidFill>
            <a:schemeClr val="bg2"/>
          </a:solidFill>
          <a:ln w="12700">
            <a:solidFill>
              <a:schemeClr val="bg2">
                <a:alpha val="0"/>
              </a:schemeClr>
            </a:solidFill>
            <a:prstDash val="solid"/>
          </a:ln>
        </p:spPr>
      </p:sp>
      <p:sp>
        <p:nvSpPr>
          <p:cNvPr id="12" name="Shape 8"/>
          <p:cNvSpPr/>
          <p:nvPr/>
        </p:nvSpPr>
        <p:spPr>
          <a:xfrm>
            <a:off x="3444240" y="1581912"/>
            <a:ext cx="502920" cy="502920"/>
          </a:xfrm>
          <a:prstGeom prst="ellipse">
            <a:avLst/>
          </a:prstGeom>
          <a:solidFill>
            <a:schemeClr val="accent1"/>
          </a:solidFill>
          <a:ln w="12700">
            <a:solidFill>
              <a:schemeClr val="accent1">
                <a:alpha val="0"/>
              </a:schemeClr>
            </a:solidFill>
            <a:prstDash val="solid"/>
          </a:ln>
        </p:spPr>
      </p:sp>
      <p:pic>
        <p:nvPicPr>
          <p:cNvPr id="13" name="Image 1" descr="FaSearch">    </p:cNvPr>
          <p:cNvPicPr>
            <a:picLocks noChangeAspect="1"/>
          </p:cNvPicPr>
          <p:nvPr/>
        </p:nvPicPr>
        <p:blipFill>
          <a:blip r:embed="rId2"/>
          <a:stretch>
            <a:fillRect/>
          </a:stretch>
        </p:blipFill>
        <p:spPr>
          <a:xfrm>
            <a:off x="3554882" y="1692554"/>
            <a:ext cx="281635" cy="281635"/>
          </a:xfrm>
          <a:prstGeom prst="rect">
            <a:avLst/>
          </a:prstGeom>
        </p:spPr>
      </p:pic>
      <p:sp>
        <p:nvSpPr>
          <p:cNvPr id="14" name="Text 9"/>
          <p:cNvSpPr txBox="1"/>
          <p:nvPr/>
        </p:nvSpPr>
        <p:spPr>
          <a:xfrm>
            <a:off x="3444240" y="2203704"/>
            <a:ext cx="2255520" cy="554736"/>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Griffin &amp; Shams（2020）</a:t>
            </a:r>
            <a:endParaRPr lang="en-US" sz="1600" dirty="0"/>
          </a:p>
        </p:txBody>
      </p:sp>
      <p:sp>
        <p:nvSpPr>
          <p:cNvPr id="15" name="Text 10"/>
          <p:cNvSpPr txBox="1"/>
          <p:nvPr/>
        </p:nvSpPr>
        <p:spPr>
          <a:xfrm>
            <a:off x="3444240" y="2813304"/>
            <a:ext cx="2255520" cy="2060448"/>
          </a:xfrm>
          <a:prstGeom prst="rect">
            <a:avLst/>
          </a:prstGeom>
          <a:noFill/>
          <a:ln/>
        </p:spPr>
        <p:txBody>
          <a:bodyPr wrap="square" lIns="0" tIns="0" rIns="0" bIns="0" rtlCol="0" anchor="t"/>
          <a:lstStyle/>
          <a:p>
            <a:pPr algn="l" indent="0" marL="0">
              <a:lnSpc>
                <a:spcPct val="105000"/>
              </a:lnSpc>
              <a:spcAft>
                <a:spcPts val="400"/>
              </a:spcAft>
              <a:buNone/>
            </a:pPr>
            <a:r>
              <a:rPr lang="en-US" sz="1300" dirty="0">
                <a:solidFill>
                  <a:schemeClr val="accent4"/>
                </a:solidFill>
              </a:rPr>
              <a:t>《Is Bitcoin Really Untethered?》</a:t>
            </a:r>
            <a:endParaRPr lang="en-US" sz="1300" dirty="0"/>
          </a:p>
          <a:p>
            <a:pPr algn="l" indent="0" marL="0">
              <a:lnSpc>
                <a:spcPct val="105000"/>
              </a:lnSpc>
              <a:spcAft>
                <a:spcPts val="400"/>
              </a:spcAft>
              <a:buNone/>
            </a:pPr>
            <a:r>
              <a:rPr lang="en-US" sz="1300" dirty="0">
                <a:solidFill>
                  <a:schemeClr val="accent4"/>
                </a:solidFill>
              </a:rPr>
              <a:t>Journal of Finance</a:t>
            </a:r>
            <a:endParaRPr lang="en-US" sz="1300" dirty="0"/>
          </a:p>
          <a:p>
            <a:pPr algn="l" indent="0" marL="0">
              <a:lnSpc>
                <a:spcPct val="105000"/>
              </a:lnSpc>
              <a:buNone/>
            </a:pPr>
            <a:r>
              <a:rPr lang="en-US" sz="1300" dirty="0">
                <a:solidFill>
                  <a:schemeClr val="accent4"/>
                </a:solidFill>
              </a:rPr>
              <a:t>2017 年的上涨与 Tether 增发的时点相关，指向可能的操纵（有争议）。</a:t>
            </a:r>
            <a:endParaRPr lang="en-US" sz="1300" dirty="0"/>
          </a:p>
        </p:txBody>
      </p:sp>
      <p:sp>
        <p:nvSpPr>
          <p:cNvPr id="16" name="Shape 11"/>
          <p:cNvSpPr/>
          <p:nvPr/>
        </p:nvSpPr>
        <p:spPr>
          <a:xfrm>
            <a:off x="6065520" y="1417320"/>
            <a:ext cx="2621280" cy="3566160"/>
          </a:xfrm>
          <a:prstGeom prst="roundRect">
            <a:avLst>
              <a:gd name="adj" fmla="val 2791"/>
            </a:avLst>
          </a:prstGeom>
          <a:solidFill>
            <a:schemeClr val="bg2"/>
          </a:solidFill>
          <a:ln w="12700">
            <a:solidFill>
              <a:schemeClr val="bg2">
                <a:alpha val="0"/>
              </a:schemeClr>
            </a:solidFill>
            <a:prstDash val="solid"/>
          </a:ln>
        </p:spPr>
      </p:sp>
      <p:sp>
        <p:nvSpPr>
          <p:cNvPr id="17" name="Shape 12"/>
          <p:cNvSpPr/>
          <p:nvPr/>
        </p:nvSpPr>
        <p:spPr>
          <a:xfrm>
            <a:off x="6248400" y="1581912"/>
            <a:ext cx="502920" cy="502920"/>
          </a:xfrm>
          <a:prstGeom prst="ellipse">
            <a:avLst/>
          </a:prstGeom>
          <a:solidFill>
            <a:schemeClr val="accent1"/>
          </a:solidFill>
          <a:ln w="12700">
            <a:solidFill>
              <a:schemeClr val="accent1">
                <a:alpha val="0"/>
              </a:schemeClr>
            </a:solidFill>
            <a:prstDash val="solid"/>
          </a:ln>
        </p:spPr>
      </p:sp>
      <p:pic>
        <p:nvPicPr>
          <p:cNvPr id="18" name="Image 2" descr="FaGavel">    </p:cNvPr>
          <p:cNvPicPr>
            <a:picLocks noChangeAspect="1"/>
          </p:cNvPicPr>
          <p:nvPr/>
        </p:nvPicPr>
        <p:blipFill>
          <a:blip r:embed="rId3"/>
          <a:stretch>
            <a:fillRect/>
          </a:stretch>
        </p:blipFill>
        <p:spPr>
          <a:xfrm>
            <a:off x="6359042" y="1692554"/>
            <a:ext cx="281635" cy="281635"/>
          </a:xfrm>
          <a:prstGeom prst="rect">
            <a:avLst/>
          </a:prstGeom>
        </p:spPr>
      </p:pic>
      <p:sp>
        <p:nvSpPr>
          <p:cNvPr id="19" name="Text 13"/>
          <p:cNvSpPr txBox="1"/>
          <p:nvPr/>
        </p:nvSpPr>
        <p:spPr>
          <a:xfrm>
            <a:off x="6248400" y="2203704"/>
            <a:ext cx="2255520" cy="286512"/>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Foley 等（2019）</a:t>
            </a:r>
            <a:endParaRPr lang="en-US" sz="1600" dirty="0"/>
          </a:p>
        </p:txBody>
      </p:sp>
      <p:sp>
        <p:nvSpPr>
          <p:cNvPr id="20" name="Text 14"/>
          <p:cNvSpPr txBox="1"/>
          <p:nvPr/>
        </p:nvSpPr>
        <p:spPr>
          <a:xfrm>
            <a:off x="6248400" y="2545080"/>
            <a:ext cx="2255520" cy="2328672"/>
          </a:xfrm>
          <a:prstGeom prst="rect">
            <a:avLst/>
          </a:prstGeom>
          <a:noFill/>
          <a:ln/>
        </p:spPr>
        <p:txBody>
          <a:bodyPr wrap="square" lIns="0" tIns="0" rIns="0" bIns="0" rtlCol="0" anchor="t"/>
          <a:lstStyle/>
          <a:p>
            <a:pPr algn="l" indent="0" marL="0">
              <a:lnSpc>
                <a:spcPct val="105000"/>
              </a:lnSpc>
              <a:spcAft>
                <a:spcPts val="400"/>
              </a:spcAft>
              <a:buNone/>
            </a:pPr>
            <a:r>
              <a:rPr lang="en-US" sz="1300" dirty="0">
                <a:solidFill>
                  <a:schemeClr val="accent4"/>
                </a:solidFill>
              </a:rPr>
              <a:t>《Sex, Drugs, and Bitcoin》</a:t>
            </a:r>
            <a:endParaRPr lang="en-US" sz="1300" dirty="0"/>
          </a:p>
          <a:p>
            <a:pPr algn="l" indent="0" marL="0">
              <a:lnSpc>
                <a:spcPct val="105000"/>
              </a:lnSpc>
              <a:spcAft>
                <a:spcPts val="400"/>
              </a:spcAft>
              <a:buNone/>
            </a:pPr>
            <a:r>
              <a:rPr lang="en-US" sz="1300" dirty="0">
                <a:solidFill>
                  <a:schemeClr val="accent4"/>
                </a:solidFill>
              </a:rPr>
              <a:t>Review of Financial Studies</a:t>
            </a:r>
            <a:endParaRPr lang="en-US" sz="1300" dirty="0"/>
          </a:p>
          <a:p>
            <a:pPr algn="l" indent="0" marL="0">
              <a:lnSpc>
                <a:spcPct val="105000"/>
              </a:lnSpc>
              <a:buNone/>
            </a:pPr>
            <a:r>
              <a:rPr lang="en-US" sz="1300" dirty="0">
                <a:solidFill>
                  <a:schemeClr val="accent4"/>
                </a:solidFill>
              </a:rPr>
              <a:t>估计 2013–2017 年约四分之一用户、近半数交易与非法活动相关。</a:t>
            </a:r>
            <a:endParaRPr lang="en-US" sz="1300" dirty="0"/>
          </a:p>
        </p:txBody>
      </p:sp>
      <p:sp>
        <p:nvSpPr>
          <p:cNvPr id="21" name="Shape 15"/>
          <p:cNvSpPr/>
          <p:nvPr/>
        </p:nvSpPr>
        <p:spPr>
          <a:xfrm>
            <a:off x="457200" y="5166360"/>
            <a:ext cx="8229600" cy="868680"/>
          </a:xfrm>
          <a:prstGeom prst="roundRect">
            <a:avLst>
              <a:gd name="adj" fmla="val 8421"/>
            </a:avLst>
          </a:prstGeom>
          <a:solidFill>
            <a:schemeClr val="accent1">
              <a:alpha val="12000"/>
            </a:schemeClr>
          </a:solidFill>
          <a:ln w="12700">
            <a:solidFill>
              <a:schemeClr val="accent1">
                <a:alpha val="0"/>
              </a:schemeClr>
            </a:solidFill>
            <a:prstDash val="solid"/>
          </a:ln>
        </p:spPr>
      </p:sp>
      <p:pic>
        <p:nvPicPr>
          <p:cNvPr id="22" name="Image 3" descr="ask">    </p:cNvPr>
          <p:cNvPicPr>
            <a:picLocks noChangeAspect="1"/>
          </p:cNvPicPr>
          <p:nvPr/>
        </p:nvPicPr>
        <p:blipFill>
          <a:blip r:embed="rId4"/>
          <a:stretch>
            <a:fillRect/>
          </a:stretch>
        </p:blipFill>
        <p:spPr>
          <a:xfrm>
            <a:off x="640080" y="5408676"/>
            <a:ext cx="384048" cy="384048"/>
          </a:xfrm>
          <a:prstGeom prst="rect">
            <a:avLst/>
          </a:prstGeom>
        </p:spPr>
      </p:pic>
      <p:sp>
        <p:nvSpPr>
          <p:cNvPr id="23" name="Text 16"/>
          <p:cNvSpPr txBox="1"/>
          <p:nvPr/>
        </p:nvSpPr>
        <p:spPr>
          <a:xfrm>
            <a:off x="1188720" y="5239512"/>
            <a:ext cx="7315200" cy="72237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课后任务：读摘要，各写一句话——它的</a:t>
            </a:r>
            <a:pPr algn="l" indent="0" marL="0">
              <a:lnSpc>
                <a:spcPct val="105000"/>
              </a:lnSpc>
              <a:buNone/>
            </a:pPr>
            <a:r>
              <a:rPr lang="en-US" sz="1700" b="1" dirty="0">
                <a:solidFill>
                  <a:schemeClr val="tx1"/>
                </a:solidFill>
              </a:rPr>
              <a:t>证据</a:t>
            </a:r>
            <a:pPr algn="l" indent="0" marL="0">
              <a:lnSpc>
                <a:spcPct val="105000"/>
              </a:lnSpc>
              <a:buNone/>
            </a:pPr>
            <a:r>
              <a:rPr lang="en-US" sz="1700" dirty="0">
                <a:solidFill>
                  <a:schemeClr val="tx1"/>
                </a:solidFill>
              </a:rPr>
              <a:t>是什么？有什么</a:t>
            </a:r>
            <a:pPr algn="l" indent="0" marL="0">
              <a:lnSpc>
                <a:spcPct val="105000"/>
              </a:lnSpc>
              <a:buNone/>
            </a:pPr>
            <a:r>
              <a:rPr lang="en-US" sz="1700" b="1" dirty="0">
                <a:solidFill>
                  <a:schemeClr val="tx1"/>
                </a:solidFill>
              </a:rPr>
              <a:t>局限</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监管：中国的底线与国际的分野</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监管</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来源：中国人民银行等部门文件；新华网（2026-02-09，转载上海证券报）；欧盟 MiCA；香港证监会</a:t>
            </a:r>
            <a:endParaRPr lang="en-US" sz="1000" dirty="0"/>
          </a:p>
        </p:txBody>
      </p:sp>
      <p:sp>
        <p:nvSpPr>
          <p:cNvPr id="6" name="Shape 3"/>
          <p:cNvSpPr/>
          <p:nvPr/>
        </p:nvSpPr>
        <p:spPr>
          <a:xfrm>
            <a:off x="1938528" y="1777365"/>
            <a:ext cx="0" cy="2434590"/>
          </a:xfrm>
          <a:prstGeom prst="line">
            <a:avLst/>
          </a:prstGeom>
          <a:noFill/>
          <a:ln w="19050">
            <a:solidFill>
              <a:schemeClr val="accent5"/>
            </a:solidFill>
            <a:prstDash val="solid"/>
          </a:ln>
        </p:spPr>
      </p:sp>
      <p:sp>
        <p:nvSpPr>
          <p:cNvPr id="7" name="Shape 4"/>
          <p:cNvSpPr/>
          <p:nvPr/>
        </p:nvSpPr>
        <p:spPr>
          <a:xfrm>
            <a:off x="457200" y="1621917"/>
            <a:ext cx="1280160" cy="310896"/>
          </a:xfrm>
          <a:prstGeom prst="roundRect">
            <a:avLst>
              <a:gd name="adj" fmla="val 50000"/>
            </a:avLst>
          </a:prstGeom>
          <a:solidFill>
            <a:schemeClr val="tx1"/>
          </a:solidFill>
          <a:ln w="12700">
            <a:solidFill>
              <a:schemeClr val="tx1">
                <a:alpha val="0"/>
              </a:schemeClr>
            </a:solidFill>
            <a:prstDash val="solid"/>
          </a:ln>
        </p:spPr>
      </p:sp>
      <p:sp>
        <p:nvSpPr>
          <p:cNvPr id="8" name="Text 5"/>
          <p:cNvSpPr txBox="1"/>
          <p:nvPr/>
        </p:nvSpPr>
        <p:spPr>
          <a:xfrm>
            <a:off x="457200" y="1621917"/>
            <a:ext cx="1280160" cy="310896"/>
          </a:xfrm>
          <a:prstGeom prst="rect">
            <a:avLst/>
          </a:prstGeom>
          <a:noFill/>
          <a:ln/>
        </p:spPr>
        <p:txBody>
          <a:bodyPr wrap="square" lIns="0" tIns="0" rIns="0" bIns="0" rtlCol="0" anchor="ctr"/>
          <a:lstStyle/>
          <a:p>
            <a:pPr algn="ctr" indent="0" marL="0">
              <a:buNone/>
            </a:pPr>
            <a:r>
              <a:rPr lang="en-US" sz="1200" b="1" dirty="0">
                <a:solidFill>
                  <a:schemeClr val="bg1"/>
                </a:solidFill>
              </a:rPr>
              <a:t>2013-12</a:t>
            </a:r>
            <a:endParaRPr lang="en-US" sz="1200" dirty="0"/>
          </a:p>
        </p:txBody>
      </p:sp>
      <p:sp>
        <p:nvSpPr>
          <p:cNvPr id="9" name="Shape 6"/>
          <p:cNvSpPr/>
          <p:nvPr/>
        </p:nvSpPr>
        <p:spPr>
          <a:xfrm>
            <a:off x="1865376" y="1704213"/>
            <a:ext cx="146304" cy="146304"/>
          </a:xfrm>
          <a:prstGeom prst="ellipse">
            <a:avLst/>
          </a:prstGeom>
          <a:solidFill>
            <a:schemeClr val="accent4"/>
          </a:solidFill>
          <a:ln w="12700">
            <a:solidFill>
              <a:schemeClr val="accent4">
                <a:alpha val="0"/>
              </a:schemeClr>
            </a:solidFill>
            <a:prstDash val="solid"/>
          </a:ln>
        </p:spPr>
      </p:sp>
      <p:sp>
        <p:nvSpPr>
          <p:cNvPr id="10" name="Text 7"/>
          <p:cNvSpPr txBox="1"/>
          <p:nvPr/>
        </p:nvSpPr>
        <p:spPr>
          <a:xfrm>
            <a:off x="2194560" y="1389888"/>
            <a:ext cx="6492240" cy="774954"/>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五部委《关于防范比特币风险的通知》</a:t>
            </a:r>
            <a:endParaRPr lang="en-US" sz="1200" dirty="0"/>
          </a:p>
          <a:p>
            <a:pPr algn="l" indent="0" marL="0">
              <a:lnSpc>
                <a:spcPct val="105000"/>
              </a:lnSpc>
              <a:buNone/>
            </a:pPr>
            <a:r>
              <a:rPr lang="en-US" sz="1200" dirty="0">
                <a:solidFill>
                  <a:schemeClr val="accent4"/>
                </a:solidFill>
              </a:rPr>
              <a:t>比特币是特定虚拟商品，不具有与货币等同的法律地位</a:t>
            </a:r>
            <a:endParaRPr lang="en-US" sz="1200" dirty="0"/>
          </a:p>
        </p:txBody>
      </p:sp>
      <p:sp>
        <p:nvSpPr>
          <p:cNvPr id="11" name="Shape 8"/>
          <p:cNvSpPr/>
          <p:nvPr/>
        </p:nvSpPr>
        <p:spPr>
          <a:xfrm>
            <a:off x="457200" y="2433447"/>
            <a:ext cx="1280160" cy="310896"/>
          </a:xfrm>
          <a:prstGeom prst="roundRect">
            <a:avLst>
              <a:gd name="adj" fmla="val 50000"/>
            </a:avLst>
          </a:prstGeom>
          <a:solidFill>
            <a:schemeClr val="tx1"/>
          </a:solidFill>
          <a:ln w="12700">
            <a:solidFill>
              <a:schemeClr val="tx1">
                <a:alpha val="0"/>
              </a:schemeClr>
            </a:solidFill>
            <a:prstDash val="solid"/>
          </a:ln>
        </p:spPr>
      </p:sp>
      <p:sp>
        <p:nvSpPr>
          <p:cNvPr id="12" name="Text 9"/>
          <p:cNvSpPr txBox="1"/>
          <p:nvPr/>
        </p:nvSpPr>
        <p:spPr>
          <a:xfrm>
            <a:off x="457200" y="2433447"/>
            <a:ext cx="1280160" cy="310896"/>
          </a:xfrm>
          <a:prstGeom prst="rect">
            <a:avLst/>
          </a:prstGeom>
          <a:noFill/>
          <a:ln/>
        </p:spPr>
        <p:txBody>
          <a:bodyPr wrap="square" lIns="0" tIns="0" rIns="0" bIns="0" rtlCol="0" anchor="ctr"/>
          <a:lstStyle/>
          <a:p>
            <a:pPr algn="ctr" indent="0" marL="0">
              <a:buNone/>
            </a:pPr>
            <a:r>
              <a:rPr lang="en-US" sz="1200" b="1" dirty="0">
                <a:solidFill>
                  <a:schemeClr val="bg1"/>
                </a:solidFill>
              </a:rPr>
              <a:t>2017-09</a:t>
            </a:r>
            <a:endParaRPr lang="en-US" sz="1200" dirty="0"/>
          </a:p>
        </p:txBody>
      </p:sp>
      <p:sp>
        <p:nvSpPr>
          <p:cNvPr id="13" name="Shape 10"/>
          <p:cNvSpPr/>
          <p:nvPr/>
        </p:nvSpPr>
        <p:spPr>
          <a:xfrm>
            <a:off x="1865376" y="2515743"/>
            <a:ext cx="146304" cy="146304"/>
          </a:xfrm>
          <a:prstGeom prst="ellipse">
            <a:avLst/>
          </a:prstGeom>
          <a:solidFill>
            <a:schemeClr val="accent4"/>
          </a:solidFill>
          <a:ln w="12700">
            <a:solidFill>
              <a:schemeClr val="accent4">
                <a:alpha val="0"/>
              </a:schemeClr>
            </a:solidFill>
            <a:prstDash val="solid"/>
          </a:ln>
        </p:spPr>
      </p:sp>
      <p:sp>
        <p:nvSpPr>
          <p:cNvPr id="14" name="Text 11"/>
          <p:cNvSpPr txBox="1"/>
          <p:nvPr/>
        </p:nvSpPr>
        <p:spPr>
          <a:xfrm>
            <a:off x="2194560" y="2201418"/>
            <a:ext cx="6492240" cy="774954"/>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七部门《关于防范代币发行融资风险的公告》</a:t>
            </a:r>
            <a:endParaRPr lang="en-US" sz="1200" dirty="0"/>
          </a:p>
          <a:p>
            <a:pPr algn="l" indent="0" marL="0">
              <a:lnSpc>
                <a:spcPct val="105000"/>
              </a:lnSpc>
              <a:buNone/>
            </a:pPr>
            <a:r>
              <a:rPr lang="en-US" sz="1200" dirty="0">
                <a:solidFill>
                  <a:schemeClr val="accent4"/>
                </a:solidFill>
              </a:rPr>
              <a:t>叫停 ICO，交易平台关停</a:t>
            </a:r>
            <a:endParaRPr lang="en-US" sz="1200" dirty="0"/>
          </a:p>
        </p:txBody>
      </p:sp>
      <p:sp>
        <p:nvSpPr>
          <p:cNvPr id="15" name="Shape 12"/>
          <p:cNvSpPr/>
          <p:nvPr/>
        </p:nvSpPr>
        <p:spPr>
          <a:xfrm>
            <a:off x="457200" y="3244977"/>
            <a:ext cx="1280160" cy="310896"/>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457200" y="3244977"/>
            <a:ext cx="1280160" cy="310896"/>
          </a:xfrm>
          <a:prstGeom prst="rect">
            <a:avLst/>
          </a:prstGeom>
          <a:noFill/>
          <a:ln/>
        </p:spPr>
        <p:txBody>
          <a:bodyPr wrap="square" lIns="0" tIns="0" rIns="0" bIns="0" rtlCol="0" anchor="ctr"/>
          <a:lstStyle/>
          <a:p>
            <a:pPr algn="ctr" indent="0" marL="0">
              <a:buNone/>
            </a:pPr>
            <a:r>
              <a:rPr lang="en-US" sz="1200" b="1" dirty="0">
                <a:solidFill>
                  <a:schemeClr val="bg1"/>
                </a:solidFill>
              </a:rPr>
              <a:t>2021-09</a:t>
            </a:r>
            <a:endParaRPr lang="en-US" sz="1200" dirty="0"/>
          </a:p>
        </p:txBody>
      </p:sp>
      <p:sp>
        <p:nvSpPr>
          <p:cNvPr id="17" name="Shape 14"/>
          <p:cNvSpPr/>
          <p:nvPr/>
        </p:nvSpPr>
        <p:spPr>
          <a:xfrm>
            <a:off x="1865376" y="3327273"/>
            <a:ext cx="146304" cy="146304"/>
          </a:xfrm>
          <a:prstGeom prst="ellipse">
            <a:avLst/>
          </a:prstGeom>
          <a:solidFill>
            <a:schemeClr val="accent4"/>
          </a:solidFill>
          <a:ln w="12700">
            <a:solidFill>
              <a:schemeClr val="accent4">
                <a:alpha val="0"/>
              </a:schemeClr>
            </a:solidFill>
            <a:prstDash val="solid"/>
          </a:ln>
        </p:spPr>
      </p:sp>
      <p:sp>
        <p:nvSpPr>
          <p:cNvPr id="18" name="Text 15"/>
          <p:cNvSpPr txBox="1"/>
          <p:nvPr/>
        </p:nvSpPr>
        <p:spPr>
          <a:xfrm>
            <a:off x="2194560" y="3012948"/>
            <a:ext cx="6492240" cy="774954"/>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十部门《通知》（银发〔2021〕237 号）</a:t>
            </a:r>
            <a:endParaRPr lang="en-US" sz="1200" dirty="0"/>
          </a:p>
          <a:p>
            <a:pPr algn="l" indent="0" marL="0">
              <a:lnSpc>
                <a:spcPct val="105000"/>
              </a:lnSpc>
              <a:buNone/>
            </a:pPr>
            <a:r>
              <a:rPr lang="en-US" sz="1200" dirty="0">
                <a:solidFill>
                  <a:schemeClr val="accent4"/>
                </a:solidFill>
              </a:rPr>
              <a:t>虚拟货币相关业务属非法金融活动；境外平台向境内提供服务同样违法</a:t>
            </a:r>
            <a:endParaRPr lang="en-US" sz="1200" dirty="0"/>
          </a:p>
        </p:txBody>
      </p:sp>
      <p:sp>
        <p:nvSpPr>
          <p:cNvPr id="19" name="Shape 16"/>
          <p:cNvSpPr/>
          <p:nvPr/>
        </p:nvSpPr>
        <p:spPr>
          <a:xfrm>
            <a:off x="457200" y="4056507"/>
            <a:ext cx="1280160" cy="310896"/>
          </a:xfrm>
          <a:prstGeom prst="roundRect">
            <a:avLst>
              <a:gd name="adj" fmla="val 50000"/>
            </a:avLst>
          </a:prstGeom>
          <a:solidFill>
            <a:schemeClr val="accent1"/>
          </a:solidFill>
          <a:ln w="12700">
            <a:solidFill>
              <a:schemeClr val="accent1">
                <a:alpha val="0"/>
              </a:schemeClr>
            </a:solidFill>
            <a:prstDash val="solid"/>
          </a:ln>
        </p:spPr>
      </p:sp>
      <p:sp>
        <p:nvSpPr>
          <p:cNvPr id="20" name="Text 17"/>
          <p:cNvSpPr txBox="1"/>
          <p:nvPr/>
        </p:nvSpPr>
        <p:spPr>
          <a:xfrm>
            <a:off x="457200" y="4056507"/>
            <a:ext cx="1280160" cy="310896"/>
          </a:xfrm>
          <a:prstGeom prst="rect">
            <a:avLst/>
          </a:prstGeom>
          <a:noFill/>
          <a:ln/>
        </p:spPr>
        <p:txBody>
          <a:bodyPr wrap="square" lIns="0" tIns="0" rIns="0" bIns="0" rtlCol="0" anchor="ctr"/>
          <a:lstStyle/>
          <a:p>
            <a:pPr algn="ctr" indent="0" marL="0">
              <a:buNone/>
            </a:pPr>
            <a:r>
              <a:rPr lang="en-US" sz="1200" b="1" dirty="0">
                <a:solidFill>
                  <a:schemeClr val="tx1"/>
                </a:solidFill>
              </a:rPr>
              <a:t>2026-02-06</a:t>
            </a:r>
            <a:endParaRPr lang="en-US" sz="1200" dirty="0"/>
          </a:p>
        </p:txBody>
      </p:sp>
      <p:sp>
        <p:nvSpPr>
          <p:cNvPr id="21" name="Shape 18"/>
          <p:cNvSpPr/>
          <p:nvPr/>
        </p:nvSpPr>
        <p:spPr>
          <a:xfrm>
            <a:off x="1865376" y="4138803"/>
            <a:ext cx="146304" cy="146304"/>
          </a:xfrm>
          <a:prstGeom prst="ellipse">
            <a:avLst/>
          </a:prstGeom>
          <a:solidFill>
            <a:schemeClr val="accent1"/>
          </a:solidFill>
          <a:ln w="12700">
            <a:solidFill>
              <a:schemeClr val="accent1">
                <a:alpha val="0"/>
              </a:schemeClr>
            </a:solidFill>
            <a:prstDash val="solid"/>
          </a:ln>
        </p:spPr>
      </p:sp>
      <p:sp>
        <p:nvSpPr>
          <p:cNvPr id="22" name="Text 19"/>
          <p:cNvSpPr txBox="1"/>
          <p:nvPr/>
        </p:nvSpPr>
        <p:spPr>
          <a:xfrm>
            <a:off x="2194560" y="3824478"/>
            <a:ext cx="6492240" cy="774954"/>
          </a:xfrm>
          <a:prstGeom prst="rect">
            <a:avLst/>
          </a:prstGeom>
          <a:noFill/>
          <a:ln/>
        </p:spPr>
        <p:txBody>
          <a:bodyPr wrap="square" lIns="0" tIns="0" rIns="0" bIns="0" rtlCol="0" anchor="ctr"/>
          <a:lstStyle/>
          <a:p>
            <a:pPr algn="l" indent="0" marL="0">
              <a:lnSpc>
                <a:spcPct val="105000"/>
              </a:lnSpc>
              <a:spcAft>
                <a:spcPts val="100"/>
              </a:spcAft>
              <a:buNone/>
            </a:pPr>
            <a:r>
              <a:rPr lang="en-US" sz="1400" b="1" dirty="0">
                <a:solidFill>
                  <a:schemeClr val="tx1"/>
                </a:solidFill>
              </a:rPr>
              <a:t>八部门新《通知》（银发〔2026〕42 号）</a:t>
            </a:r>
            <a:endParaRPr lang="en-US" sz="1200" dirty="0"/>
          </a:p>
          <a:p>
            <a:pPr algn="l" indent="0" marL="0">
              <a:lnSpc>
                <a:spcPct val="105000"/>
              </a:lnSpc>
              <a:buNone/>
            </a:pPr>
            <a:r>
              <a:rPr lang="en-US" sz="1200" dirty="0">
                <a:solidFill>
                  <a:schemeClr val="accent4"/>
                </a:solidFill>
              </a:rPr>
              <a:t>据报道：“境内严禁、境外严管”，RWA 代币化纳入监管（以原文为准）</a:t>
            </a:r>
            <a:endParaRPr lang="en-US" sz="1200" dirty="0"/>
          </a:p>
        </p:txBody>
      </p:sp>
      <p:sp>
        <p:nvSpPr>
          <p:cNvPr id="23" name="Shape 20"/>
          <p:cNvSpPr/>
          <p:nvPr/>
        </p:nvSpPr>
        <p:spPr>
          <a:xfrm>
            <a:off x="457200" y="4800600"/>
            <a:ext cx="2621280" cy="1325880"/>
          </a:xfrm>
          <a:prstGeom prst="roundRect">
            <a:avLst>
              <a:gd name="adj" fmla="val 5517"/>
            </a:avLst>
          </a:prstGeom>
          <a:solidFill>
            <a:schemeClr val="bg2"/>
          </a:solidFill>
          <a:ln w="12700">
            <a:solidFill>
              <a:schemeClr val="bg2">
                <a:alpha val="0"/>
              </a:schemeClr>
            </a:solidFill>
            <a:prstDash val="solid"/>
          </a:ln>
        </p:spPr>
      </p:sp>
      <p:sp>
        <p:nvSpPr>
          <p:cNvPr id="24" name="Text 21"/>
          <p:cNvSpPr txBox="1"/>
          <p:nvPr/>
        </p:nvSpPr>
        <p:spPr>
          <a:xfrm>
            <a:off x="640080" y="4965192"/>
            <a:ext cx="2255520" cy="269748"/>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rPr>
              <a:t>美国</a:t>
            </a:r>
            <a:endParaRPr lang="en-US" sz="1500" dirty="0"/>
          </a:p>
        </p:txBody>
      </p:sp>
      <p:sp>
        <p:nvSpPr>
          <p:cNvPr id="25" name="Text 22"/>
          <p:cNvSpPr txBox="1"/>
          <p:nvPr/>
        </p:nvSpPr>
        <p:spPr>
          <a:xfrm>
            <a:off x="640080" y="5289804"/>
            <a:ext cx="2255520" cy="726948"/>
          </a:xfrm>
          <a:prstGeom prst="rect">
            <a:avLst/>
          </a:prstGeom>
          <a:noFill/>
          <a:ln/>
        </p:spPr>
        <p:txBody>
          <a:bodyPr wrap="square" lIns="0" tIns="0" rIns="0" bIns="0" rtlCol="0" anchor="t"/>
          <a:lstStyle/>
          <a:p>
            <a:pPr algn="l" indent="0" marL="0">
              <a:lnSpc>
                <a:spcPct val="105000"/>
              </a:lnSpc>
              <a:buNone/>
            </a:pPr>
            <a:r>
              <a:rPr lang="en-US" sz="1250" dirty="0">
                <a:solidFill>
                  <a:schemeClr val="accent4"/>
                </a:solidFill>
              </a:rPr>
              <a:t>现货 ETF（2024）；战略比特币储备（2025）；GENIUS 法案（2025）</a:t>
            </a:r>
            <a:endParaRPr lang="en-US" sz="1250" dirty="0"/>
          </a:p>
        </p:txBody>
      </p:sp>
      <p:sp>
        <p:nvSpPr>
          <p:cNvPr id="26" name="Shape 23"/>
          <p:cNvSpPr/>
          <p:nvPr/>
        </p:nvSpPr>
        <p:spPr>
          <a:xfrm>
            <a:off x="3261360" y="4800600"/>
            <a:ext cx="2621280" cy="1325880"/>
          </a:xfrm>
          <a:prstGeom prst="roundRect">
            <a:avLst>
              <a:gd name="adj" fmla="val 5517"/>
            </a:avLst>
          </a:prstGeom>
          <a:solidFill>
            <a:schemeClr val="bg2"/>
          </a:solidFill>
          <a:ln w="12700">
            <a:solidFill>
              <a:schemeClr val="bg2">
                <a:alpha val="0"/>
              </a:schemeClr>
            </a:solidFill>
            <a:prstDash val="solid"/>
          </a:ln>
        </p:spPr>
      </p:sp>
      <p:sp>
        <p:nvSpPr>
          <p:cNvPr id="27" name="Text 24"/>
          <p:cNvSpPr txBox="1"/>
          <p:nvPr/>
        </p:nvSpPr>
        <p:spPr>
          <a:xfrm>
            <a:off x="3444240" y="4965192"/>
            <a:ext cx="2255520" cy="269748"/>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rPr>
              <a:t>欧盟</a:t>
            </a:r>
            <a:endParaRPr lang="en-US" sz="1500" dirty="0"/>
          </a:p>
        </p:txBody>
      </p:sp>
      <p:sp>
        <p:nvSpPr>
          <p:cNvPr id="28" name="Text 25"/>
          <p:cNvSpPr txBox="1"/>
          <p:nvPr/>
        </p:nvSpPr>
        <p:spPr>
          <a:xfrm>
            <a:off x="3444240" y="5289804"/>
            <a:ext cx="2255520" cy="726948"/>
          </a:xfrm>
          <a:prstGeom prst="rect">
            <a:avLst/>
          </a:prstGeom>
          <a:noFill/>
          <a:ln/>
        </p:spPr>
        <p:txBody>
          <a:bodyPr wrap="square" lIns="0" tIns="0" rIns="0" bIns="0" rtlCol="0" anchor="t"/>
          <a:lstStyle/>
          <a:p>
            <a:pPr algn="l" indent="0" marL="0">
              <a:lnSpc>
                <a:spcPct val="105000"/>
              </a:lnSpc>
              <a:buNone/>
            </a:pPr>
            <a:r>
              <a:rPr lang="en-US" sz="1250" dirty="0">
                <a:solidFill>
                  <a:schemeClr val="accent4"/>
                </a:solidFill>
              </a:rPr>
              <a:t>MiCA 于 2024-12 全面适用</a:t>
            </a:r>
            <a:endParaRPr lang="en-US" sz="1250" dirty="0"/>
          </a:p>
        </p:txBody>
      </p:sp>
      <p:sp>
        <p:nvSpPr>
          <p:cNvPr id="29" name="Shape 26"/>
          <p:cNvSpPr/>
          <p:nvPr/>
        </p:nvSpPr>
        <p:spPr>
          <a:xfrm>
            <a:off x="6065520" y="4800600"/>
            <a:ext cx="2621280" cy="1325880"/>
          </a:xfrm>
          <a:prstGeom prst="roundRect">
            <a:avLst>
              <a:gd name="adj" fmla="val 5517"/>
            </a:avLst>
          </a:prstGeom>
          <a:solidFill>
            <a:schemeClr val="bg2"/>
          </a:solidFill>
          <a:ln w="12700">
            <a:solidFill>
              <a:schemeClr val="bg2">
                <a:alpha val="0"/>
              </a:schemeClr>
            </a:solidFill>
            <a:prstDash val="solid"/>
          </a:ln>
        </p:spPr>
      </p:sp>
      <p:sp>
        <p:nvSpPr>
          <p:cNvPr id="30" name="Text 27"/>
          <p:cNvSpPr txBox="1"/>
          <p:nvPr/>
        </p:nvSpPr>
        <p:spPr>
          <a:xfrm>
            <a:off x="6248400" y="4965192"/>
            <a:ext cx="2255520" cy="269748"/>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rPr>
              <a:t>香港</a:t>
            </a:r>
            <a:endParaRPr lang="en-US" sz="1500" dirty="0"/>
          </a:p>
        </p:txBody>
      </p:sp>
      <p:sp>
        <p:nvSpPr>
          <p:cNvPr id="31" name="Text 28"/>
          <p:cNvSpPr txBox="1"/>
          <p:nvPr/>
        </p:nvSpPr>
        <p:spPr>
          <a:xfrm>
            <a:off x="6248400" y="5289804"/>
            <a:ext cx="2255520" cy="726948"/>
          </a:xfrm>
          <a:prstGeom prst="rect">
            <a:avLst/>
          </a:prstGeom>
          <a:noFill/>
          <a:ln/>
        </p:spPr>
        <p:txBody>
          <a:bodyPr wrap="square" lIns="0" tIns="0" rIns="0" bIns="0" rtlCol="0" anchor="t"/>
          <a:lstStyle/>
          <a:p>
            <a:pPr algn="l" indent="0" marL="0">
              <a:lnSpc>
                <a:spcPct val="105000"/>
              </a:lnSpc>
              <a:buNone/>
            </a:pPr>
            <a:r>
              <a:rPr lang="en-US" sz="1250" dirty="0">
                <a:solidFill>
                  <a:schemeClr val="accent4"/>
                </a:solidFill>
              </a:rPr>
              <a:t>2023-06 起实行虚拟资产交易平台发牌制度</a:t>
            </a:r>
            <a:endParaRPr lang="en-US" sz="125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与你有关：识别“币圈”骗局的 5 个信号</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不足 · 风险</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来源：国家反诈中心；公安机关反诈宣传材料</a:t>
            </a:r>
            <a:endParaRPr lang="en-US" sz="1000" dirty="0"/>
          </a:p>
        </p:txBody>
      </p:sp>
      <p:sp>
        <p:nvSpPr>
          <p:cNvPr id="6" name="Shape 3"/>
          <p:cNvSpPr/>
          <p:nvPr/>
        </p:nvSpPr>
        <p:spPr>
          <a:xfrm>
            <a:off x="457200" y="1371600"/>
            <a:ext cx="8229600" cy="658368"/>
          </a:xfrm>
          <a:prstGeom prst="roundRect">
            <a:avLst>
              <a:gd name="adj" fmla="val 11111"/>
            </a:avLst>
          </a:prstGeom>
          <a:solidFill>
            <a:schemeClr val="bg2"/>
          </a:solidFill>
          <a:ln w="12700">
            <a:solidFill>
              <a:schemeClr val="bg2">
                <a:alpha val="0"/>
              </a:schemeClr>
            </a:solidFill>
            <a:prstDash val="solid"/>
          </a:ln>
        </p:spPr>
      </p:sp>
      <p:sp>
        <p:nvSpPr>
          <p:cNvPr id="7" name="Shape 4"/>
          <p:cNvSpPr/>
          <p:nvPr/>
        </p:nvSpPr>
        <p:spPr>
          <a:xfrm>
            <a:off x="594360" y="1453896"/>
            <a:ext cx="493776" cy="493776"/>
          </a:xfrm>
          <a:prstGeom prst="ellipse">
            <a:avLst/>
          </a:prstGeom>
          <a:solidFill>
            <a:schemeClr val="accent2"/>
          </a:solidFill>
          <a:ln w="12700">
            <a:solidFill>
              <a:schemeClr val="accent2">
                <a:alpha val="0"/>
              </a:schemeClr>
            </a:solidFill>
            <a:prstDash val="solid"/>
          </a:ln>
        </p:spPr>
      </p:sp>
      <p:sp>
        <p:nvSpPr>
          <p:cNvPr id="8" name="Text 5"/>
          <p:cNvSpPr txBox="1"/>
          <p:nvPr/>
        </p:nvSpPr>
        <p:spPr>
          <a:xfrm>
            <a:off x="594360" y="1453896"/>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1325880" y="1371600"/>
            <a:ext cx="7223760" cy="658368"/>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承诺</a:t>
            </a:r>
            <a:pPr algn="l" indent="0" marL="0">
              <a:lnSpc>
                <a:spcPct val="105000"/>
              </a:lnSpc>
              <a:buNone/>
            </a:pPr>
            <a:r>
              <a:rPr lang="en-US" sz="1600" b="1" dirty="0">
                <a:solidFill>
                  <a:schemeClr val="tx1"/>
                </a:solidFill>
              </a:rPr>
              <a:t>高收益 / 保本</a:t>
            </a:r>
            <a:pPr algn="l" indent="0" marL="0">
              <a:lnSpc>
                <a:spcPct val="105000"/>
              </a:lnSpc>
              <a:buNone/>
            </a:pPr>
            <a:r>
              <a:rPr lang="en-US" sz="1600" dirty="0">
                <a:solidFill>
                  <a:schemeClr val="tx1"/>
                </a:solidFill>
              </a:rPr>
              <a:t>，“稳赚不赔”</a:t>
            </a:r>
            <a:endParaRPr lang="en-US" sz="1600" dirty="0"/>
          </a:p>
        </p:txBody>
      </p:sp>
      <p:sp>
        <p:nvSpPr>
          <p:cNvPr id="10" name="Shape 7"/>
          <p:cNvSpPr/>
          <p:nvPr/>
        </p:nvSpPr>
        <p:spPr>
          <a:xfrm>
            <a:off x="457200" y="2139696"/>
            <a:ext cx="8229600" cy="658368"/>
          </a:xfrm>
          <a:prstGeom prst="roundRect">
            <a:avLst>
              <a:gd name="adj" fmla="val 11111"/>
            </a:avLst>
          </a:prstGeom>
          <a:solidFill>
            <a:schemeClr val="bg2"/>
          </a:solidFill>
          <a:ln w="12700">
            <a:solidFill>
              <a:schemeClr val="bg2">
                <a:alpha val="0"/>
              </a:schemeClr>
            </a:solidFill>
            <a:prstDash val="solid"/>
          </a:ln>
        </p:spPr>
      </p:sp>
      <p:sp>
        <p:nvSpPr>
          <p:cNvPr id="11" name="Shape 8"/>
          <p:cNvSpPr/>
          <p:nvPr/>
        </p:nvSpPr>
        <p:spPr>
          <a:xfrm>
            <a:off x="594360" y="2221992"/>
            <a:ext cx="493776" cy="493776"/>
          </a:xfrm>
          <a:prstGeom prst="ellipse">
            <a:avLst/>
          </a:prstGeom>
          <a:solidFill>
            <a:schemeClr val="accent2"/>
          </a:solidFill>
          <a:ln w="12700">
            <a:solidFill>
              <a:schemeClr val="accent2">
                <a:alpha val="0"/>
              </a:schemeClr>
            </a:solidFill>
            <a:prstDash val="solid"/>
          </a:ln>
        </p:spPr>
      </p:sp>
      <p:sp>
        <p:nvSpPr>
          <p:cNvPr id="12" name="Text 9"/>
          <p:cNvSpPr txBox="1"/>
          <p:nvPr/>
        </p:nvSpPr>
        <p:spPr>
          <a:xfrm>
            <a:off x="594360" y="2221992"/>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1325880" y="2139696"/>
            <a:ext cx="7223760" cy="658368"/>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要你</a:t>
            </a:r>
            <a:pPr algn="l" indent="0" marL="0">
              <a:lnSpc>
                <a:spcPct val="105000"/>
              </a:lnSpc>
              <a:buNone/>
            </a:pPr>
            <a:r>
              <a:rPr lang="en-US" sz="1600" b="1" dirty="0">
                <a:solidFill>
                  <a:schemeClr val="tx1"/>
                </a:solidFill>
              </a:rPr>
              <a:t>拉人头</a:t>
            </a:r>
            <a:pPr algn="l" indent="0" marL="0">
              <a:lnSpc>
                <a:spcPct val="105000"/>
              </a:lnSpc>
              <a:buNone/>
            </a:pPr>
            <a:r>
              <a:rPr lang="en-US" sz="1600" dirty="0">
                <a:solidFill>
                  <a:schemeClr val="tx1"/>
                </a:solidFill>
              </a:rPr>
              <a:t>、层级返利（传销币、空气币）</a:t>
            </a:r>
            <a:endParaRPr lang="en-US" sz="1600" dirty="0"/>
          </a:p>
        </p:txBody>
      </p:sp>
      <p:sp>
        <p:nvSpPr>
          <p:cNvPr id="14" name="Shape 11"/>
          <p:cNvSpPr/>
          <p:nvPr/>
        </p:nvSpPr>
        <p:spPr>
          <a:xfrm>
            <a:off x="457200" y="2907792"/>
            <a:ext cx="8229600" cy="658368"/>
          </a:xfrm>
          <a:prstGeom prst="roundRect">
            <a:avLst>
              <a:gd name="adj" fmla="val 11111"/>
            </a:avLst>
          </a:prstGeom>
          <a:solidFill>
            <a:schemeClr val="bg2"/>
          </a:solidFill>
          <a:ln w="12700">
            <a:solidFill>
              <a:schemeClr val="bg2">
                <a:alpha val="0"/>
              </a:schemeClr>
            </a:solidFill>
            <a:prstDash val="solid"/>
          </a:ln>
        </p:spPr>
      </p:sp>
      <p:sp>
        <p:nvSpPr>
          <p:cNvPr id="15" name="Shape 12"/>
          <p:cNvSpPr/>
          <p:nvPr/>
        </p:nvSpPr>
        <p:spPr>
          <a:xfrm>
            <a:off x="594360" y="2990088"/>
            <a:ext cx="493776" cy="493776"/>
          </a:xfrm>
          <a:prstGeom prst="ellipse">
            <a:avLst/>
          </a:prstGeom>
          <a:solidFill>
            <a:schemeClr val="accent2"/>
          </a:solidFill>
          <a:ln w="12700">
            <a:solidFill>
              <a:schemeClr val="accent2">
                <a:alpha val="0"/>
              </a:schemeClr>
            </a:solidFill>
            <a:prstDash val="solid"/>
          </a:ln>
        </p:spPr>
      </p:sp>
      <p:sp>
        <p:nvSpPr>
          <p:cNvPr id="16" name="Text 13"/>
          <p:cNvSpPr txBox="1"/>
          <p:nvPr/>
        </p:nvSpPr>
        <p:spPr>
          <a:xfrm>
            <a:off x="594360" y="299008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1325880" y="2907792"/>
            <a:ext cx="7223760" cy="658368"/>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网上结识的“恋人 / 导师”带你</a:t>
            </a:r>
            <a:pPr algn="l" indent="0" marL="0">
              <a:lnSpc>
                <a:spcPct val="105000"/>
              </a:lnSpc>
              <a:buNone/>
            </a:pPr>
            <a:r>
              <a:rPr lang="en-US" sz="1600" b="1" dirty="0">
                <a:solidFill>
                  <a:schemeClr val="tx1"/>
                </a:solidFill>
              </a:rPr>
              <a:t>投资</a:t>
            </a:r>
            <a:pPr algn="l" indent="0" marL="0">
              <a:lnSpc>
                <a:spcPct val="105000"/>
              </a:lnSpc>
              <a:buNone/>
            </a:pPr>
            <a:r>
              <a:rPr lang="en-US" sz="1600" dirty="0">
                <a:solidFill>
                  <a:schemeClr val="tx1"/>
                </a:solidFill>
              </a:rPr>
              <a:t>（杀猪盘）</a:t>
            </a:r>
            <a:endParaRPr lang="en-US" sz="1600" dirty="0"/>
          </a:p>
        </p:txBody>
      </p:sp>
      <p:sp>
        <p:nvSpPr>
          <p:cNvPr id="18" name="Shape 15"/>
          <p:cNvSpPr/>
          <p:nvPr/>
        </p:nvSpPr>
        <p:spPr>
          <a:xfrm>
            <a:off x="457200" y="3675888"/>
            <a:ext cx="8229600" cy="658368"/>
          </a:xfrm>
          <a:prstGeom prst="roundRect">
            <a:avLst>
              <a:gd name="adj" fmla="val 11111"/>
            </a:avLst>
          </a:prstGeom>
          <a:solidFill>
            <a:schemeClr val="bg2"/>
          </a:solidFill>
          <a:ln w="12700">
            <a:solidFill>
              <a:schemeClr val="bg2">
                <a:alpha val="0"/>
              </a:schemeClr>
            </a:solidFill>
            <a:prstDash val="solid"/>
          </a:ln>
        </p:spPr>
      </p:sp>
      <p:sp>
        <p:nvSpPr>
          <p:cNvPr id="19" name="Shape 16"/>
          <p:cNvSpPr/>
          <p:nvPr/>
        </p:nvSpPr>
        <p:spPr>
          <a:xfrm>
            <a:off x="594360" y="3758184"/>
            <a:ext cx="493776" cy="493776"/>
          </a:xfrm>
          <a:prstGeom prst="ellipse">
            <a:avLst/>
          </a:prstGeom>
          <a:solidFill>
            <a:schemeClr val="accent2"/>
          </a:solidFill>
          <a:ln w="12700">
            <a:solidFill>
              <a:schemeClr val="accent2">
                <a:alpha val="0"/>
              </a:schemeClr>
            </a:solidFill>
            <a:prstDash val="solid"/>
          </a:ln>
        </p:spPr>
      </p:sp>
      <p:sp>
        <p:nvSpPr>
          <p:cNvPr id="20" name="Text 17"/>
          <p:cNvSpPr txBox="1"/>
          <p:nvPr/>
        </p:nvSpPr>
        <p:spPr>
          <a:xfrm>
            <a:off x="594360" y="3758184"/>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8"/>
          <p:cNvSpPr txBox="1"/>
          <p:nvPr/>
        </p:nvSpPr>
        <p:spPr>
          <a:xfrm>
            <a:off x="1325880" y="3675888"/>
            <a:ext cx="7223760" cy="658368"/>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要你把钱换成 </a:t>
            </a:r>
            <a:pPr algn="l" indent="0" marL="0">
              <a:lnSpc>
                <a:spcPct val="105000"/>
              </a:lnSpc>
              <a:buNone/>
            </a:pPr>
            <a:r>
              <a:rPr lang="en-US" sz="1600" b="1" dirty="0">
                <a:solidFill>
                  <a:schemeClr val="tx1"/>
                </a:solidFill>
              </a:rPr>
              <a:t>USDT 转到指定平台</a:t>
            </a:r>
            <a:pPr algn="l" indent="0" marL="0">
              <a:lnSpc>
                <a:spcPct val="105000"/>
              </a:lnSpc>
              <a:buNone/>
            </a:pPr>
            <a:r>
              <a:rPr lang="en-US" sz="1600" dirty="0">
                <a:solidFill>
                  <a:schemeClr val="tx1"/>
                </a:solidFill>
              </a:rPr>
              <a:t>，或帮人“跑分”</a:t>
            </a:r>
            <a:endParaRPr lang="en-US" sz="1600" dirty="0"/>
          </a:p>
        </p:txBody>
      </p:sp>
      <p:sp>
        <p:nvSpPr>
          <p:cNvPr id="22" name="Shape 19"/>
          <p:cNvSpPr/>
          <p:nvPr/>
        </p:nvSpPr>
        <p:spPr>
          <a:xfrm>
            <a:off x="457200" y="4443984"/>
            <a:ext cx="8229600" cy="658368"/>
          </a:xfrm>
          <a:prstGeom prst="roundRect">
            <a:avLst>
              <a:gd name="adj" fmla="val 11111"/>
            </a:avLst>
          </a:prstGeom>
          <a:solidFill>
            <a:schemeClr val="bg2"/>
          </a:solidFill>
          <a:ln w="12700">
            <a:solidFill>
              <a:schemeClr val="bg2">
                <a:alpha val="0"/>
              </a:schemeClr>
            </a:solidFill>
            <a:prstDash val="solid"/>
          </a:ln>
        </p:spPr>
      </p:sp>
      <p:sp>
        <p:nvSpPr>
          <p:cNvPr id="23" name="Shape 20"/>
          <p:cNvSpPr/>
          <p:nvPr/>
        </p:nvSpPr>
        <p:spPr>
          <a:xfrm>
            <a:off x="594360" y="4526280"/>
            <a:ext cx="493776" cy="493776"/>
          </a:xfrm>
          <a:prstGeom prst="ellipse">
            <a:avLst/>
          </a:prstGeom>
          <a:solidFill>
            <a:schemeClr val="accent2"/>
          </a:solidFill>
          <a:ln w="12700">
            <a:solidFill>
              <a:schemeClr val="accent2">
                <a:alpha val="0"/>
              </a:schemeClr>
            </a:solidFill>
            <a:prstDash val="solid"/>
          </a:ln>
        </p:spPr>
      </p:sp>
      <p:sp>
        <p:nvSpPr>
          <p:cNvPr id="24" name="Text 21"/>
          <p:cNvSpPr txBox="1"/>
          <p:nvPr/>
        </p:nvSpPr>
        <p:spPr>
          <a:xfrm>
            <a:off x="594360" y="452628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Text 22"/>
          <p:cNvSpPr txBox="1"/>
          <p:nvPr/>
        </p:nvSpPr>
        <p:spPr>
          <a:xfrm>
            <a:off x="1325880" y="4443984"/>
            <a:ext cx="7223760" cy="658368"/>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索要</a:t>
            </a:r>
            <a:pPr algn="l" indent="0" marL="0">
              <a:lnSpc>
                <a:spcPct val="105000"/>
              </a:lnSpc>
              <a:buNone/>
            </a:pPr>
            <a:r>
              <a:rPr lang="en-US" sz="1600" b="1" dirty="0">
                <a:solidFill>
                  <a:schemeClr val="tx1"/>
                </a:solidFill>
              </a:rPr>
              <a:t>助记词 / 私钥</a:t>
            </a:r>
            <a:pPr algn="l" indent="0" marL="0">
              <a:lnSpc>
                <a:spcPct val="105000"/>
              </a:lnSpc>
              <a:buNone/>
            </a:pPr>
            <a:r>
              <a:rPr lang="en-US" sz="1600" dirty="0">
                <a:solidFill>
                  <a:schemeClr val="tx1"/>
                </a:solidFill>
              </a:rPr>
              <a:t>，或要你共享屏幕、下载陌生 App</a:t>
            </a:r>
            <a:endParaRPr lang="en-US" sz="1600" dirty="0"/>
          </a:p>
        </p:txBody>
      </p:sp>
      <p:sp>
        <p:nvSpPr>
          <p:cNvPr id="26" name="Shape 23"/>
          <p:cNvSpPr/>
          <p:nvPr/>
        </p:nvSpPr>
        <p:spPr>
          <a:xfrm>
            <a:off x="457200" y="5349240"/>
            <a:ext cx="8229600" cy="777240"/>
          </a:xfrm>
          <a:prstGeom prst="roundRect">
            <a:avLst>
              <a:gd name="adj" fmla="val 9412"/>
            </a:avLst>
          </a:prstGeom>
          <a:solidFill>
            <a:schemeClr val="accent2">
              <a:alpha val="12000"/>
            </a:schemeClr>
          </a:solidFill>
          <a:ln w="12700">
            <a:solidFill>
              <a:schemeClr val="accent2">
                <a:alpha val="0"/>
              </a:schemeClr>
            </a:solidFill>
            <a:prstDash val="solid"/>
          </a:ln>
        </p:spPr>
      </p:sp>
      <p:pic>
        <p:nvPicPr>
          <p:cNvPr id="27" name="Image 0" descr="warn">    </p:cNvPr>
          <p:cNvPicPr>
            <a:picLocks noChangeAspect="1"/>
          </p:cNvPicPr>
          <p:nvPr/>
        </p:nvPicPr>
        <p:blipFill>
          <a:blip r:embed="rId1"/>
          <a:stretch>
            <a:fillRect/>
          </a:stretch>
        </p:blipFill>
        <p:spPr>
          <a:xfrm>
            <a:off x="640080" y="5545836"/>
            <a:ext cx="384048" cy="384048"/>
          </a:xfrm>
          <a:prstGeom prst="rect">
            <a:avLst/>
          </a:prstGeom>
        </p:spPr>
      </p:pic>
      <p:sp>
        <p:nvSpPr>
          <p:cNvPr id="28" name="Text 24"/>
          <p:cNvSpPr txBox="1"/>
          <p:nvPr/>
        </p:nvSpPr>
        <p:spPr>
          <a:xfrm>
            <a:off x="1188720" y="5422392"/>
            <a:ext cx="7315200" cy="63093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遇到可疑情况：</a:t>
            </a:r>
            <a:pPr algn="l" indent="0" marL="0">
              <a:lnSpc>
                <a:spcPct val="105000"/>
              </a:lnSpc>
              <a:buNone/>
            </a:pPr>
            <a:r>
              <a:rPr lang="en-US" sz="1400" b="1" dirty="0">
                <a:solidFill>
                  <a:schemeClr val="tx1"/>
                </a:solidFill>
              </a:rPr>
              <a:t>停止转账、保存证据</a:t>
            </a:r>
            <a:pPr algn="l" indent="0" marL="0">
              <a:lnSpc>
                <a:spcPct val="105000"/>
              </a:lnSpc>
              <a:buNone/>
            </a:pPr>
            <a:r>
              <a:rPr lang="en-US" sz="1400" dirty="0">
                <a:solidFill>
                  <a:schemeClr val="tx1"/>
                </a:solidFill>
              </a:rPr>
              <a:t>，向公安机关报案，或使用</a:t>
            </a:r>
            <a:pPr algn="l" indent="0" marL="0">
              <a:lnSpc>
                <a:spcPct val="105000"/>
              </a:lnSpc>
              <a:buNone/>
            </a:pPr>
            <a:r>
              <a:rPr lang="en-US" sz="1400" b="1" dirty="0">
                <a:solidFill>
                  <a:schemeClr val="tx1"/>
                </a:solidFill>
              </a:rPr>
              <a:t>国家反诈中心 App</a:t>
            </a:r>
            <a:pPr algn="l" indent="0" marL="0">
              <a:lnSpc>
                <a:spcPct val="105000"/>
              </a:lnSpc>
              <a:buNone/>
            </a:pPr>
            <a:r>
              <a:rPr lang="en-US" sz="1400" dirty="0">
                <a:solidFill>
                  <a:schemeClr val="tx1"/>
                </a:solidFill>
              </a:rPr>
              <a:t>、拨打 </a:t>
            </a:r>
            <a:pPr algn="l" indent="0" marL="0">
              <a:lnSpc>
                <a:spcPct val="105000"/>
              </a:lnSpc>
              <a:buNone/>
            </a:pPr>
            <a:r>
              <a:rPr lang="en-US" sz="1400" b="1" dirty="0">
                <a:solidFill>
                  <a:schemeClr val="tx1"/>
                </a:solidFill>
              </a:rPr>
              <a:t>96110</a:t>
            </a:r>
            <a:pPr algn="l" indent="0" marL="0">
              <a:lnSpc>
                <a:spcPct val="105000"/>
              </a:lnSpc>
              <a:buNone/>
            </a:pPr>
            <a:r>
              <a:rPr lang="en-US" sz="1400" dirty="0">
                <a:solidFill>
                  <a:schemeClr val="tx1"/>
                </a:solidFill>
              </a:rPr>
              <a:t> 预警劝阻专线。</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随堂小测：比特币的不足</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随堂小测 · 不足</a:t>
            </a:r>
            <a:endParaRPr lang="en-US" sz="1200" dirty="0"/>
          </a:p>
        </p:txBody>
      </p:sp>
      <p:sp>
        <p:nvSpPr>
          <p:cNvPr id="5" name="Shape 2"/>
          <p:cNvSpPr/>
          <p:nvPr/>
        </p:nvSpPr>
        <p:spPr>
          <a:xfrm>
            <a:off x="457200" y="1371600"/>
            <a:ext cx="8229600" cy="1417320"/>
          </a:xfrm>
          <a:prstGeom prst="roundRect">
            <a:avLst>
              <a:gd name="adj" fmla="val 5161"/>
            </a:avLst>
          </a:prstGeom>
          <a:solidFill>
            <a:schemeClr val="bg2"/>
          </a:solidFill>
          <a:ln w="12700">
            <a:solidFill>
              <a:schemeClr val="bg2">
                <a:alpha val="0"/>
              </a:schemeClr>
            </a:solidFill>
            <a:prstDash val="solid"/>
          </a:ln>
        </p:spPr>
      </p:sp>
      <p:sp>
        <p:nvSpPr>
          <p:cNvPr id="6" name="Shape 3"/>
          <p:cNvSpPr/>
          <p:nvPr/>
        </p:nvSpPr>
        <p:spPr>
          <a:xfrm>
            <a:off x="640080" y="1796796"/>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79679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北美比特币大会为什么一度停收比特币购票款？这反映了什么问题？</a:t>
            </a:r>
            <a:endParaRPr lang="en-US" sz="1500" dirty="0"/>
          </a:p>
        </p:txBody>
      </p:sp>
      <p:sp>
        <p:nvSpPr>
          <p:cNvPr id="9" name="Shape 6"/>
          <p:cNvSpPr/>
          <p:nvPr/>
        </p:nvSpPr>
        <p:spPr>
          <a:xfrm>
            <a:off x="7772400" y="1897380"/>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897380"/>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1" name="Shape 8"/>
          <p:cNvSpPr/>
          <p:nvPr/>
        </p:nvSpPr>
        <p:spPr>
          <a:xfrm>
            <a:off x="457200" y="2898648"/>
            <a:ext cx="8229600" cy="1417320"/>
          </a:xfrm>
          <a:prstGeom prst="roundRect">
            <a:avLst>
              <a:gd name="adj" fmla="val 5161"/>
            </a:avLst>
          </a:prstGeom>
          <a:solidFill>
            <a:schemeClr val="bg2"/>
          </a:solidFill>
          <a:ln w="12700">
            <a:solidFill>
              <a:schemeClr val="bg2">
                <a:alpha val="0"/>
              </a:schemeClr>
            </a:solidFill>
            <a:prstDash val="solid"/>
          </a:ln>
        </p:spPr>
      </p:sp>
      <p:sp>
        <p:nvSpPr>
          <p:cNvPr id="12" name="Shape 9"/>
          <p:cNvSpPr/>
          <p:nvPr/>
        </p:nvSpPr>
        <p:spPr>
          <a:xfrm>
            <a:off x="640080" y="3323844"/>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332384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971800"/>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为什么说“挖矿成本是价格底线”不成立？</a:t>
            </a:r>
            <a:endParaRPr lang="en-US" sz="1500" dirty="0"/>
          </a:p>
        </p:txBody>
      </p:sp>
      <p:sp>
        <p:nvSpPr>
          <p:cNvPr id="15" name="Shape 12"/>
          <p:cNvSpPr/>
          <p:nvPr/>
        </p:nvSpPr>
        <p:spPr>
          <a:xfrm>
            <a:off x="7772400" y="3424428"/>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342442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7" name="Shape 14"/>
          <p:cNvSpPr/>
          <p:nvPr/>
        </p:nvSpPr>
        <p:spPr>
          <a:xfrm>
            <a:off x="457200" y="4425696"/>
            <a:ext cx="8229600" cy="1417320"/>
          </a:xfrm>
          <a:prstGeom prst="roundRect">
            <a:avLst>
              <a:gd name="adj" fmla="val 5161"/>
            </a:avLst>
          </a:prstGeom>
          <a:solidFill>
            <a:schemeClr val="bg2"/>
          </a:solidFill>
          <a:ln w="12700">
            <a:solidFill>
              <a:schemeClr val="bg2">
                <a:alpha val="0"/>
              </a:schemeClr>
            </a:solidFill>
            <a:prstDash val="solid"/>
          </a:ln>
        </p:spPr>
      </p:sp>
      <p:sp>
        <p:nvSpPr>
          <p:cNvPr id="18" name="Shape 15"/>
          <p:cNvSpPr/>
          <p:nvPr/>
        </p:nvSpPr>
        <p:spPr>
          <a:xfrm>
            <a:off x="640080" y="485089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85089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4498848"/>
            <a:ext cx="6126480" cy="1271016"/>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比特币是“假名”而不是“匿名”：请各用一个案例说明。</a:t>
            </a:r>
            <a:endParaRPr lang="en-US" sz="1500" dirty="0"/>
          </a:p>
        </p:txBody>
      </p:sp>
      <p:sp>
        <p:nvSpPr>
          <p:cNvPr id="21" name="Shape 18"/>
          <p:cNvSpPr/>
          <p:nvPr/>
        </p:nvSpPr>
        <p:spPr>
          <a:xfrm>
            <a:off x="7772400" y="495147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95147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09</a:t>
            </a:r>
            <a:endParaRPr lang="en-US" sz="9600" dirty="0"/>
          </a:p>
        </p:txBody>
      </p:sp>
      <p:pic>
        <p:nvPicPr>
          <p:cNvPr id="3" name="Image 0" descr="FaGlobe">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遗产与展望</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无论比特币本身能走多远，它留下的东西已经改变了金融。</a:t>
            </a:r>
            <a:endParaRPr lang="en-US" sz="2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比特币的遗产：不论币价如何，积木已经留下</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遗产</a:t>
            </a:r>
            <a:endParaRPr lang="en-US" sz="1200" dirty="0"/>
          </a:p>
        </p:txBody>
      </p:sp>
      <p:sp>
        <p:nvSpPr>
          <p:cNvPr id="4" name="source"/>
          <p:cNvSpPr txBox="1"/>
          <p:nvPr/>
        </p:nvSpPr>
        <p:spPr>
          <a:xfrm>
            <a:off x="457200" y="6181344"/>
            <a:ext cx="8229600" cy="237744"/>
          </a:xfrm>
          <a:prstGeom prst="rect">
            <a:avLst/>
          </a:prstGeom>
          <a:noFill/>
          <a:ln/>
        </p:spPr>
        <p:txBody>
          <a:bodyPr wrap="square" lIns="0" tIns="0" rIns="0" bIns="0" rtlCol="0" anchor="t"/>
          <a:lstStyle/>
          <a:p>
            <a:pPr indent="0" marL="0">
              <a:buNone/>
            </a:pPr>
            <a:r>
              <a:rPr lang="en-US" sz="1000" dirty="0">
                <a:solidFill>
                  <a:schemeClr val="accent4"/>
                </a:solidFill>
              </a:rPr>
              <a:t>来源：CoinGecko 代币死亡率研究（2025 年底，经媒体转述）；Prasad (2021)</a:t>
            </a:r>
            <a:endParaRPr lang="en-US" sz="1000" dirty="0"/>
          </a:p>
        </p:txBody>
      </p:sp>
      <p:sp>
        <p:nvSpPr>
          <p:cNvPr id="6" name="Shape 3"/>
          <p:cNvSpPr/>
          <p:nvPr/>
        </p:nvSpPr>
        <p:spPr>
          <a:xfrm>
            <a:off x="457200" y="1417320"/>
            <a:ext cx="4059936" cy="1842516"/>
          </a:xfrm>
          <a:prstGeom prst="roundRect">
            <a:avLst>
              <a:gd name="adj" fmla="val 3970"/>
            </a:avLst>
          </a:prstGeom>
          <a:solidFill>
            <a:schemeClr val="bg2"/>
          </a:solidFill>
          <a:ln w="12700">
            <a:solidFill>
              <a:schemeClr val="bg2">
                <a:alpha val="0"/>
              </a:schemeClr>
            </a:solidFill>
            <a:prstDash val="solid"/>
          </a:ln>
        </p:spPr>
      </p:sp>
      <p:sp>
        <p:nvSpPr>
          <p:cNvPr id="7" name="Shape 4"/>
          <p:cNvSpPr/>
          <p:nvPr/>
        </p:nvSpPr>
        <p:spPr>
          <a:xfrm>
            <a:off x="640080" y="1581912"/>
            <a:ext cx="502920" cy="502920"/>
          </a:xfrm>
          <a:prstGeom prst="ellipse">
            <a:avLst/>
          </a:prstGeom>
          <a:solidFill>
            <a:schemeClr val="accent1"/>
          </a:solidFill>
          <a:ln w="12700">
            <a:solidFill>
              <a:schemeClr val="accent1">
                <a:alpha val="0"/>
              </a:schemeClr>
            </a:solidFill>
            <a:prstDash val="solid"/>
          </a:ln>
        </p:spPr>
      </p:sp>
      <p:pic>
        <p:nvPicPr>
          <p:cNvPr id="8" name="Image 0" descr="FaMicrochip">    </p:cNvPr>
          <p:cNvPicPr>
            <a:picLocks noChangeAspect="1"/>
          </p:cNvPicPr>
          <p:nvPr/>
        </p:nvPicPr>
        <p:blipFill>
          <a:blip r:embed="rId1"/>
          <a:stretch>
            <a:fillRect/>
          </a:stretch>
        </p:blipFill>
        <p:spPr>
          <a:xfrm>
            <a:off x="750722" y="1692554"/>
            <a:ext cx="281635" cy="281635"/>
          </a:xfrm>
          <a:prstGeom prst="rect">
            <a:avLst/>
          </a:prstGeom>
        </p:spPr>
      </p:pic>
      <p:sp>
        <p:nvSpPr>
          <p:cNvPr id="9" name="Text 5"/>
          <p:cNvSpPr txBox="1"/>
          <p:nvPr/>
        </p:nvSpPr>
        <p:spPr>
          <a:xfrm>
            <a:off x="640080" y="2203704"/>
            <a:ext cx="3694176"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技术</a:t>
            </a:r>
            <a:endParaRPr lang="en-US" sz="1700" dirty="0"/>
          </a:p>
        </p:txBody>
      </p:sp>
      <p:sp>
        <p:nvSpPr>
          <p:cNvPr id="10" name="Text 6"/>
          <p:cNvSpPr txBox="1"/>
          <p:nvPr/>
        </p:nvSpPr>
        <p:spPr>
          <a:xfrm>
            <a:off x="640080" y="2561844"/>
            <a:ext cx="3694176" cy="588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公私钥 + 哈希 + PoW + 区块链 → 智能合约（以太坊）与去中心化应用。</a:t>
            </a:r>
            <a:endParaRPr lang="en-US" sz="1400" dirty="0"/>
          </a:p>
        </p:txBody>
      </p:sp>
      <p:sp>
        <p:nvSpPr>
          <p:cNvPr id="11" name="Shape 7"/>
          <p:cNvSpPr/>
          <p:nvPr/>
        </p:nvSpPr>
        <p:spPr>
          <a:xfrm>
            <a:off x="4626864" y="1417320"/>
            <a:ext cx="4059936" cy="1842516"/>
          </a:xfrm>
          <a:prstGeom prst="roundRect">
            <a:avLst>
              <a:gd name="adj" fmla="val 3970"/>
            </a:avLst>
          </a:prstGeom>
          <a:solidFill>
            <a:schemeClr val="bg2"/>
          </a:solidFill>
          <a:ln w="12700">
            <a:solidFill>
              <a:schemeClr val="bg2">
                <a:alpha val="0"/>
              </a:schemeClr>
            </a:solidFill>
            <a:prstDash val="solid"/>
          </a:ln>
        </p:spPr>
      </p:sp>
      <p:sp>
        <p:nvSpPr>
          <p:cNvPr id="12" name="Shape 8"/>
          <p:cNvSpPr/>
          <p:nvPr/>
        </p:nvSpPr>
        <p:spPr>
          <a:xfrm>
            <a:off x="4809744" y="1581912"/>
            <a:ext cx="502920" cy="502920"/>
          </a:xfrm>
          <a:prstGeom prst="ellipse">
            <a:avLst/>
          </a:prstGeom>
          <a:solidFill>
            <a:schemeClr val="accent1"/>
          </a:solidFill>
          <a:ln w="12700">
            <a:solidFill>
              <a:schemeClr val="accent1">
                <a:alpha val="0"/>
              </a:schemeClr>
            </a:solidFill>
            <a:prstDash val="solid"/>
          </a:ln>
        </p:spPr>
      </p:sp>
      <p:pic>
        <p:nvPicPr>
          <p:cNvPr id="13" name="Image 1" descr="FaUniversity">    </p:cNvPr>
          <p:cNvPicPr>
            <a:picLocks noChangeAspect="1"/>
          </p:cNvPicPr>
          <p:nvPr/>
        </p:nvPicPr>
        <p:blipFill>
          <a:blip r:embed="rId2"/>
          <a:stretch>
            <a:fillRect/>
          </a:stretch>
        </p:blipFill>
        <p:spPr>
          <a:xfrm>
            <a:off x="4920386" y="1692554"/>
            <a:ext cx="281635" cy="281635"/>
          </a:xfrm>
          <a:prstGeom prst="rect">
            <a:avLst/>
          </a:prstGeom>
        </p:spPr>
      </p:pic>
      <p:sp>
        <p:nvSpPr>
          <p:cNvPr id="14" name="Text 9"/>
          <p:cNvSpPr txBox="1"/>
          <p:nvPr/>
        </p:nvSpPr>
        <p:spPr>
          <a:xfrm>
            <a:off x="4809744" y="2203704"/>
            <a:ext cx="3694176"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金融</a:t>
            </a:r>
            <a:endParaRPr lang="en-US" sz="1700" dirty="0"/>
          </a:p>
        </p:txBody>
      </p:sp>
      <p:sp>
        <p:nvSpPr>
          <p:cNvPr id="15" name="Text 10"/>
          <p:cNvSpPr txBox="1"/>
          <p:nvPr/>
        </p:nvSpPr>
        <p:spPr>
          <a:xfrm>
            <a:off x="4809744" y="2561844"/>
            <a:ext cx="3694176" cy="588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加密资产成为一个资产类别：ETF、托管、衍生品、企业与国家储备。</a:t>
            </a:r>
            <a:endParaRPr lang="en-US" sz="1400" dirty="0"/>
          </a:p>
        </p:txBody>
      </p:sp>
      <p:sp>
        <p:nvSpPr>
          <p:cNvPr id="16" name="Shape 11"/>
          <p:cNvSpPr/>
          <p:nvPr/>
        </p:nvSpPr>
        <p:spPr>
          <a:xfrm>
            <a:off x="457200" y="3369564"/>
            <a:ext cx="4059936" cy="1842516"/>
          </a:xfrm>
          <a:prstGeom prst="roundRect">
            <a:avLst>
              <a:gd name="adj" fmla="val 3970"/>
            </a:avLst>
          </a:prstGeom>
          <a:solidFill>
            <a:schemeClr val="bg2"/>
          </a:solidFill>
          <a:ln w="12700">
            <a:solidFill>
              <a:schemeClr val="bg2">
                <a:alpha val="0"/>
              </a:schemeClr>
            </a:solidFill>
            <a:prstDash val="solid"/>
          </a:ln>
        </p:spPr>
      </p:sp>
      <p:sp>
        <p:nvSpPr>
          <p:cNvPr id="17" name="Shape 12"/>
          <p:cNvSpPr/>
          <p:nvPr/>
        </p:nvSpPr>
        <p:spPr>
          <a:xfrm>
            <a:off x="640080" y="3534156"/>
            <a:ext cx="502920" cy="502920"/>
          </a:xfrm>
          <a:prstGeom prst="ellipse">
            <a:avLst/>
          </a:prstGeom>
          <a:solidFill>
            <a:schemeClr val="accent1"/>
          </a:solidFill>
          <a:ln w="12700">
            <a:solidFill>
              <a:schemeClr val="accent1">
                <a:alpha val="0"/>
              </a:schemeClr>
            </a:solidFill>
            <a:prstDash val="solid"/>
          </a:ln>
        </p:spPr>
      </p:sp>
      <p:pic>
        <p:nvPicPr>
          <p:cNvPr id="18" name="Image 2" descr="FaCoins">    </p:cNvPr>
          <p:cNvPicPr>
            <a:picLocks noChangeAspect="1"/>
          </p:cNvPicPr>
          <p:nvPr/>
        </p:nvPicPr>
        <p:blipFill>
          <a:blip r:embed="rId3"/>
          <a:stretch>
            <a:fillRect/>
          </a:stretch>
        </p:blipFill>
        <p:spPr>
          <a:xfrm>
            <a:off x="750722" y="3644798"/>
            <a:ext cx="281635" cy="281635"/>
          </a:xfrm>
          <a:prstGeom prst="rect">
            <a:avLst/>
          </a:prstGeom>
        </p:spPr>
      </p:pic>
      <p:sp>
        <p:nvSpPr>
          <p:cNvPr id="19" name="Text 13"/>
          <p:cNvSpPr txBox="1"/>
          <p:nvPr/>
        </p:nvSpPr>
        <p:spPr>
          <a:xfrm>
            <a:off x="640080" y="4155948"/>
            <a:ext cx="3694176"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货币</a:t>
            </a:r>
            <a:endParaRPr lang="en-US" sz="1700" dirty="0"/>
          </a:p>
        </p:txBody>
      </p:sp>
      <p:sp>
        <p:nvSpPr>
          <p:cNvPr id="20" name="Text 14"/>
          <p:cNvSpPr txBox="1"/>
          <p:nvPr/>
        </p:nvSpPr>
        <p:spPr>
          <a:xfrm>
            <a:off x="640080" y="4514088"/>
            <a:ext cx="3694176" cy="588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倒逼稳定币与央行数字货币（如数字人民币）加速发展。</a:t>
            </a:r>
            <a:endParaRPr lang="en-US" sz="1400" dirty="0"/>
          </a:p>
        </p:txBody>
      </p:sp>
      <p:sp>
        <p:nvSpPr>
          <p:cNvPr id="21" name="Shape 15"/>
          <p:cNvSpPr/>
          <p:nvPr/>
        </p:nvSpPr>
        <p:spPr>
          <a:xfrm>
            <a:off x="4626864" y="3369564"/>
            <a:ext cx="4059936" cy="1842516"/>
          </a:xfrm>
          <a:prstGeom prst="roundRect">
            <a:avLst>
              <a:gd name="adj" fmla="val 3970"/>
            </a:avLst>
          </a:prstGeom>
          <a:solidFill>
            <a:schemeClr val="bg2"/>
          </a:solidFill>
          <a:ln w="12700">
            <a:solidFill>
              <a:schemeClr val="bg2">
                <a:alpha val="0"/>
              </a:schemeClr>
            </a:solidFill>
            <a:prstDash val="solid"/>
          </a:ln>
        </p:spPr>
      </p:sp>
      <p:sp>
        <p:nvSpPr>
          <p:cNvPr id="22" name="Shape 16"/>
          <p:cNvSpPr/>
          <p:nvPr/>
        </p:nvSpPr>
        <p:spPr>
          <a:xfrm>
            <a:off x="4809744" y="3534156"/>
            <a:ext cx="502920" cy="502920"/>
          </a:xfrm>
          <a:prstGeom prst="ellipse">
            <a:avLst/>
          </a:prstGeom>
          <a:solidFill>
            <a:schemeClr val="accent2"/>
          </a:solidFill>
          <a:ln w="12700">
            <a:solidFill>
              <a:schemeClr val="accent2">
                <a:alpha val="0"/>
              </a:schemeClr>
            </a:solidFill>
            <a:prstDash val="solid"/>
          </a:ln>
        </p:spPr>
      </p:sp>
      <p:pic>
        <p:nvPicPr>
          <p:cNvPr id="23" name="Image 3" descr="FaExclamationTriangle">    </p:cNvPr>
          <p:cNvPicPr>
            <a:picLocks noChangeAspect="1"/>
          </p:cNvPicPr>
          <p:nvPr/>
        </p:nvPicPr>
        <p:blipFill>
          <a:blip r:embed="rId4"/>
          <a:stretch>
            <a:fillRect/>
          </a:stretch>
        </p:blipFill>
        <p:spPr>
          <a:xfrm>
            <a:off x="4920386" y="3644798"/>
            <a:ext cx="281635" cy="281635"/>
          </a:xfrm>
          <a:prstGeom prst="rect">
            <a:avLst/>
          </a:prstGeom>
        </p:spPr>
      </p:pic>
      <p:sp>
        <p:nvSpPr>
          <p:cNvPr id="24" name="Text 17"/>
          <p:cNvSpPr txBox="1"/>
          <p:nvPr/>
        </p:nvSpPr>
        <p:spPr>
          <a:xfrm>
            <a:off x="4809744" y="4155948"/>
            <a:ext cx="3694176"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争议</a:t>
            </a:r>
            <a:endParaRPr lang="en-US" sz="1700" dirty="0"/>
          </a:p>
        </p:txBody>
      </p:sp>
      <p:sp>
        <p:nvSpPr>
          <p:cNvPr id="25" name="Text 18"/>
          <p:cNvSpPr txBox="1"/>
          <p:nvPr/>
        </p:nvSpPr>
        <p:spPr>
          <a:xfrm>
            <a:off x="4809744" y="4514088"/>
            <a:ext cx="3694176" cy="588264"/>
          </a:xfrm>
          <a:prstGeom prst="rect">
            <a:avLst/>
          </a:prstGeom>
          <a:noFill/>
          <a:ln/>
        </p:spPr>
        <p:txBody>
          <a:bodyPr wrap="square" lIns="0" tIns="0" rIns="0" bIns="0" rtlCol="0" anchor="t"/>
          <a:lstStyle/>
          <a:p>
            <a:pPr algn="l" indent="0" marL="0">
              <a:lnSpc>
                <a:spcPct val="105000"/>
              </a:lnSpc>
              <a:buNone/>
            </a:pPr>
            <a:r>
              <a:rPr lang="en-US" sz="1400" dirty="0">
                <a:solidFill>
                  <a:schemeClr val="accent4"/>
                </a:solidFill>
              </a:rPr>
              <a:t>能耗、监管、非法金融、投机泡沫与骗局。</a:t>
            </a:r>
            <a:endParaRPr lang="en-US" sz="1400" dirty="0"/>
          </a:p>
        </p:txBody>
      </p:sp>
      <p:sp>
        <p:nvSpPr>
          <p:cNvPr id="26" name="Shape 19"/>
          <p:cNvSpPr/>
          <p:nvPr/>
        </p:nvSpPr>
        <p:spPr>
          <a:xfrm>
            <a:off x="457200" y="5349240"/>
            <a:ext cx="8229600" cy="777240"/>
          </a:xfrm>
          <a:prstGeom prst="roundRect">
            <a:avLst>
              <a:gd name="adj" fmla="val 9412"/>
            </a:avLst>
          </a:prstGeom>
          <a:solidFill>
            <a:schemeClr val="accent1">
              <a:alpha val="12000"/>
            </a:schemeClr>
          </a:solidFill>
          <a:ln w="12700">
            <a:solidFill>
              <a:schemeClr val="accent1">
                <a:alpha val="0"/>
              </a:schemeClr>
            </a:solidFill>
            <a:prstDash val="solid"/>
          </a:ln>
        </p:spPr>
      </p:sp>
      <p:pic>
        <p:nvPicPr>
          <p:cNvPr id="27" name="Image 4" descr="key">    </p:cNvPr>
          <p:cNvPicPr>
            <a:picLocks noChangeAspect="1"/>
          </p:cNvPicPr>
          <p:nvPr/>
        </p:nvPicPr>
        <p:blipFill>
          <a:blip r:embed="rId5"/>
          <a:stretch>
            <a:fillRect/>
          </a:stretch>
        </p:blipFill>
        <p:spPr>
          <a:xfrm>
            <a:off x="640080" y="5545836"/>
            <a:ext cx="384048" cy="384048"/>
          </a:xfrm>
          <a:prstGeom prst="rect">
            <a:avLst/>
          </a:prstGeom>
        </p:spPr>
      </p:pic>
      <p:sp>
        <p:nvSpPr>
          <p:cNvPr id="28" name="Text 20"/>
          <p:cNvSpPr txBox="1"/>
          <p:nvPr/>
        </p:nvSpPr>
        <p:spPr>
          <a:xfrm>
            <a:off x="1188720" y="5422392"/>
            <a:ext cx="7315200" cy="630936"/>
          </a:xfrm>
          <a:prstGeom prst="rect">
            <a:avLst/>
          </a:prstGeom>
          <a:noFill/>
          <a:ln/>
        </p:spPr>
        <p:txBody>
          <a:bodyPr wrap="square" lIns="0" tIns="0" rIns="0" bIns="0" rtlCol="0" anchor="ctr"/>
          <a:lstStyle/>
          <a:p>
            <a:pPr algn="l" indent="0" marL="0">
              <a:lnSpc>
                <a:spcPct val="105000"/>
              </a:lnSpc>
              <a:buNone/>
            </a:pPr>
            <a:r>
              <a:rPr lang="en-US" sz="1400" dirty="0">
                <a:solidFill>
                  <a:schemeClr val="tx1"/>
                </a:solidFill>
              </a:rPr>
              <a:t>新对手层出不穷，却多数迅速消亡：CoinGecko 统计，截至 2025 年底其追踪的代币中 </a:t>
            </a:r>
            <a:pPr algn="l" indent="0" marL="0">
              <a:lnSpc>
                <a:spcPct val="105000"/>
              </a:lnSpc>
              <a:buNone/>
            </a:pPr>
            <a:r>
              <a:rPr lang="en-US" sz="1400" b="1" dirty="0">
                <a:solidFill>
                  <a:schemeClr val="tx1"/>
                </a:solidFill>
              </a:rPr>
              <a:t>53.2%</a:t>
            </a:r>
            <a:pPr algn="l" indent="0" marL="0">
              <a:lnSpc>
                <a:spcPct val="105000"/>
              </a:lnSpc>
              <a:buNone/>
            </a:pPr>
            <a:r>
              <a:rPr lang="en-US" sz="1400" dirty="0">
                <a:solidFill>
                  <a:schemeClr val="tx1"/>
                </a:solidFill>
              </a:rPr>
              <a:t> 已“死亡”，仅 2025 年就约 </a:t>
            </a:r>
            <a:pPr algn="l" indent="0" marL="0">
              <a:lnSpc>
                <a:spcPct val="105000"/>
              </a:lnSpc>
              <a:buNone/>
            </a:pPr>
            <a:r>
              <a:rPr lang="en-US" sz="1400" b="1" dirty="0">
                <a:solidFill>
                  <a:schemeClr val="tx1"/>
                </a:solidFill>
              </a:rPr>
              <a:t>1160 万</a:t>
            </a:r>
            <a:pPr algn="l" indent="0" marL="0">
              <a:lnSpc>
                <a:spcPct val="105000"/>
              </a:lnSpc>
              <a:buNone/>
            </a:pPr>
            <a:r>
              <a:rPr lang="en-US" sz="1400" dirty="0">
                <a:solidFill>
                  <a:schemeClr val="tx1"/>
                </a:solidFill>
              </a:rPr>
              <a:t>个。</a:t>
            </a:r>
            <a:endParaRPr lang="en-US" sz="14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下一章预告：从“去中心化的币”到“有人负责的币”</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展望</a:t>
            </a:r>
            <a:endParaRPr lang="en-US" sz="12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737360"/>
                <a:gridCol w="1463040"/>
                <a:gridCol w="1737360"/>
                <a:gridCol w="1737360"/>
                <a:gridCol w="1554480"/>
              </a:tblGrid>
              <a:tr h="457200">
                <a:tc>
                  <a:txBody>
                    <a:bodyPr/>
                    <a:lstStyle/>
                    <a:p>
                      <a:pPr algn="l" indent="0" marL="0">
                        <a:buNone/>
                      </a:pP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发行者</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价值基础</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账本</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典型用途</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822960">
                <a:tc>
                  <a:txBody>
                    <a:bodyPr/>
                    <a:lstStyle/>
                    <a:p>
                      <a:pPr algn="l" indent="0" marL="0">
                        <a:buNone/>
                      </a:pPr>
                      <a:r>
                        <a:rPr lang="en-US" sz="1400" b="1" dirty="0">
                          <a:solidFill>
                            <a:schemeClr val="tx1"/>
                          </a:solidFill>
                        </a:rPr>
                        <a:t>比特币</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协议（无发行者）</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稀缺 + 共识</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PoW 公有链</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价值贮藏、投机</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822960">
                <a:tc>
                  <a:txBody>
                    <a:bodyPr/>
                    <a:lstStyle/>
                    <a:p>
                      <a:pPr algn="l" indent="0" marL="0">
                        <a:buNone/>
                      </a:pPr>
                      <a:r>
                        <a:rPr lang="en-US" sz="1400" b="1" dirty="0">
                          <a:solidFill>
                            <a:schemeClr val="tx1"/>
                          </a:solidFill>
                        </a:rPr>
                        <a:t>以太坊</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协议 + 社区</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平台使用 + 质押收益</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PoS 公有链</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智能合约、DeFi</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822960">
                <a:tc>
                  <a:txBody>
                    <a:bodyPr/>
                    <a:lstStyle/>
                    <a:p>
                      <a:pPr algn="l" indent="0" marL="0">
                        <a:buNone/>
                      </a:pPr>
                      <a:r>
                        <a:rPr lang="en-US" sz="1400" b="1" dirty="0">
                          <a:solidFill>
                            <a:schemeClr val="tx1"/>
                          </a:solidFill>
                        </a:rPr>
                        <a:t>稳定币（USDT / USDC）</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私营公司</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储备资产（多为美元）</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依托公链</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交易结算、跨境支付</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822960">
                <a:tc>
                  <a:txBody>
                    <a:bodyPr/>
                    <a:lstStyle/>
                    <a:p>
                      <a:pPr algn="l" indent="0" marL="0">
                        <a:buNone/>
                      </a:pPr>
                      <a:r>
                        <a:rPr lang="en-US" sz="1400" b="1" dirty="0">
                          <a:solidFill>
                            <a:schemeClr val="tx1"/>
                          </a:solidFill>
                        </a:rPr>
                        <a:t>数字人民币</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中国人民银行</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国家信用</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中心化管理（双层体系）</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零售支付</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6" name="Shape 2"/>
          <p:cNvSpPr/>
          <p:nvPr/>
        </p:nvSpPr>
        <p:spPr>
          <a:xfrm>
            <a:off x="457200" y="5486400"/>
            <a:ext cx="8229600" cy="640080"/>
          </a:xfrm>
          <a:prstGeom prst="roundRect">
            <a:avLst>
              <a:gd name="adj" fmla="val 11429"/>
            </a:avLst>
          </a:prstGeom>
          <a:solidFill>
            <a:schemeClr val="accent1">
              <a:alpha val="12000"/>
            </a:schemeClr>
          </a:solidFill>
          <a:ln w="12700">
            <a:solidFill>
              <a:schemeClr val="accent1">
                <a:alpha val="0"/>
              </a:schemeClr>
            </a:solidFill>
            <a:prstDash val="solid"/>
          </a:ln>
        </p:spPr>
      </p:sp>
      <p:pic>
        <p:nvPicPr>
          <p:cNvPr id="7" name="Image 0" descr="ask">    </p:cNvPr>
          <p:cNvPicPr>
            <a:picLocks noChangeAspect="1"/>
          </p:cNvPicPr>
          <p:nvPr/>
        </p:nvPicPr>
        <p:blipFill>
          <a:blip r:embed="rId1"/>
          <a:stretch>
            <a:fillRect/>
          </a:stretch>
        </p:blipFill>
        <p:spPr>
          <a:xfrm>
            <a:off x="640080" y="5614416"/>
            <a:ext cx="384048" cy="384048"/>
          </a:xfrm>
          <a:prstGeom prst="rect">
            <a:avLst/>
          </a:prstGeom>
        </p:spPr>
      </p:pic>
      <p:sp>
        <p:nvSpPr>
          <p:cNvPr id="8" name="Text 3"/>
          <p:cNvSpPr txBox="1"/>
          <p:nvPr/>
        </p:nvSpPr>
        <p:spPr>
          <a:xfrm>
            <a:off x="1188720" y="5559552"/>
            <a:ext cx="7315200" cy="493776"/>
          </a:xfrm>
          <a:prstGeom prst="rect">
            <a:avLst/>
          </a:prstGeom>
          <a:noFill/>
          <a:ln/>
        </p:spPr>
        <p:txBody>
          <a:bodyPr wrap="square" lIns="0" tIns="0" rIns="0" bIns="0" rtlCol="0" anchor="ctr"/>
          <a:lstStyle/>
          <a:p>
            <a:pPr algn="l" indent="0" marL="0">
              <a:lnSpc>
                <a:spcPct val="105000"/>
              </a:lnSpc>
              <a:buNone/>
            </a:pPr>
            <a:r>
              <a:rPr lang="en-US" sz="1600" dirty="0">
                <a:solidFill>
                  <a:schemeClr val="tx1"/>
                </a:solidFill>
              </a:rPr>
              <a:t>问：这四类里，哪一类最可能成为你日常使用的“钱”？为什么？</a:t>
            </a:r>
            <a:endParaRPr lang="en-US" sz="16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全章回顾：一笔比特币交易的一生</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回顾</a:t>
            </a:r>
            <a:endParaRPr lang="en-US" sz="1200" dirty="0"/>
          </a:p>
        </p:txBody>
      </p:sp>
      <p:sp>
        <p:nvSpPr>
          <p:cNvPr id="5" name="Shape 2"/>
          <p:cNvSpPr/>
          <p:nvPr/>
        </p:nvSpPr>
        <p:spPr>
          <a:xfrm>
            <a:off x="457200" y="1417320"/>
            <a:ext cx="1975104" cy="2253996"/>
          </a:xfrm>
          <a:prstGeom prst="roundRect">
            <a:avLst>
              <a:gd name="adj" fmla="val 3704"/>
            </a:avLst>
          </a:prstGeom>
          <a:solidFill>
            <a:schemeClr val="bg2"/>
          </a:solidFill>
          <a:ln w="12700">
            <a:solidFill>
              <a:schemeClr val="bg2">
                <a:alpha val="0"/>
              </a:schemeClr>
            </a:solidFill>
            <a:prstDash val="solid"/>
          </a:ln>
        </p:spPr>
      </p:sp>
      <p:sp>
        <p:nvSpPr>
          <p:cNvPr id="6" name="Shape 3"/>
          <p:cNvSpPr/>
          <p:nvPr/>
        </p:nvSpPr>
        <p:spPr>
          <a:xfrm>
            <a:off x="640080" y="1581912"/>
            <a:ext cx="457200" cy="457200"/>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Text 5"/>
          <p:cNvSpPr txBox="1"/>
          <p:nvPr/>
        </p:nvSpPr>
        <p:spPr>
          <a:xfrm>
            <a:off x="640080" y="2148840"/>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签名</a:t>
            </a:r>
            <a:endParaRPr lang="en-US" sz="1700" dirty="0"/>
          </a:p>
        </p:txBody>
      </p:sp>
      <p:sp>
        <p:nvSpPr>
          <p:cNvPr id="9" name="Text 6"/>
          <p:cNvSpPr txBox="1"/>
          <p:nvPr/>
        </p:nvSpPr>
        <p:spPr>
          <a:xfrm>
            <a:off x="640080" y="2506980"/>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私钥签名，证明授权（积木一）</a:t>
            </a:r>
            <a:endParaRPr lang="en-US" sz="1300" dirty="0"/>
          </a:p>
        </p:txBody>
      </p:sp>
      <p:sp>
        <p:nvSpPr>
          <p:cNvPr id="10" name="Shape 7"/>
          <p:cNvSpPr/>
          <p:nvPr/>
        </p:nvSpPr>
        <p:spPr>
          <a:xfrm>
            <a:off x="2542032" y="1417320"/>
            <a:ext cx="1975104" cy="2253996"/>
          </a:xfrm>
          <a:prstGeom prst="roundRect">
            <a:avLst>
              <a:gd name="adj" fmla="val 3704"/>
            </a:avLst>
          </a:prstGeom>
          <a:solidFill>
            <a:schemeClr val="bg2"/>
          </a:solidFill>
          <a:ln w="12700">
            <a:solidFill>
              <a:schemeClr val="bg2">
                <a:alpha val="0"/>
              </a:schemeClr>
            </a:solidFill>
            <a:prstDash val="solid"/>
          </a:ln>
        </p:spPr>
      </p:sp>
      <p:sp>
        <p:nvSpPr>
          <p:cNvPr id="11" name="Shape 8"/>
          <p:cNvSpPr/>
          <p:nvPr/>
        </p:nvSpPr>
        <p:spPr>
          <a:xfrm>
            <a:off x="2724912" y="1581912"/>
            <a:ext cx="457200" cy="457200"/>
          </a:xfrm>
          <a:prstGeom prst="ellipse">
            <a:avLst/>
          </a:prstGeom>
          <a:solidFill>
            <a:schemeClr val="accent1"/>
          </a:solidFill>
          <a:ln w="12700">
            <a:solidFill>
              <a:schemeClr val="accent1">
                <a:alpha val="0"/>
              </a:schemeClr>
            </a:solidFill>
            <a:prstDash val="solid"/>
          </a:ln>
        </p:spPr>
      </p:sp>
      <p:sp>
        <p:nvSpPr>
          <p:cNvPr id="12" name="Text 9"/>
          <p:cNvSpPr txBox="1"/>
          <p:nvPr/>
        </p:nvSpPr>
        <p:spPr>
          <a:xfrm>
            <a:off x="2724912"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Text 10"/>
          <p:cNvSpPr txBox="1"/>
          <p:nvPr/>
        </p:nvSpPr>
        <p:spPr>
          <a:xfrm>
            <a:off x="2724912" y="2148840"/>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广播</a:t>
            </a:r>
            <a:endParaRPr lang="en-US" sz="1700" dirty="0"/>
          </a:p>
        </p:txBody>
      </p:sp>
      <p:sp>
        <p:nvSpPr>
          <p:cNvPr id="14" name="Text 11"/>
          <p:cNvSpPr txBox="1"/>
          <p:nvPr/>
        </p:nvSpPr>
        <p:spPr>
          <a:xfrm>
            <a:off x="2724912" y="2506980"/>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通过 P2P 网络发给全网</a:t>
            </a:r>
            <a:endParaRPr lang="en-US" sz="1300" dirty="0"/>
          </a:p>
        </p:txBody>
      </p:sp>
      <p:sp>
        <p:nvSpPr>
          <p:cNvPr id="15" name="Shape 12"/>
          <p:cNvSpPr/>
          <p:nvPr/>
        </p:nvSpPr>
        <p:spPr>
          <a:xfrm>
            <a:off x="4626864" y="1417320"/>
            <a:ext cx="1975104" cy="2253996"/>
          </a:xfrm>
          <a:prstGeom prst="roundRect">
            <a:avLst>
              <a:gd name="adj" fmla="val 3704"/>
            </a:avLst>
          </a:prstGeom>
          <a:solidFill>
            <a:schemeClr val="bg2"/>
          </a:solidFill>
          <a:ln w="12700">
            <a:solidFill>
              <a:schemeClr val="bg2">
                <a:alpha val="0"/>
              </a:schemeClr>
            </a:solidFill>
            <a:prstDash val="solid"/>
          </a:ln>
        </p:spPr>
      </p:sp>
      <p:sp>
        <p:nvSpPr>
          <p:cNvPr id="16" name="Shape 13"/>
          <p:cNvSpPr/>
          <p:nvPr/>
        </p:nvSpPr>
        <p:spPr>
          <a:xfrm>
            <a:off x="4809744" y="1581912"/>
            <a:ext cx="457200" cy="457200"/>
          </a:xfrm>
          <a:prstGeom prst="ellipse">
            <a:avLst/>
          </a:prstGeom>
          <a:solidFill>
            <a:schemeClr val="accent1"/>
          </a:solidFill>
          <a:ln w="12700">
            <a:solidFill>
              <a:schemeClr val="accent1">
                <a:alpha val="0"/>
              </a:schemeClr>
            </a:solidFill>
            <a:prstDash val="solid"/>
          </a:ln>
        </p:spPr>
      </p:sp>
      <p:sp>
        <p:nvSpPr>
          <p:cNvPr id="17" name="Text 14"/>
          <p:cNvSpPr txBox="1"/>
          <p:nvPr/>
        </p:nvSpPr>
        <p:spPr>
          <a:xfrm>
            <a:off x="4809744"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ext 15"/>
          <p:cNvSpPr txBox="1"/>
          <p:nvPr/>
        </p:nvSpPr>
        <p:spPr>
          <a:xfrm>
            <a:off x="4809744" y="2148840"/>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排队</a:t>
            </a:r>
            <a:endParaRPr lang="en-US" sz="1700" dirty="0"/>
          </a:p>
        </p:txBody>
      </p:sp>
      <p:sp>
        <p:nvSpPr>
          <p:cNvPr id="19" name="Text 16"/>
          <p:cNvSpPr txBox="1"/>
          <p:nvPr/>
        </p:nvSpPr>
        <p:spPr>
          <a:xfrm>
            <a:off x="4809744" y="2506980"/>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进入内存池，按手续费排序</a:t>
            </a:r>
            <a:endParaRPr lang="en-US" sz="1300" dirty="0"/>
          </a:p>
        </p:txBody>
      </p:sp>
      <p:sp>
        <p:nvSpPr>
          <p:cNvPr id="20" name="Shape 17"/>
          <p:cNvSpPr/>
          <p:nvPr/>
        </p:nvSpPr>
        <p:spPr>
          <a:xfrm>
            <a:off x="6711696" y="1417320"/>
            <a:ext cx="1975104" cy="2253996"/>
          </a:xfrm>
          <a:prstGeom prst="roundRect">
            <a:avLst>
              <a:gd name="adj" fmla="val 3704"/>
            </a:avLst>
          </a:prstGeom>
          <a:solidFill>
            <a:schemeClr val="bg2"/>
          </a:solidFill>
          <a:ln w="12700">
            <a:solidFill>
              <a:schemeClr val="bg2">
                <a:alpha val="0"/>
              </a:schemeClr>
            </a:solidFill>
            <a:prstDash val="solid"/>
          </a:ln>
        </p:spPr>
      </p:sp>
      <p:sp>
        <p:nvSpPr>
          <p:cNvPr id="21" name="Shape 18"/>
          <p:cNvSpPr/>
          <p:nvPr/>
        </p:nvSpPr>
        <p:spPr>
          <a:xfrm>
            <a:off x="6894576" y="1581912"/>
            <a:ext cx="457200" cy="457200"/>
          </a:xfrm>
          <a:prstGeom prst="ellipse">
            <a:avLst/>
          </a:prstGeom>
          <a:solidFill>
            <a:schemeClr val="accent1"/>
          </a:solidFill>
          <a:ln w="12700">
            <a:solidFill>
              <a:schemeClr val="accent1">
                <a:alpha val="0"/>
              </a:schemeClr>
            </a:solidFill>
            <a:prstDash val="solid"/>
          </a:ln>
        </p:spPr>
      </p:sp>
      <p:sp>
        <p:nvSpPr>
          <p:cNvPr id="22" name="Text 19"/>
          <p:cNvSpPr txBox="1"/>
          <p:nvPr/>
        </p:nvSpPr>
        <p:spPr>
          <a:xfrm>
            <a:off x="6894576"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3" name="Text 20"/>
          <p:cNvSpPr txBox="1"/>
          <p:nvPr/>
        </p:nvSpPr>
        <p:spPr>
          <a:xfrm>
            <a:off x="6894576" y="2148840"/>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打包</a:t>
            </a:r>
            <a:endParaRPr lang="en-US" sz="1700" dirty="0"/>
          </a:p>
        </p:txBody>
      </p:sp>
      <p:sp>
        <p:nvSpPr>
          <p:cNvPr id="24" name="Text 21"/>
          <p:cNvSpPr txBox="1"/>
          <p:nvPr/>
        </p:nvSpPr>
        <p:spPr>
          <a:xfrm>
            <a:off x="6894576" y="2506980"/>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矿工入块，默克尔根进区块头</a:t>
            </a:r>
            <a:endParaRPr lang="en-US" sz="1300" dirty="0"/>
          </a:p>
        </p:txBody>
      </p:sp>
      <p:sp>
        <p:nvSpPr>
          <p:cNvPr id="25" name="Shape 22"/>
          <p:cNvSpPr/>
          <p:nvPr/>
        </p:nvSpPr>
        <p:spPr>
          <a:xfrm>
            <a:off x="457200" y="3781044"/>
            <a:ext cx="1975104" cy="2253996"/>
          </a:xfrm>
          <a:prstGeom prst="roundRect">
            <a:avLst>
              <a:gd name="adj" fmla="val 3704"/>
            </a:avLst>
          </a:prstGeom>
          <a:solidFill>
            <a:schemeClr val="bg2"/>
          </a:solidFill>
          <a:ln w="12700">
            <a:solidFill>
              <a:schemeClr val="bg2">
                <a:alpha val="0"/>
              </a:schemeClr>
            </a:solidFill>
            <a:prstDash val="solid"/>
          </a:ln>
        </p:spPr>
      </p:sp>
      <p:sp>
        <p:nvSpPr>
          <p:cNvPr id="26" name="Shape 23"/>
          <p:cNvSpPr/>
          <p:nvPr/>
        </p:nvSpPr>
        <p:spPr>
          <a:xfrm>
            <a:off x="640080" y="3945636"/>
            <a:ext cx="457200" cy="457200"/>
          </a:xfrm>
          <a:prstGeom prst="ellipse">
            <a:avLst/>
          </a:prstGeom>
          <a:solidFill>
            <a:schemeClr val="accent1"/>
          </a:solidFill>
          <a:ln w="12700">
            <a:solidFill>
              <a:schemeClr val="accent1">
                <a:alpha val="0"/>
              </a:schemeClr>
            </a:solidFill>
            <a:prstDash val="solid"/>
          </a:ln>
        </p:spPr>
      </p:sp>
      <p:sp>
        <p:nvSpPr>
          <p:cNvPr id="27" name="Text 24"/>
          <p:cNvSpPr txBox="1"/>
          <p:nvPr/>
        </p:nvSpPr>
        <p:spPr>
          <a:xfrm>
            <a:off x="640080" y="394563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8" name="Text 25"/>
          <p:cNvSpPr txBox="1"/>
          <p:nvPr/>
        </p:nvSpPr>
        <p:spPr>
          <a:xfrm>
            <a:off x="640080" y="4512564"/>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竞赛</a:t>
            </a:r>
            <a:endParaRPr lang="en-US" sz="1700" dirty="0"/>
          </a:p>
        </p:txBody>
      </p:sp>
      <p:sp>
        <p:nvSpPr>
          <p:cNvPr id="29" name="Text 26"/>
          <p:cNvSpPr txBox="1"/>
          <p:nvPr/>
        </p:nvSpPr>
        <p:spPr>
          <a:xfrm>
            <a:off x="640080" y="4870704"/>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猜 nonce，找到合格的哈希</a:t>
            </a:r>
            <a:endParaRPr lang="en-US" sz="1300" dirty="0"/>
          </a:p>
        </p:txBody>
      </p:sp>
      <p:sp>
        <p:nvSpPr>
          <p:cNvPr id="30" name="Shape 27"/>
          <p:cNvSpPr/>
          <p:nvPr/>
        </p:nvSpPr>
        <p:spPr>
          <a:xfrm>
            <a:off x="2542032" y="3781044"/>
            <a:ext cx="1975104" cy="2253996"/>
          </a:xfrm>
          <a:prstGeom prst="roundRect">
            <a:avLst>
              <a:gd name="adj" fmla="val 3704"/>
            </a:avLst>
          </a:prstGeom>
          <a:solidFill>
            <a:schemeClr val="bg2"/>
          </a:solidFill>
          <a:ln w="12700">
            <a:solidFill>
              <a:schemeClr val="bg2">
                <a:alpha val="0"/>
              </a:schemeClr>
            </a:solidFill>
            <a:prstDash val="solid"/>
          </a:ln>
        </p:spPr>
      </p:sp>
      <p:sp>
        <p:nvSpPr>
          <p:cNvPr id="31" name="Shape 28"/>
          <p:cNvSpPr/>
          <p:nvPr/>
        </p:nvSpPr>
        <p:spPr>
          <a:xfrm>
            <a:off x="2724912" y="3945636"/>
            <a:ext cx="457200" cy="457200"/>
          </a:xfrm>
          <a:prstGeom prst="ellipse">
            <a:avLst/>
          </a:prstGeom>
          <a:solidFill>
            <a:schemeClr val="accent1"/>
          </a:solidFill>
          <a:ln w="12700">
            <a:solidFill>
              <a:schemeClr val="accent1">
                <a:alpha val="0"/>
              </a:schemeClr>
            </a:solidFill>
            <a:prstDash val="solid"/>
          </a:ln>
        </p:spPr>
      </p:sp>
      <p:sp>
        <p:nvSpPr>
          <p:cNvPr id="32" name="Text 29"/>
          <p:cNvSpPr txBox="1"/>
          <p:nvPr/>
        </p:nvSpPr>
        <p:spPr>
          <a:xfrm>
            <a:off x="2724912" y="394563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3" name="Text 30"/>
          <p:cNvSpPr txBox="1"/>
          <p:nvPr/>
        </p:nvSpPr>
        <p:spPr>
          <a:xfrm>
            <a:off x="2724912" y="4512564"/>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公布</a:t>
            </a:r>
            <a:endParaRPr lang="en-US" sz="1700" dirty="0"/>
          </a:p>
        </p:txBody>
      </p:sp>
      <p:sp>
        <p:nvSpPr>
          <p:cNvPr id="34" name="Text 31"/>
          <p:cNvSpPr txBox="1"/>
          <p:nvPr/>
        </p:nvSpPr>
        <p:spPr>
          <a:xfrm>
            <a:off x="2724912" y="4870704"/>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广播新区块</a:t>
            </a:r>
            <a:endParaRPr lang="en-US" sz="1300" dirty="0"/>
          </a:p>
        </p:txBody>
      </p:sp>
      <p:sp>
        <p:nvSpPr>
          <p:cNvPr id="35" name="Shape 32"/>
          <p:cNvSpPr/>
          <p:nvPr/>
        </p:nvSpPr>
        <p:spPr>
          <a:xfrm>
            <a:off x="4626864" y="3781044"/>
            <a:ext cx="1975104" cy="2253996"/>
          </a:xfrm>
          <a:prstGeom prst="roundRect">
            <a:avLst>
              <a:gd name="adj" fmla="val 3704"/>
            </a:avLst>
          </a:prstGeom>
          <a:solidFill>
            <a:schemeClr val="bg2"/>
          </a:solidFill>
          <a:ln w="12700">
            <a:solidFill>
              <a:schemeClr val="bg2">
                <a:alpha val="0"/>
              </a:schemeClr>
            </a:solidFill>
            <a:prstDash val="solid"/>
          </a:ln>
        </p:spPr>
      </p:sp>
      <p:sp>
        <p:nvSpPr>
          <p:cNvPr id="36" name="Shape 33"/>
          <p:cNvSpPr/>
          <p:nvPr/>
        </p:nvSpPr>
        <p:spPr>
          <a:xfrm>
            <a:off x="4809744" y="3945636"/>
            <a:ext cx="457200" cy="457200"/>
          </a:xfrm>
          <a:prstGeom prst="ellipse">
            <a:avLst/>
          </a:prstGeom>
          <a:solidFill>
            <a:schemeClr val="accent1"/>
          </a:solidFill>
          <a:ln w="12700">
            <a:solidFill>
              <a:schemeClr val="accent1">
                <a:alpha val="0"/>
              </a:schemeClr>
            </a:solidFill>
            <a:prstDash val="solid"/>
          </a:ln>
        </p:spPr>
      </p:sp>
      <p:sp>
        <p:nvSpPr>
          <p:cNvPr id="37" name="Text 34"/>
          <p:cNvSpPr txBox="1"/>
          <p:nvPr/>
        </p:nvSpPr>
        <p:spPr>
          <a:xfrm>
            <a:off x="4809744" y="394563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7</a:t>
            </a:r>
            <a:endParaRPr lang="en-US" sz="1600" dirty="0"/>
          </a:p>
        </p:txBody>
      </p:sp>
      <p:sp>
        <p:nvSpPr>
          <p:cNvPr id="38" name="Text 35"/>
          <p:cNvSpPr txBox="1"/>
          <p:nvPr/>
        </p:nvSpPr>
        <p:spPr>
          <a:xfrm>
            <a:off x="4809744" y="4512564"/>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验证</a:t>
            </a:r>
            <a:endParaRPr lang="en-US" sz="1700" dirty="0"/>
          </a:p>
        </p:txBody>
      </p:sp>
      <p:sp>
        <p:nvSpPr>
          <p:cNvPr id="39" name="Text 36"/>
          <p:cNvSpPr txBox="1"/>
          <p:nvPr/>
        </p:nvSpPr>
        <p:spPr>
          <a:xfrm>
            <a:off x="4809744" y="4870704"/>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节点查签名、UTXO、PoW</a:t>
            </a:r>
            <a:endParaRPr lang="en-US" sz="1300" dirty="0"/>
          </a:p>
        </p:txBody>
      </p:sp>
      <p:sp>
        <p:nvSpPr>
          <p:cNvPr id="40" name="Shape 37"/>
          <p:cNvSpPr/>
          <p:nvPr/>
        </p:nvSpPr>
        <p:spPr>
          <a:xfrm>
            <a:off x="6711696" y="3781044"/>
            <a:ext cx="1975104" cy="2253996"/>
          </a:xfrm>
          <a:prstGeom prst="roundRect">
            <a:avLst>
              <a:gd name="adj" fmla="val 3704"/>
            </a:avLst>
          </a:prstGeom>
          <a:solidFill>
            <a:schemeClr val="bg2"/>
          </a:solidFill>
          <a:ln w="12700">
            <a:solidFill>
              <a:schemeClr val="bg2">
                <a:alpha val="0"/>
              </a:schemeClr>
            </a:solidFill>
            <a:prstDash val="solid"/>
          </a:ln>
        </p:spPr>
      </p:sp>
      <p:sp>
        <p:nvSpPr>
          <p:cNvPr id="41" name="Shape 38"/>
          <p:cNvSpPr/>
          <p:nvPr/>
        </p:nvSpPr>
        <p:spPr>
          <a:xfrm>
            <a:off x="6894576" y="3945636"/>
            <a:ext cx="457200" cy="457200"/>
          </a:xfrm>
          <a:prstGeom prst="ellipse">
            <a:avLst/>
          </a:prstGeom>
          <a:solidFill>
            <a:schemeClr val="accent1"/>
          </a:solidFill>
          <a:ln w="12700">
            <a:solidFill>
              <a:schemeClr val="accent1">
                <a:alpha val="0"/>
              </a:schemeClr>
            </a:solidFill>
            <a:prstDash val="solid"/>
          </a:ln>
        </p:spPr>
      </p:sp>
      <p:sp>
        <p:nvSpPr>
          <p:cNvPr id="42" name="Text 39"/>
          <p:cNvSpPr txBox="1"/>
          <p:nvPr/>
        </p:nvSpPr>
        <p:spPr>
          <a:xfrm>
            <a:off x="6894576" y="394563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8</a:t>
            </a:r>
            <a:endParaRPr lang="en-US" sz="1600" dirty="0"/>
          </a:p>
        </p:txBody>
      </p:sp>
      <p:sp>
        <p:nvSpPr>
          <p:cNvPr id="43" name="Text 40"/>
          <p:cNvSpPr txBox="1"/>
          <p:nvPr/>
        </p:nvSpPr>
        <p:spPr>
          <a:xfrm>
            <a:off x="6894576" y="4512564"/>
            <a:ext cx="1609344"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上链</a:t>
            </a:r>
            <a:endParaRPr lang="en-US" sz="1700" dirty="0"/>
          </a:p>
        </p:txBody>
      </p:sp>
      <p:sp>
        <p:nvSpPr>
          <p:cNvPr id="44" name="Text 41"/>
          <p:cNvSpPr txBox="1"/>
          <p:nvPr/>
        </p:nvSpPr>
        <p:spPr>
          <a:xfrm>
            <a:off x="6894576" y="4870704"/>
            <a:ext cx="1609344" cy="1054608"/>
          </a:xfrm>
          <a:prstGeom prst="rect">
            <a:avLst/>
          </a:prstGeom>
          <a:noFill/>
          <a:ln/>
        </p:spPr>
        <p:txBody>
          <a:bodyPr wrap="square" lIns="0" tIns="0" rIns="0" bIns="0" rtlCol="0" anchor="t"/>
          <a:lstStyle/>
          <a:p>
            <a:pPr algn="l" indent="0" marL="0">
              <a:lnSpc>
                <a:spcPct val="105000"/>
              </a:lnSpc>
              <a:buNone/>
            </a:pPr>
            <a:r>
              <a:rPr lang="en-US" sz="1300" dirty="0">
                <a:solidFill>
                  <a:schemeClr val="accent4"/>
                </a:solidFill>
              </a:rPr>
              <a:t>矿工得补贴 + 手续费；6 个确认后基本不可更改</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回到四个要求：协议层强，货币职能弱</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回顾</a:t>
            </a:r>
            <a:endParaRPr lang="en-US" sz="12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2377440"/>
                <a:gridCol w="1280160"/>
                <a:gridCol w="4572000"/>
              </a:tblGrid>
              <a:tr h="457200">
                <a:tc>
                  <a:txBody>
                    <a:bodyPr/>
                    <a:lstStyle/>
                    <a:p>
                      <a:pPr algn="l" indent="0" marL="0">
                        <a:buNone/>
                      </a:pPr>
                      <a:r>
                        <a:rPr lang="en-US" sz="1500" b="1" dirty="0">
                          <a:solidFill>
                            <a:schemeClr val="bg1"/>
                          </a:solidFill>
                        </a:rPr>
                        <a:t>检验项</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评价</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一句话理由</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566928">
                <a:tc>
                  <a:txBody>
                    <a:bodyPr/>
                    <a:lstStyle/>
                    <a:p>
                      <a:pPr algn="l" indent="0" marL="0">
                        <a:buNone/>
                      </a:pPr>
                      <a:r>
                        <a:rPr lang="en-US" sz="1500" b="1" dirty="0">
                          <a:solidFill>
                            <a:schemeClr val="tx1"/>
                          </a:solidFill>
                        </a:rPr>
                        <a:t>① 识别交易双方</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6"/>
                          </a:solidFill>
                        </a:rPr>
                        <a:t>△ 假名</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认得地址，认不得人：隐私与合规两难</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66928">
                <a:tc>
                  <a:txBody>
                    <a:bodyPr/>
                    <a:lstStyle/>
                    <a:p>
                      <a:pPr algn="l" indent="0" marL="0">
                        <a:buNone/>
                      </a:pPr>
                      <a:r>
                        <a:rPr lang="en-US" sz="1500" b="1" dirty="0">
                          <a:solidFill>
                            <a:schemeClr val="tx1"/>
                          </a:solidFill>
                        </a:rPr>
                        <a:t>② 便捷促成并验证</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6"/>
                          </a:solidFill>
                        </a:rPr>
                        <a:t>△ 部分</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验证透明；但慢、贵、吞吐有限</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tx1"/>
                          </a:solidFill>
                        </a:rPr>
                        <a:t>③ 不可更改、不可撤销</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3"/>
                          </a:solidFill>
                        </a:rPr>
                        <a:t>✓ 做到</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6 个确认 + 累计工作量；17 年未被改写</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66928">
                <a:tc>
                  <a:txBody>
                    <a:bodyPr/>
                    <a:lstStyle/>
                    <a:p>
                      <a:pPr algn="l" indent="0" marL="0">
                        <a:buNone/>
                      </a:pPr>
                      <a:r>
                        <a:rPr lang="en-US" sz="1500" b="1" dirty="0">
                          <a:solidFill>
                            <a:schemeClr val="tx1"/>
                          </a:solidFill>
                        </a:rPr>
                        <a:t>④ 防止重复使用</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3"/>
                          </a:solidFill>
                        </a:rPr>
                        <a:t>✓ 做到</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PoW 共识 + UTXO；代价是能耗</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tx1"/>
                          </a:solidFill>
                        </a:rPr>
                        <a:t>交换媒介</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6"/>
                          </a:solidFill>
                        </a:rPr>
                        <a:t>△ 勉强</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约 7 笔/秒；手续费波动；小额靠闪电网络</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566928">
                <a:tc>
                  <a:txBody>
                    <a:bodyPr/>
                    <a:lstStyle/>
                    <a:p>
                      <a:pPr algn="l" indent="0" marL="0">
                        <a:buNone/>
                      </a:pPr>
                      <a:r>
                        <a:rPr lang="en-US" sz="1500" b="1" dirty="0">
                          <a:solidFill>
                            <a:schemeClr val="tx1"/>
                          </a:solidFill>
                        </a:rPr>
                        <a:t>计价单位</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2"/>
                          </a:solidFill>
                        </a:rPr>
                        <a:t>✗ 不及格</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价格大起大落，几乎没有商品用它标价</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tx1"/>
                          </a:solidFill>
                        </a:rPr>
                        <a:t>价值贮藏</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6"/>
                          </a:solidFill>
                        </a:rPr>
                        <a:t>△ 部分</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稀缺，但回撤可达 −50%～−85%；保管风险高</a:t>
                      </a:r>
                      <a:endParaRPr lang="en-US" sz="15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课堂讨论（三选一，小组 5 分钟）</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讨论</a:t>
            </a:r>
            <a:endParaRPr lang="en-US" sz="1200" dirty="0"/>
          </a:p>
        </p:txBody>
      </p:sp>
      <p:sp>
        <p:nvSpPr>
          <p:cNvPr id="5" name="Shape 2"/>
          <p:cNvSpPr/>
          <p:nvPr/>
        </p:nvSpPr>
        <p:spPr>
          <a:xfrm>
            <a:off x="457200" y="1417320"/>
            <a:ext cx="2621280" cy="3383280"/>
          </a:xfrm>
          <a:prstGeom prst="roundRect">
            <a:avLst>
              <a:gd name="adj" fmla="val 2791"/>
            </a:avLst>
          </a:prstGeom>
          <a:solidFill>
            <a:schemeClr val="bg2"/>
          </a:solidFill>
          <a:ln w="12700">
            <a:solidFill>
              <a:schemeClr val="bg2">
                <a:alpha val="0"/>
              </a:schemeClr>
            </a:solidFill>
            <a:prstDash val="solid"/>
          </a:ln>
        </p:spPr>
      </p:sp>
      <p:sp>
        <p:nvSpPr>
          <p:cNvPr id="6" name="Shape 3"/>
          <p:cNvSpPr/>
          <p:nvPr/>
        </p:nvSpPr>
        <p:spPr>
          <a:xfrm>
            <a:off x="640080" y="1581912"/>
            <a:ext cx="457200" cy="457200"/>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Text 5"/>
          <p:cNvSpPr txBox="1"/>
          <p:nvPr/>
        </p:nvSpPr>
        <p:spPr>
          <a:xfrm>
            <a:off x="640080" y="2148840"/>
            <a:ext cx="225552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央行行长的视角</a:t>
            </a:r>
            <a:endParaRPr lang="en-US" sz="1700" dirty="0"/>
          </a:p>
        </p:txBody>
      </p:sp>
      <p:sp>
        <p:nvSpPr>
          <p:cNvPr id="9" name="Text 6"/>
          <p:cNvSpPr txBox="1"/>
          <p:nvPr/>
        </p:nvSpPr>
        <p:spPr>
          <a:xfrm>
            <a:off x="640080" y="2506980"/>
            <a:ext cx="2255520" cy="2183892"/>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你会怎样看待“比特币作为货币”？它对货币政策和金融稳定有什么影响？</a:t>
            </a:r>
            <a:endParaRPr lang="en-US" sz="1500" dirty="0"/>
          </a:p>
        </p:txBody>
      </p:sp>
      <p:sp>
        <p:nvSpPr>
          <p:cNvPr id="10" name="Shape 7"/>
          <p:cNvSpPr/>
          <p:nvPr/>
        </p:nvSpPr>
        <p:spPr>
          <a:xfrm>
            <a:off x="3261360" y="1417320"/>
            <a:ext cx="2621280" cy="3383280"/>
          </a:xfrm>
          <a:prstGeom prst="roundRect">
            <a:avLst>
              <a:gd name="adj" fmla="val 2791"/>
            </a:avLst>
          </a:prstGeom>
          <a:solidFill>
            <a:schemeClr val="bg2"/>
          </a:solidFill>
          <a:ln w="12700">
            <a:solidFill>
              <a:schemeClr val="bg2">
                <a:alpha val="0"/>
              </a:schemeClr>
            </a:solidFill>
            <a:prstDash val="solid"/>
          </a:ln>
        </p:spPr>
      </p:sp>
      <p:sp>
        <p:nvSpPr>
          <p:cNvPr id="11" name="Shape 8"/>
          <p:cNvSpPr/>
          <p:nvPr/>
        </p:nvSpPr>
        <p:spPr>
          <a:xfrm>
            <a:off x="3444240" y="1581912"/>
            <a:ext cx="457200" cy="457200"/>
          </a:xfrm>
          <a:prstGeom prst="ellipse">
            <a:avLst/>
          </a:prstGeom>
          <a:solidFill>
            <a:schemeClr val="accent1"/>
          </a:solidFill>
          <a:ln w="12700">
            <a:solidFill>
              <a:schemeClr val="accent1">
                <a:alpha val="0"/>
              </a:schemeClr>
            </a:solidFill>
            <a:prstDash val="solid"/>
          </a:ln>
        </p:spPr>
      </p:sp>
      <p:sp>
        <p:nvSpPr>
          <p:cNvPr id="12" name="Text 9"/>
          <p:cNvSpPr txBox="1"/>
          <p:nvPr/>
        </p:nvSpPr>
        <p:spPr>
          <a:xfrm>
            <a:off x="344424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Text 10"/>
          <p:cNvSpPr txBox="1"/>
          <p:nvPr/>
        </p:nvSpPr>
        <p:spPr>
          <a:xfrm>
            <a:off x="3444240" y="2148840"/>
            <a:ext cx="225552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浪费，还是安全成本？</a:t>
            </a:r>
            <a:endParaRPr lang="en-US" sz="1700" dirty="0"/>
          </a:p>
        </p:txBody>
      </p:sp>
      <p:sp>
        <p:nvSpPr>
          <p:cNvPr id="14" name="Text 11"/>
          <p:cNvSpPr txBox="1"/>
          <p:nvPr/>
        </p:nvSpPr>
        <p:spPr>
          <a:xfrm>
            <a:off x="3444240" y="2506980"/>
            <a:ext cx="2255520" cy="2183892"/>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PoW 的高耗电是浪费吗？请用“安全 = 成本”等本章概念论证你的立场。</a:t>
            </a:r>
            <a:endParaRPr lang="en-US" sz="1500" dirty="0"/>
          </a:p>
        </p:txBody>
      </p:sp>
      <p:sp>
        <p:nvSpPr>
          <p:cNvPr id="15" name="Shape 12"/>
          <p:cNvSpPr/>
          <p:nvPr/>
        </p:nvSpPr>
        <p:spPr>
          <a:xfrm>
            <a:off x="6065520" y="1417320"/>
            <a:ext cx="2621280" cy="3383280"/>
          </a:xfrm>
          <a:prstGeom prst="roundRect">
            <a:avLst>
              <a:gd name="adj" fmla="val 2791"/>
            </a:avLst>
          </a:prstGeom>
          <a:solidFill>
            <a:schemeClr val="bg2"/>
          </a:solidFill>
          <a:ln w="12700">
            <a:solidFill>
              <a:schemeClr val="bg2">
                <a:alpha val="0"/>
              </a:schemeClr>
            </a:solidFill>
            <a:prstDash val="solid"/>
          </a:ln>
        </p:spPr>
      </p:sp>
      <p:sp>
        <p:nvSpPr>
          <p:cNvPr id="16" name="Shape 13"/>
          <p:cNvSpPr/>
          <p:nvPr/>
        </p:nvSpPr>
        <p:spPr>
          <a:xfrm>
            <a:off x="6248400" y="1581912"/>
            <a:ext cx="457200" cy="457200"/>
          </a:xfrm>
          <a:prstGeom prst="ellipse">
            <a:avLst/>
          </a:prstGeom>
          <a:solidFill>
            <a:schemeClr val="accent1"/>
          </a:solidFill>
          <a:ln w="12700">
            <a:solidFill>
              <a:schemeClr val="accent1">
                <a:alpha val="0"/>
              </a:schemeClr>
            </a:solidFill>
            <a:prstDash val="solid"/>
          </a:ln>
        </p:spPr>
      </p:sp>
      <p:sp>
        <p:nvSpPr>
          <p:cNvPr id="17" name="Text 14"/>
          <p:cNvSpPr txBox="1"/>
          <p:nvPr/>
        </p:nvSpPr>
        <p:spPr>
          <a:xfrm>
            <a:off x="6248400" y="158191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ext 15"/>
          <p:cNvSpPr txBox="1"/>
          <p:nvPr/>
        </p:nvSpPr>
        <p:spPr>
          <a:xfrm>
            <a:off x="6248400" y="2148840"/>
            <a:ext cx="2255520" cy="303276"/>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谁有权升级？</a:t>
            </a:r>
            <a:endParaRPr lang="en-US" sz="1700" dirty="0"/>
          </a:p>
        </p:txBody>
      </p:sp>
      <p:sp>
        <p:nvSpPr>
          <p:cNvPr id="19" name="Text 16"/>
          <p:cNvSpPr txBox="1"/>
          <p:nvPr/>
        </p:nvSpPr>
        <p:spPr>
          <a:xfrm>
            <a:off x="6248400" y="2506980"/>
            <a:ext cx="2255520" cy="2183892"/>
          </a:xfrm>
          <a:prstGeom prst="rect">
            <a:avLst/>
          </a:prstGeom>
          <a:noFill/>
          <a:ln/>
        </p:spPr>
        <p:txBody>
          <a:bodyPr wrap="square" lIns="0" tIns="0" rIns="0" bIns="0" rtlCol="0" anchor="t"/>
          <a:lstStyle/>
          <a:p>
            <a:pPr algn="l" indent="0" marL="0">
              <a:lnSpc>
                <a:spcPct val="105000"/>
              </a:lnSpc>
              <a:buNone/>
            </a:pPr>
            <a:r>
              <a:rPr lang="en-US" sz="1500" dirty="0">
                <a:solidFill>
                  <a:schemeClr val="accent4"/>
                </a:solidFill>
              </a:rPr>
              <a:t>比特币要不要升级以应对量子计算威胁？谁有权决定？</a:t>
            </a:r>
            <a:endParaRPr lang="en-US" sz="1500" dirty="0"/>
          </a:p>
        </p:txBody>
      </p:sp>
      <p:sp>
        <p:nvSpPr>
          <p:cNvPr id="20" name="Shape 17"/>
          <p:cNvSpPr/>
          <p:nvPr/>
        </p:nvSpPr>
        <p:spPr>
          <a:xfrm>
            <a:off x="457200" y="5029200"/>
            <a:ext cx="8229600" cy="914400"/>
          </a:xfrm>
          <a:prstGeom prst="roundRect">
            <a:avLst>
              <a:gd name="adj" fmla="val 8000"/>
            </a:avLst>
          </a:prstGeom>
          <a:solidFill>
            <a:schemeClr val="accent1">
              <a:alpha val="12000"/>
            </a:schemeClr>
          </a:solidFill>
          <a:ln w="12700">
            <a:solidFill>
              <a:schemeClr val="accent1">
                <a:alpha val="0"/>
              </a:schemeClr>
            </a:solidFill>
            <a:prstDash val="solid"/>
          </a:ln>
        </p:spPr>
      </p:sp>
      <p:pic>
        <p:nvPicPr>
          <p:cNvPr id="21" name="Image 0" descr="key">    </p:cNvPr>
          <p:cNvPicPr>
            <a:picLocks noChangeAspect="1"/>
          </p:cNvPicPr>
          <p:nvPr/>
        </p:nvPicPr>
        <p:blipFill>
          <a:blip r:embed="rId1"/>
          <a:stretch>
            <a:fillRect/>
          </a:stretch>
        </p:blipFill>
        <p:spPr>
          <a:xfrm>
            <a:off x="640080" y="5294376"/>
            <a:ext cx="384048" cy="384048"/>
          </a:xfrm>
          <a:prstGeom prst="rect">
            <a:avLst/>
          </a:prstGeom>
        </p:spPr>
      </p:pic>
      <p:sp>
        <p:nvSpPr>
          <p:cNvPr id="22" name="Text 18"/>
          <p:cNvSpPr txBox="1"/>
          <p:nvPr/>
        </p:nvSpPr>
        <p:spPr>
          <a:xfrm>
            <a:off x="1188720" y="5102352"/>
            <a:ext cx="7315200" cy="768096"/>
          </a:xfrm>
          <a:prstGeom prst="rect">
            <a:avLst/>
          </a:prstGeom>
          <a:noFill/>
          <a:ln/>
        </p:spPr>
        <p:txBody>
          <a:bodyPr wrap="square" lIns="0" tIns="0" rIns="0" bIns="0" rtlCol="0" anchor="ctr"/>
          <a:lstStyle/>
          <a:p>
            <a:pPr algn="l" indent="0" marL="0">
              <a:lnSpc>
                <a:spcPct val="105000"/>
              </a:lnSpc>
              <a:buNone/>
            </a:pPr>
            <a:r>
              <a:rPr lang="en-US" sz="1700" dirty="0">
                <a:solidFill>
                  <a:schemeClr val="tx1"/>
                </a:solidFill>
              </a:rPr>
              <a:t>要求：先陈述</a:t>
            </a:r>
            <a:pPr algn="l" indent="0" marL="0">
              <a:lnSpc>
                <a:spcPct val="105000"/>
              </a:lnSpc>
              <a:buNone/>
            </a:pPr>
            <a:r>
              <a:rPr lang="en-US" sz="1700" b="1" dirty="0">
                <a:solidFill>
                  <a:schemeClr val="tx1"/>
                </a:solidFill>
              </a:rPr>
              <a:t>事实</a:t>
            </a:r>
            <a:pPr algn="l" indent="0" marL="0">
              <a:lnSpc>
                <a:spcPct val="105000"/>
              </a:lnSpc>
              <a:buNone/>
            </a:pPr>
            <a:r>
              <a:rPr lang="en-US" sz="1700" dirty="0">
                <a:solidFill>
                  <a:schemeClr val="tx1"/>
                </a:solidFill>
              </a:rPr>
              <a:t>，再给出</a:t>
            </a:r>
            <a:pPr algn="l" indent="0" marL="0">
              <a:lnSpc>
                <a:spcPct val="105000"/>
              </a:lnSpc>
              <a:buNone/>
            </a:pPr>
            <a:r>
              <a:rPr lang="en-US" sz="1700" b="1" dirty="0">
                <a:solidFill>
                  <a:schemeClr val="tx1"/>
                </a:solidFill>
              </a:rPr>
              <a:t>立场</a:t>
            </a:r>
            <a:pPr algn="l" indent="0" marL="0">
              <a:lnSpc>
                <a:spcPct val="105000"/>
              </a:lnSpc>
              <a:buNone/>
            </a:pPr>
            <a:r>
              <a:rPr lang="en-US" sz="1700" dirty="0">
                <a:solidFill>
                  <a:schemeClr val="tx1"/>
                </a:solidFill>
              </a:rPr>
              <a:t>，并指出一个可能反驳你的</a:t>
            </a:r>
            <a:pPr algn="l" indent="0" marL="0">
              <a:lnSpc>
                <a:spcPct val="105000"/>
              </a:lnSpc>
              <a:buNone/>
            </a:pPr>
            <a:r>
              <a:rPr lang="en-US" sz="1700" b="1" dirty="0">
                <a:solidFill>
                  <a:schemeClr val="tx1"/>
                </a:solidFill>
              </a:rPr>
              <a:t>证据</a:t>
            </a:r>
            <a:pPr algn="l" indent="0" marL="0">
              <a:lnSpc>
                <a:spcPct val="105000"/>
              </a:lnSpc>
              <a:buNone/>
            </a:pP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总测验（1/2）：选择题</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总测验</a:t>
            </a:r>
            <a:endParaRPr lang="en-US" sz="1200" dirty="0"/>
          </a:p>
        </p:txBody>
      </p:sp>
      <p:sp>
        <p:nvSpPr>
          <p:cNvPr id="5" name="Shape 2"/>
          <p:cNvSpPr/>
          <p:nvPr/>
        </p:nvSpPr>
        <p:spPr>
          <a:xfrm>
            <a:off x="457200" y="1371600"/>
            <a:ext cx="8229600" cy="1106424"/>
          </a:xfrm>
          <a:prstGeom prst="roundRect">
            <a:avLst>
              <a:gd name="adj" fmla="val 6612"/>
            </a:avLst>
          </a:prstGeom>
          <a:solidFill>
            <a:schemeClr val="bg2"/>
          </a:solidFill>
          <a:ln w="12700">
            <a:solidFill>
              <a:schemeClr val="bg2">
                <a:alpha val="0"/>
              </a:schemeClr>
            </a:solidFill>
            <a:prstDash val="solid"/>
          </a:ln>
        </p:spPr>
      </p:sp>
      <p:sp>
        <p:nvSpPr>
          <p:cNvPr id="6" name="Shape 3"/>
          <p:cNvSpPr/>
          <p:nvPr/>
        </p:nvSpPr>
        <p:spPr>
          <a:xfrm>
            <a:off x="640080" y="1641348"/>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641348"/>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960120"/>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下列哪项不是哈希函数的性质？</a:t>
            </a:r>
            <a:endParaRPr lang="en-US" sz="1500" dirty="0"/>
          </a:p>
          <a:p>
            <a:pPr algn="l" indent="0" marL="0">
              <a:lnSpc>
                <a:spcPct val="105000"/>
              </a:lnSpc>
              <a:buNone/>
            </a:pPr>
            <a:r>
              <a:rPr lang="en-US" sz="1400" dirty="0">
                <a:solidFill>
                  <a:schemeClr val="accent4"/>
                </a:solidFill>
              </a:rPr>
              <a:t>A 确定性　B 可逆　C 雪崩效应　D 抗碰撞</a:t>
            </a:r>
            <a:endParaRPr lang="en-US" sz="1500" dirty="0"/>
          </a:p>
        </p:txBody>
      </p:sp>
      <p:sp>
        <p:nvSpPr>
          <p:cNvPr id="9" name="Shape 6"/>
          <p:cNvSpPr/>
          <p:nvPr/>
        </p:nvSpPr>
        <p:spPr>
          <a:xfrm>
            <a:off x="7772400" y="1741932"/>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741932"/>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11" name="Shape 8"/>
          <p:cNvSpPr/>
          <p:nvPr/>
        </p:nvSpPr>
        <p:spPr>
          <a:xfrm>
            <a:off x="457200" y="2587752"/>
            <a:ext cx="8229600" cy="1106424"/>
          </a:xfrm>
          <a:prstGeom prst="roundRect">
            <a:avLst>
              <a:gd name="adj" fmla="val 6612"/>
            </a:avLst>
          </a:prstGeom>
          <a:solidFill>
            <a:schemeClr val="bg2"/>
          </a:solidFill>
          <a:ln w="12700">
            <a:solidFill>
              <a:schemeClr val="bg2">
                <a:alpha val="0"/>
              </a:schemeClr>
            </a:solidFill>
            <a:prstDash val="solid"/>
          </a:ln>
        </p:spPr>
      </p:sp>
      <p:sp>
        <p:nvSpPr>
          <p:cNvPr id="12" name="Shape 9"/>
          <p:cNvSpPr/>
          <p:nvPr/>
        </p:nvSpPr>
        <p:spPr>
          <a:xfrm>
            <a:off x="640080" y="2857500"/>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2857500"/>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660904"/>
            <a:ext cx="6126480" cy="960120"/>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比特币 80 字节的区块头中，不包含哪一项？</a:t>
            </a:r>
            <a:endParaRPr lang="en-US" sz="1500" dirty="0"/>
          </a:p>
          <a:p>
            <a:pPr algn="l" indent="0" marL="0">
              <a:lnSpc>
                <a:spcPct val="105000"/>
              </a:lnSpc>
              <a:buNone/>
            </a:pPr>
            <a:r>
              <a:rPr lang="en-US" sz="1400" dirty="0">
                <a:solidFill>
                  <a:schemeClr val="accent4"/>
                </a:solidFill>
              </a:rPr>
              <a:t>A 前一区块哈希　B 默克尔根　C nonce　D 交易金额</a:t>
            </a:r>
            <a:endParaRPr lang="en-US" sz="1500" dirty="0"/>
          </a:p>
        </p:txBody>
      </p:sp>
      <p:sp>
        <p:nvSpPr>
          <p:cNvPr id="15" name="Shape 12"/>
          <p:cNvSpPr/>
          <p:nvPr/>
        </p:nvSpPr>
        <p:spPr>
          <a:xfrm>
            <a:off x="7772400" y="2958084"/>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2958084"/>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17" name="Shape 14"/>
          <p:cNvSpPr/>
          <p:nvPr/>
        </p:nvSpPr>
        <p:spPr>
          <a:xfrm>
            <a:off x="457200" y="3803904"/>
            <a:ext cx="8229600" cy="1106424"/>
          </a:xfrm>
          <a:prstGeom prst="roundRect">
            <a:avLst>
              <a:gd name="adj" fmla="val 6612"/>
            </a:avLst>
          </a:prstGeom>
          <a:solidFill>
            <a:schemeClr val="bg2"/>
          </a:solidFill>
          <a:ln w="12700">
            <a:solidFill>
              <a:schemeClr val="bg2">
                <a:alpha val="0"/>
              </a:schemeClr>
            </a:solidFill>
            <a:prstDash val="solid"/>
          </a:ln>
        </p:spPr>
      </p:sp>
      <p:sp>
        <p:nvSpPr>
          <p:cNvPr id="18" name="Shape 15"/>
          <p:cNvSpPr/>
          <p:nvPr/>
        </p:nvSpPr>
        <p:spPr>
          <a:xfrm>
            <a:off x="640080" y="407365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07365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3877056"/>
            <a:ext cx="6126480" cy="960120"/>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2024 年 4 月减半之后，每个区块的补贴是多少？</a:t>
            </a:r>
            <a:endParaRPr lang="en-US" sz="1500" dirty="0"/>
          </a:p>
          <a:p>
            <a:pPr algn="l" indent="0" marL="0">
              <a:lnSpc>
                <a:spcPct val="105000"/>
              </a:lnSpc>
              <a:buNone/>
            </a:pPr>
            <a:r>
              <a:rPr lang="en-US" sz="1400" dirty="0">
                <a:solidFill>
                  <a:schemeClr val="accent4"/>
                </a:solidFill>
              </a:rPr>
              <a:t>A 12.5　B 6.25　C 3.125　D 1.5625</a:t>
            </a:r>
            <a:endParaRPr lang="en-US" sz="1500" dirty="0"/>
          </a:p>
        </p:txBody>
      </p:sp>
      <p:sp>
        <p:nvSpPr>
          <p:cNvPr id="21" name="Shape 18"/>
          <p:cNvSpPr/>
          <p:nvPr/>
        </p:nvSpPr>
        <p:spPr>
          <a:xfrm>
            <a:off x="7772400" y="417423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17423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23" name="Shape 20"/>
          <p:cNvSpPr/>
          <p:nvPr/>
        </p:nvSpPr>
        <p:spPr>
          <a:xfrm>
            <a:off x="457200" y="5020056"/>
            <a:ext cx="8229600" cy="1106424"/>
          </a:xfrm>
          <a:prstGeom prst="roundRect">
            <a:avLst>
              <a:gd name="adj" fmla="val 6612"/>
            </a:avLst>
          </a:prstGeom>
          <a:solidFill>
            <a:schemeClr val="bg2"/>
          </a:solidFill>
          <a:ln w="12700">
            <a:solidFill>
              <a:schemeClr val="bg2">
                <a:alpha val="0"/>
              </a:schemeClr>
            </a:solidFill>
            <a:prstDash val="solid"/>
          </a:ln>
        </p:spPr>
      </p:sp>
      <p:sp>
        <p:nvSpPr>
          <p:cNvPr id="24" name="Shape 21"/>
          <p:cNvSpPr/>
          <p:nvPr/>
        </p:nvSpPr>
        <p:spPr>
          <a:xfrm>
            <a:off x="640080" y="5289804"/>
            <a:ext cx="566928" cy="566928"/>
          </a:xfrm>
          <a:prstGeom prst="ellipse">
            <a:avLst/>
          </a:prstGeom>
          <a:solidFill>
            <a:schemeClr val="accent1"/>
          </a:solidFill>
          <a:ln w="12700">
            <a:solidFill>
              <a:schemeClr val="accent1">
                <a:alpha val="0"/>
              </a:schemeClr>
            </a:solidFill>
            <a:prstDash val="solid"/>
          </a:ln>
        </p:spPr>
      </p:sp>
      <p:sp>
        <p:nvSpPr>
          <p:cNvPr id="25" name="Text 22"/>
          <p:cNvSpPr txBox="1"/>
          <p:nvPr/>
        </p:nvSpPr>
        <p:spPr>
          <a:xfrm>
            <a:off x="640080" y="528980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Q4</a:t>
            </a:r>
            <a:endParaRPr lang="en-US" sz="1500" dirty="0"/>
          </a:p>
        </p:txBody>
      </p:sp>
      <p:sp>
        <p:nvSpPr>
          <p:cNvPr id="26" name="Text 23"/>
          <p:cNvSpPr txBox="1"/>
          <p:nvPr/>
        </p:nvSpPr>
        <p:spPr>
          <a:xfrm>
            <a:off x="1463040" y="5093208"/>
            <a:ext cx="6126480" cy="960120"/>
          </a:xfrm>
          <a:prstGeom prst="rect">
            <a:avLst/>
          </a:prstGeom>
          <a:noFill/>
          <a:ln/>
        </p:spPr>
        <p:txBody>
          <a:bodyPr wrap="square" lIns="0" tIns="0" rIns="0" bIns="0" rtlCol="0" anchor="ctr"/>
          <a:lstStyle/>
          <a:p>
            <a:pPr algn="l" indent="0" marL="0">
              <a:lnSpc>
                <a:spcPct val="105000"/>
              </a:lnSpc>
              <a:spcAft>
                <a:spcPts val="300"/>
              </a:spcAft>
              <a:buNone/>
            </a:pPr>
            <a:r>
              <a:rPr lang="en-US" sz="1700" b="1" dirty="0">
                <a:solidFill>
                  <a:schemeClr val="tx1"/>
                </a:solidFill>
              </a:rPr>
              <a:t>比特币的难度大约每隔多久调整一次？</a:t>
            </a:r>
            <a:endParaRPr lang="en-US" sz="1500" dirty="0"/>
          </a:p>
          <a:p>
            <a:pPr algn="l" indent="0" marL="0">
              <a:lnSpc>
                <a:spcPct val="105000"/>
              </a:lnSpc>
              <a:buNone/>
            </a:pPr>
            <a:r>
              <a:rPr lang="en-US" sz="1400" dirty="0">
                <a:solidFill>
                  <a:schemeClr val="accent4"/>
                </a:solidFill>
              </a:rPr>
              <a:t>A 144 个区块　B 2016 个区块　C 210,000 个区块　D 每天</a:t>
            </a:r>
            <a:endParaRPr lang="en-US" sz="1500" dirty="0"/>
          </a:p>
        </p:txBody>
      </p:sp>
      <p:sp>
        <p:nvSpPr>
          <p:cNvPr id="27" name="Shape 24"/>
          <p:cNvSpPr/>
          <p:nvPr/>
        </p:nvSpPr>
        <p:spPr>
          <a:xfrm>
            <a:off x="7772400" y="5390388"/>
            <a:ext cx="777240" cy="365760"/>
          </a:xfrm>
          <a:prstGeom prst="roundRect">
            <a:avLst>
              <a:gd name="adj" fmla="val 50000"/>
            </a:avLst>
          </a:prstGeom>
          <a:solidFill>
            <a:schemeClr val="tx1"/>
          </a:solidFill>
          <a:ln w="12700">
            <a:solidFill>
              <a:schemeClr val="tx1">
                <a:alpha val="0"/>
              </a:schemeClr>
            </a:solidFill>
            <a:prstDash val="solid"/>
          </a:ln>
        </p:spPr>
      </p:sp>
      <p:sp>
        <p:nvSpPr>
          <p:cNvPr id="28" name="Text 25"/>
          <p:cNvSpPr txBox="1"/>
          <p:nvPr/>
        </p:nvSpPr>
        <p:spPr>
          <a:xfrm>
            <a:off x="7772400" y="539038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选择</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总测验（2/2）：简答题</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总测验</a:t>
            </a:r>
            <a:endParaRPr lang="en-US" sz="1200" dirty="0"/>
          </a:p>
        </p:txBody>
      </p:sp>
      <p:sp>
        <p:nvSpPr>
          <p:cNvPr id="5" name="Shape 2"/>
          <p:cNvSpPr/>
          <p:nvPr/>
        </p:nvSpPr>
        <p:spPr>
          <a:xfrm>
            <a:off x="457200" y="1371600"/>
            <a:ext cx="8229600" cy="1106424"/>
          </a:xfrm>
          <a:prstGeom prst="roundRect">
            <a:avLst>
              <a:gd name="adj" fmla="val 6612"/>
            </a:avLst>
          </a:prstGeom>
          <a:solidFill>
            <a:schemeClr val="bg2"/>
          </a:solidFill>
          <a:ln w="12700">
            <a:solidFill>
              <a:schemeClr val="bg2">
                <a:alpha val="0"/>
              </a:schemeClr>
            </a:solidFill>
            <a:prstDash val="solid"/>
          </a:ln>
        </p:spPr>
      </p:sp>
      <p:sp>
        <p:nvSpPr>
          <p:cNvPr id="6" name="Shape 3"/>
          <p:cNvSpPr/>
          <p:nvPr/>
        </p:nvSpPr>
        <p:spPr>
          <a:xfrm>
            <a:off x="640080" y="1641348"/>
            <a:ext cx="566928" cy="566928"/>
          </a:xfrm>
          <a:prstGeom prst="ellipse">
            <a:avLst/>
          </a:prstGeom>
          <a:solidFill>
            <a:schemeClr val="accent1"/>
          </a:solidFill>
          <a:ln w="12700">
            <a:solidFill>
              <a:schemeClr val="accent1">
                <a:alpha val="0"/>
              </a:schemeClr>
            </a:solidFill>
            <a:prstDash val="solid"/>
          </a:ln>
        </p:spPr>
      </p:sp>
      <p:sp>
        <p:nvSpPr>
          <p:cNvPr id="7" name="Text 4"/>
          <p:cNvSpPr txBox="1"/>
          <p:nvPr/>
        </p:nvSpPr>
        <p:spPr>
          <a:xfrm>
            <a:off x="640080" y="1641348"/>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Q1</a:t>
            </a:r>
            <a:endParaRPr lang="en-US" sz="1500" dirty="0"/>
          </a:p>
        </p:txBody>
      </p:sp>
      <p:sp>
        <p:nvSpPr>
          <p:cNvPr id="8" name="Text 5"/>
          <p:cNvSpPr txBox="1"/>
          <p:nvPr/>
        </p:nvSpPr>
        <p:spPr>
          <a:xfrm>
            <a:off x="1463040" y="1444752"/>
            <a:ext cx="6126480" cy="9601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为什么说比特币是“假名”而不是“匿名”？请举一个案例。</a:t>
            </a:r>
            <a:endParaRPr lang="en-US" sz="1500" dirty="0"/>
          </a:p>
        </p:txBody>
      </p:sp>
      <p:sp>
        <p:nvSpPr>
          <p:cNvPr id="9" name="Shape 6"/>
          <p:cNvSpPr/>
          <p:nvPr/>
        </p:nvSpPr>
        <p:spPr>
          <a:xfrm>
            <a:off x="7772400" y="1741932"/>
            <a:ext cx="777240" cy="365760"/>
          </a:xfrm>
          <a:prstGeom prst="roundRect">
            <a:avLst>
              <a:gd name="adj" fmla="val 50000"/>
            </a:avLst>
          </a:prstGeom>
          <a:solidFill>
            <a:schemeClr val="tx1"/>
          </a:solidFill>
          <a:ln w="12700">
            <a:solidFill>
              <a:schemeClr val="tx1">
                <a:alpha val="0"/>
              </a:schemeClr>
            </a:solidFill>
            <a:prstDash val="solid"/>
          </a:ln>
        </p:spPr>
      </p:sp>
      <p:sp>
        <p:nvSpPr>
          <p:cNvPr id="10" name="Text 7"/>
          <p:cNvSpPr txBox="1"/>
          <p:nvPr/>
        </p:nvSpPr>
        <p:spPr>
          <a:xfrm>
            <a:off x="7772400" y="1741932"/>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1" name="Shape 8"/>
          <p:cNvSpPr/>
          <p:nvPr/>
        </p:nvSpPr>
        <p:spPr>
          <a:xfrm>
            <a:off x="457200" y="2587752"/>
            <a:ext cx="8229600" cy="1106424"/>
          </a:xfrm>
          <a:prstGeom prst="roundRect">
            <a:avLst>
              <a:gd name="adj" fmla="val 6612"/>
            </a:avLst>
          </a:prstGeom>
          <a:solidFill>
            <a:schemeClr val="bg2"/>
          </a:solidFill>
          <a:ln w="12700">
            <a:solidFill>
              <a:schemeClr val="bg2">
                <a:alpha val="0"/>
              </a:schemeClr>
            </a:solidFill>
            <a:prstDash val="solid"/>
          </a:ln>
        </p:spPr>
      </p:sp>
      <p:sp>
        <p:nvSpPr>
          <p:cNvPr id="12" name="Shape 9"/>
          <p:cNvSpPr/>
          <p:nvPr/>
        </p:nvSpPr>
        <p:spPr>
          <a:xfrm>
            <a:off x="640080" y="2857500"/>
            <a:ext cx="566928" cy="566928"/>
          </a:xfrm>
          <a:prstGeom prst="ellipse">
            <a:avLst/>
          </a:prstGeom>
          <a:solidFill>
            <a:schemeClr val="accent1"/>
          </a:solidFill>
          <a:ln w="12700">
            <a:solidFill>
              <a:schemeClr val="accent1">
                <a:alpha val="0"/>
              </a:schemeClr>
            </a:solidFill>
            <a:prstDash val="solid"/>
          </a:ln>
        </p:spPr>
      </p:sp>
      <p:sp>
        <p:nvSpPr>
          <p:cNvPr id="13" name="Text 10"/>
          <p:cNvSpPr txBox="1"/>
          <p:nvPr/>
        </p:nvSpPr>
        <p:spPr>
          <a:xfrm>
            <a:off x="640080" y="2857500"/>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Q2</a:t>
            </a:r>
            <a:endParaRPr lang="en-US" sz="1500" dirty="0"/>
          </a:p>
        </p:txBody>
      </p:sp>
      <p:sp>
        <p:nvSpPr>
          <p:cNvPr id="14" name="Text 11"/>
          <p:cNvSpPr txBox="1"/>
          <p:nvPr/>
        </p:nvSpPr>
        <p:spPr>
          <a:xfrm>
            <a:off x="1463040" y="2660904"/>
            <a:ext cx="6126480" cy="9601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51% 攻击者能做什么？不能做什么？</a:t>
            </a:r>
            <a:endParaRPr lang="en-US" sz="1500" dirty="0"/>
          </a:p>
        </p:txBody>
      </p:sp>
      <p:sp>
        <p:nvSpPr>
          <p:cNvPr id="15" name="Shape 12"/>
          <p:cNvSpPr/>
          <p:nvPr/>
        </p:nvSpPr>
        <p:spPr>
          <a:xfrm>
            <a:off x="7772400" y="2958084"/>
            <a:ext cx="777240" cy="365760"/>
          </a:xfrm>
          <a:prstGeom prst="roundRect">
            <a:avLst>
              <a:gd name="adj" fmla="val 50000"/>
            </a:avLst>
          </a:prstGeom>
          <a:solidFill>
            <a:schemeClr val="tx1"/>
          </a:solidFill>
          <a:ln w="12700">
            <a:solidFill>
              <a:schemeClr val="tx1">
                <a:alpha val="0"/>
              </a:schemeClr>
            </a:solidFill>
            <a:prstDash val="solid"/>
          </a:ln>
        </p:spPr>
      </p:sp>
      <p:sp>
        <p:nvSpPr>
          <p:cNvPr id="16" name="Text 13"/>
          <p:cNvSpPr txBox="1"/>
          <p:nvPr/>
        </p:nvSpPr>
        <p:spPr>
          <a:xfrm>
            <a:off x="7772400" y="2958084"/>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17" name="Shape 14"/>
          <p:cNvSpPr/>
          <p:nvPr/>
        </p:nvSpPr>
        <p:spPr>
          <a:xfrm>
            <a:off x="457200" y="3803904"/>
            <a:ext cx="8229600" cy="1106424"/>
          </a:xfrm>
          <a:prstGeom prst="roundRect">
            <a:avLst>
              <a:gd name="adj" fmla="val 6612"/>
            </a:avLst>
          </a:prstGeom>
          <a:solidFill>
            <a:schemeClr val="bg2"/>
          </a:solidFill>
          <a:ln w="12700">
            <a:solidFill>
              <a:schemeClr val="bg2">
                <a:alpha val="0"/>
              </a:schemeClr>
            </a:solidFill>
            <a:prstDash val="solid"/>
          </a:ln>
        </p:spPr>
      </p:sp>
      <p:sp>
        <p:nvSpPr>
          <p:cNvPr id="18" name="Shape 15"/>
          <p:cNvSpPr/>
          <p:nvPr/>
        </p:nvSpPr>
        <p:spPr>
          <a:xfrm>
            <a:off x="640080" y="4073652"/>
            <a:ext cx="566928" cy="566928"/>
          </a:xfrm>
          <a:prstGeom prst="ellipse">
            <a:avLst/>
          </a:prstGeom>
          <a:solidFill>
            <a:schemeClr val="accent1"/>
          </a:solidFill>
          <a:ln w="12700">
            <a:solidFill>
              <a:schemeClr val="accent1">
                <a:alpha val="0"/>
              </a:schemeClr>
            </a:solidFill>
            <a:prstDash val="solid"/>
          </a:ln>
        </p:spPr>
      </p:sp>
      <p:sp>
        <p:nvSpPr>
          <p:cNvPr id="19" name="Text 16"/>
          <p:cNvSpPr txBox="1"/>
          <p:nvPr/>
        </p:nvSpPr>
        <p:spPr>
          <a:xfrm>
            <a:off x="640080" y="4073652"/>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Q3</a:t>
            </a:r>
            <a:endParaRPr lang="en-US" sz="1500" dirty="0"/>
          </a:p>
        </p:txBody>
      </p:sp>
      <p:sp>
        <p:nvSpPr>
          <p:cNvPr id="20" name="Text 17"/>
          <p:cNvSpPr txBox="1"/>
          <p:nvPr/>
        </p:nvSpPr>
        <p:spPr>
          <a:xfrm>
            <a:off x="1463040" y="3877056"/>
            <a:ext cx="6126480" cy="9601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“挖矿成本是价格底线”为什么不成立？</a:t>
            </a:r>
            <a:endParaRPr lang="en-US" sz="1500" dirty="0"/>
          </a:p>
        </p:txBody>
      </p:sp>
      <p:sp>
        <p:nvSpPr>
          <p:cNvPr id="21" name="Shape 18"/>
          <p:cNvSpPr/>
          <p:nvPr/>
        </p:nvSpPr>
        <p:spPr>
          <a:xfrm>
            <a:off x="7772400" y="4174236"/>
            <a:ext cx="777240" cy="365760"/>
          </a:xfrm>
          <a:prstGeom prst="roundRect">
            <a:avLst>
              <a:gd name="adj" fmla="val 50000"/>
            </a:avLst>
          </a:prstGeom>
          <a:solidFill>
            <a:schemeClr val="tx1"/>
          </a:solidFill>
          <a:ln w="12700">
            <a:solidFill>
              <a:schemeClr val="tx1">
                <a:alpha val="0"/>
              </a:schemeClr>
            </a:solidFill>
            <a:prstDash val="solid"/>
          </a:ln>
        </p:spPr>
      </p:sp>
      <p:sp>
        <p:nvSpPr>
          <p:cNvPr id="22" name="Text 19"/>
          <p:cNvSpPr txBox="1"/>
          <p:nvPr/>
        </p:nvSpPr>
        <p:spPr>
          <a:xfrm>
            <a:off x="7772400" y="4174236"/>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3" name="Shape 20"/>
          <p:cNvSpPr/>
          <p:nvPr/>
        </p:nvSpPr>
        <p:spPr>
          <a:xfrm>
            <a:off x="457200" y="5020056"/>
            <a:ext cx="8229600" cy="1106424"/>
          </a:xfrm>
          <a:prstGeom prst="roundRect">
            <a:avLst>
              <a:gd name="adj" fmla="val 6612"/>
            </a:avLst>
          </a:prstGeom>
          <a:solidFill>
            <a:schemeClr val="bg2"/>
          </a:solidFill>
          <a:ln w="12700">
            <a:solidFill>
              <a:schemeClr val="bg2">
                <a:alpha val="0"/>
              </a:schemeClr>
            </a:solidFill>
            <a:prstDash val="solid"/>
          </a:ln>
        </p:spPr>
      </p:sp>
      <p:sp>
        <p:nvSpPr>
          <p:cNvPr id="24" name="Shape 21"/>
          <p:cNvSpPr/>
          <p:nvPr/>
        </p:nvSpPr>
        <p:spPr>
          <a:xfrm>
            <a:off x="640080" y="5289804"/>
            <a:ext cx="566928" cy="566928"/>
          </a:xfrm>
          <a:prstGeom prst="ellipse">
            <a:avLst/>
          </a:prstGeom>
          <a:solidFill>
            <a:schemeClr val="accent1"/>
          </a:solidFill>
          <a:ln w="12700">
            <a:solidFill>
              <a:schemeClr val="accent1">
                <a:alpha val="0"/>
              </a:schemeClr>
            </a:solidFill>
            <a:prstDash val="solid"/>
          </a:ln>
        </p:spPr>
      </p:sp>
      <p:sp>
        <p:nvSpPr>
          <p:cNvPr id="25" name="Text 22"/>
          <p:cNvSpPr txBox="1"/>
          <p:nvPr/>
        </p:nvSpPr>
        <p:spPr>
          <a:xfrm>
            <a:off x="640080" y="5289804"/>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Q4</a:t>
            </a:r>
            <a:endParaRPr lang="en-US" sz="1500" dirty="0"/>
          </a:p>
        </p:txBody>
      </p:sp>
      <p:sp>
        <p:nvSpPr>
          <p:cNvPr id="26" name="Text 23"/>
          <p:cNvSpPr txBox="1"/>
          <p:nvPr/>
        </p:nvSpPr>
        <p:spPr>
          <a:xfrm>
            <a:off x="1463040" y="5093208"/>
            <a:ext cx="6126480" cy="960120"/>
          </a:xfrm>
          <a:prstGeom prst="rect">
            <a:avLst/>
          </a:prstGeom>
          <a:noFill/>
          <a:ln/>
        </p:spPr>
        <p:txBody>
          <a:bodyPr wrap="square" lIns="0" tIns="0" rIns="0" bIns="0" rtlCol="0" anchor="ctr"/>
          <a:lstStyle/>
          <a:p>
            <a:pPr algn="l" indent="0" marL="0">
              <a:lnSpc>
                <a:spcPct val="105000"/>
              </a:lnSpc>
              <a:buNone/>
            </a:pPr>
            <a:r>
              <a:rPr lang="en-US" sz="1700" b="1" dirty="0">
                <a:solidFill>
                  <a:schemeClr val="tx1"/>
                </a:solidFill>
              </a:rPr>
              <a:t>用“四个要求”评价比特币：哪些做到了，哪些没有？</a:t>
            </a:r>
            <a:endParaRPr lang="en-US" sz="1500" dirty="0"/>
          </a:p>
        </p:txBody>
      </p:sp>
      <p:sp>
        <p:nvSpPr>
          <p:cNvPr id="27" name="Shape 24"/>
          <p:cNvSpPr/>
          <p:nvPr/>
        </p:nvSpPr>
        <p:spPr>
          <a:xfrm>
            <a:off x="7772400" y="5390388"/>
            <a:ext cx="777240" cy="365760"/>
          </a:xfrm>
          <a:prstGeom prst="roundRect">
            <a:avLst>
              <a:gd name="adj" fmla="val 50000"/>
            </a:avLst>
          </a:prstGeom>
          <a:solidFill>
            <a:schemeClr val="tx1"/>
          </a:solidFill>
          <a:ln w="12700">
            <a:solidFill>
              <a:schemeClr val="tx1">
                <a:alpha val="0"/>
              </a:schemeClr>
            </a:solidFill>
            <a:prstDash val="solid"/>
          </a:ln>
        </p:spPr>
      </p:sp>
      <p:sp>
        <p:nvSpPr>
          <p:cNvPr id="28" name="Text 25"/>
          <p:cNvSpPr txBox="1"/>
          <p:nvPr/>
        </p:nvSpPr>
        <p:spPr>
          <a:xfrm>
            <a:off x="7772400" y="5390388"/>
            <a:ext cx="777240" cy="365760"/>
          </a:xfrm>
          <a:prstGeom prst="rect">
            <a:avLst/>
          </a:prstGeom>
          <a:noFill/>
          <a:ln/>
        </p:spPr>
        <p:txBody>
          <a:bodyPr wrap="square" lIns="0" tIns="0" rIns="0" bIns="0" rtlCol="0" anchor="ctr"/>
          <a:lstStyle/>
          <a:p>
            <a:pPr algn="ctr" indent="0" marL="0">
              <a:buNone/>
            </a:pPr>
            <a:r>
              <a:rPr lang="en-US" sz="1200" b="1" dirty="0">
                <a:solidFill>
                  <a:schemeClr val="bg1"/>
                </a:solidFill>
              </a:rPr>
              <a:t>简答</a:t>
            </a:r>
            <a:endParaRPr lang="en-US" sz="12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术语表（1/2）</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附：术语表</a:t>
            </a:r>
            <a:endParaRPr lang="en-US" sz="12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37360"/>
                <a:gridCol w="2377440"/>
                <a:gridCol w="4114800"/>
              </a:tblGrid>
              <a:tr h="411480">
                <a:tc>
                  <a:txBody>
                    <a:bodyPr/>
                    <a:lstStyle/>
                    <a:p>
                      <a:pPr algn="l" indent="0" marL="0">
                        <a:buNone/>
                      </a:pPr>
                      <a:r>
                        <a:rPr lang="en-US" sz="1400" b="1" dirty="0">
                          <a:solidFill>
                            <a:schemeClr val="bg1"/>
                          </a:solidFill>
                        </a:rPr>
                        <a:t>中文</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English</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一句话解释</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420624">
                <a:tc>
                  <a:txBody>
                    <a:bodyPr/>
                    <a:lstStyle/>
                    <a:p>
                      <a:pPr algn="l" indent="0" marL="0">
                        <a:buNone/>
                      </a:pPr>
                      <a:r>
                        <a:rPr lang="en-US" sz="1400" b="1" dirty="0">
                          <a:solidFill>
                            <a:schemeClr val="tx1"/>
                          </a:solidFill>
                        </a:rPr>
                        <a:t>哈希函数</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Hash function</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把任意数据压成定长“指纹”</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数字签名</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Digital signature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私钥签、公钥验，证明授权</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公钥 / 私钥</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Public / Private key</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一对钥匙：公开验证 / 秘密签名</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地址</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Address</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公钥的哈希，用于收款</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助记词</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Seed phrase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私钥的人类可读备份</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默克尔树</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Merkle tree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把交易哈希逐层合并成根</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区块 / 区块头</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Block / Header</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一批交易 / 80 字节元数据</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区块链</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Blockchain</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按哈希链接的区块账本</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节点</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Node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验证并转发区块与交易的电脑</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UTXO</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Unspent tx output</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未花费的交易输出</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术语表（2/2）</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附：术语表</a:t>
            </a:r>
            <a:endParaRPr lang="en-US" sz="12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37360"/>
                <a:gridCol w="2377440"/>
                <a:gridCol w="4114800"/>
              </a:tblGrid>
              <a:tr h="411480">
                <a:tc>
                  <a:txBody>
                    <a:bodyPr/>
                    <a:lstStyle/>
                    <a:p>
                      <a:pPr algn="l" indent="0" marL="0">
                        <a:buNone/>
                      </a:pPr>
                      <a:r>
                        <a:rPr lang="en-US" sz="1400" b="1" dirty="0">
                          <a:solidFill>
                            <a:schemeClr val="bg1"/>
                          </a:solidFill>
                        </a:rPr>
                        <a:t>中文</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English</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一句话解释</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420624">
                <a:tc>
                  <a:txBody>
                    <a:bodyPr/>
                    <a:lstStyle/>
                    <a:p>
                      <a:pPr algn="l" indent="0" marL="0">
                        <a:buNone/>
                      </a:pPr>
                      <a:r>
                        <a:rPr lang="en-US" sz="1400" b="1" dirty="0">
                          <a:solidFill>
                            <a:schemeClr val="tx1"/>
                          </a:solidFill>
                        </a:rPr>
                        <a:t>矿工 / 挖矿</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Miner / Mining</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竞争出块以获得奖励</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工作量证明</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Proof of Work</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难算易验的出块资格</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nonce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Nonce</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矿工反复尝试的随机数</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难度 / 目标</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Difficulty / Target</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控制出块速度的门槛</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内存池</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Mempool</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等待上链的交易队列</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coinbase 交易</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Coinbase tx</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区块首笔交易，发行新币</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减半</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Halving</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每 21 万块补贴减半</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双重支付</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Double spending</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同一枚币被花两次</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51% 攻击</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51% attack</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掌握过半算力重写历史</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分叉</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Fork</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软分叉 / 硬分叉：规则变更</a:t>
                      </a:r>
                      <a:endParaRPr lang="en-US" sz="14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参考文献与延伸阅读</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附：参考文献</a:t>
            </a:r>
            <a:endParaRPr lang="en-US" sz="1200" dirty="0"/>
          </a:p>
        </p:txBody>
      </p:sp>
      <p:sp>
        <p:nvSpPr>
          <p:cNvPr id="5" name="Text 2"/>
          <p:cNvSpPr txBox="1"/>
          <p:nvPr/>
        </p:nvSpPr>
        <p:spPr>
          <a:xfrm>
            <a:off x="457200" y="1417320"/>
            <a:ext cx="4023360" cy="4572000"/>
          </a:xfrm>
          <a:prstGeom prst="rect">
            <a:avLst/>
          </a:prstGeom>
          <a:noFill/>
          <a:ln/>
        </p:spPr>
        <p:txBody>
          <a:bodyPr wrap="square" lIns="0" tIns="0" rIns="0" bIns="0" rtlCol="0" anchor="t"/>
          <a:lstStyle/>
          <a:p>
            <a:pPr algn="l" indent="0" marL="0">
              <a:lnSpc>
                <a:spcPct val="105000"/>
              </a:lnSpc>
              <a:spcAft>
                <a:spcPts val="800"/>
              </a:spcAft>
              <a:buNone/>
            </a:pPr>
            <a:r>
              <a:rPr lang="en-US" sz="1500" b="1" dirty="0">
                <a:solidFill>
                  <a:schemeClr val="accent6"/>
                </a:solidFill>
              </a:rPr>
              <a:t>必读 / 精读</a:t>
            </a:r>
            <a:endParaRPr lang="en-US" sz="1300" dirty="0"/>
          </a:p>
          <a:p>
            <a:pPr algn="l" indent="0" marL="0">
              <a:lnSpc>
                <a:spcPct val="105000"/>
              </a:lnSpc>
              <a:spcAft>
                <a:spcPts val="800"/>
              </a:spcAft>
              <a:buNone/>
            </a:pPr>
            <a:r>
              <a:rPr lang="en-US" sz="1300" dirty="0">
                <a:solidFill>
                  <a:schemeClr val="tx1"/>
                </a:solidFill>
              </a:rPr>
              <a:t>Nakamoto (2008). Bitcoin: A Peer-to-Peer Electronic Cash System.</a:t>
            </a:r>
            <a:endParaRPr lang="en-US" sz="1300" dirty="0"/>
          </a:p>
          <a:p>
            <a:pPr algn="l" indent="0" marL="0">
              <a:lnSpc>
                <a:spcPct val="105000"/>
              </a:lnSpc>
              <a:spcAft>
                <a:spcPts val="800"/>
              </a:spcAft>
              <a:buNone/>
            </a:pPr>
            <a:r>
              <a:rPr lang="en-US" sz="1300" dirty="0">
                <a:solidFill>
                  <a:schemeClr val="tx1"/>
                </a:solidFill>
              </a:rPr>
              <a:t>Prasad (2021). The Future of Money, Ch. 4. Harvard University Press.</a:t>
            </a:r>
            <a:endParaRPr lang="en-US" sz="1300" dirty="0"/>
          </a:p>
          <a:p>
            <a:pPr algn="l" indent="0" marL="0">
              <a:lnSpc>
                <a:spcPct val="105000"/>
              </a:lnSpc>
              <a:spcAft>
                <a:spcPts val="800"/>
              </a:spcAft>
              <a:buNone/>
            </a:pPr>
            <a:r>
              <a:rPr lang="en-US" sz="1300" dirty="0">
                <a:solidFill>
                  <a:schemeClr val="tx1"/>
                </a:solidFill>
              </a:rPr>
              <a:t>Narayanan et al. (2016). Bitcoin and Cryptocurrency Technologies. Princeton UP.</a:t>
            </a:r>
            <a:endParaRPr lang="en-US" sz="1300" dirty="0"/>
          </a:p>
          <a:p>
            <a:pPr algn="l" indent="0" marL="0">
              <a:lnSpc>
                <a:spcPct val="105000"/>
              </a:lnSpc>
              <a:spcAft>
                <a:spcPts val="800"/>
              </a:spcAft>
              <a:buNone/>
            </a:pPr>
            <a:r>
              <a:rPr lang="en-US" sz="1300" dirty="0">
                <a:solidFill>
                  <a:schemeClr val="tx1"/>
                </a:solidFill>
              </a:rPr>
              <a:t>Antonopoulos &amp; Harding (2023). Mastering Bitcoin, 3rd ed. O’Reilly.</a:t>
            </a:r>
            <a:endParaRPr lang="en-US" sz="1300" dirty="0"/>
          </a:p>
          <a:p>
            <a:pPr algn="l" indent="0" marL="0">
              <a:lnSpc>
                <a:spcPct val="105000"/>
              </a:lnSpc>
              <a:spcAft>
                <a:spcPts val="800"/>
              </a:spcAft>
              <a:buNone/>
            </a:pPr>
            <a:r>
              <a:rPr lang="en-US" sz="1300" dirty="0">
                <a:solidFill>
                  <a:schemeClr val="tx1"/>
                </a:solidFill>
              </a:rPr>
              <a:t>Lamport, Shostak &amp; Pease (1982). The Byzantine Generals Problem.</a:t>
            </a:r>
            <a:endParaRPr lang="en-US" sz="1300" dirty="0"/>
          </a:p>
          <a:p>
            <a:pPr algn="l" indent="0" marL="0">
              <a:lnSpc>
                <a:spcPct val="105000"/>
              </a:lnSpc>
              <a:spcAft>
                <a:spcPts val="800"/>
              </a:spcAft>
              <a:buNone/>
            </a:pPr>
            <a:r>
              <a:rPr lang="en-US" sz="1300" dirty="0">
                <a:solidFill>
                  <a:schemeClr val="tx1"/>
                </a:solidFill>
              </a:rPr>
              <a:t>Wüst &amp; Gervais (2018). Do you need a blockchain?</a:t>
            </a:r>
            <a:endParaRPr lang="en-US" sz="1300" dirty="0"/>
          </a:p>
          <a:p>
            <a:pPr algn="l" indent="0" marL="0">
              <a:lnSpc>
                <a:spcPct val="105000"/>
              </a:lnSpc>
              <a:buNone/>
            </a:pPr>
            <a:r>
              <a:rPr lang="en-US" sz="1300" dirty="0">
                <a:solidFill>
                  <a:schemeClr val="tx1"/>
                </a:solidFill>
              </a:rPr>
              <a:t>Friedman (1991). The Island of Stone Money.</a:t>
            </a:r>
            <a:endParaRPr lang="en-US" sz="1300" dirty="0"/>
          </a:p>
        </p:txBody>
      </p:sp>
      <p:sp>
        <p:nvSpPr>
          <p:cNvPr id="6" name="Text 3"/>
          <p:cNvSpPr txBox="1"/>
          <p:nvPr/>
        </p:nvSpPr>
        <p:spPr>
          <a:xfrm>
            <a:off x="4663440" y="1417320"/>
            <a:ext cx="4023360" cy="4572000"/>
          </a:xfrm>
          <a:prstGeom prst="rect">
            <a:avLst/>
          </a:prstGeom>
          <a:noFill/>
          <a:ln/>
        </p:spPr>
        <p:txBody>
          <a:bodyPr wrap="square" lIns="0" tIns="0" rIns="0" bIns="0" rtlCol="0" anchor="t"/>
          <a:lstStyle/>
          <a:p>
            <a:pPr algn="l" indent="0" marL="0">
              <a:lnSpc>
                <a:spcPct val="105000"/>
              </a:lnSpc>
              <a:spcAft>
                <a:spcPts val="800"/>
              </a:spcAft>
              <a:buNone/>
            </a:pPr>
            <a:r>
              <a:rPr lang="en-US" sz="1500" b="1" dirty="0">
                <a:solidFill>
                  <a:schemeClr val="accent6"/>
                </a:solidFill>
              </a:rPr>
              <a:t>数据与研究</a:t>
            </a:r>
            <a:endParaRPr lang="en-US" sz="1300" dirty="0"/>
          </a:p>
          <a:p>
            <a:pPr algn="l" indent="0" marL="0">
              <a:lnSpc>
                <a:spcPct val="105000"/>
              </a:lnSpc>
              <a:spcAft>
                <a:spcPts val="800"/>
              </a:spcAft>
              <a:buNone/>
            </a:pPr>
            <a:r>
              <a:rPr lang="en-US" sz="1300" dirty="0">
                <a:solidFill>
                  <a:schemeClr val="tx1"/>
                </a:solidFill>
              </a:rPr>
              <a:t>Cambridge CCAF (2025). Digital Mining Industry Report；CBECI.</a:t>
            </a:r>
            <a:endParaRPr lang="en-US" sz="1300" dirty="0"/>
          </a:p>
          <a:p>
            <a:pPr algn="l" indent="0" marL="0">
              <a:lnSpc>
                <a:spcPct val="105000"/>
              </a:lnSpc>
              <a:spcAft>
                <a:spcPts val="800"/>
              </a:spcAft>
              <a:buNone/>
            </a:pPr>
            <a:r>
              <a:rPr lang="en-US" sz="1300" dirty="0">
                <a:solidFill>
                  <a:schemeClr val="tx1"/>
                </a:solidFill>
              </a:rPr>
              <a:t>Chainalysis (2025). 2026 Crypto Crime Report.</a:t>
            </a:r>
            <a:endParaRPr lang="en-US" sz="1300" dirty="0"/>
          </a:p>
          <a:p>
            <a:pPr algn="l" indent="0" marL="0">
              <a:lnSpc>
                <a:spcPct val="105000"/>
              </a:lnSpc>
              <a:spcAft>
                <a:spcPts val="800"/>
              </a:spcAft>
              <a:buNone/>
            </a:pPr>
            <a:r>
              <a:rPr lang="en-US" sz="1300" dirty="0">
                <a:solidFill>
                  <a:schemeClr val="tx1"/>
                </a:solidFill>
              </a:rPr>
              <a:t>Biais et al. (2023). Equilibrium Bitcoin Pricing. JF.</a:t>
            </a:r>
            <a:endParaRPr lang="en-US" sz="1300" dirty="0"/>
          </a:p>
          <a:p>
            <a:pPr algn="l" indent="0" marL="0">
              <a:lnSpc>
                <a:spcPct val="105000"/>
              </a:lnSpc>
              <a:spcAft>
                <a:spcPts val="800"/>
              </a:spcAft>
              <a:buNone/>
            </a:pPr>
            <a:r>
              <a:rPr lang="en-US" sz="1300" dirty="0">
                <a:solidFill>
                  <a:schemeClr val="tx1"/>
                </a:solidFill>
              </a:rPr>
              <a:t>Griffin &amp; Shams (2020). Is Bitcoin Really Untethered? JF.</a:t>
            </a:r>
            <a:endParaRPr lang="en-US" sz="1300" dirty="0"/>
          </a:p>
          <a:p>
            <a:pPr algn="l" indent="0" marL="0">
              <a:lnSpc>
                <a:spcPct val="105000"/>
              </a:lnSpc>
              <a:spcAft>
                <a:spcPts val="800"/>
              </a:spcAft>
              <a:buNone/>
            </a:pPr>
            <a:r>
              <a:rPr lang="en-US" sz="1300" dirty="0">
                <a:solidFill>
                  <a:schemeClr val="tx1"/>
                </a:solidFill>
              </a:rPr>
              <a:t>Foley, Karlsen &amp; Putniņš (2019). Sex, Drugs, and Bitcoin. RFS.</a:t>
            </a:r>
            <a:endParaRPr lang="en-US" sz="1300" dirty="0"/>
          </a:p>
          <a:p>
            <a:pPr algn="l" indent="0" marL="0">
              <a:lnSpc>
                <a:spcPct val="105000"/>
              </a:lnSpc>
              <a:spcAft>
                <a:spcPts val="800"/>
              </a:spcAft>
              <a:buNone/>
            </a:pPr>
            <a:r>
              <a:rPr lang="en-US" sz="1300" dirty="0">
                <a:solidFill>
                  <a:schemeClr val="tx1"/>
                </a:solidFill>
              </a:rPr>
              <a:t>OSC (2020). QuadrigaCX: A Review by Staff of the OSC.</a:t>
            </a:r>
            <a:endParaRPr lang="en-US" sz="1300" dirty="0"/>
          </a:p>
          <a:p>
            <a:pPr algn="l" indent="0" marL="0">
              <a:lnSpc>
                <a:spcPct val="105000"/>
              </a:lnSpc>
              <a:buNone/>
            </a:pPr>
            <a:r>
              <a:rPr lang="en-US" sz="1300" dirty="0">
                <a:solidFill>
                  <a:schemeClr val="tx1"/>
                </a:solidFill>
              </a:rPr>
              <a:t>中国人民银行等部门文件（2013、2017、2021、2026）。</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txBox="1"/>
          <p:nvPr/>
        </p:nvSpPr>
        <p:spPr>
          <a:xfrm>
            <a:off x="457200" y="640080"/>
            <a:ext cx="3657600" cy="1371600"/>
          </a:xfrm>
          <a:prstGeom prst="rect">
            <a:avLst/>
          </a:prstGeom>
          <a:noFill/>
          <a:ln/>
        </p:spPr>
        <p:txBody>
          <a:bodyPr wrap="square" lIns="0" tIns="0" rIns="0" bIns="0" rtlCol="0" anchor="t"/>
          <a:lstStyle/>
          <a:p>
            <a:pPr indent="0" marL="0">
              <a:buNone/>
            </a:pPr>
            <a:r>
              <a:rPr lang="en-US" sz="9600" b="1" dirty="0">
                <a:solidFill>
                  <a:schemeClr val="accent1"/>
                </a:solidFill>
              </a:rPr>
              <a:t>A</a:t>
            </a:r>
            <a:endParaRPr lang="en-US" sz="9600" dirty="0"/>
          </a:p>
        </p:txBody>
      </p:sp>
      <p:pic>
        <p:nvPicPr>
          <p:cNvPr id="3" name="Image 0" descr="FaBook">    </p:cNvPr>
          <p:cNvPicPr>
            <a:picLocks noChangeAspect="1"/>
          </p:cNvPicPr>
          <p:nvPr/>
        </p:nvPicPr>
        <p:blipFill>
          <a:blip r:embed="rId1">
            <a:alphaModFix amt="75000"/>
          </a:blip>
          <a:stretch>
            <a:fillRect/>
          </a:stretch>
        </p:blipFill>
        <p:spPr>
          <a:xfrm>
            <a:off x="6400800" y="822960"/>
            <a:ext cx="1828800" cy="1828800"/>
          </a:xfrm>
          <a:prstGeom prst="rect">
            <a:avLst/>
          </a:prstGeom>
        </p:spPr>
      </p:pic>
      <p:sp>
        <p:nvSpPr>
          <p:cNvPr id="4" name="Text 1"/>
          <p:cNvSpPr txBox="1"/>
          <p:nvPr/>
        </p:nvSpPr>
        <p:spPr>
          <a:xfrm>
            <a:off x="457200" y="2331720"/>
            <a:ext cx="8229600" cy="1188720"/>
          </a:xfrm>
          <a:prstGeom prst="rect">
            <a:avLst/>
          </a:prstGeom>
          <a:noFill/>
          <a:ln/>
        </p:spPr>
        <p:txBody>
          <a:bodyPr wrap="square" lIns="0" tIns="0" rIns="0" bIns="0" rtlCol="0" anchor="t"/>
          <a:lstStyle/>
          <a:p>
            <a:pPr indent="0" marL="0">
              <a:buNone/>
            </a:pPr>
            <a:r>
              <a:rPr lang="en-US" sz="4000" b="1" dirty="0">
                <a:solidFill>
                  <a:schemeClr val="bg1"/>
                </a:solidFill>
              </a:rPr>
              <a:t>附录：白皮书对读</a:t>
            </a:r>
            <a:endParaRPr lang="en-US" sz="4000" dirty="0"/>
          </a:p>
        </p:txBody>
      </p:sp>
      <p:sp>
        <p:nvSpPr>
          <p:cNvPr id="5" name="Text 2"/>
          <p:cNvSpPr txBox="1"/>
          <p:nvPr/>
        </p:nvSpPr>
        <p:spPr>
          <a:xfrm>
            <a:off x="457200" y="3611880"/>
            <a:ext cx="7863840" cy="1005840"/>
          </a:xfrm>
          <a:prstGeom prst="rect">
            <a:avLst/>
          </a:prstGeom>
          <a:noFill/>
          <a:ln/>
        </p:spPr>
        <p:txBody>
          <a:bodyPr wrap="square" lIns="0" tIns="0" rIns="0" bIns="0" rtlCol="0" anchor="t"/>
          <a:lstStyle/>
          <a:p>
            <a:pPr indent="0" marL="0">
              <a:buNone/>
            </a:pPr>
            <a:r>
              <a:rPr lang="en-US" sz="2000" dirty="0">
                <a:solidFill>
                  <a:schemeClr val="accent5"/>
                </a:solidFill>
              </a:rPr>
              <a:t>原文只有 9 页——把它和本章逐节对一对。</a:t>
            </a:r>
            <a:endParaRPr lang="en-US" sz="2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12 节 ↔ 本章内容</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a:t>
            </a:r>
            <a:endParaRPr lang="en-US" sz="12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48640"/>
                <a:gridCol w="4023360"/>
                <a:gridCol w="3657600"/>
              </a:tblGrid>
              <a:tr h="384048">
                <a:tc>
                  <a:txBody>
                    <a:bodyPr/>
                    <a:lstStyle/>
                    <a:p>
                      <a:pPr algn="l" indent="0" marL="0">
                        <a:buNone/>
                      </a:pPr>
                      <a:r>
                        <a:rPr lang="en-US" sz="1300" b="1" dirty="0">
                          <a:solidFill>
                            <a:schemeClr val="bg1"/>
                          </a:solidFill>
                        </a:rPr>
                        <a:t>§</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标题</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对应本章</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tx1"/>
                    </a:solidFill>
                  </a:tcPr>
                </a:tc>
              </a:tr>
              <a:tr h="365760">
                <a:tc>
                  <a:txBody>
                    <a:bodyPr/>
                    <a:lstStyle/>
                    <a:p>
                      <a:pPr algn="l" indent="0" marL="0">
                        <a:buNone/>
                      </a:pPr>
                      <a:r>
                        <a:rPr lang="en-US" sz="1300" b="1" dirty="0">
                          <a:solidFill>
                            <a:schemeClr val="tx1"/>
                          </a:solidFill>
                        </a:rPr>
                        <a:t>1</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Introduction 引言</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导入：信任问题与双重支付</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365760">
                <a:tc>
                  <a:txBody>
                    <a:bodyPr/>
                    <a:lstStyle/>
                    <a:p>
                      <a:pPr algn="l" indent="0" marL="0">
                        <a:buNone/>
                      </a:pPr>
                      <a:r>
                        <a:rPr lang="en-US" sz="1300" b="1" dirty="0">
                          <a:solidFill>
                            <a:schemeClr val="tx1"/>
                          </a:solidFill>
                        </a:rPr>
                        <a:t>2</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Transactions 交易</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积木一：数字签名链</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tx1"/>
                          </a:solidFill>
                        </a:rPr>
                        <a:t>3</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Timestamp Server 时间戳服务器</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积木三：哈希链接的区块</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365760">
                <a:tc>
                  <a:txBody>
                    <a:bodyPr/>
                    <a:lstStyle/>
                    <a:p>
                      <a:pPr algn="l" indent="0" marL="0">
                        <a:buNone/>
                      </a:pPr>
                      <a:r>
                        <a:rPr lang="en-US" sz="1300" b="1" dirty="0">
                          <a:solidFill>
                            <a:schemeClr val="tx1"/>
                          </a:solidFill>
                        </a:rPr>
                        <a:t>4</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Proof-of-Work 工作量证明</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工作量证明：nonce 与难度</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tx1"/>
                          </a:solidFill>
                        </a:rPr>
                        <a:t>5</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Network 网络</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一个区块的诞生：六步走</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365760">
                <a:tc>
                  <a:txBody>
                    <a:bodyPr/>
                    <a:lstStyle/>
                    <a:p>
                      <a:pPr algn="l" indent="0" marL="0">
                        <a:buNone/>
                      </a:pPr>
                      <a:r>
                        <a:rPr lang="en-US" sz="1300" b="1" dirty="0">
                          <a:solidFill>
                            <a:schemeClr val="tx1"/>
                          </a:solidFill>
                        </a:rPr>
                        <a:t>6</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Incentive 激励</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激励与货币发行</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tx1"/>
                          </a:solidFill>
                        </a:rPr>
                        <a:t>7</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Reclaiming Disk Space 回收磁盘空间</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积木二：默克尔树（修剪）</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365760">
                <a:tc>
                  <a:txBody>
                    <a:bodyPr/>
                    <a:lstStyle/>
                    <a:p>
                      <a:pPr algn="l" indent="0" marL="0">
                        <a:buNone/>
                      </a:pPr>
                      <a:r>
                        <a:rPr lang="en-US" sz="1300" b="1" dirty="0">
                          <a:solidFill>
                            <a:schemeClr val="tx1"/>
                          </a:solidFill>
                        </a:rPr>
                        <a:t>8</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Simplified Payment Verification</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积木二：默克尔证明 / SPV</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tx1"/>
                          </a:solidFill>
                        </a:rPr>
                        <a:t>9</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Combining and Splitting Value</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积木三：UTXO</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365760">
                <a:tc>
                  <a:txBody>
                    <a:bodyPr/>
                    <a:lstStyle/>
                    <a:p>
                      <a:pPr algn="l" indent="0" marL="0">
                        <a:buNone/>
                      </a:pPr>
                      <a:r>
                        <a:rPr lang="en-US" sz="1300" b="1" dirty="0">
                          <a:solidFill>
                            <a:schemeClr val="tx1"/>
                          </a:solidFill>
                        </a:rPr>
                        <a:t>10</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Privacy 隐私</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不足：假名≠匿名</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r h="365760">
                <a:tc>
                  <a:txBody>
                    <a:bodyPr/>
                    <a:lstStyle/>
                    <a:p>
                      <a:pPr algn="l" indent="0" marL="0">
                        <a:buNone/>
                      </a:pPr>
                      <a:r>
                        <a:rPr lang="en-US" sz="1300" b="1" dirty="0">
                          <a:solidFill>
                            <a:schemeClr val="tx1"/>
                          </a:solidFill>
                        </a:rPr>
                        <a:t>11</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Calculations 计算</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工作量证明：攻击成功概率</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2"/>
                    </a:solidFill>
                  </a:tcPr>
                </a:tc>
              </a:tr>
              <a:tr h="365760">
                <a:tc>
                  <a:txBody>
                    <a:bodyPr/>
                    <a:lstStyle/>
                    <a:p>
                      <a:pPr algn="l" indent="0" marL="0">
                        <a:buNone/>
                      </a:pPr>
                      <a:r>
                        <a:rPr lang="en-US" sz="1300" b="1" dirty="0">
                          <a:solidFill>
                            <a:schemeClr val="tx1"/>
                          </a:solidFill>
                        </a:rPr>
                        <a:t>12</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Conclusion 结论</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全章回顾</a:t>
                      </a:r>
                      <a:endParaRPr lang="en-US" sz="1300" dirty="0"/>
                    </a:p>
                  </a:txBody>
                  <a:tcPr marL="91440" marR="91440" marT="45720" marB="45720" anchor="ctr">
                    <a:lnL w="6350" cap="flat" cmpd="sng" algn="ctr">
                      <a:solidFill>
                        <a:srgbClr val="F3F4F6"/>
                      </a:solidFill>
                      <a:prstDash val="solid"/>
                      <a:round/>
                      <a:headEnd type="none" w="med" len="med"/>
                      <a:tailEnd type="none" w="med" len="med"/>
                    </a:lnL>
                    <a:lnR w="6350" cap="flat" cmpd="sng" algn="ctr">
                      <a:solidFill>
                        <a:srgbClr val="F3F4F6"/>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§2：电子币，就是一条数字签名链</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438912" y="1399032"/>
            <a:ext cx="4791456" cy="2852409"/>
          </a:xfrm>
          <a:prstGeom prst="rect">
            <a:avLst/>
          </a:prstGeom>
          <a:solidFill>
            <a:schemeClr val="bg1"/>
          </a:solidFill>
          <a:ln w="9525">
            <a:solidFill>
              <a:schemeClr val="accent5"/>
            </a:solidFill>
            <a:prstDash val="solid"/>
          </a:ln>
        </p:spPr>
      </p:sp>
      <p:pic>
        <p:nvPicPr>
          <p:cNvPr id="6" name="Image 0" descr="白皮书第 2 节 交易">    </p:cNvPr>
          <p:cNvPicPr>
            <a:picLocks noChangeAspect="1"/>
          </p:cNvPicPr>
          <p:nvPr/>
        </p:nvPicPr>
        <p:blipFill>
          <a:blip r:embed="rId1"/>
          <a:stretch>
            <a:fillRect/>
          </a:stretch>
        </p:blipFill>
        <p:spPr>
          <a:xfrm>
            <a:off x="457200" y="1417320"/>
            <a:ext cx="4754880" cy="2815833"/>
          </a:xfrm>
          <a:prstGeom prst="rect">
            <a:avLst/>
          </a:prstGeom>
        </p:spPr>
      </p:pic>
      <p:sp>
        <p:nvSpPr>
          <p:cNvPr id="7" name="Text 3"/>
          <p:cNvSpPr txBox="1"/>
          <p:nvPr/>
        </p:nvSpPr>
        <p:spPr>
          <a:xfrm>
            <a:off x="5440680" y="1463040"/>
            <a:ext cx="3246120" cy="384048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400" dirty="0">
                <a:solidFill>
                  <a:schemeClr val="tx1"/>
                </a:solidFill>
              </a:rPr>
              <a:t>电子币 = 一条数字签名链</a:t>
            </a:r>
            <a:endParaRPr lang="en-US" sz="1400" dirty="0"/>
          </a:p>
          <a:p>
            <a:pPr algn="l" marL="254000" indent="-254000">
              <a:lnSpc>
                <a:spcPct val="105000"/>
              </a:lnSpc>
              <a:spcAft>
                <a:spcPts val="800"/>
              </a:spcAft>
              <a:buSzPct val="100000"/>
              <a:buChar char="•"/>
            </a:pPr>
            <a:r>
              <a:rPr lang="en-US" sz="1400" dirty="0">
                <a:solidFill>
                  <a:schemeClr val="tx1"/>
                </a:solidFill>
              </a:rPr>
              <a:t>每位所有者用</a:t>
            </a:r>
            <a:pPr algn="l" marL="254000" indent="-254000">
              <a:lnSpc>
                <a:spcPct val="105000"/>
              </a:lnSpc>
              <a:spcAft>
                <a:spcPts val="800"/>
              </a:spcAft>
              <a:buSzPct val="100000"/>
              <a:buChar char="•"/>
            </a:pPr>
            <a:r>
              <a:rPr lang="en-US" sz="1400" b="1" dirty="0">
                <a:solidFill>
                  <a:schemeClr val="tx1"/>
                </a:solidFill>
              </a:rPr>
              <a:t>私钥</a:t>
            </a:r>
            <a:pPr algn="l" marL="254000" indent="-254000">
              <a:lnSpc>
                <a:spcPct val="105000"/>
              </a:lnSpc>
              <a:spcAft>
                <a:spcPts val="800"/>
              </a:spcAft>
              <a:buSzPct val="100000"/>
              <a:buChar char="•"/>
            </a:pPr>
            <a:r>
              <a:rPr lang="en-US" sz="1400" dirty="0">
                <a:solidFill>
                  <a:schemeClr val="tx1"/>
                </a:solidFill>
              </a:rPr>
              <a:t>签署“上一笔交易的哈希 + 下一位所有者的公钥”</a:t>
            </a:r>
            <a:endParaRPr lang="en-US" sz="1400" dirty="0"/>
          </a:p>
          <a:p>
            <a:pPr algn="l" marL="254000" indent="-254000">
              <a:lnSpc>
                <a:spcPct val="105000"/>
              </a:lnSpc>
              <a:buSzPct val="100000"/>
              <a:buChar char="•"/>
            </a:pPr>
            <a:r>
              <a:rPr lang="en-US" sz="1400" dirty="0">
                <a:solidFill>
                  <a:schemeClr val="tx1"/>
                </a:solidFill>
              </a:rPr>
              <a:t>收款人可验证签名链——但无法确认前一位所有者有没有“双花”</a:t>
            </a:r>
            <a:endParaRPr lang="en-US" sz="14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对应本章：积木一 · 数字签名</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§3：时间戳服务器</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630883" y="1399032"/>
            <a:ext cx="7882235" cy="2962656"/>
          </a:xfrm>
          <a:prstGeom prst="rect">
            <a:avLst/>
          </a:prstGeom>
          <a:solidFill>
            <a:schemeClr val="bg1"/>
          </a:solidFill>
          <a:ln w="9525">
            <a:solidFill>
              <a:schemeClr val="accent5"/>
            </a:solidFill>
            <a:prstDash val="solid"/>
          </a:ln>
        </p:spPr>
      </p:sp>
      <p:pic>
        <p:nvPicPr>
          <p:cNvPr id="6" name="Image 0" descr="白皮书第 3 节 时间戳服务器">    </p:cNvPr>
          <p:cNvPicPr>
            <a:picLocks noChangeAspect="1"/>
          </p:cNvPicPr>
          <p:nvPr/>
        </p:nvPicPr>
        <p:blipFill>
          <a:blip r:embed="rId1"/>
          <a:stretch>
            <a:fillRect/>
          </a:stretch>
        </p:blipFill>
        <p:spPr>
          <a:xfrm>
            <a:off x="649171" y="1417320"/>
            <a:ext cx="7845659" cy="2926080"/>
          </a:xfrm>
          <a:prstGeom prst="rect">
            <a:avLst/>
          </a:prstGeom>
        </p:spPr>
      </p:pic>
      <p:sp>
        <p:nvSpPr>
          <p:cNvPr id="7" name="Text 3"/>
          <p:cNvSpPr txBox="1"/>
          <p:nvPr/>
        </p:nvSpPr>
        <p:spPr>
          <a:xfrm>
            <a:off x="457200" y="4526280"/>
            <a:ext cx="8229600" cy="960120"/>
          </a:xfrm>
          <a:prstGeom prst="rect">
            <a:avLst/>
          </a:prstGeom>
          <a:noFill/>
          <a:ln/>
        </p:spPr>
        <p:txBody>
          <a:bodyPr wrap="square" lIns="0" tIns="0" rIns="0" bIns="0" rtlCol="0" anchor="t"/>
          <a:lstStyle/>
          <a:p>
            <a:pPr algn="l" marL="254000" indent="-254000">
              <a:lnSpc>
                <a:spcPct val="105000"/>
              </a:lnSpc>
              <a:spcAft>
                <a:spcPts val="500"/>
              </a:spcAft>
              <a:buSzPct val="100000"/>
              <a:buChar char="•"/>
            </a:pPr>
            <a:r>
              <a:rPr lang="en-US" sz="1500" dirty="0">
                <a:solidFill>
                  <a:schemeClr val="tx1"/>
                </a:solidFill>
              </a:rPr>
              <a:t>给一批交易的哈希盖上时间戳，并公开发布</a:t>
            </a:r>
            <a:endParaRPr lang="en-US" sz="1500" dirty="0"/>
          </a:p>
          <a:p>
            <a:pPr algn="l" marL="254000" indent="-254000">
              <a:lnSpc>
                <a:spcPct val="105000"/>
              </a:lnSpc>
              <a:buSzPct val="100000"/>
              <a:buChar char="•"/>
            </a:pPr>
            <a:r>
              <a:rPr lang="en-US" sz="1500" dirty="0">
                <a:solidFill>
                  <a:schemeClr val="tx1"/>
                </a:solidFill>
              </a:rPr>
              <a:t>每个时间戳都把前一个时间戳纳入哈希，形成链——“区块链”的雏形</a:t>
            </a:r>
            <a:endParaRPr lang="en-US" sz="15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对应本章：积木三 · 区块如何“链”起来</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§4：工作量证明</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438912" y="1399032"/>
            <a:ext cx="4791456" cy="2550098"/>
          </a:xfrm>
          <a:prstGeom prst="rect">
            <a:avLst/>
          </a:prstGeom>
          <a:solidFill>
            <a:schemeClr val="bg1"/>
          </a:solidFill>
          <a:ln w="9525">
            <a:solidFill>
              <a:schemeClr val="accent5"/>
            </a:solidFill>
            <a:prstDash val="solid"/>
          </a:ln>
        </p:spPr>
      </p:sp>
      <p:pic>
        <p:nvPicPr>
          <p:cNvPr id="6" name="Image 0" descr="白皮书第 4 节 工作量证明">    </p:cNvPr>
          <p:cNvPicPr>
            <a:picLocks noChangeAspect="1"/>
          </p:cNvPicPr>
          <p:nvPr/>
        </p:nvPicPr>
        <p:blipFill>
          <a:blip r:embed="rId1"/>
          <a:stretch>
            <a:fillRect/>
          </a:stretch>
        </p:blipFill>
        <p:spPr>
          <a:xfrm>
            <a:off x="457200" y="1417320"/>
            <a:ext cx="4754880" cy="2513522"/>
          </a:xfrm>
          <a:prstGeom prst="rect">
            <a:avLst/>
          </a:prstGeom>
        </p:spPr>
      </p:pic>
      <p:sp>
        <p:nvSpPr>
          <p:cNvPr id="7" name="Text 3"/>
          <p:cNvSpPr txBox="1"/>
          <p:nvPr/>
        </p:nvSpPr>
        <p:spPr>
          <a:xfrm>
            <a:off x="5440680" y="1463040"/>
            <a:ext cx="3246120" cy="384048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400" dirty="0">
                <a:solidFill>
                  <a:schemeClr val="tx1"/>
                </a:solidFill>
              </a:rPr>
              <a:t>在区块里加 nonce，直到哈希有足够多的前导 0（用 SHA-256）</a:t>
            </a:r>
            <a:endParaRPr lang="en-US" sz="1400" dirty="0"/>
          </a:p>
          <a:p>
            <a:pPr algn="l" marL="254000" indent="-254000">
              <a:lnSpc>
                <a:spcPct val="105000"/>
              </a:lnSpc>
              <a:spcAft>
                <a:spcPts val="800"/>
              </a:spcAft>
              <a:buSzPct val="100000"/>
              <a:buChar char="•"/>
            </a:pPr>
            <a:r>
              <a:rPr lang="en-US" sz="1400" dirty="0">
                <a:solidFill>
                  <a:schemeClr val="tx1"/>
                </a:solidFill>
              </a:rPr>
              <a:t>工作量随前导 0 的个数</a:t>
            </a:r>
            <a:pPr algn="l" marL="254000" indent="-254000">
              <a:lnSpc>
                <a:spcPct val="105000"/>
              </a:lnSpc>
              <a:spcAft>
                <a:spcPts val="800"/>
              </a:spcAft>
              <a:buSzPct val="100000"/>
              <a:buChar char="•"/>
            </a:pPr>
            <a:r>
              <a:rPr lang="en-US" sz="1400" b="1" dirty="0">
                <a:solidFill>
                  <a:schemeClr val="tx1"/>
                </a:solidFill>
              </a:rPr>
              <a:t>指数增长</a:t>
            </a:r>
            <a:pPr algn="l" marL="254000" indent="-254000">
              <a:lnSpc>
                <a:spcPct val="105000"/>
              </a:lnSpc>
              <a:spcAft>
                <a:spcPts val="800"/>
              </a:spcAft>
              <a:buSzPct val="100000"/>
              <a:buChar char="•"/>
            </a:pPr>
            <a:r>
              <a:rPr lang="en-US" sz="1400" dirty="0">
                <a:solidFill>
                  <a:schemeClr val="tx1"/>
                </a:solidFill>
              </a:rPr>
              <a:t>，验证只需一次哈希</a:t>
            </a:r>
            <a:endParaRPr lang="en-US" sz="1400" dirty="0"/>
          </a:p>
          <a:p>
            <a:pPr algn="l" marL="254000" indent="-254000">
              <a:lnSpc>
                <a:spcPct val="105000"/>
              </a:lnSpc>
              <a:spcAft>
                <a:spcPts val="800"/>
              </a:spcAft>
              <a:buSzPct val="100000"/>
              <a:buChar char="•"/>
            </a:pPr>
            <a:r>
              <a:rPr lang="en-US" sz="1400" dirty="0">
                <a:solidFill>
                  <a:schemeClr val="tx1"/>
                </a:solidFill>
              </a:rPr>
              <a:t>改区块 = 重做它与之后所有区块的工作量</a:t>
            </a:r>
            <a:endParaRPr lang="en-US" sz="1400" dirty="0"/>
          </a:p>
          <a:p>
            <a:pPr algn="l" marL="254000" indent="-254000">
              <a:lnSpc>
                <a:spcPct val="105000"/>
              </a:lnSpc>
              <a:buSzPct val="100000"/>
              <a:buChar char="•"/>
            </a:pPr>
            <a:r>
              <a:rPr lang="en-US" sz="1400" dirty="0">
                <a:solidFill>
                  <a:schemeClr val="tx1"/>
                </a:solidFill>
              </a:rPr>
              <a:t>“一 CPU 一票”：最长链代表多数算力的决定</a:t>
            </a:r>
            <a:endParaRPr lang="en-US" sz="14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对应本章：工作量证明</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§5：网络</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438912" y="1399032"/>
            <a:ext cx="8266176" cy="2560671"/>
          </a:xfrm>
          <a:prstGeom prst="rect">
            <a:avLst/>
          </a:prstGeom>
          <a:solidFill>
            <a:schemeClr val="bg1"/>
          </a:solidFill>
          <a:ln w="9525">
            <a:solidFill>
              <a:schemeClr val="accent5"/>
            </a:solidFill>
            <a:prstDash val="solid"/>
          </a:ln>
        </p:spPr>
      </p:sp>
      <p:pic>
        <p:nvPicPr>
          <p:cNvPr id="6" name="Image 0" descr="白皮书第 5 节 网络">    </p:cNvPr>
          <p:cNvPicPr>
            <a:picLocks noChangeAspect="1"/>
          </p:cNvPicPr>
          <p:nvPr/>
        </p:nvPicPr>
        <p:blipFill>
          <a:blip r:embed="rId1"/>
          <a:stretch>
            <a:fillRect/>
          </a:stretch>
        </p:blipFill>
        <p:spPr>
          <a:xfrm>
            <a:off x="457200" y="1417320"/>
            <a:ext cx="8229600" cy="2524095"/>
          </a:xfrm>
          <a:prstGeom prst="rect">
            <a:avLst/>
          </a:prstGeom>
        </p:spPr>
      </p:pic>
      <p:sp>
        <p:nvSpPr>
          <p:cNvPr id="7" name="Text 3"/>
          <p:cNvSpPr txBox="1"/>
          <p:nvPr/>
        </p:nvSpPr>
        <p:spPr>
          <a:xfrm>
            <a:off x="457200" y="4124295"/>
            <a:ext cx="8229600" cy="1362105"/>
          </a:xfrm>
          <a:prstGeom prst="rect">
            <a:avLst/>
          </a:prstGeom>
          <a:noFill/>
          <a:ln/>
        </p:spPr>
        <p:txBody>
          <a:bodyPr wrap="square" lIns="0" tIns="0" rIns="0" bIns="0" rtlCol="0" anchor="t"/>
          <a:lstStyle/>
          <a:p>
            <a:pPr algn="l" marL="254000" indent="-254000">
              <a:lnSpc>
                <a:spcPct val="105000"/>
              </a:lnSpc>
              <a:spcAft>
                <a:spcPts val="500"/>
              </a:spcAft>
              <a:buSzPct val="100000"/>
              <a:buChar char="•"/>
            </a:pPr>
            <a:r>
              <a:rPr lang="en-US" sz="1500" dirty="0">
                <a:solidFill>
                  <a:schemeClr val="tx1"/>
                </a:solidFill>
              </a:rPr>
              <a:t>六步：广播交易 → 收集进区块 → 找 PoW → 广播区块 → 节点验收 → 接着做下一块</a:t>
            </a:r>
            <a:endParaRPr lang="en-US" sz="1500" dirty="0"/>
          </a:p>
          <a:p>
            <a:pPr algn="l" marL="254000" indent="-254000">
              <a:lnSpc>
                <a:spcPct val="105000"/>
              </a:lnSpc>
              <a:buSzPct val="100000"/>
              <a:buChar char="•"/>
            </a:pPr>
            <a:r>
              <a:rPr lang="en-US" sz="1500" dirty="0">
                <a:solidFill>
                  <a:schemeClr val="tx1"/>
                </a:solidFill>
              </a:rPr>
              <a:t>节点总是认为</a:t>
            </a:r>
            <a:pPr algn="l" marL="254000" indent="-254000">
              <a:lnSpc>
                <a:spcPct val="105000"/>
              </a:lnSpc>
              <a:buSzPct val="100000"/>
              <a:buChar char="•"/>
            </a:pPr>
            <a:r>
              <a:rPr lang="en-US" sz="1500" b="1" dirty="0">
                <a:solidFill>
                  <a:schemeClr val="tx1"/>
                </a:solidFill>
              </a:rPr>
              <a:t>最长的链</a:t>
            </a:r>
            <a:pPr algn="l" marL="254000" indent="-254000">
              <a:lnSpc>
                <a:spcPct val="105000"/>
              </a:lnSpc>
              <a:buSzPct val="100000"/>
              <a:buChar char="•"/>
            </a:pPr>
            <a:r>
              <a:rPr lang="en-US" sz="1500" dirty="0">
                <a:solidFill>
                  <a:schemeClr val="tx1"/>
                </a:solidFill>
              </a:rPr>
              <a:t>是正确的，并持续在其上延长</a:t>
            </a:r>
            <a:endParaRPr lang="en-US" sz="15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对应本章：工作量证明 · 六步走</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§6：激励</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438912" y="1399032"/>
            <a:ext cx="4791456" cy="2356030"/>
          </a:xfrm>
          <a:prstGeom prst="rect">
            <a:avLst/>
          </a:prstGeom>
          <a:solidFill>
            <a:schemeClr val="bg1"/>
          </a:solidFill>
          <a:ln w="9525">
            <a:solidFill>
              <a:schemeClr val="accent5"/>
            </a:solidFill>
            <a:prstDash val="solid"/>
          </a:ln>
        </p:spPr>
      </p:sp>
      <p:pic>
        <p:nvPicPr>
          <p:cNvPr id="6" name="Image 0" descr="白皮书第 6 节 激励">    </p:cNvPr>
          <p:cNvPicPr>
            <a:picLocks noChangeAspect="1"/>
          </p:cNvPicPr>
          <p:nvPr/>
        </p:nvPicPr>
        <p:blipFill>
          <a:blip r:embed="rId1"/>
          <a:stretch>
            <a:fillRect/>
          </a:stretch>
        </p:blipFill>
        <p:spPr>
          <a:xfrm>
            <a:off x="457200" y="1417320"/>
            <a:ext cx="4754880" cy="2319454"/>
          </a:xfrm>
          <a:prstGeom prst="rect">
            <a:avLst/>
          </a:prstGeom>
        </p:spPr>
      </p:pic>
      <p:sp>
        <p:nvSpPr>
          <p:cNvPr id="7" name="Text 3"/>
          <p:cNvSpPr txBox="1"/>
          <p:nvPr/>
        </p:nvSpPr>
        <p:spPr>
          <a:xfrm>
            <a:off x="5440680" y="1463040"/>
            <a:ext cx="3246120" cy="384048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400" dirty="0">
                <a:solidFill>
                  <a:schemeClr val="tx1"/>
                </a:solidFill>
              </a:rPr>
              <a:t>区块第一笔交易产生新币（今天的 coinbase）：给节点以动力</a:t>
            </a:r>
            <a:endParaRPr lang="en-US" sz="1400" dirty="0"/>
          </a:p>
          <a:p>
            <a:pPr algn="l" marL="254000" indent="-254000">
              <a:lnSpc>
                <a:spcPct val="105000"/>
              </a:lnSpc>
              <a:spcAft>
                <a:spcPts val="800"/>
              </a:spcAft>
              <a:buSzPct val="100000"/>
              <a:buChar char="•"/>
            </a:pPr>
            <a:r>
              <a:rPr lang="en-US" sz="1400" dirty="0">
                <a:solidFill>
                  <a:schemeClr val="tx1"/>
                </a:solidFill>
              </a:rPr>
              <a:t>新币发行类比“挖金”；手续费将来成为主要激励</a:t>
            </a:r>
            <a:endParaRPr lang="en-US" sz="1400" dirty="0"/>
          </a:p>
          <a:p>
            <a:pPr algn="l" marL="254000" indent="-254000">
              <a:lnSpc>
                <a:spcPct val="105000"/>
              </a:lnSpc>
              <a:buSzPct val="100000"/>
              <a:buChar char="•"/>
            </a:pPr>
            <a:r>
              <a:rPr lang="en-US" sz="1400" dirty="0">
                <a:solidFill>
                  <a:schemeClr val="tx1"/>
                </a:solidFill>
              </a:rPr>
              <a:t>贪婪的攻击者发现，</a:t>
            </a:r>
            <a:pPr algn="l" marL="254000" indent="-254000">
              <a:lnSpc>
                <a:spcPct val="105000"/>
              </a:lnSpc>
              <a:buSzPct val="100000"/>
              <a:buChar char="•"/>
            </a:pPr>
            <a:r>
              <a:rPr lang="en-US" sz="1400" b="1" dirty="0">
                <a:solidFill>
                  <a:schemeClr val="tx1"/>
                </a:solidFill>
              </a:rPr>
              <a:t>遵守规则更有利可图</a:t>
            </a:r>
            <a:endParaRPr lang="en-US" sz="14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对应本章：激励与货币发行</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§7：回收磁盘空间</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438912" y="1399032"/>
            <a:ext cx="4791456" cy="3555290"/>
          </a:xfrm>
          <a:prstGeom prst="rect">
            <a:avLst/>
          </a:prstGeom>
          <a:solidFill>
            <a:schemeClr val="bg1"/>
          </a:solidFill>
          <a:ln w="9525">
            <a:solidFill>
              <a:schemeClr val="accent5"/>
            </a:solidFill>
            <a:prstDash val="solid"/>
          </a:ln>
        </p:spPr>
      </p:sp>
      <p:pic>
        <p:nvPicPr>
          <p:cNvPr id="6" name="Image 0" descr="白皮书第 7 节 回收磁盘空间">    </p:cNvPr>
          <p:cNvPicPr>
            <a:picLocks noChangeAspect="1"/>
          </p:cNvPicPr>
          <p:nvPr/>
        </p:nvPicPr>
        <p:blipFill>
          <a:blip r:embed="rId1"/>
          <a:stretch>
            <a:fillRect/>
          </a:stretch>
        </p:blipFill>
        <p:spPr>
          <a:xfrm>
            <a:off x="457200" y="1417320"/>
            <a:ext cx="4754880" cy="3518714"/>
          </a:xfrm>
          <a:prstGeom prst="rect">
            <a:avLst/>
          </a:prstGeom>
        </p:spPr>
      </p:pic>
      <p:sp>
        <p:nvSpPr>
          <p:cNvPr id="7" name="Text 3"/>
          <p:cNvSpPr txBox="1"/>
          <p:nvPr/>
        </p:nvSpPr>
        <p:spPr>
          <a:xfrm>
            <a:off x="5440680" y="1463040"/>
            <a:ext cx="3246120" cy="384048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400" dirty="0">
                <a:solidFill>
                  <a:schemeClr val="tx1"/>
                </a:solidFill>
              </a:rPr>
              <a:t>交易被埋得足够深后，可以只保留默克尔根，剪掉旧交易</a:t>
            </a:r>
            <a:endParaRPr lang="en-US" sz="1400" dirty="0"/>
          </a:p>
          <a:p>
            <a:pPr algn="l" marL="254000" indent="-254000">
              <a:lnSpc>
                <a:spcPct val="105000"/>
              </a:lnSpc>
              <a:buSzPct val="100000"/>
              <a:buChar char="•"/>
            </a:pPr>
            <a:r>
              <a:rPr lang="en-US" sz="1400" dirty="0">
                <a:solidFill>
                  <a:schemeClr val="tx1"/>
                </a:solidFill>
              </a:rPr>
              <a:t>只留区块头：80 字节 × 6 × 24 × 365 ≈ </a:t>
            </a:r>
            <a:pPr algn="l" marL="254000" indent="-254000">
              <a:lnSpc>
                <a:spcPct val="105000"/>
              </a:lnSpc>
              <a:buSzPct val="100000"/>
              <a:buChar char="•"/>
            </a:pPr>
            <a:r>
              <a:rPr lang="en-US" sz="1400" b="1" dirty="0">
                <a:solidFill>
                  <a:schemeClr val="tx1"/>
                </a:solidFill>
              </a:rPr>
              <a:t>4.2 MB/年</a:t>
            </a:r>
            <a:endParaRPr lang="en-US" sz="14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对应本章：积木二 · 默克尔树（修剪）</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1"/>
          <p:cNvSpPr/>
          <p:nvPr>
            <p:ph idx="101" type="title" hasCustomPrompt="1"/>
          </p:nvPr>
        </p:nvSpPr>
        <p:spPr>
          <a:xfrm>
            <a:off x="457200" y="475488"/>
            <a:ext cx="8229600" cy="868680"/>
          </a:xfrm>
          <a:prstGeom prst="rect">
            <a:avLst/>
          </a:prstGeom>
          <a:noFill/>
          <a:ln/>
        </p:spPr>
        <p:txBody>
          <a:bodyPr wrap="square" lIns="0" tIns="0" rIns="0" bIns="0" rtlCol="0" anchor="t"/>
          <a:lstStyle/>
          <a:p>
            <a:pPr algn="l" indent="0" marL="0">
              <a:buNone/>
            </a:pPr>
            <a:r>
              <a:rPr lang="en-US" sz="2800" b="1" dirty="0">
                <a:solidFill>
                  <a:srgbClr val="1F2430"/>
                </a:solidFill>
              </a:rPr>
              <a:t>白皮书 §8：简化支付验证（SPV）</a:t>
            </a:r>
            <a:endParaRPr lang="en-US" sz="2800" dirty="0"/>
          </a:p>
        </p:txBody>
      </p:sp>
      <p:sp>
        <p:nvSpPr>
          <p:cNvPr id="3" name="tag"/>
          <p:cNvSpPr txBox="1"/>
          <p:nvPr/>
        </p:nvSpPr>
        <p:spPr>
          <a:xfrm>
            <a:off x="457200" y="201168"/>
            <a:ext cx="5486400" cy="237744"/>
          </a:xfrm>
          <a:prstGeom prst="rect">
            <a:avLst/>
          </a:prstGeom>
          <a:noFill/>
          <a:ln/>
        </p:spPr>
        <p:txBody>
          <a:bodyPr wrap="square" lIns="0" tIns="0" rIns="0" bIns="0" rtlCol="0" anchor="ctr"/>
          <a:lstStyle/>
          <a:p>
            <a:pPr indent="0" marL="0">
              <a:buNone/>
            </a:pPr>
            <a:r>
              <a:rPr lang="en-US" sz="1200" b="1" dirty="0">
                <a:solidFill>
                  <a:schemeClr val="accent6"/>
                </a:solidFill>
              </a:rPr>
              <a:t>附录 · 白皮书原文</a:t>
            </a:r>
            <a:endParaRPr lang="en-US" sz="1200" dirty="0"/>
          </a:p>
        </p:txBody>
      </p:sp>
      <p:sp>
        <p:nvSpPr>
          <p:cNvPr id="5" name="Shape 2"/>
          <p:cNvSpPr/>
          <p:nvPr/>
        </p:nvSpPr>
        <p:spPr>
          <a:xfrm>
            <a:off x="438912" y="1399032"/>
            <a:ext cx="4791456" cy="3027374"/>
          </a:xfrm>
          <a:prstGeom prst="rect">
            <a:avLst/>
          </a:prstGeom>
          <a:solidFill>
            <a:schemeClr val="bg1"/>
          </a:solidFill>
          <a:ln w="9525">
            <a:solidFill>
              <a:schemeClr val="accent5"/>
            </a:solidFill>
            <a:prstDash val="solid"/>
          </a:ln>
        </p:spPr>
      </p:sp>
      <p:pic>
        <p:nvPicPr>
          <p:cNvPr id="6" name="Image 0" descr="白皮书第 8 节 简化支付验证">    </p:cNvPr>
          <p:cNvPicPr>
            <a:picLocks noChangeAspect="1"/>
          </p:cNvPicPr>
          <p:nvPr/>
        </p:nvPicPr>
        <p:blipFill>
          <a:blip r:embed="rId1"/>
          <a:stretch>
            <a:fillRect/>
          </a:stretch>
        </p:blipFill>
        <p:spPr>
          <a:xfrm>
            <a:off x="457200" y="1417320"/>
            <a:ext cx="4754880" cy="2990798"/>
          </a:xfrm>
          <a:prstGeom prst="rect">
            <a:avLst/>
          </a:prstGeom>
        </p:spPr>
      </p:pic>
      <p:sp>
        <p:nvSpPr>
          <p:cNvPr id="7" name="Text 3"/>
          <p:cNvSpPr txBox="1"/>
          <p:nvPr/>
        </p:nvSpPr>
        <p:spPr>
          <a:xfrm>
            <a:off x="5440680" y="1463040"/>
            <a:ext cx="3246120" cy="3840480"/>
          </a:xfrm>
          <a:prstGeom prst="rect">
            <a:avLst/>
          </a:prstGeom>
          <a:noFill/>
          <a:ln/>
        </p:spPr>
        <p:txBody>
          <a:bodyPr wrap="square" lIns="0" tIns="0" rIns="0" bIns="0" rtlCol="0" anchor="t"/>
          <a:lstStyle/>
          <a:p>
            <a:pPr algn="l" marL="254000" indent="-254000">
              <a:lnSpc>
                <a:spcPct val="105000"/>
              </a:lnSpc>
              <a:spcAft>
                <a:spcPts val="800"/>
              </a:spcAft>
              <a:buSzPct val="100000"/>
              <a:buChar char="•"/>
            </a:pPr>
            <a:r>
              <a:rPr lang="en-US" sz="1400" dirty="0">
                <a:solidFill>
                  <a:schemeClr val="tx1"/>
                </a:solidFill>
              </a:rPr>
              <a:t>轻客户端只保留最长链的</a:t>
            </a:r>
            <a:pPr algn="l" marL="254000" indent="-254000">
              <a:lnSpc>
                <a:spcPct val="105000"/>
              </a:lnSpc>
              <a:spcAft>
                <a:spcPts val="800"/>
              </a:spcAft>
              <a:buSzPct val="100000"/>
              <a:buChar char="•"/>
            </a:pPr>
            <a:r>
              <a:rPr lang="en-US" sz="1400" b="1" dirty="0">
                <a:solidFill>
                  <a:schemeClr val="tx1"/>
                </a:solidFill>
              </a:rPr>
              <a:t>区块头</a:t>
            </a:r>
            <a:endParaRPr lang="en-US" sz="1400" dirty="0"/>
          </a:p>
          <a:p>
            <a:pPr algn="l" marL="254000" indent="-254000">
              <a:lnSpc>
                <a:spcPct val="105000"/>
              </a:lnSpc>
              <a:spcAft>
                <a:spcPts val="800"/>
              </a:spcAft>
              <a:buSzPct val="100000"/>
              <a:buChar char="•"/>
            </a:pPr>
            <a:r>
              <a:rPr lang="en-US" sz="1400" dirty="0">
                <a:solidFill>
                  <a:schemeClr val="tx1"/>
                </a:solidFill>
              </a:rPr>
              <a:t>向全节点索取默克尔分支，证明交易在某个区块里</a:t>
            </a:r>
            <a:endParaRPr lang="en-US" sz="1400" dirty="0"/>
          </a:p>
          <a:p>
            <a:pPr algn="l" marL="254000" indent="-254000">
              <a:lnSpc>
                <a:spcPct val="105000"/>
              </a:lnSpc>
              <a:buSzPct val="100000"/>
              <a:buChar char="•"/>
            </a:pPr>
            <a:r>
              <a:rPr lang="en-US" sz="1400" dirty="0">
                <a:solidFill>
                  <a:schemeClr val="tx1"/>
                </a:solidFill>
              </a:rPr>
              <a:t>局限：若网络被攻击者控制，SPV 较脆弱</a:t>
            </a:r>
            <a:endParaRPr lang="en-US" sz="1400" dirty="0"/>
          </a:p>
        </p:txBody>
      </p:sp>
      <p:sp>
        <p:nvSpPr>
          <p:cNvPr id="8" name="Shape 4"/>
          <p:cNvSpPr/>
          <p:nvPr/>
        </p:nvSpPr>
        <p:spPr>
          <a:xfrm>
            <a:off x="457200" y="5623560"/>
            <a:ext cx="4206240" cy="384048"/>
          </a:xfrm>
          <a:prstGeom prst="roundRect">
            <a:avLst>
              <a:gd name="adj" fmla="val 50000"/>
            </a:avLst>
          </a:prstGeom>
          <a:solidFill>
            <a:schemeClr val="accent1"/>
          </a:solidFill>
          <a:ln w="12700">
            <a:solidFill>
              <a:schemeClr val="accent1">
                <a:alpha val="0"/>
              </a:schemeClr>
            </a:solidFill>
            <a:prstDash val="solid"/>
          </a:ln>
        </p:spPr>
      </p:sp>
      <p:sp>
        <p:nvSpPr>
          <p:cNvPr id="9" name="Text 5"/>
          <p:cNvSpPr txBox="1"/>
          <p:nvPr/>
        </p:nvSpPr>
        <p:spPr>
          <a:xfrm>
            <a:off x="457200" y="562356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对应本章：积木二 · 默克尔证明 / SPV</a:t>
            </a:r>
            <a:endParaRPr lang="en-US" sz="1300" dirty="0"/>
          </a:p>
        </p:txBody>
      </p:sp>
      <p:sp>
        <p:nvSpPr>
          <p:cNvPr id="25" name="Slide Number Placeholder 0"/>
          <p:cNvSpPr>
            <a:spLocks noGrp="1"/>
          </p:cNvSpPr>
          <p:nvPr>
            <p:ph type="sldNum" sz="quarter" idx="4294967295"/>
          </p:nvPr>
        </p:nvSpPr>
        <p:spPr>
          <a:xfrm>
            <a:off x="8229600" y="647395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127</a:t>
            </a:fld>
            <a:endParaRPr lang="en-US"/>
          </a:p>
        </p:txBody>
      </p:sp>
    </p:spTree>
  </p:cSld>
  <p:clrMapOvr>
    <a:masterClrMapping/>
  </p:clrMapOvr>
</p:sld>
</file>

<file path=ppt/theme/theme1.xml><?xml version="1.0" encoding="utf-8"?>
<a:theme xmlns:a="http://schemas.openxmlformats.org/drawingml/2006/main" name="数字货币-第四章-比特币">
  <a:themeElements>
    <a:clrScheme name="数字货币-第四章-比特币">
      <a:dk1>
        <a:srgbClr val="1F2430"/>
      </a:dk1>
      <a:lt1>
        <a:srgbClr val="FFFFFF"/>
      </a:lt1>
      <a:dk2>
        <a:srgbClr val="2E3445"/>
      </a:dk2>
      <a:lt2>
        <a:srgbClr val="F3F4F6"/>
      </a:lt2>
      <a:accent1>
        <a:srgbClr val="F7931A"/>
      </a:accent1>
      <a:accent2>
        <a:srgbClr val="B42318"/>
      </a:accent2>
      <a:accent3>
        <a:srgbClr val="0F766E"/>
      </a:accent3>
      <a:accent4>
        <a:srgbClr val="475569"/>
      </a:accent4>
      <a:accent5>
        <a:srgbClr val="94A3B8"/>
      </a:accent5>
      <a:accent6>
        <a:srgbClr val="B45309"/>
      </a:accent6>
      <a:hlink>
        <a:srgbClr val="B45309"/>
      </a:hlink>
      <a:folHlink>
        <a:srgbClr val="7C2D12"/>
      </a:folHlink>
    </a:clrScheme>
    <a:fontScheme name="数字货币-第四章-比特币">
      <a:majorFont>
        <a:latin typeface="Microsoft YaHei"/>
        <a:ea typeface="Microsoft YaHei"/>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Microsoft YaHei"/>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127</Slides>
  <Notes>127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127</vt:i4>
      </vt:variant>
    </vt:vector>
  </HeadingPairs>
  <TitlesOfParts>
    <vt:vector size="1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数字货币 第四章 比特币（2026修订版）</dc:title>
  <dc:subject>数字货币课程课件</dc:subject>
  <dc:creator>数字货币课程组</dc:creator>
  <cp:lastModifiedBy>数字货币课程组</cp:lastModifiedBy>
  <cp:revision>1</cp:revision>
  <dcterms:created xsi:type="dcterms:W3CDTF">2026-10-20T08:13:20Z</dcterms:created>
  <dcterms:modified xsi:type="dcterms:W3CDTF">2026-10-20T08:13:20Z</dcterms:modified>
</cp:coreProperties>
</file>